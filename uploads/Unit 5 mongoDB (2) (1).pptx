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3"/>
  </p:notesMasterIdLst>
  <p:sldIdLst>
    <p:sldId id="398" r:id="rId2"/>
    <p:sldId id="623" r:id="rId3"/>
    <p:sldId id="629" r:id="rId4"/>
    <p:sldId id="630" r:id="rId5"/>
    <p:sldId id="678" r:id="rId6"/>
    <p:sldId id="679" r:id="rId7"/>
    <p:sldId id="680" r:id="rId8"/>
    <p:sldId id="631" r:id="rId9"/>
    <p:sldId id="636" r:id="rId10"/>
    <p:sldId id="637" r:id="rId11"/>
    <p:sldId id="638" r:id="rId12"/>
    <p:sldId id="624" r:id="rId13"/>
    <p:sldId id="634" r:id="rId14"/>
    <p:sldId id="677" r:id="rId15"/>
    <p:sldId id="681" r:id="rId16"/>
    <p:sldId id="682" r:id="rId17"/>
    <p:sldId id="683" r:id="rId18"/>
    <p:sldId id="684" r:id="rId19"/>
    <p:sldId id="685" r:id="rId20"/>
    <p:sldId id="686" r:id="rId21"/>
    <p:sldId id="641" r:id="rId22"/>
    <p:sldId id="642" r:id="rId23"/>
    <p:sldId id="643" r:id="rId24"/>
    <p:sldId id="644" r:id="rId25"/>
    <p:sldId id="645" r:id="rId26"/>
    <p:sldId id="639" r:id="rId27"/>
    <p:sldId id="635" r:id="rId28"/>
    <p:sldId id="646" r:id="rId29"/>
    <p:sldId id="647" r:id="rId30"/>
    <p:sldId id="650" r:id="rId31"/>
    <p:sldId id="651" r:id="rId32"/>
    <p:sldId id="653" r:id="rId33"/>
    <p:sldId id="652" r:id="rId34"/>
    <p:sldId id="654" r:id="rId35"/>
    <p:sldId id="655" r:id="rId36"/>
    <p:sldId id="656" r:id="rId37"/>
    <p:sldId id="657" r:id="rId38"/>
    <p:sldId id="658" r:id="rId39"/>
    <p:sldId id="659" r:id="rId40"/>
    <p:sldId id="660" r:id="rId41"/>
    <p:sldId id="661" r:id="rId42"/>
    <p:sldId id="662" r:id="rId43"/>
    <p:sldId id="663" r:id="rId44"/>
    <p:sldId id="664" r:id="rId45"/>
    <p:sldId id="665" r:id="rId46"/>
    <p:sldId id="666" r:id="rId47"/>
    <p:sldId id="667" r:id="rId48"/>
    <p:sldId id="668" r:id="rId49"/>
    <p:sldId id="669" r:id="rId50"/>
    <p:sldId id="670" r:id="rId51"/>
    <p:sldId id="671" r:id="rId52"/>
    <p:sldId id="672" r:id="rId53"/>
    <p:sldId id="687" r:id="rId54"/>
    <p:sldId id="673" r:id="rId55"/>
    <p:sldId id="688" r:id="rId56"/>
    <p:sldId id="689" r:id="rId57"/>
    <p:sldId id="674" r:id="rId58"/>
    <p:sldId id="690" r:id="rId59"/>
    <p:sldId id="675" r:id="rId60"/>
    <p:sldId id="676" r:id="rId61"/>
    <p:sldId id="410" r:id="rId62"/>
  </p:sldIdLst>
  <p:sldSz cx="9144000" cy="6858000" type="screen4x3"/>
  <p:notesSz cx="6858000" cy="9144000"/>
  <p:embeddedFontLst>
    <p:embeddedFont>
      <p:font typeface="Archivo Narrow" panose="020B0604020202020204" charset="0"/>
      <p:regular r:id="rId64"/>
      <p:bold r:id="rId65"/>
      <p:italic r:id="rId66"/>
      <p:boldItalic r:id="rId67"/>
    </p:embeddedFont>
    <p:embeddedFont>
      <p:font typeface="Book Antiqua" panose="02040602050305030304" pitchFamily="18" charset="0"/>
      <p:regular r:id="rId68"/>
      <p:bold r:id="rId69"/>
      <p:italic r:id="rId70"/>
      <p:boldItalic r:id="rId71"/>
    </p:embeddedFont>
    <p:embeddedFont>
      <p:font typeface="Georgia" panose="02040502050405020303" pitchFamily="18" charset="0"/>
      <p:regular r:id="rId72"/>
      <p:bold r:id="rId73"/>
      <p:italic r:id="rId74"/>
      <p:boldItalic r:id="rId75"/>
    </p:embeddedFont>
    <p:embeddedFont>
      <p:font typeface="Nunito" pitchFamily="2" charset="0"/>
      <p:regular r:id="rId76"/>
      <p:bold r:id="rId7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38" autoAdjust="0"/>
    <p:restoredTop sz="94660"/>
  </p:normalViewPr>
  <p:slideViewPr>
    <p:cSldViewPr snapToGrid="0">
      <p:cViewPr varScale="1">
        <p:scale>
          <a:sx n="65" d="100"/>
          <a:sy n="65" d="100"/>
        </p:scale>
        <p:origin x="1710"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font" Target="fonts/font5.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1.fntdata"/><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1.fntdata"/><Relationship Id="rId69" Type="http://schemas.openxmlformats.org/officeDocument/2006/relationships/font" Target="fonts/font6.fntdata"/><Relationship Id="rId77"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9.fntdata"/><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7.fntdata"/><Relationship Id="rId75"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2.fntdata"/><Relationship Id="rId73" Type="http://schemas.openxmlformats.org/officeDocument/2006/relationships/font" Target="fonts/font10.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3.fntdata"/><Relationship Id="rId7" Type="http://schemas.openxmlformats.org/officeDocument/2006/relationships/slide" Target="slides/slide6.xml"/><Relationship Id="rId71" Type="http://schemas.openxmlformats.org/officeDocument/2006/relationships/font" Target="fonts/font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309"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346336598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048532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0" y="1886797"/>
            <a:ext cx="8520600" cy="1842900"/>
          </a:xfrm>
          <a:prstGeom prst="rect">
            <a:avLst/>
          </a:prstGeom>
        </p:spPr>
        <p:txBody>
          <a:bodyPr spcFirstLastPara="1" wrap="square" lIns="91425" tIns="91425" rIns="91425" bIns="91425" anchor="b" anchorCtr="0"/>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1" name="Shape 11"/>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Shape 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dirty="0"/>
          </a:p>
        </p:txBody>
      </p:sp>
      <p:sp>
        <p:nvSpPr>
          <p:cNvPr id="13" name="Shape 13"/>
          <p:cNvSpPr/>
          <p:nvPr/>
        </p:nvSpPr>
        <p:spPr>
          <a:xfrm flipH="1">
            <a:off x="18" y="67300"/>
            <a:ext cx="9143982" cy="1420254"/>
          </a:xfrm>
          <a:prstGeom prst="flowChartDocument">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14" name="Shape 14"/>
          <p:cNvSpPr/>
          <p:nvPr/>
        </p:nvSpPr>
        <p:spPr>
          <a:xfrm flipH="1">
            <a:off x="18" y="0"/>
            <a:ext cx="9143982" cy="1420254"/>
          </a:xfrm>
          <a:prstGeom prst="flowChartDocument">
            <a:avLst/>
          </a:prstGeom>
          <a:solidFill>
            <a:srgbClr val="0B5394"/>
          </a:solidFill>
          <a:ln>
            <a:noFill/>
          </a:ln>
        </p:spPr>
        <p:txBody>
          <a:bodyPr spcFirstLastPara="1" wrap="square" lIns="91425" tIns="91425" rIns="91425" bIns="91425" anchor="ctr" anchorCtr="0">
            <a:noAutofit/>
          </a:bodyPr>
          <a:lstStyle/>
          <a:p>
            <a:pPr marL="0" lvl="0" indent="0">
              <a:spcBef>
                <a:spcPts val="0"/>
              </a:spcBef>
              <a:spcAft>
                <a:spcPts val="0"/>
              </a:spcAft>
              <a:buNone/>
            </a:pPr>
            <a:endParaRPr dirty="0"/>
          </a:p>
        </p:txBody>
      </p:sp>
      <p:pic>
        <p:nvPicPr>
          <p:cNvPr id="15" name="Shape 15"/>
          <p:cNvPicPr preferRelativeResize="0"/>
          <p:nvPr/>
        </p:nvPicPr>
        <p:blipFill>
          <a:blip r:embed="rId2">
            <a:alphaModFix/>
          </a:blip>
          <a:stretch>
            <a:fillRect/>
          </a:stretch>
        </p:blipFill>
        <p:spPr>
          <a:xfrm>
            <a:off x="6090546" y="342390"/>
            <a:ext cx="2463805" cy="779367"/>
          </a:xfrm>
          <a:prstGeom prst="rect">
            <a:avLst/>
          </a:prstGeom>
          <a:noFill/>
          <a:ln>
            <a:noFill/>
          </a:ln>
        </p:spPr>
      </p:pic>
      <p:sp>
        <p:nvSpPr>
          <p:cNvPr id="16" name="Shape 16"/>
          <p:cNvSpPr/>
          <p:nvPr/>
        </p:nvSpPr>
        <p:spPr>
          <a:xfrm>
            <a:off x="-11025" y="5919900"/>
            <a:ext cx="9155100" cy="9381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17" name="Shape 17"/>
          <p:cNvSpPr txBox="1"/>
          <p:nvPr/>
        </p:nvSpPr>
        <p:spPr>
          <a:xfrm>
            <a:off x="25" y="5919900"/>
            <a:ext cx="3572100" cy="93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dirty="0">
                <a:solidFill>
                  <a:srgbClr val="FFFFFF"/>
                </a:solidFill>
                <a:latin typeface="Georgia"/>
                <a:ea typeface="Georgia"/>
                <a:cs typeface="Georgia"/>
                <a:sym typeface="Georgia"/>
              </a:rPr>
              <a:t>MISSION</a:t>
            </a:r>
            <a:endParaRPr b="1" dirty="0">
              <a:solidFill>
                <a:srgbClr val="FFFFFF"/>
              </a:solidFill>
              <a:latin typeface="Georgia"/>
              <a:ea typeface="Georgia"/>
              <a:cs typeface="Georgia"/>
              <a:sym typeface="Georgia"/>
            </a:endParaRPr>
          </a:p>
          <a:p>
            <a:pPr marL="0" lvl="0" indent="0" algn="ctr" rtl="0">
              <a:spcBef>
                <a:spcPts val="0"/>
              </a:spcBef>
              <a:spcAft>
                <a:spcPts val="0"/>
              </a:spcAft>
              <a:buNone/>
            </a:pPr>
            <a:r>
              <a:rPr lang="en-GB" sz="1100" dirty="0">
                <a:solidFill>
                  <a:srgbClr val="FFFFFF"/>
                </a:solidFill>
                <a:latin typeface="Georgia"/>
                <a:ea typeface="Georgia"/>
                <a:cs typeface="Georgia"/>
                <a:sym typeface="Georgia"/>
              </a:rPr>
              <a:t>CHRIST is a nurturing ground for an individual’s holistic development to make effective contribution to the society in a dynamic environment</a:t>
            </a:r>
            <a:endParaRPr sz="1100" dirty="0">
              <a:solidFill>
                <a:srgbClr val="FFFFFF"/>
              </a:solidFill>
              <a:latin typeface="Georgia"/>
              <a:ea typeface="Georgia"/>
              <a:cs typeface="Georgia"/>
              <a:sym typeface="Georgia"/>
            </a:endParaRPr>
          </a:p>
        </p:txBody>
      </p:sp>
      <p:sp>
        <p:nvSpPr>
          <p:cNvPr id="18" name="Shape 18"/>
          <p:cNvSpPr txBox="1"/>
          <p:nvPr/>
        </p:nvSpPr>
        <p:spPr>
          <a:xfrm>
            <a:off x="3709075" y="5919900"/>
            <a:ext cx="2030700" cy="641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b="1" dirty="0">
                <a:solidFill>
                  <a:srgbClr val="FFFFFF"/>
                </a:solidFill>
                <a:latin typeface="Georgia"/>
                <a:ea typeface="Georgia"/>
                <a:cs typeface="Georgia"/>
                <a:sym typeface="Georgia"/>
              </a:rPr>
              <a:t>VISION</a:t>
            </a:r>
            <a:endParaRPr b="1" dirty="0">
              <a:solidFill>
                <a:srgbClr val="FFFFFF"/>
              </a:solidFill>
              <a:latin typeface="Georgia"/>
              <a:ea typeface="Georgia"/>
              <a:cs typeface="Georgia"/>
              <a:sym typeface="Georgia"/>
            </a:endParaRPr>
          </a:p>
          <a:p>
            <a:pPr marL="0" lvl="0" indent="0" algn="ctr" rtl="0">
              <a:spcBef>
                <a:spcPts val="0"/>
              </a:spcBef>
              <a:spcAft>
                <a:spcPts val="0"/>
              </a:spcAft>
              <a:buNone/>
            </a:pPr>
            <a:r>
              <a:rPr lang="en-GB" sz="1100" dirty="0">
                <a:solidFill>
                  <a:srgbClr val="FFFFFF"/>
                </a:solidFill>
                <a:latin typeface="Georgia"/>
                <a:ea typeface="Georgia"/>
                <a:cs typeface="Georgia"/>
                <a:sym typeface="Georgia"/>
              </a:rPr>
              <a:t>Excellence and Service</a:t>
            </a:r>
            <a:endParaRPr sz="1100" dirty="0">
              <a:solidFill>
                <a:srgbClr val="FFFFFF"/>
              </a:solidFill>
              <a:latin typeface="Georgia"/>
              <a:ea typeface="Georgia"/>
              <a:cs typeface="Georgia"/>
              <a:sym typeface="Georgia"/>
            </a:endParaRPr>
          </a:p>
        </p:txBody>
      </p:sp>
      <p:sp>
        <p:nvSpPr>
          <p:cNvPr id="19" name="Shape 19"/>
          <p:cNvSpPr txBox="1"/>
          <p:nvPr/>
        </p:nvSpPr>
        <p:spPr>
          <a:xfrm>
            <a:off x="6067875" y="5919900"/>
            <a:ext cx="2984400" cy="93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dirty="0">
                <a:solidFill>
                  <a:srgbClr val="FFFFFF"/>
                </a:solidFill>
                <a:latin typeface="Georgia"/>
                <a:ea typeface="Georgia"/>
                <a:cs typeface="Georgia"/>
                <a:sym typeface="Georgia"/>
              </a:rPr>
              <a:t>CORE  VALUES</a:t>
            </a:r>
            <a:endParaRPr b="1" dirty="0">
              <a:solidFill>
                <a:srgbClr val="FFFFFF"/>
              </a:solidFill>
              <a:latin typeface="Georgia"/>
              <a:ea typeface="Georgia"/>
              <a:cs typeface="Georgia"/>
              <a:sym typeface="Georgia"/>
            </a:endParaRPr>
          </a:p>
          <a:p>
            <a:pPr marL="0" lvl="0" indent="0" algn="ctr" rtl="0">
              <a:spcBef>
                <a:spcPts val="0"/>
              </a:spcBef>
              <a:spcAft>
                <a:spcPts val="0"/>
              </a:spcAft>
              <a:buNone/>
            </a:pPr>
            <a:r>
              <a:rPr lang="en-GB" sz="1100" dirty="0">
                <a:solidFill>
                  <a:srgbClr val="FFFFFF"/>
                </a:solidFill>
                <a:latin typeface="Georgia"/>
                <a:ea typeface="Georgia"/>
                <a:cs typeface="Georgia"/>
                <a:sym typeface="Georgia"/>
              </a:rPr>
              <a:t>Faith in God |  Moral Uprightness</a:t>
            </a:r>
            <a:br>
              <a:rPr lang="en-GB" sz="1100" dirty="0">
                <a:solidFill>
                  <a:srgbClr val="FFFFFF"/>
                </a:solidFill>
                <a:latin typeface="Georgia"/>
                <a:ea typeface="Georgia"/>
                <a:cs typeface="Georgia"/>
                <a:sym typeface="Georgia"/>
              </a:rPr>
            </a:br>
            <a:r>
              <a:rPr lang="en-GB" sz="1100" dirty="0">
                <a:solidFill>
                  <a:srgbClr val="FFFFFF"/>
                </a:solidFill>
                <a:latin typeface="Georgia"/>
                <a:ea typeface="Georgia"/>
                <a:cs typeface="Georgia"/>
                <a:sym typeface="Georgia"/>
              </a:rPr>
              <a:t> Love of Fellow Beings   </a:t>
            </a:r>
            <a:br>
              <a:rPr lang="en-GB" sz="1100" dirty="0">
                <a:solidFill>
                  <a:srgbClr val="FFFFFF"/>
                </a:solidFill>
                <a:latin typeface="Georgia"/>
                <a:ea typeface="Georgia"/>
                <a:cs typeface="Georgia"/>
                <a:sym typeface="Georgia"/>
              </a:rPr>
            </a:br>
            <a:r>
              <a:rPr lang="en-GB" sz="1100" dirty="0">
                <a:solidFill>
                  <a:srgbClr val="FFFFFF"/>
                </a:solidFill>
                <a:latin typeface="Georgia"/>
                <a:ea typeface="Georgia"/>
                <a:cs typeface="Georgia"/>
                <a:sym typeface="Georgia"/>
              </a:rPr>
              <a:t>Social Responsibility | Pursuit of Excellence</a:t>
            </a:r>
            <a:endParaRPr sz="1100" dirty="0">
              <a:solidFill>
                <a:srgbClr val="FFFFFF"/>
              </a:solidFill>
              <a:latin typeface="Georgia"/>
              <a:ea typeface="Georgia"/>
              <a:cs typeface="Georgia"/>
              <a:sym typeface="Georgi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Shape 30"/>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lstStyle>
            <a:lvl1pPr marL="457200" lvl="0" indent="-368300">
              <a:spcBef>
                <a:spcPts val="0"/>
              </a:spcBef>
              <a:spcAft>
                <a:spcPts val="0"/>
              </a:spcAft>
              <a:buSzPts val="2200"/>
              <a:buChar char="●"/>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42900">
              <a:spcBef>
                <a:spcPts val="600"/>
              </a:spcBef>
              <a:spcAft>
                <a:spcPts val="0"/>
              </a:spcAft>
              <a:buSzPts val="1800"/>
              <a:buChar char="●"/>
              <a:defRPr/>
            </a:lvl4pPr>
            <a:lvl5pPr marL="2286000" lvl="4" indent="-342900">
              <a:spcBef>
                <a:spcPts val="600"/>
              </a:spcBef>
              <a:spcAft>
                <a:spcPts val="0"/>
              </a:spcAft>
              <a:buSzPts val="1800"/>
              <a:buChar char="○"/>
              <a:defRPr/>
            </a:lvl5pPr>
            <a:lvl6pPr marL="2743200" lvl="5" indent="-342900">
              <a:spcBef>
                <a:spcPts val="600"/>
              </a:spcBef>
              <a:spcAft>
                <a:spcPts val="0"/>
              </a:spcAft>
              <a:buSzPts val="1800"/>
              <a:buChar char="■"/>
              <a:defRPr/>
            </a:lvl6pPr>
            <a:lvl7pPr marL="3200400" lvl="6" indent="-342900">
              <a:spcBef>
                <a:spcPts val="600"/>
              </a:spcBef>
              <a:spcAft>
                <a:spcPts val="0"/>
              </a:spcAft>
              <a:buSzPts val="1800"/>
              <a:buChar char="●"/>
              <a:defRPr/>
            </a:lvl7pPr>
            <a:lvl8pPr marL="3657600" lvl="7" indent="-342900">
              <a:spcBef>
                <a:spcPts val="600"/>
              </a:spcBef>
              <a:spcAft>
                <a:spcPts val="0"/>
              </a:spcAft>
              <a:buSzPts val="1800"/>
              <a:buChar char="○"/>
              <a:defRPr/>
            </a:lvl8pPr>
            <a:lvl9pPr marL="4114800" lvl="8" indent="-342900">
              <a:spcBef>
                <a:spcPts val="600"/>
              </a:spcBef>
              <a:spcAft>
                <a:spcPts val="600"/>
              </a:spcAft>
              <a:buSzPts val="1800"/>
              <a:buChar char="■"/>
              <a:defRPr/>
            </a:lvl9pPr>
          </a:lstStyle>
          <a:p>
            <a:endParaRPr/>
          </a:p>
        </p:txBody>
      </p:sp>
      <p:sp>
        <p:nvSpPr>
          <p:cNvPr id="31" name="Shape 3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dirty="0"/>
          </a:p>
        </p:txBody>
      </p:sp>
      <p:sp>
        <p:nvSpPr>
          <p:cNvPr id="32" name="Shape 32"/>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33" name="Shape 33"/>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FFFFF"/>
                </a:solidFill>
                <a:latin typeface="Georgia"/>
                <a:ea typeface="Georgia"/>
                <a:cs typeface="Georgia"/>
                <a:sym typeface="Georgia"/>
              </a:rPr>
              <a:t>Excellence and Service</a:t>
            </a:r>
            <a:endParaRPr dirty="0">
              <a:solidFill>
                <a:srgbClr val="FFFFFF"/>
              </a:solidFill>
              <a:latin typeface="Georgia"/>
              <a:ea typeface="Georgia"/>
              <a:cs typeface="Georgia"/>
              <a:sym typeface="Georgia"/>
            </a:endParaRPr>
          </a:p>
        </p:txBody>
      </p:sp>
      <p:sp>
        <p:nvSpPr>
          <p:cNvPr id="34" name="Shape 3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35" name="Shape 3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36" name="Shape 36"/>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dirty="0">
                <a:solidFill>
                  <a:srgbClr val="FFFFFF"/>
                </a:solidFill>
                <a:latin typeface="Georgia"/>
                <a:ea typeface="Georgia"/>
                <a:cs typeface="Georgia"/>
                <a:sym typeface="Georgia"/>
              </a:rPr>
              <a:t>CHRIST</a:t>
            </a:r>
            <a:br>
              <a:rPr lang="en-GB" dirty="0">
                <a:solidFill>
                  <a:srgbClr val="FFFFFF"/>
                </a:solidFill>
                <a:latin typeface="Georgia"/>
                <a:ea typeface="Georgia"/>
                <a:cs typeface="Georgia"/>
                <a:sym typeface="Georgia"/>
              </a:rPr>
            </a:br>
            <a:r>
              <a:rPr lang="en-GB" sz="1200" dirty="0">
                <a:solidFill>
                  <a:srgbClr val="FFFFFF"/>
                </a:solidFill>
                <a:latin typeface="Georgia"/>
                <a:ea typeface="Georgia"/>
                <a:cs typeface="Georgia"/>
                <a:sym typeface="Georgia"/>
              </a:rPr>
              <a:t>Deemed to be University</a:t>
            </a:r>
            <a:endParaRPr sz="1200" dirty="0">
              <a:solidFill>
                <a:srgbClr val="FFFFFF"/>
              </a:solidFill>
              <a:latin typeface="Georgia"/>
              <a:ea typeface="Georgia"/>
              <a:cs typeface="Georgia"/>
              <a:sym typeface="Georgi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5"/>
        <p:cNvGrpSpPr/>
        <p:nvPr/>
      </p:nvGrpSpPr>
      <p:grpSpPr>
        <a:xfrm>
          <a:off x="0" y="0"/>
          <a:ext cx="0" cy="0"/>
          <a:chOff x="0" y="0"/>
          <a:chExt cx="0" cy="0"/>
        </a:xfrm>
      </p:grpSpPr>
      <p:sp>
        <p:nvSpPr>
          <p:cNvPr id="56" name="Shape 56"/>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7" name="Shape 57"/>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lstStyle>
            <a:lvl1pPr marL="457200" lvl="0" indent="-304800">
              <a:spcBef>
                <a:spcPts val="0"/>
              </a:spcBef>
              <a:spcAft>
                <a:spcPts val="0"/>
              </a:spcAft>
              <a:buSzPts val="1200"/>
              <a:buChar char="●"/>
              <a:defRPr sz="1200"/>
            </a:lvl1pPr>
            <a:lvl2pPr marL="914400" lvl="1" indent="-304800">
              <a:spcBef>
                <a:spcPts val="600"/>
              </a:spcBef>
              <a:spcAft>
                <a:spcPts val="0"/>
              </a:spcAft>
              <a:buSzPts val="1200"/>
              <a:buChar char="○"/>
              <a:defRPr sz="1200"/>
            </a:lvl2pPr>
            <a:lvl3pPr marL="1371600" lvl="2" indent="-304800">
              <a:spcBef>
                <a:spcPts val="600"/>
              </a:spcBef>
              <a:spcAft>
                <a:spcPts val="0"/>
              </a:spcAft>
              <a:buSzPts val="1200"/>
              <a:buChar char="■"/>
              <a:defRPr sz="1200"/>
            </a:lvl3pPr>
            <a:lvl4pPr marL="1828800" lvl="3" indent="-304800">
              <a:spcBef>
                <a:spcPts val="600"/>
              </a:spcBef>
              <a:spcAft>
                <a:spcPts val="0"/>
              </a:spcAft>
              <a:buSzPts val="1200"/>
              <a:buChar char="●"/>
              <a:defRPr sz="1200"/>
            </a:lvl4pPr>
            <a:lvl5pPr marL="2286000" lvl="4" indent="-304800">
              <a:spcBef>
                <a:spcPts val="600"/>
              </a:spcBef>
              <a:spcAft>
                <a:spcPts val="0"/>
              </a:spcAft>
              <a:buSzPts val="1200"/>
              <a:buChar char="○"/>
              <a:defRPr sz="1200"/>
            </a:lvl5pPr>
            <a:lvl6pPr marL="2743200" lvl="5" indent="-304800">
              <a:spcBef>
                <a:spcPts val="600"/>
              </a:spcBef>
              <a:spcAft>
                <a:spcPts val="0"/>
              </a:spcAft>
              <a:buSzPts val="1200"/>
              <a:buChar char="■"/>
              <a:defRPr sz="1200"/>
            </a:lvl6pPr>
            <a:lvl7pPr marL="3200400" lvl="6" indent="-304800">
              <a:spcBef>
                <a:spcPts val="600"/>
              </a:spcBef>
              <a:spcAft>
                <a:spcPts val="0"/>
              </a:spcAft>
              <a:buSzPts val="1200"/>
              <a:buChar char="●"/>
              <a:defRPr sz="1200"/>
            </a:lvl7pPr>
            <a:lvl8pPr marL="3657600" lvl="7" indent="-304800">
              <a:spcBef>
                <a:spcPts val="600"/>
              </a:spcBef>
              <a:spcAft>
                <a:spcPts val="0"/>
              </a:spcAft>
              <a:buSzPts val="1200"/>
              <a:buChar char="○"/>
              <a:defRPr sz="1200"/>
            </a:lvl8pPr>
            <a:lvl9pPr marL="4114800" lvl="8" indent="-304800">
              <a:spcBef>
                <a:spcPts val="600"/>
              </a:spcBef>
              <a:spcAft>
                <a:spcPts val="600"/>
              </a:spcAft>
              <a:buSzPts val="1200"/>
              <a:buChar char="■"/>
              <a:defRPr sz="1200"/>
            </a:lvl9pPr>
          </a:lstStyle>
          <a:p>
            <a:endParaRPr/>
          </a:p>
        </p:txBody>
      </p:sp>
      <p:sp>
        <p:nvSpPr>
          <p:cNvPr id="58" name="Shape 5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dirty="0"/>
          </a:p>
        </p:txBody>
      </p:sp>
      <p:sp>
        <p:nvSpPr>
          <p:cNvPr id="59" name="Shape 59"/>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60" name="Shape 60"/>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FFFFF"/>
                </a:solidFill>
                <a:latin typeface="Georgia"/>
                <a:ea typeface="Georgia"/>
                <a:cs typeface="Georgia"/>
                <a:sym typeface="Georgia"/>
              </a:rPr>
              <a:t>Excellence and Service</a:t>
            </a:r>
            <a:endParaRPr dirty="0">
              <a:solidFill>
                <a:srgbClr val="FFFFFF"/>
              </a:solidFill>
              <a:latin typeface="Georgia"/>
              <a:ea typeface="Georgia"/>
              <a:cs typeface="Georgia"/>
              <a:sym typeface="Georgia"/>
            </a:endParaRPr>
          </a:p>
        </p:txBody>
      </p:sp>
      <p:sp>
        <p:nvSpPr>
          <p:cNvPr id="61" name="Shape 61"/>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62" name="Shape 62"/>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63" name="Shape 63"/>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dirty="0">
                <a:solidFill>
                  <a:srgbClr val="FFFFFF"/>
                </a:solidFill>
                <a:latin typeface="Georgia"/>
                <a:ea typeface="Georgia"/>
                <a:cs typeface="Georgia"/>
                <a:sym typeface="Georgia"/>
              </a:rPr>
              <a:t>CHRIST</a:t>
            </a:r>
            <a:br>
              <a:rPr lang="en-GB" dirty="0">
                <a:solidFill>
                  <a:srgbClr val="FFFFFF"/>
                </a:solidFill>
                <a:latin typeface="Georgia"/>
                <a:ea typeface="Georgia"/>
                <a:cs typeface="Georgia"/>
                <a:sym typeface="Georgia"/>
              </a:rPr>
            </a:br>
            <a:r>
              <a:rPr lang="en-GB" sz="1200" dirty="0">
                <a:solidFill>
                  <a:srgbClr val="FFFFFF"/>
                </a:solidFill>
                <a:latin typeface="Georgia"/>
                <a:ea typeface="Georgia"/>
                <a:cs typeface="Georgia"/>
                <a:sym typeface="Georgia"/>
              </a:rPr>
              <a:t>Deemed to be University</a:t>
            </a:r>
            <a:endParaRPr sz="1200" dirty="0">
              <a:solidFill>
                <a:srgbClr val="FFFFFF"/>
              </a:solidFill>
              <a:latin typeface="Georgia"/>
              <a:ea typeface="Georgia"/>
              <a:cs typeface="Georgia"/>
              <a:sym typeface="Georg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66" name="Shape 6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dirty="0"/>
          </a:p>
        </p:txBody>
      </p:sp>
      <p:sp>
        <p:nvSpPr>
          <p:cNvPr id="67" name="Shape 67"/>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68" name="Shape 68"/>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FFFFF"/>
                </a:solidFill>
                <a:latin typeface="Georgia"/>
                <a:ea typeface="Georgia"/>
                <a:cs typeface="Georgia"/>
                <a:sym typeface="Georgia"/>
              </a:rPr>
              <a:t>Excellence and Service</a:t>
            </a:r>
            <a:endParaRPr dirty="0">
              <a:solidFill>
                <a:srgbClr val="FFFFFF"/>
              </a:solidFill>
              <a:latin typeface="Georgia"/>
              <a:ea typeface="Georgia"/>
              <a:cs typeface="Georgia"/>
              <a:sym typeface="Georgia"/>
            </a:endParaRPr>
          </a:p>
        </p:txBody>
      </p:sp>
      <p:sp>
        <p:nvSpPr>
          <p:cNvPr id="69" name="Shape 69"/>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70" name="Shape 70"/>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71" name="Shape 71"/>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dirty="0">
                <a:solidFill>
                  <a:srgbClr val="FFFFFF"/>
                </a:solidFill>
                <a:latin typeface="Georgia"/>
                <a:ea typeface="Georgia"/>
                <a:cs typeface="Georgia"/>
                <a:sym typeface="Georgia"/>
              </a:rPr>
              <a:t>CHRIST</a:t>
            </a:r>
            <a:br>
              <a:rPr lang="en-GB" dirty="0">
                <a:solidFill>
                  <a:srgbClr val="FFFFFF"/>
                </a:solidFill>
                <a:latin typeface="Georgia"/>
                <a:ea typeface="Georgia"/>
                <a:cs typeface="Georgia"/>
                <a:sym typeface="Georgia"/>
              </a:rPr>
            </a:br>
            <a:r>
              <a:rPr lang="en-GB" sz="1200" dirty="0">
                <a:solidFill>
                  <a:srgbClr val="FFFFFF"/>
                </a:solidFill>
                <a:latin typeface="Georgia"/>
                <a:ea typeface="Georgia"/>
                <a:cs typeface="Georgia"/>
                <a:sym typeface="Georgia"/>
              </a:rPr>
              <a:t>Deemed to be University</a:t>
            </a:r>
            <a:endParaRPr sz="1200" dirty="0">
              <a:solidFill>
                <a:srgbClr val="FFFFFF"/>
              </a:solidFill>
              <a:latin typeface="Georgia"/>
              <a:ea typeface="Georgia"/>
              <a:cs typeface="Georgia"/>
              <a:sym typeface="Georgi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2"/>
        <p:cNvGrpSpPr/>
        <p:nvPr/>
      </p:nvGrpSpPr>
      <p:grpSpPr>
        <a:xfrm>
          <a:off x="0" y="0"/>
          <a:ext cx="0" cy="0"/>
          <a:chOff x="0" y="0"/>
          <a:chExt cx="0" cy="0"/>
        </a:xfrm>
      </p:grpSpPr>
      <p:sp>
        <p:nvSpPr>
          <p:cNvPr id="73" name="Shape 73"/>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74" name="Shape 74"/>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75" name="Shape 75"/>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6" name="Shape 76"/>
          <p:cNvSpPr txBox="1">
            <a:spLocks noGrp="1"/>
          </p:cNvSpPr>
          <p:nvPr>
            <p:ph type="body" idx="2"/>
          </p:nvPr>
        </p:nvSpPr>
        <p:spPr>
          <a:xfrm>
            <a:off x="4939500" y="965433"/>
            <a:ext cx="3837000" cy="4926900"/>
          </a:xfrm>
          <a:prstGeom prst="rect">
            <a:avLst/>
          </a:prstGeom>
        </p:spPr>
        <p:txBody>
          <a:bodyPr spcFirstLastPara="1" wrap="square" lIns="91425" tIns="91425" rIns="91425" bIns="91425" anchor="ctr" anchorCtr="0"/>
          <a:lstStyle>
            <a:lvl1pPr marL="457200" lvl="0" indent="-368300">
              <a:spcBef>
                <a:spcPts val="0"/>
              </a:spcBef>
              <a:spcAft>
                <a:spcPts val="0"/>
              </a:spcAft>
              <a:buSzPts val="2200"/>
              <a:buChar char="●"/>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42900">
              <a:spcBef>
                <a:spcPts val="600"/>
              </a:spcBef>
              <a:spcAft>
                <a:spcPts val="0"/>
              </a:spcAft>
              <a:buSzPts val="1800"/>
              <a:buChar char="●"/>
              <a:defRPr/>
            </a:lvl4pPr>
            <a:lvl5pPr marL="2286000" lvl="4" indent="-342900">
              <a:spcBef>
                <a:spcPts val="600"/>
              </a:spcBef>
              <a:spcAft>
                <a:spcPts val="0"/>
              </a:spcAft>
              <a:buSzPts val="1800"/>
              <a:buChar char="○"/>
              <a:defRPr/>
            </a:lvl5pPr>
            <a:lvl6pPr marL="2743200" lvl="5" indent="-342900">
              <a:spcBef>
                <a:spcPts val="600"/>
              </a:spcBef>
              <a:spcAft>
                <a:spcPts val="0"/>
              </a:spcAft>
              <a:buSzPts val="1800"/>
              <a:buChar char="■"/>
              <a:defRPr/>
            </a:lvl6pPr>
            <a:lvl7pPr marL="3200400" lvl="6" indent="-342900">
              <a:spcBef>
                <a:spcPts val="600"/>
              </a:spcBef>
              <a:spcAft>
                <a:spcPts val="0"/>
              </a:spcAft>
              <a:buSzPts val="1800"/>
              <a:buChar char="●"/>
              <a:defRPr/>
            </a:lvl7pPr>
            <a:lvl8pPr marL="3657600" lvl="7" indent="-342900">
              <a:spcBef>
                <a:spcPts val="600"/>
              </a:spcBef>
              <a:spcAft>
                <a:spcPts val="0"/>
              </a:spcAft>
              <a:buSzPts val="1800"/>
              <a:buChar char="○"/>
              <a:defRPr/>
            </a:lvl8pPr>
            <a:lvl9pPr marL="4114800" lvl="8" indent="-342900">
              <a:spcBef>
                <a:spcPts val="600"/>
              </a:spcBef>
              <a:spcAft>
                <a:spcPts val="600"/>
              </a:spcAft>
              <a:buSzPts val="1800"/>
              <a:buChar char="■"/>
              <a:defRPr/>
            </a:lvl9pPr>
          </a:lstStyle>
          <a:p>
            <a:endParaRPr/>
          </a:p>
        </p:txBody>
      </p:sp>
      <p:sp>
        <p:nvSpPr>
          <p:cNvPr id="77" name="Shape 7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dirty="0"/>
          </a:p>
        </p:txBody>
      </p:sp>
      <p:sp>
        <p:nvSpPr>
          <p:cNvPr id="78" name="Shape 78"/>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79" name="Shape 79"/>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FFFFF"/>
                </a:solidFill>
                <a:latin typeface="Georgia"/>
                <a:ea typeface="Georgia"/>
                <a:cs typeface="Georgia"/>
                <a:sym typeface="Georgia"/>
              </a:rPr>
              <a:t>Excellence and Service</a:t>
            </a:r>
            <a:endParaRPr dirty="0">
              <a:solidFill>
                <a:srgbClr val="FFFFFF"/>
              </a:solidFill>
              <a:latin typeface="Georgia"/>
              <a:ea typeface="Georgia"/>
              <a:cs typeface="Georgia"/>
              <a:sym typeface="Georgia"/>
            </a:endParaRPr>
          </a:p>
        </p:txBody>
      </p:sp>
      <p:sp>
        <p:nvSpPr>
          <p:cNvPr id="80" name="Shape 80"/>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81" name="Shape 81"/>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82" name="Shape 82"/>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dirty="0">
                <a:solidFill>
                  <a:srgbClr val="FFFFFF"/>
                </a:solidFill>
                <a:latin typeface="Georgia"/>
                <a:ea typeface="Georgia"/>
                <a:cs typeface="Georgia"/>
                <a:sym typeface="Georgia"/>
              </a:rPr>
              <a:t>CHRIST</a:t>
            </a:r>
            <a:br>
              <a:rPr lang="en-GB" dirty="0">
                <a:solidFill>
                  <a:srgbClr val="FFFFFF"/>
                </a:solidFill>
                <a:latin typeface="Georgia"/>
                <a:ea typeface="Georgia"/>
                <a:cs typeface="Georgia"/>
                <a:sym typeface="Georgia"/>
              </a:rPr>
            </a:br>
            <a:r>
              <a:rPr lang="en-GB" sz="1200" dirty="0">
                <a:solidFill>
                  <a:srgbClr val="FFFFFF"/>
                </a:solidFill>
                <a:latin typeface="Georgia"/>
                <a:ea typeface="Georgia"/>
                <a:cs typeface="Georgia"/>
                <a:sym typeface="Georgia"/>
              </a:rPr>
              <a:t>Deemed to be University</a:t>
            </a:r>
            <a:endParaRPr sz="1200" dirty="0">
              <a:solidFill>
                <a:srgbClr val="FFFFFF"/>
              </a:solidFill>
              <a:latin typeface="Georgia"/>
              <a:ea typeface="Georgia"/>
              <a:cs typeface="Georgia"/>
              <a:sym typeface="Georgi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3"/>
        <p:cNvGrpSpPr/>
        <p:nvPr/>
      </p:nvGrpSpPr>
      <p:grpSpPr>
        <a:xfrm>
          <a:off x="0" y="0"/>
          <a:ext cx="0" cy="0"/>
          <a:chOff x="0" y="0"/>
          <a:chExt cx="0" cy="0"/>
        </a:xfrm>
      </p:grpSpPr>
      <p:sp>
        <p:nvSpPr>
          <p:cNvPr id="84" name="Shape 84"/>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lstStyle>
            <a:lvl1pPr marL="457200" lvl="0" indent="-228600">
              <a:lnSpc>
                <a:spcPct val="100000"/>
              </a:lnSpc>
              <a:spcBef>
                <a:spcPts val="0"/>
              </a:spcBef>
              <a:spcAft>
                <a:spcPts val="0"/>
              </a:spcAft>
              <a:buSzPts val="2200"/>
              <a:buNone/>
              <a:defRPr/>
            </a:lvl1pPr>
          </a:lstStyle>
          <a:p>
            <a:endParaRPr/>
          </a:p>
        </p:txBody>
      </p:sp>
      <p:sp>
        <p:nvSpPr>
          <p:cNvPr id="85" name="Shape 8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dirty="0"/>
          </a:p>
        </p:txBody>
      </p:sp>
      <p:sp>
        <p:nvSpPr>
          <p:cNvPr id="86" name="Shape 86"/>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87" name="Shape 87"/>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FFFFF"/>
                </a:solidFill>
                <a:latin typeface="Georgia"/>
                <a:ea typeface="Georgia"/>
                <a:cs typeface="Georgia"/>
                <a:sym typeface="Georgia"/>
              </a:rPr>
              <a:t>Excellence and Service</a:t>
            </a:r>
            <a:endParaRPr dirty="0">
              <a:solidFill>
                <a:srgbClr val="FFFFFF"/>
              </a:solidFill>
              <a:latin typeface="Georgia"/>
              <a:ea typeface="Georgia"/>
              <a:cs typeface="Georgia"/>
              <a:sym typeface="Georgia"/>
            </a:endParaRPr>
          </a:p>
        </p:txBody>
      </p:sp>
      <p:sp>
        <p:nvSpPr>
          <p:cNvPr id="88" name="Shape 88"/>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89" name="Shape 89"/>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90" name="Shape 90"/>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dirty="0">
                <a:solidFill>
                  <a:srgbClr val="FFFFFF"/>
                </a:solidFill>
                <a:latin typeface="Georgia"/>
                <a:ea typeface="Georgia"/>
                <a:cs typeface="Georgia"/>
                <a:sym typeface="Georgia"/>
              </a:rPr>
              <a:t>CHRIST</a:t>
            </a:r>
            <a:br>
              <a:rPr lang="en-GB" dirty="0">
                <a:solidFill>
                  <a:srgbClr val="FFFFFF"/>
                </a:solidFill>
                <a:latin typeface="Georgia"/>
                <a:ea typeface="Georgia"/>
                <a:cs typeface="Georgia"/>
                <a:sym typeface="Georgia"/>
              </a:rPr>
            </a:br>
            <a:r>
              <a:rPr lang="en-GB" sz="1200" dirty="0">
                <a:solidFill>
                  <a:srgbClr val="FFFFFF"/>
                </a:solidFill>
                <a:latin typeface="Georgia"/>
                <a:ea typeface="Georgia"/>
                <a:cs typeface="Georgia"/>
                <a:sym typeface="Georgia"/>
              </a:rPr>
              <a:t>Deemed to be University</a:t>
            </a:r>
            <a:endParaRPr sz="1200" dirty="0">
              <a:solidFill>
                <a:srgbClr val="FFFFFF"/>
              </a:solidFill>
              <a:latin typeface="Georgia"/>
              <a:ea typeface="Georgia"/>
              <a:cs typeface="Georgia"/>
              <a:sym typeface="Georgi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1"/>
        <p:cNvGrpSpPr/>
        <p:nvPr/>
      </p:nvGrpSpPr>
      <p:grpSpPr>
        <a:xfrm>
          <a:off x="0" y="0"/>
          <a:ext cx="0" cy="0"/>
          <a:chOff x="0" y="0"/>
          <a:chExt cx="0" cy="0"/>
        </a:xfrm>
      </p:grpSpPr>
      <p:sp>
        <p:nvSpPr>
          <p:cNvPr id="92" name="Shape 92"/>
          <p:cNvSpPr txBox="1">
            <a:spLocks noGrp="1"/>
          </p:cNvSpPr>
          <p:nvPr>
            <p:ph type="title"/>
          </p:nvPr>
        </p:nvSpPr>
        <p:spPr>
          <a:xfrm>
            <a:off x="311700" y="1474833"/>
            <a:ext cx="8520600" cy="2618100"/>
          </a:xfrm>
          <a:prstGeom prst="rect">
            <a:avLst/>
          </a:prstGeom>
        </p:spPr>
        <p:txBody>
          <a:bodyPr spcFirstLastPara="1" wrap="square" lIns="91425" tIns="91425" rIns="91425" bIns="91425" anchor="b" anchorCtr="0"/>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endParaRPr/>
          </a:p>
        </p:txBody>
      </p:sp>
      <p:sp>
        <p:nvSpPr>
          <p:cNvPr id="93" name="Shape 93"/>
          <p:cNvSpPr txBox="1">
            <a:spLocks noGrp="1"/>
          </p:cNvSpPr>
          <p:nvPr>
            <p:ph type="body" idx="1"/>
          </p:nvPr>
        </p:nvSpPr>
        <p:spPr>
          <a:xfrm>
            <a:off x="311700" y="4202967"/>
            <a:ext cx="8520600" cy="1734300"/>
          </a:xfrm>
          <a:prstGeom prst="rect">
            <a:avLst/>
          </a:prstGeom>
        </p:spPr>
        <p:txBody>
          <a:bodyPr spcFirstLastPara="1" wrap="square" lIns="91425" tIns="91425" rIns="91425" bIns="91425" anchor="t" anchorCtr="0"/>
          <a:lstStyle>
            <a:lvl1pPr marL="457200" lvl="0" indent="-368300" algn="ctr">
              <a:spcBef>
                <a:spcPts val="0"/>
              </a:spcBef>
              <a:spcAft>
                <a:spcPts val="0"/>
              </a:spcAft>
              <a:buSzPts val="2200"/>
              <a:buChar char="●"/>
              <a:defRPr/>
            </a:lvl1pPr>
            <a:lvl2pPr marL="914400" lvl="1" indent="-342900" algn="ctr">
              <a:spcBef>
                <a:spcPts val="600"/>
              </a:spcBef>
              <a:spcAft>
                <a:spcPts val="0"/>
              </a:spcAft>
              <a:buSzPts val="1800"/>
              <a:buChar char="○"/>
              <a:defRPr/>
            </a:lvl2pPr>
            <a:lvl3pPr marL="1371600" lvl="2" indent="-342900" algn="ctr">
              <a:spcBef>
                <a:spcPts val="600"/>
              </a:spcBef>
              <a:spcAft>
                <a:spcPts val="0"/>
              </a:spcAft>
              <a:buSzPts val="1800"/>
              <a:buChar char="■"/>
              <a:defRPr/>
            </a:lvl3pPr>
            <a:lvl4pPr marL="1828800" lvl="3" indent="-342900" algn="ctr">
              <a:spcBef>
                <a:spcPts val="600"/>
              </a:spcBef>
              <a:spcAft>
                <a:spcPts val="0"/>
              </a:spcAft>
              <a:buSzPts val="1800"/>
              <a:buChar char="●"/>
              <a:defRPr/>
            </a:lvl4pPr>
            <a:lvl5pPr marL="2286000" lvl="4" indent="-342900" algn="ctr">
              <a:spcBef>
                <a:spcPts val="600"/>
              </a:spcBef>
              <a:spcAft>
                <a:spcPts val="0"/>
              </a:spcAft>
              <a:buSzPts val="1800"/>
              <a:buChar char="○"/>
              <a:defRPr/>
            </a:lvl5pPr>
            <a:lvl6pPr marL="2743200" lvl="5" indent="-342900" algn="ctr">
              <a:spcBef>
                <a:spcPts val="600"/>
              </a:spcBef>
              <a:spcAft>
                <a:spcPts val="0"/>
              </a:spcAft>
              <a:buSzPts val="1800"/>
              <a:buChar char="■"/>
              <a:defRPr/>
            </a:lvl6pPr>
            <a:lvl7pPr marL="3200400" lvl="6" indent="-342900" algn="ctr">
              <a:spcBef>
                <a:spcPts val="600"/>
              </a:spcBef>
              <a:spcAft>
                <a:spcPts val="0"/>
              </a:spcAft>
              <a:buSzPts val="1800"/>
              <a:buChar char="●"/>
              <a:defRPr/>
            </a:lvl7pPr>
            <a:lvl8pPr marL="3657600" lvl="7" indent="-342900" algn="ctr">
              <a:spcBef>
                <a:spcPts val="600"/>
              </a:spcBef>
              <a:spcAft>
                <a:spcPts val="0"/>
              </a:spcAft>
              <a:buSzPts val="1800"/>
              <a:buChar char="○"/>
              <a:defRPr/>
            </a:lvl8pPr>
            <a:lvl9pPr marL="4114800" lvl="8" indent="-342900" algn="ctr">
              <a:spcBef>
                <a:spcPts val="600"/>
              </a:spcBef>
              <a:spcAft>
                <a:spcPts val="600"/>
              </a:spcAft>
              <a:buSzPts val="1800"/>
              <a:buChar char="■"/>
              <a:defRPr/>
            </a:lvl9pPr>
          </a:lstStyle>
          <a:p>
            <a:endParaRPr/>
          </a:p>
        </p:txBody>
      </p:sp>
      <p:sp>
        <p:nvSpPr>
          <p:cNvPr id="94" name="Shape 9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dirty="0"/>
          </a:p>
        </p:txBody>
      </p:sp>
      <p:sp>
        <p:nvSpPr>
          <p:cNvPr id="95" name="Shape 95"/>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96" name="Shape 96"/>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dirty="0">
                <a:solidFill>
                  <a:srgbClr val="FFFFFF"/>
                </a:solidFill>
                <a:latin typeface="Georgia"/>
                <a:ea typeface="Georgia"/>
                <a:cs typeface="Georgia"/>
                <a:sym typeface="Georgia"/>
              </a:rPr>
              <a:t>Excellence and Service</a:t>
            </a:r>
            <a:endParaRPr dirty="0">
              <a:solidFill>
                <a:srgbClr val="FFFFFF"/>
              </a:solidFill>
              <a:latin typeface="Georgia"/>
              <a:ea typeface="Georgia"/>
              <a:cs typeface="Georgia"/>
              <a:sym typeface="Georgia"/>
            </a:endParaRPr>
          </a:p>
        </p:txBody>
      </p:sp>
      <p:sp>
        <p:nvSpPr>
          <p:cNvPr id="97" name="Shape 97"/>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98" name="Shape 98"/>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dirty="0"/>
          </a:p>
        </p:txBody>
      </p:sp>
      <p:sp>
        <p:nvSpPr>
          <p:cNvPr id="99" name="Shape 99"/>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dirty="0">
                <a:solidFill>
                  <a:srgbClr val="FFFFFF"/>
                </a:solidFill>
                <a:latin typeface="Georgia"/>
                <a:ea typeface="Georgia"/>
                <a:cs typeface="Georgia"/>
                <a:sym typeface="Georgia"/>
              </a:rPr>
              <a:t>CHRIST</a:t>
            </a:r>
            <a:br>
              <a:rPr lang="en-GB" dirty="0">
                <a:solidFill>
                  <a:srgbClr val="FFFFFF"/>
                </a:solidFill>
                <a:latin typeface="Georgia"/>
                <a:ea typeface="Georgia"/>
                <a:cs typeface="Georgia"/>
                <a:sym typeface="Georgia"/>
              </a:rPr>
            </a:br>
            <a:r>
              <a:rPr lang="en-GB" sz="1200" dirty="0">
                <a:solidFill>
                  <a:srgbClr val="FFFFFF"/>
                </a:solidFill>
                <a:latin typeface="Georgia"/>
                <a:ea typeface="Georgia"/>
                <a:cs typeface="Georgia"/>
                <a:sym typeface="Georgia"/>
              </a:rPr>
              <a:t>Deemed to be University</a:t>
            </a:r>
            <a:endParaRPr sz="1200" dirty="0">
              <a:solidFill>
                <a:srgbClr val="FFFFFF"/>
              </a:solidFill>
              <a:latin typeface="Georgia"/>
              <a:ea typeface="Georgia"/>
              <a:cs typeface="Georgia"/>
              <a:sym typeface="Georgi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lstStyle>
            <a:lvl1pPr lvl="0">
              <a:spcBef>
                <a:spcPts val="0"/>
              </a:spcBef>
              <a:spcAft>
                <a:spcPts val="0"/>
              </a:spcAft>
              <a:buSzPts val="2800"/>
              <a:buFont typeface="Archivo Narrow"/>
              <a:buNone/>
              <a:defRPr sz="2800" b="1">
                <a:latin typeface="Archivo Narrow"/>
                <a:ea typeface="Archivo Narrow"/>
                <a:cs typeface="Archivo Narrow"/>
                <a:sym typeface="Archivo Narrow"/>
              </a:defRPr>
            </a:lvl1pPr>
            <a:lvl2pPr lvl="1">
              <a:spcBef>
                <a:spcPts val="0"/>
              </a:spcBef>
              <a:spcAft>
                <a:spcPts val="0"/>
              </a:spcAft>
              <a:buSzPts val="2800"/>
              <a:buFont typeface="Archivo Narrow"/>
              <a:buNone/>
              <a:defRPr sz="2800" b="1">
                <a:latin typeface="Archivo Narrow"/>
                <a:ea typeface="Archivo Narrow"/>
                <a:cs typeface="Archivo Narrow"/>
                <a:sym typeface="Archivo Narrow"/>
              </a:defRPr>
            </a:lvl2pPr>
            <a:lvl3pPr lvl="2">
              <a:spcBef>
                <a:spcPts val="0"/>
              </a:spcBef>
              <a:spcAft>
                <a:spcPts val="0"/>
              </a:spcAft>
              <a:buSzPts val="2800"/>
              <a:buFont typeface="Archivo Narrow"/>
              <a:buNone/>
              <a:defRPr sz="2800" b="1">
                <a:latin typeface="Archivo Narrow"/>
                <a:ea typeface="Archivo Narrow"/>
                <a:cs typeface="Archivo Narrow"/>
                <a:sym typeface="Archivo Narrow"/>
              </a:defRPr>
            </a:lvl3pPr>
            <a:lvl4pPr lvl="3">
              <a:spcBef>
                <a:spcPts val="0"/>
              </a:spcBef>
              <a:spcAft>
                <a:spcPts val="0"/>
              </a:spcAft>
              <a:buSzPts val="2800"/>
              <a:buFont typeface="Archivo Narrow"/>
              <a:buNone/>
              <a:defRPr sz="2800" b="1">
                <a:latin typeface="Archivo Narrow"/>
                <a:ea typeface="Archivo Narrow"/>
                <a:cs typeface="Archivo Narrow"/>
                <a:sym typeface="Archivo Narrow"/>
              </a:defRPr>
            </a:lvl4pPr>
            <a:lvl5pPr lvl="4">
              <a:spcBef>
                <a:spcPts val="0"/>
              </a:spcBef>
              <a:spcAft>
                <a:spcPts val="0"/>
              </a:spcAft>
              <a:buSzPts val="2800"/>
              <a:buFont typeface="Archivo Narrow"/>
              <a:buNone/>
              <a:defRPr sz="2800" b="1">
                <a:latin typeface="Archivo Narrow"/>
                <a:ea typeface="Archivo Narrow"/>
                <a:cs typeface="Archivo Narrow"/>
                <a:sym typeface="Archivo Narrow"/>
              </a:defRPr>
            </a:lvl5pPr>
            <a:lvl6pPr lvl="5">
              <a:spcBef>
                <a:spcPts val="0"/>
              </a:spcBef>
              <a:spcAft>
                <a:spcPts val="0"/>
              </a:spcAft>
              <a:buSzPts val="2800"/>
              <a:buFont typeface="Archivo Narrow"/>
              <a:buNone/>
              <a:defRPr sz="2800" b="1">
                <a:latin typeface="Archivo Narrow"/>
                <a:ea typeface="Archivo Narrow"/>
                <a:cs typeface="Archivo Narrow"/>
                <a:sym typeface="Archivo Narrow"/>
              </a:defRPr>
            </a:lvl6pPr>
            <a:lvl7pPr lvl="6">
              <a:spcBef>
                <a:spcPts val="0"/>
              </a:spcBef>
              <a:spcAft>
                <a:spcPts val="0"/>
              </a:spcAft>
              <a:buSzPts val="2800"/>
              <a:buFont typeface="Archivo Narrow"/>
              <a:buNone/>
              <a:defRPr sz="2800" b="1">
                <a:latin typeface="Archivo Narrow"/>
                <a:ea typeface="Archivo Narrow"/>
                <a:cs typeface="Archivo Narrow"/>
                <a:sym typeface="Archivo Narrow"/>
              </a:defRPr>
            </a:lvl7pPr>
            <a:lvl8pPr lvl="7">
              <a:spcBef>
                <a:spcPts val="0"/>
              </a:spcBef>
              <a:spcAft>
                <a:spcPts val="0"/>
              </a:spcAft>
              <a:buSzPts val="2800"/>
              <a:buFont typeface="Archivo Narrow"/>
              <a:buNone/>
              <a:defRPr sz="2800" b="1">
                <a:latin typeface="Archivo Narrow"/>
                <a:ea typeface="Archivo Narrow"/>
                <a:cs typeface="Archivo Narrow"/>
                <a:sym typeface="Archivo Narrow"/>
              </a:defRPr>
            </a:lvl8pPr>
            <a:lvl9pPr lvl="8">
              <a:spcBef>
                <a:spcPts val="0"/>
              </a:spcBef>
              <a:spcAft>
                <a:spcPts val="0"/>
              </a:spcAft>
              <a:buSzPts val="2800"/>
              <a:buFont typeface="Archivo Narrow"/>
              <a:buNone/>
              <a:defRPr sz="2800" b="1">
                <a:latin typeface="Archivo Narrow"/>
                <a:ea typeface="Archivo Narrow"/>
                <a:cs typeface="Archivo Narrow"/>
                <a:sym typeface="Archivo Narrow"/>
              </a:defRPr>
            </a:lvl9pPr>
          </a:lstStyle>
          <a:p>
            <a:endParaRPr/>
          </a:p>
        </p:txBody>
      </p:sp>
      <p:sp>
        <p:nvSpPr>
          <p:cNvPr id="7" name="Shape 7"/>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lstStyle>
            <a:lvl1pPr marL="457200" lvl="0" indent="-368300">
              <a:lnSpc>
                <a:spcPct val="100000"/>
              </a:lnSpc>
              <a:spcBef>
                <a:spcPts val="0"/>
              </a:spcBef>
              <a:spcAft>
                <a:spcPts val="0"/>
              </a:spcAft>
              <a:buSzPts val="2200"/>
              <a:buFont typeface="Archivo Narrow"/>
              <a:buChar char="●"/>
              <a:defRPr sz="2200">
                <a:latin typeface="Archivo Narrow"/>
                <a:ea typeface="Archivo Narrow"/>
                <a:cs typeface="Archivo Narrow"/>
                <a:sym typeface="Archivo Narrow"/>
              </a:defRPr>
            </a:lvl1pPr>
            <a:lvl2pPr marL="914400" lvl="1"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2pPr>
            <a:lvl3pPr marL="1371600" lvl="2"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3pPr>
            <a:lvl4pPr marL="1828800" lvl="3"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4pPr>
            <a:lvl5pPr marL="2286000" lvl="4"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5pPr>
            <a:lvl6pPr marL="2743200" lvl="5"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6pPr>
            <a:lvl7pPr marL="3200400" lvl="6"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7pPr>
            <a:lvl8pPr marL="3657600" lvl="7" indent="-342900">
              <a:lnSpc>
                <a:spcPct val="100000"/>
              </a:lnSpc>
              <a:spcBef>
                <a:spcPts val="600"/>
              </a:spcBef>
              <a:spcAft>
                <a:spcPts val="0"/>
              </a:spcAft>
              <a:buSzPts val="1800"/>
              <a:buFont typeface="Archivo Narrow"/>
              <a:buChar char="○"/>
              <a:defRPr sz="1800">
                <a:latin typeface="Archivo Narrow"/>
                <a:ea typeface="Archivo Narrow"/>
                <a:cs typeface="Archivo Narrow"/>
                <a:sym typeface="Archivo Narrow"/>
              </a:defRPr>
            </a:lvl8pPr>
            <a:lvl9pPr marL="4114800" lvl="8" indent="-342900">
              <a:lnSpc>
                <a:spcPct val="100000"/>
              </a:lnSpc>
              <a:spcBef>
                <a:spcPts val="600"/>
              </a:spcBef>
              <a:spcAft>
                <a:spcPts val="600"/>
              </a:spcAft>
              <a:buSzPts val="1800"/>
              <a:buFont typeface="Archivo Narrow"/>
              <a:buChar char="■"/>
              <a:defRPr sz="1800">
                <a:latin typeface="Archivo Narrow"/>
                <a:ea typeface="Archivo Narrow"/>
                <a:cs typeface="Archivo Narrow"/>
                <a:sym typeface="Archivo Narrow"/>
              </a:defRPr>
            </a:lvl9pPr>
          </a:lstStyle>
          <a:p>
            <a:endParaRPr/>
          </a:p>
        </p:txBody>
      </p:sp>
      <p:sp>
        <p:nvSpPr>
          <p:cNvPr id="8" name="Shape 8"/>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spcBef>
                <a:spcPts val="0"/>
              </a:spcBef>
              <a:spcAft>
                <a:spcPts val="0"/>
              </a:spcAft>
              <a:buNone/>
            </a:pPr>
            <a:fld id="{00000000-1234-1234-1234-123412341234}" type="slidenum">
              <a:rPr lang="en-GB"/>
              <a:pPr marL="0" lvl="0" indent="0">
                <a:spcBef>
                  <a:spcPts val="0"/>
                </a:spcBef>
                <a:spcAft>
                  <a:spcPts val="0"/>
                </a:spcAft>
                <a:buNone/>
              </a:pPr>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4" r:id="rId4"/>
    <p:sldLayoutId id="2147483655" r:id="rId5"/>
    <p:sldLayoutId id="2147483656" r:id="rId6"/>
    <p:sldLayoutId id="214748365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guru99.com/relational-data-model-dbms.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guru99.com/business-intelligence-definition-example.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s://www.tutorialspoint.com/mongodb/mongodb_php.htm" TargetMode="External"/><Relationship Id="rId2" Type="http://schemas.openxmlformats.org/officeDocument/2006/relationships/hyperlink" Target="https://www.tutorialspoint.com/mongodb/mongodb_java.htm"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461" y="925909"/>
            <a:ext cx="8520600" cy="1020877"/>
          </a:xfrm>
        </p:spPr>
        <p:txBody>
          <a:bodyPr/>
          <a:lstStyle/>
          <a:p>
            <a:r>
              <a:rPr lang="en-US" dirty="0"/>
              <a:t>UNIT-5 NOSQL</a:t>
            </a:r>
            <a:endParaRPr lang="en-IN" dirty="0"/>
          </a:p>
        </p:txBody>
      </p:sp>
      <p:sp>
        <p:nvSpPr>
          <p:cNvPr id="3" name="Subtitle 2"/>
          <p:cNvSpPr>
            <a:spLocks noGrp="1"/>
          </p:cNvSpPr>
          <p:nvPr>
            <p:ph type="subTitle" idx="1"/>
          </p:nvPr>
        </p:nvSpPr>
        <p:spPr>
          <a:xfrm>
            <a:off x="259953" y="2064774"/>
            <a:ext cx="8520600" cy="3740785"/>
          </a:xfrm>
        </p:spPr>
        <p:txBody>
          <a:bodyPr/>
          <a:lstStyle/>
          <a:p>
            <a:pPr marL="114300" indent="0" algn="just"/>
            <a:r>
              <a:rPr lang="en-US" dirty="0">
                <a:solidFill>
                  <a:schemeClr val="accent4">
                    <a:lumMod val="75000"/>
                  </a:schemeClr>
                </a:solidFill>
              </a:rPr>
              <a:t>Introduction to NOSQL Systems, The CAP Theorem, Document-Based NOSQL Systems and MongoDB, NOSQL Key-Value Stores, Column-Based or Wide Column NOSQL Systems, NOSQL Graph Databases and Neo4j</a:t>
            </a:r>
          </a:p>
          <a:p>
            <a:pPr marL="114300" indent="0" algn="just"/>
            <a:endParaRPr lang="en-US" dirty="0"/>
          </a:p>
          <a:p>
            <a:pPr marL="114300" indent="0" algn="just"/>
            <a:endParaRPr lang="en-US" dirty="0"/>
          </a:p>
          <a:p>
            <a:pPr marL="114300" indent="0" algn="just"/>
            <a:r>
              <a:rPr lang="en-US" sz="2000" dirty="0">
                <a:solidFill>
                  <a:srgbClr val="7030A0"/>
                </a:solidFill>
              </a:rPr>
              <a:t>     Dr. Manjunatha Swamy C </a:t>
            </a:r>
          </a:p>
          <a:p>
            <a:pPr marL="114300" indent="0" algn="just"/>
            <a:r>
              <a:rPr lang="en-US" sz="2000" dirty="0">
                <a:solidFill>
                  <a:srgbClr val="7030A0"/>
                </a:solidFill>
              </a:rPr>
              <a:t>      Associate Professor, Dept. of ADSE</a:t>
            </a:r>
          </a:p>
          <a:p>
            <a:pPr marL="114300" indent="0" algn="just"/>
            <a:r>
              <a:rPr lang="en-US" sz="2000" dirty="0">
                <a:solidFill>
                  <a:srgbClr val="7030A0"/>
                </a:solidFill>
              </a:rPr>
              <a:t>      B3   F1  325 Cabin -54</a:t>
            </a:r>
          </a:p>
          <a:p>
            <a:pPr marL="114300" indent="0" algn="just"/>
            <a:endParaRPr lang="en-US" dirty="0"/>
          </a:p>
        </p:txBody>
      </p:sp>
    </p:spTree>
    <p:extLst>
      <p:ext uri="{BB962C8B-B14F-4D97-AF65-F5344CB8AC3E}">
        <p14:creationId xmlns:p14="http://schemas.microsoft.com/office/powerpoint/2010/main" val="259101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114300" indent="0"/>
            <a:r>
              <a:rPr lang="en-US" dirty="0"/>
              <a:t>Introduction to NOSQL Systems</a:t>
            </a:r>
          </a:p>
        </p:txBody>
      </p:sp>
      <p:sp>
        <p:nvSpPr>
          <p:cNvPr id="3" name="Text Placeholder 2"/>
          <p:cNvSpPr>
            <a:spLocks noGrp="1"/>
          </p:cNvSpPr>
          <p:nvPr>
            <p:ph type="body" idx="1"/>
          </p:nvPr>
        </p:nvSpPr>
        <p:spPr/>
        <p:txBody>
          <a:bodyPr/>
          <a:lstStyle/>
          <a:p>
            <a:r>
              <a:rPr lang="en-US" sz="2400" b="1" dirty="0" err="1"/>
              <a:t>NoSQL</a:t>
            </a:r>
            <a:r>
              <a:rPr lang="en-US" sz="2400" b="1" dirty="0"/>
              <a:t> databases store data in documents (JSON format) rather than relational tables.</a:t>
            </a:r>
          </a:p>
          <a:p>
            <a:r>
              <a:rPr lang="en-US" sz="2400" dirty="0" err="1"/>
              <a:t>NoSQL</a:t>
            </a:r>
            <a:r>
              <a:rPr lang="en-US" sz="2400" dirty="0"/>
              <a:t> stands for “not only SQL” rather than “no SQL” at all.</a:t>
            </a:r>
          </a:p>
          <a:p>
            <a:r>
              <a:rPr lang="en-US" sz="2400" dirty="0" err="1"/>
              <a:t>NoSQL</a:t>
            </a:r>
            <a:r>
              <a:rPr lang="en-US" sz="2400" dirty="0"/>
              <a:t> databases are built to be flexible, scalable, and capable of rapidly responding to the data management demands of modern businesses.</a:t>
            </a:r>
            <a:endParaRPr lang="en-US" sz="2400" b="1" dirty="0"/>
          </a:p>
          <a:p>
            <a:r>
              <a:rPr lang="en-US" sz="2400" dirty="0"/>
              <a:t>Most popular types of </a:t>
            </a:r>
            <a:r>
              <a:rPr lang="en-US" sz="2400" dirty="0" err="1"/>
              <a:t>NoSQL</a:t>
            </a:r>
            <a:r>
              <a:rPr lang="en-US" sz="2400" dirty="0"/>
              <a:t> databases: </a:t>
            </a:r>
            <a:r>
              <a:rPr lang="en-US" sz="2400" dirty="0">
                <a:solidFill>
                  <a:srgbClr val="FF0000"/>
                </a:solidFill>
              </a:rPr>
              <a:t>pure document databases</a:t>
            </a:r>
            <a:r>
              <a:rPr lang="en-US" sz="2400" dirty="0"/>
              <a:t>, </a:t>
            </a:r>
            <a:r>
              <a:rPr lang="en-US" sz="2400" dirty="0">
                <a:solidFill>
                  <a:schemeClr val="accent6">
                    <a:lumMod val="50000"/>
                  </a:schemeClr>
                </a:solidFill>
              </a:rPr>
              <a:t>key-value stores</a:t>
            </a:r>
            <a:r>
              <a:rPr lang="en-US" sz="2400" dirty="0"/>
              <a:t>, </a:t>
            </a:r>
            <a:r>
              <a:rPr lang="en-US" sz="2400" dirty="0">
                <a:solidFill>
                  <a:srgbClr val="0070C0"/>
                </a:solidFill>
              </a:rPr>
              <a:t>wide-column databases</a:t>
            </a:r>
            <a:r>
              <a:rPr lang="en-US" sz="2400" dirty="0"/>
              <a:t>, and </a:t>
            </a:r>
            <a:r>
              <a:rPr lang="en-US" sz="2400" dirty="0">
                <a:solidFill>
                  <a:srgbClr val="00B050"/>
                </a:solidFill>
              </a:rPr>
              <a:t>graph databases</a:t>
            </a:r>
            <a:r>
              <a:rPr lang="en-US" sz="2400" dirty="0"/>
              <a:t>.</a:t>
            </a:r>
          </a:p>
          <a:p>
            <a:r>
              <a:rPr lang="en-US" sz="2400" dirty="0" err="1"/>
              <a:t>NoSQL</a:t>
            </a:r>
            <a:r>
              <a:rPr lang="en-US" sz="2400" dirty="0"/>
              <a:t> databases are built from the ground up to store and process vast amounts of data at scale and support a growing number of modern businesses.</a:t>
            </a:r>
          </a:p>
          <a:p>
            <a:endParaRPr lang="en-US" sz="2400" dirty="0"/>
          </a:p>
        </p:txBody>
      </p:sp>
    </p:spTree>
    <p:extLst>
      <p:ext uri="{BB962C8B-B14F-4D97-AF65-F5344CB8AC3E}">
        <p14:creationId xmlns:p14="http://schemas.microsoft.com/office/powerpoint/2010/main" val="2086405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t>
            </a:r>
            <a:r>
              <a:rPr lang="en-US" dirty="0" err="1"/>
              <a:t>NoSQL</a:t>
            </a:r>
            <a:r>
              <a:rPr lang="en-US" dirty="0"/>
              <a:t>?</a:t>
            </a:r>
          </a:p>
        </p:txBody>
      </p:sp>
      <p:sp>
        <p:nvSpPr>
          <p:cNvPr id="3" name="Text Placeholder 2"/>
          <p:cNvSpPr>
            <a:spLocks noGrp="1"/>
          </p:cNvSpPr>
          <p:nvPr>
            <p:ph type="body" idx="1"/>
          </p:nvPr>
        </p:nvSpPr>
        <p:spPr/>
        <p:txBody>
          <a:bodyPr/>
          <a:lstStyle/>
          <a:p>
            <a:r>
              <a:rPr lang="en-US" sz="2800" dirty="0"/>
              <a:t>Today’s web, mobile, and </a:t>
            </a:r>
            <a:r>
              <a:rPr lang="en-US" sz="2800" dirty="0" err="1"/>
              <a:t>IoT</a:t>
            </a:r>
            <a:r>
              <a:rPr lang="en-US" sz="2800" dirty="0"/>
              <a:t> applications need to</a:t>
            </a:r>
          </a:p>
          <a:p>
            <a:pPr lvl="1"/>
            <a:r>
              <a:rPr lang="en-US" sz="2400" dirty="0"/>
              <a:t>Support large numbers of concurrent users (tens of thousands, perhaps millions)</a:t>
            </a:r>
          </a:p>
          <a:p>
            <a:pPr lvl="1"/>
            <a:r>
              <a:rPr lang="en-US" sz="2400" dirty="0"/>
              <a:t>Deliver highly responsive experiences to a globally distributed base of users</a:t>
            </a:r>
          </a:p>
          <a:p>
            <a:pPr lvl="1"/>
            <a:r>
              <a:rPr lang="en-US" sz="2400" dirty="0"/>
              <a:t>Be always available – no downtime (As more customers are going online)</a:t>
            </a:r>
          </a:p>
          <a:p>
            <a:pPr lvl="1"/>
            <a:r>
              <a:rPr lang="en-US" sz="2400" dirty="0"/>
              <a:t>Handle semi- and unstructured data (As big data is getting bigger)</a:t>
            </a:r>
          </a:p>
          <a:p>
            <a:pPr lvl="1"/>
            <a:r>
              <a:rPr lang="en-US" sz="2400" dirty="0"/>
              <a:t>Rapidly adapt to changing requirements with frequent updates and new features</a:t>
            </a:r>
          </a:p>
          <a:p>
            <a:endParaRPr lang="en-US" sz="2800" dirty="0"/>
          </a:p>
        </p:txBody>
      </p:sp>
    </p:spTree>
    <p:extLst>
      <p:ext uri="{BB962C8B-B14F-4D97-AF65-F5344CB8AC3E}">
        <p14:creationId xmlns:p14="http://schemas.microsoft.com/office/powerpoint/2010/main" val="2802701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311700" y="1393758"/>
            <a:ext cx="8520600" cy="4555200"/>
          </a:xfrm>
        </p:spPr>
        <p:txBody>
          <a:bodyPr/>
          <a:lstStyle/>
          <a:p>
            <a:r>
              <a:rPr lang="en-US" sz="2800" dirty="0"/>
              <a:t>Global 2000 enterprises are rapidly embracing </a:t>
            </a:r>
            <a:r>
              <a:rPr lang="en-US" sz="2800" dirty="0" err="1"/>
              <a:t>NoSQL</a:t>
            </a:r>
            <a:r>
              <a:rPr lang="en-US" sz="2800" dirty="0"/>
              <a:t> databases to power their mission-critical applications:</a:t>
            </a:r>
          </a:p>
          <a:p>
            <a:pPr lvl="1"/>
            <a:r>
              <a:rPr lang="en-US" sz="2400" b="1" dirty="0"/>
              <a:t>Tesco</a:t>
            </a:r>
            <a:r>
              <a:rPr lang="en-US" sz="2400" dirty="0"/>
              <a:t>, Europe’s No. 1 retailer, deploys </a:t>
            </a:r>
            <a:r>
              <a:rPr lang="en-US" sz="2400" dirty="0" err="1"/>
              <a:t>NoSQL</a:t>
            </a:r>
            <a:r>
              <a:rPr lang="en-US" sz="2400" dirty="0"/>
              <a:t> for e-commerce, product catalog, and other applications</a:t>
            </a:r>
          </a:p>
          <a:p>
            <a:pPr lvl="1"/>
            <a:r>
              <a:rPr lang="en-US" sz="2400" b="1" dirty="0" err="1"/>
              <a:t>Ryanair</a:t>
            </a:r>
            <a:r>
              <a:rPr lang="en-US" sz="2400" dirty="0"/>
              <a:t>, the world’s busiest airline, uses </a:t>
            </a:r>
            <a:r>
              <a:rPr lang="en-US" sz="2400" dirty="0" err="1"/>
              <a:t>NoSQL</a:t>
            </a:r>
            <a:r>
              <a:rPr lang="en-US" sz="2400" dirty="0"/>
              <a:t> to power its mobile app serving over 3 million users</a:t>
            </a:r>
          </a:p>
          <a:p>
            <a:pPr lvl="1"/>
            <a:r>
              <a:rPr lang="en-US" sz="2400" b="1" dirty="0"/>
              <a:t>Marriott</a:t>
            </a:r>
            <a:r>
              <a:rPr lang="en-US" sz="2400" dirty="0"/>
              <a:t> deploys </a:t>
            </a:r>
            <a:r>
              <a:rPr lang="en-US" sz="2400" dirty="0" err="1"/>
              <a:t>NoSQL</a:t>
            </a:r>
            <a:r>
              <a:rPr lang="en-US" sz="2400" dirty="0"/>
              <a:t> for its reservation system that books $38 billion annually</a:t>
            </a:r>
          </a:p>
          <a:p>
            <a:pPr lvl="1"/>
            <a:r>
              <a:rPr lang="en-US" sz="2400" b="1" dirty="0"/>
              <a:t>Gannett</a:t>
            </a:r>
            <a:r>
              <a:rPr lang="en-US" sz="2400" dirty="0"/>
              <a:t>, the No. 1 U.S. newspaper publisher, uses </a:t>
            </a:r>
            <a:r>
              <a:rPr lang="en-US" sz="2400" dirty="0" err="1"/>
              <a:t>NoSQL</a:t>
            </a:r>
            <a:r>
              <a:rPr lang="en-US" sz="2400" dirty="0"/>
              <a:t> for its proprietary content management system, Presto</a:t>
            </a:r>
          </a:p>
          <a:p>
            <a:pPr lvl="1"/>
            <a:r>
              <a:rPr lang="en-US" sz="2400" b="1" dirty="0"/>
              <a:t>GE</a:t>
            </a:r>
            <a:r>
              <a:rPr lang="en-US" sz="2400" dirty="0"/>
              <a:t> deploys </a:t>
            </a:r>
            <a:r>
              <a:rPr lang="en-US" sz="2400" dirty="0" err="1"/>
              <a:t>NoSQL</a:t>
            </a:r>
            <a:r>
              <a:rPr lang="en-US" sz="2400" dirty="0"/>
              <a:t> for its </a:t>
            </a:r>
            <a:r>
              <a:rPr lang="en-US" sz="2400" dirty="0" err="1"/>
              <a:t>Predix</a:t>
            </a:r>
            <a:r>
              <a:rPr lang="en-US" sz="2400" dirty="0"/>
              <a:t> platform to help manage the Industrial Internet</a:t>
            </a:r>
          </a:p>
          <a:p>
            <a:endParaRPr lang="en-US" sz="2800" dirty="0"/>
          </a:p>
        </p:txBody>
      </p:sp>
    </p:spTree>
    <p:extLst>
      <p:ext uri="{BB962C8B-B14F-4D97-AF65-F5344CB8AC3E}">
        <p14:creationId xmlns:p14="http://schemas.microsoft.com/office/powerpoint/2010/main" val="3550403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NOSQL</a:t>
            </a:r>
          </a:p>
        </p:txBody>
      </p:sp>
      <p:sp>
        <p:nvSpPr>
          <p:cNvPr id="3" name="Text Placeholder 2"/>
          <p:cNvSpPr>
            <a:spLocks noGrp="1"/>
          </p:cNvSpPr>
          <p:nvPr>
            <p:ph type="body" idx="1"/>
          </p:nvPr>
        </p:nvSpPr>
        <p:spPr/>
        <p:txBody>
          <a:bodyPr/>
          <a:lstStyle/>
          <a:p>
            <a:r>
              <a:rPr lang="en-US" dirty="0"/>
              <a:t>1998- Carlo </a:t>
            </a:r>
            <a:r>
              <a:rPr lang="en-US" dirty="0" err="1"/>
              <a:t>Strozzi</a:t>
            </a:r>
            <a:r>
              <a:rPr lang="en-US" dirty="0"/>
              <a:t> use the term </a:t>
            </a:r>
            <a:r>
              <a:rPr lang="en-US" dirty="0" err="1"/>
              <a:t>NoSQL</a:t>
            </a:r>
            <a:r>
              <a:rPr lang="en-US" dirty="0"/>
              <a:t> for his lightweight, open-source relational database</a:t>
            </a:r>
          </a:p>
          <a:p>
            <a:r>
              <a:rPr lang="en-US" dirty="0"/>
              <a:t>2000- Graph database Neo4j is launched</a:t>
            </a:r>
          </a:p>
          <a:p>
            <a:r>
              <a:rPr lang="en-US" dirty="0"/>
              <a:t>2004- Google </a:t>
            </a:r>
            <a:r>
              <a:rPr lang="en-US" dirty="0" err="1"/>
              <a:t>BigTable</a:t>
            </a:r>
            <a:r>
              <a:rPr lang="en-US" dirty="0"/>
              <a:t> is launched</a:t>
            </a:r>
          </a:p>
          <a:p>
            <a:r>
              <a:rPr lang="en-US" dirty="0"/>
              <a:t>2005- </a:t>
            </a:r>
            <a:r>
              <a:rPr lang="en-US" dirty="0" err="1"/>
              <a:t>CouchDB</a:t>
            </a:r>
            <a:r>
              <a:rPr lang="en-US" dirty="0"/>
              <a:t> is launched</a:t>
            </a:r>
          </a:p>
          <a:p>
            <a:r>
              <a:rPr lang="en-US" dirty="0"/>
              <a:t>2007- The research paper on Amazon Dynamo is released</a:t>
            </a:r>
          </a:p>
          <a:p>
            <a:r>
              <a:rPr lang="en-US" dirty="0"/>
              <a:t>2008- </a:t>
            </a:r>
            <a:r>
              <a:rPr lang="en-US" dirty="0" err="1"/>
              <a:t>Facebooks</a:t>
            </a:r>
            <a:r>
              <a:rPr lang="en-US" dirty="0"/>
              <a:t> open sources the Cassandra project</a:t>
            </a:r>
          </a:p>
          <a:p>
            <a:r>
              <a:rPr lang="en-US" dirty="0"/>
              <a:t>2009- The term </a:t>
            </a:r>
            <a:r>
              <a:rPr lang="en-US" dirty="0" err="1"/>
              <a:t>NoSQL</a:t>
            </a:r>
            <a:r>
              <a:rPr lang="en-US" dirty="0"/>
              <a:t> was reintroduced</a:t>
            </a:r>
          </a:p>
          <a:p>
            <a:endParaRPr lang="en-US" dirty="0"/>
          </a:p>
        </p:txBody>
      </p:sp>
    </p:spTree>
    <p:extLst>
      <p:ext uri="{BB962C8B-B14F-4D97-AF65-F5344CB8AC3E}">
        <p14:creationId xmlns:p14="http://schemas.microsoft.com/office/powerpoint/2010/main" val="804077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650" y="383817"/>
            <a:ext cx="8520600" cy="763500"/>
          </a:xfrm>
        </p:spPr>
        <p:txBody>
          <a:bodyPr/>
          <a:lstStyle/>
          <a:p>
            <a:r>
              <a:rPr lang="en-US" dirty="0"/>
              <a:t>Features of NOSQL</a:t>
            </a:r>
          </a:p>
        </p:txBody>
      </p:sp>
      <p:sp>
        <p:nvSpPr>
          <p:cNvPr id="3" name="Text Placeholder 2"/>
          <p:cNvSpPr>
            <a:spLocks noGrp="1"/>
          </p:cNvSpPr>
          <p:nvPr>
            <p:ph type="body" idx="1"/>
          </p:nvPr>
        </p:nvSpPr>
        <p:spPr>
          <a:xfrm>
            <a:off x="311700" y="1028700"/>
            <a:ext cx="8520600" cy="5063133"/>
          </a:xfrm>
        </p:spPr>
        <p:txBody>
          <a:bodyPr/>
          <a:lstStyle/>
          <a:p>
            <a:pPr marL="88900" indent="0">
              <a:buNone/>
            </a:pPr>
            <a:r>
              <a:rPr lang="en-US" sz="1800" b="1" dirty="0"/>
              <a:t>Non-relational</a:t>
            </a:r>
            <a:endParaRPr lang="en-US" sz="1800" dirty="0"/>
          </a:p>
          <a:p>
            <a:r>
              <a:rPr lang="en-US" sz="1800" dirty="0" err="1"/>
              <a:t>NoSQL</a:t>
            </a:r>
            <a:r>
              <a:rPr lang="en-US" sz="1800" dirty="0"/>
              <a:t> databases never follow the </a:t>
            </a:r>
            <a:r>
              <a:rPr lang="en-US" sz="1800" dirty="0">
                <a:hlinkClick r:id="rId2"/>
              </a:rPr>
              <a:t>relational model</a:t>
            </a:r>
            <a:endParaRPr lang="en-US" sz="1800" dirty="0"/>
          </a:p>
          <a:p>
            <a:r>
              <a:rPr lang="en-US" sz="1800" dirty="0"/>
              <a:t>Never provide tables with flat fixed-column records</a:t>
            </a:r>
          </a:p>
          <a:p>
            <a:r>
              <a:rPr lang="en-US" sz="1800" dirty="0"/>
              <a:t>Work with self-contained aggregates or BLOBs</a:t>
            </a:r>
          </a:p>
          <a:p>
            <a:r>
              <a:rPr lang="en-US" sz="1800" dirty="0"/>
              <a:t>Doesn’t require object-relational mapping and data normalization</a:t>
            </a:r>
          </a:p>
          <a:p>
            <a:r>
              <a:rPr lang="en-US" sz="1800" dirty="0"/>
              <a:t>No complex features like query languages, query </a:t>
            </a:r>
            <a:r>
              <a:rPr lang="en-US" sz="1800" dirty="0" err="1"/>
              <a:t>planners,referential</a:t>
            </a:r>
            <a:r>
              <a:rPr lang="en-US" sz="1800" dirty="0"/>
              <a:t> integrity joins, ACID</a:t>
            </a:r>
          </a:p>
          <a:p>
            <a:pPr marL="88900" indent="0">
              <a:buNone/>
            </a:pPr>
            <a:r>
              <a:rPr lang="en-US" sz="1800" b="1" dirty="0"/>
              <a:t>Schema-free</a:t>
            </a:r>
            <a:endParaRPr lang="en-US" sz="1800" dirty="0"/>
          </a:p>
          <a:p>
            <a:r>
              <a:rPr lang="en-US" sz="1800" dirty="0" err="1"/>
              <a:t>NoSQL</a:t>
            </a:r>
            <a:r>
              <a:rPr lang="en-US" sz="1800" dirty="0"/>
              <a:t> databases are either schema-free or have relaxed schemas</a:t>
            </a:r>
          </a:p>
          <a:p>
            <a:r>
              <a:rPr lang="en-US" sz="1800" dirty="0"/>
              <a:t>Do not require any sort of definition of the schema of the data</a:t>
            </a:r>
          </a:p>
          <a:p>
            <a:r>
              <a:rPr lang="en-US" sz="1800" dirty="0"/>
              <a:t>Offers heterogeneous structures of data in the same domain</a:t>
            </a:r>
          </a:p>
          <a:p>
            <a:endParaRPr lang="en-US" sz="1800" dirty="0"/>
          </a:p>
        </p:txBody>
      </p:sp>
      <p:pic>
        <p:nvPicPr>
          <p:cNvPr id="2050" name="Picture 2" descr="https://www.guru99.com/images/1/101818_0537_NoSQLTutori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4475" y="3943350"/>
            <a:ext cx="4754537" cy="2300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8085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8212" y="288567"/>
            <a:ext cx="8520600" cy="763500"/>
          </a:xfrm>
        </p:spPr>
        <p:txBody>
          <a:bodyPr/>
          <a:lstStyle/>
          <a:p>
            <a:r>
              <a:rPr lang="en-US" dirty="0"/>
              <a:t>…..</a:t>
            </a:r>
            <a:r>
              <a:rPr lang="en-US" dirty="0" err="1"/>
              <a:t>Contd</a:t>
            </a:r>
            <a:endParaRPr lang="en-US" dirty="0"/>
          </a:p>
        </p:txBody>
      </p:sp>
      <p:sp>
        <p:nvSpPr>
          <p:cNvPr id="3" name="Text Placeholder 2"/>
          <p:cNvSpPr>
            <a:spLocks noGrp="1"/>
          </p:cNvSpPr>
          <p:nvPr>
            <p:ph type="body" idx="1"/>
          </p:nvPr>
        </p:nvSpPr>
        <p:spPr>
          <a:xfrm>
            <a:off x="348212" y="822258"/>
            <a:ext cx="8520600" cy="4555200"/>
          </a:xfrm>
        </p:spPr>
        <p:txBody>
          <a:bodyPr/>
          <a:lstStyle/>
          <a:p>
            <a:pPr marL="88900" indent="0">
              <a:buNone/>
            </a:pPr>
            <a:r>
              <a:rPr lang="en-US" sz="1400" b="1" dirty="0"/>
              <a:t>Simple API</a:t>
            </a:r>
            <a:endParaRPr lang="en-US" sz="1400" dirty="0"/>
          </a:p>
          <a:p>
            <a:r>
              <a:rPr lang="en-US" sz="1400" dirty="0"/>
              <a:t>Offers easy to use interfaces for storage and querying data provided</a:t>
            </a:r>
          </a:p>
          <a:p>
            <a:r>
              <a:rPr lang="en-US" sz="1400" dirty="0"/>
              <a:t>APIs allow low-level data manipulation &amp; selection methods</a:t>
            </a:r>
          </a:p>
          <a:p>
            <a:r>
              <a:rPr lang="en-US" sz="1400" dirty="0"/>
              <a:t>Text-based protocols mostly used with HTTP REST with JSON</a:t>
            </a:r>
          </a:p>
          <a:p>
            <a:r>
              <a:rPr lang="en-US" sz="1400" dirty="0"/>
              <a:t>Mostly used no standard based </a:t>
            </a:r>
            <a:r>
              <a:rPr lang="en-US" sz="1400" dirty="0" err="1"/>
              <a:t>NoSQL</a:t>
            </a:r>
            <a:r>
              <a:rPr lang="en-US" sz="1400" dirty="0"/>
              <a:t> query language</a:t>
            </a:r>
          </a:p>
          <a:p>
            <a:r>
              <a:rPr lang="en-US" sz="1400" dirty="0"/>
              <a:t>Web-enabled databases running as internet-facing services</a:t>
            </a:r>
          </a:p>
          <a:p>
            <a:pPr marL="88900" indent="0">
              <a:buNone/>
            </a:pPr>
            <a:r>
              <a:rPr lang="en-US" sz="1400" b="1" dirty="0"/>
              <a:t>Distributed</a:t>
            </a:r>
            <a:endParaRPr lang="en-US" sz="1400" dirty="0"/>
          </a:p>
          <a:p>
            <a:r>
              <a:rPr lang="en-US" sz="1400" dirty="0"/>
              <a:t>Multiple </a:t>
            </a:r>
            <a:r>
              <a:rPr lang="en-US" sz="1400" dirty="0" err="1"/>
              <a:t>NoSQL</a:t>
            </a:r>
            <a:r>
              <a:rPr lang="en-US" sz="1400" dirty="0"/>
              <a:t> databases can be executed in a distributed fashion</a:t>
            </a:r>
          </a:p>
          <a:p>
            <a:r>
              <a:rPr lang="en-US" sz="1400" dirty="0"/>
              <a:t>Offers auto-scaling and fail-over capabilities</a:t>
            </a:r>
          </a:p>
          <a:p>
            <a:r>
              <a:rPr lang="en-US" sz="1400" dirty="0"/>
              <a:t>Often ACID concept can be sacrificed for scalability and throughput</a:t>
            </a:r>
          </a:p>
          <a:p>
            <a:r>
              <a:rPr lang="en-US" sz="1400" dirty="0"/>
              <a:t>Mostly no synchronous replication between distributed nodes Asynchronous Multi-Master Replication, peer-to-peer, HDFS Replication</a:t>
            </a:r>
          </a:p>
          <a:p>
            <a:r>
              <a:rPr lang="en-US" sz="1400" dirty="0"/>
              <a:t>Only providing eventual consistency</a:t>
            </a:r>
          </a:p>
          <a:p>
            <a:r>
              <a:rPr lang="en-US" sz="1400" dirty="0"/>
              <a:t>Shared Nothing Architecture. This enables less coordination and higher distribution.</a:t>
            </a:r>
          </a:p>
          <a:p>
            <a:endParaRPr lang="en-US" sz="1400" dirty="0"/>
          </a:p>
        </p:txBody>
      </p:sp>
      <p:pic>
        <p:nvPicPr>
          <p:cNvPr id="3074" name="Picture 2" descr="https://www.guru99.com/images/1/101818_0537_NoSQLTutori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8126" y="3894138"/>
            <a:ext cx="6407150" cy="2448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1332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225" y="161925"/>
            <a:ext cx="8520600" cy="763500"/>
          </a:xfrm>
        </p:spPr>
        <p:txBody>
          <a:bodyPr/>
          <a:lstStyle/>
          <a:p>
            <a:r>
              <a:rPr lang="en-US" dirty="0"/>
              <a:t>Why relational databases fall short</a:t>
            </a:r>
          </a:p>
        </p:txBody>
      </p:sp>
      <p:sp>
        <p:nvSpPr>
          <p:cNvPr id="3" name="Text Placeholder 2"/>
          <p:cNvSpPr>
            <a:spLocks noGrp="1"/>
          </p:cNvSpPr>
          <p:nvPr>
            <p:ph type="body" idx="1"/>
          </p:nvPr>
        </p:nvSpPr>
        <p:spPr/>
        <p:txBody>
          <a:bodyPr/>
          <a:lstStyle/>
          <a:p>
            <a:endParaRPr lang="en-US" sz="1600" dirty="0">
              <a:latin typeface="Book Antiqua" pitchFamily="18" charset="0"/>
            </a:endParaRPr>
          </a:p>
          <a:p>
            <a:endParaRPr lang="en-US" sz="1600" dirty="0">
              <a:latin typeface="Book Antiqua" pitchFamily="18" charset="0"/>
            </a:endParaRPr>
          </a:p>
          <a:p>
            <a:endParaRPr lang="en-US" sz="1600" dirty="0">
              <a:latin typeface="Book Antiqua" pitchFamily="18" charset="0"/>
            </a:endParaRPr>
          </a:p>
          <a:p>
            <a:endParaRPr lang="en-US" sz="1600" dirty="0">
              <a:latin typeface="Book Antiqua" pitchFamily="18" charset="0"/>
            </a:endParaRPr>
          </a:p>
          <a:p>
            <a:endParaRPr lang="en-US" sz="1600" dirty="0">
              <a:latin typeface="Book Antiqua" pitchFamily="18" charset="0"/>
            </a:endParaRPr>
          </a:p>
          <a:p>
            <a:endParaRPr lang="en-US" sz="1600" dirty="0">
              <a:latin typeface="Book Antiqua"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909084995"/>
              </p:ext>
            </p:extLst>
          </p:nvPr>
        </p:nvGraphicFramePr>
        <p:xfrm>
          <a:off x="142874" y="723900"/>
          <a:ext cx="9001126" cy="6055045"/>
        </p:xfrm>
        <a:graphic>
          <a:graphicData uri="http://schemas.openxmlformats.org/drawingml/2006/table">
            <a:tbl>
              <a:tblPr firstRow="1" firstCol="1" bandRow="1">
                <a:tableStyleId>{5C22544A-7EE6-4342-B048-85BDC9FD1C3A}</a:tableStyleId>
              </a:tblPr>
              <a:tblGrid>
                <a:gridCol w="4500563">
                  <a:extLst>
                    <a:ext uri="{9D8B030D-6E8A-4147-A177-3AD203B41FA5}">
                      <a16:colId xmlns:a16="http://schemas.microsoft.com/office/drawing/2014/main" val="20000"/>
                    </a:ext>
                  </a:extLst>
                </a:gridCol>
                <a:gridCol w="4500563">
                  <a:extLst>
                    <a:ext uri="{9D8B030D-6E8A-4147-A177-3AD203B41FA5}">
                      <a16:colId xmlns:a16="http://schemas.microsoft.com/office/drawing/2014/main" val="20001"/>
                    </a:ext>
                  </a:extLst>
                </a:gridCol>
              </a:tblGrid>
              <a:tr h="178798">
                <a:tc>
                  <a:txBody>
                    <a:bodyPr/>
                    <a:lstStyle/>
                    <a:p>
                      <a:pPr marL="0" marR="0" algn="ctr">
                        <a:lnSpc>
                          <a:spcPct val="115000"/>
                        </a:lnSpc>
                        <a:spcBef>
                          <a:spcPts val="0"/>
                        </a:spcBef>
                        <a:spcAft>
                          <a:spcPts val="0"/>
                        </a:spcAft>
                      </a:pPr>
                      <a:r>
                        <a:rPr lang="en-US" sz="1400" dirty="0">
                          <a:solidFill>
                            <a:schemeClr val="tx1"/>
                          </a:solidFill>
                          <a:effectLst/>
                        </a:rPr>
                        <a:t>RDBMS</a:t>
                      </a:r>
                      <a:endParaRPr lang="en-US" sz="1400" dirty="0">
                        <a:solidFill>
                          <a:schemeClr val="tx1"/>
                        </a:solidFill>
                        <a:effectLst/>
                        <a:latin typeface="Calibri"/>
                        <a:ea typeface="Calibri"/>
                        <a:cs typeface="Times New Roman"/>
                      </a:endParaRPr>
                    </a:p>
                  </a:txBody>
                  <a:tcPr marL="60007" marR="60007" marT="0" marB="0"/>
                </a:tc>
                <a:tc>
                  <a:txBody>
                    <a:bodyPr/>
                    <a:lstStyle/>
                    <a:p>
                      <a:pPr marL="0" marR="0" algn="ctr">
                        <a:lnSpc>
                          <a:spcPct val="115000"/>
                        </a:lnSpc>
                        <a:spcBef>
                          <a:spcPts val="0"/>
                        </a:spcBef>
                        <a:spcAft>
                          <a:spcPts val="0"/>
                        </a:spcAft>
                      </a:pPr>
                      <a:r>
                        <a:rPr lang="en-US" sz="1400">
                          <a:solidFill>
                            <a:schemeClr val="tx1"/>
                          </a:solidFill>
                          <a:effectLst/>
                        </a:rPr>
                        <a:t>NoSQL</a:t>
                      </a:r>
                      <a:endParaRPr lang="en-US" sz="1400">
                        <a:solidFill>
                          <a:schemeClr val="tx1"/>
                        </a:solidFill>
                        <a:effectLst/>
                        <a:latin typeface="Calibri"/>
                        <a:ea typeface="Calibri"/>
                        <a:cs typeface="Times New Roman"/>
                      </a:endParaRPr>
                    </a:p>
                  </a:txBody>
                  <a:tcPr marL="60007" marR="60007" marT="0" marB="0"/>
                </a:tc>
                <a:extLst>
                  <a:ext uri="{0D108BD9-81ED-4DB2-BD59-A6C34878D82A}">
                    <a16:rowId xmlns:a16="http://schemas.microsoft.com/office/drawing/2014/main" val="10000"/>
                  </a:ext>
                </a:extLst>
              </a:tr>
              <a:tr h="536394">
                <a:tc>
                  <a:txBody>
                    <a:bodyPr/>
                    <a:lstStyle/>
                    <a:p>
                      <a:pPr marL="0" marR="0">
                        <a:lnSpc>
                          <a:spcPct val="115000"/>
                        </a:lnSpc>
                        <a:spcBef>
                          <a:spcPts val="0"/>
                        </a:spcBef>
                        <a:spcAft>
                          <a:spcPts val="0"/>
                        </a:spcAft>
                      </a:pPr>
                      <a:r>
                        <a:rPr lang="en-US" sz="1400" dirty="0">
                          <a:solidFill>
                            <a:schemeClr val="tx1"/>
                          </a:solidFill>
                          <a:effectLst/>
                        </a:rPr>
                        <a:t>RDBMS store data in columns and rows</a:t>
                      </a:r>
                      <a:endParaRPr lang="en-US" sz="1400" dirty="0">
                        <a:solidFill>
                          <a:schemeClr val="tx1"/>
                        </a:solidFill>
                        <a:effectLst/>
                        <a:latin typeface="Calibri"/>
                        <a:ea typeface="Calibri"/>
                        <a:cs typeface="Times New Roman"/>
                      </a:endParaRPr>
                    </a:p>
                  </a:txBody>
                  <a:tcPr marL="60007" marR="60007" marT="0" marB="0"/>
                </a:tc>
                <a:tc>
                  <a:txBody>
                    <a:bodyPr/>
                    <a:lstStyle/>
                    <a:p>
                      <a:pPr marL="0" marR="0">
                        <a:lnSpc>
                          <a:spcPct val="115000"/>
                        </a:lnSpc>
                        <a:spcBef>
                          <a:spcPts val="0"/>
                        </a:spcBef>
                        <a:spcAft>
                          <a:spcPts val="0"/>
                        </a:spcAft>
                      </a:pPr>
                      <a:r>
                        <a:rPr lang="en-US" sz="1400">
                          <a:solidFill>
                            <a:schemeClr val="tx1"/>
                          </a:solidFill>
                          <a:effectLst/>
                        </a:rPr>
                        <a:t>NoSQL databases store data in documents (JSON format) rather than relational tables.</a:t>
                      </a:r>
                    </a:p>
                    <a:p>
                      <a:pPr marL="0" marR="0">
                        <a:lnSpc>
                          <a:spcPct val="115000"/>
                        </a:lnSpc>
                        <a:spcBef>
                          <a:spcPts val="0"/>
                        </a:spcBef>
                        <a:spcAft>
                          <a:spcPts val="0"/>
                        </a:spcAft>
                      </a:pPr>
                      <a:r>
                        <a:rPr lang="en-US" sz="1400">
                          <a:solidFill>
                            <a:schemeClr val="tx1"/>
                          </a:solidFill>
                          <a:effectLst/>
                        </a:rPr>
                        <a:t> </a:t>
                      </a:r>
                      <a:endParaRPr lang="en-US" sz="1400">
                        <a:solidFill>
                          <a:schemeClr val="tx1"/>
                        </a:solidFill>
                        <a:effectLst/>
                        <a:latin typeface="Calibri"/>
                        <a:ea typeface="Calibri"/>
                        <a:cs typeface="Times New Roman"/>
                      </a:endParaRPr>
                    </a:p>
                  </a:txBody>
                  <a:tcPr marL="60007" marR="60007" marT="0" marB="0"/>
                </a:tc>
                <a:extLst>
                  <a:ext uri="{0D108BD9-81ED-4DB2-BD59-A6C34878D82A}">
                    <a16:rowId xmlns:a16="http://schemas.microsoft.com/office/drawing/2014/main" val="10001"/>
                  </a:ext>
                </a:extLst>
              </a:tr>
              <a:tr h="2014887">
                <a:tc>
                  <a:txBody>
                    <a:bodyPr/>
                    <a:lstStyle/>
                    <a:p>
                      <a:pPr marL="0" marR="0">
                        <a:lnSpc>
                          <a:spcPct val="115000"/>
                        </a:lnSpc>
                        <a:spcBef>
                          <a:spcPts val="0"/>
                        </a:spcBef>
                        <a:spcAft>
                          <a:spcPts val="0"/>
                        </a:spcAft>
                      </a:pPr>
                      <a:r>
                        <a:rPr lang="en-US" sz="1400" dirty="0">
                          <a:solidFill>
                            <a:schemeClr val="tx1"/>
                          </a:solidFill>
                          <a:effectLst/>
                        </a:rPr>
                        <a:t>Relational DBMS (database management systems) were born in the era of mainframes and business applications – long before the internet, the cloud, big data, mobile, and today’s massively interactive enterprise. These databases were engineered to run on a single server – the bigger, the better. The only way to increase the capacity of these databases was to upgrade the servers – processors, memory, and storage – to scale up. The failure of server brings down the entire database. </a:t>
                      </a:r>
                    </a:p>
                    <a:p>
                      <a:pPr marL="0" marR="0">
                        <a:lnSpc>
                          <a:spcPct val="115000"/>
                        </a:lnSpc>
                        <a:spcBef>
                          <a:spcPts val="0"/>
                        </a:spcBef>
                        <a:spcAft>
                          <a:spcPts val="0"/>
                        </a:spcAft>
                      </a:pPr>
                      <a:r>
                        <a:rPr lang="en-US" sz="1400" dirty="0">
                          <a:solidFill>
                            <a:schemeClr val="tx1"/>
                          </a:solidFill>
                          <a:effectLst/>
                        </a:rPr>
                        <a:t> </a:t>
                      </a:r>
                      <a:endParaRPr lang="en-US" sz="1400" dirty="0">
                        <a:solidFill>
                          <a:schemeClr val="tx1"/>
                        </a:solidFill>
                        <a:effectLst/>
                        <a:latin typeface="Calibri"/>
                        <a:ea typeface="Calibri"/>
                        <a:cs typeface="Times New Roman"/>
                      </a:endParaRPr>
                    </a:p>
                  </a:txBody>
                  <a:tcPr marL="60007" marR="60007" marT="0" marB="0"/>
                </a:tc>
                <a:tc>
                  <a:txBody>
                    <a:bodyPr/>
                    <a:lstStyle/>
                    <a:p>
                      <a:pPr marL="0" marR="0">
                        <a:lnSpc>
                          <a:spcPct val="115000"/>
                        </a:lnSpc>
                        <a:spcBef>
                          <a:spcPts val="0"/>
                        </a:spcBef>
                        <a:spcAft>
                          <a:spcPts val="0"/>
                        </a:spcAft>
                      </a:pPr>
                      <a:r>
                        <a:rPr lang="en-US" sz="1400" dirty="0">
                          <a:solidFill>
                            <a:schemeClr val="tx1"/>
                          </a:solidFill>
                          <a:effectLst/>
                        </a:rPr>
                        <a:t>But </a:t>
                      </a:r>
                      <a:r>
                        <a:rPr lang="en-US" sz="1400" dirty="0" err="1">
                          <a:solidFill>
                            <a:schemeClr val="tx1"/>
                          </a:solidFill>
                          <a:effectLst/>
                        </a:rPr>
                        <a:t>NoSQL</a:t>
                      </a:r>
                      <a:r>
                        <a:rPr lang="en-US" sz="1400" dirty="0">
                          <a:solidFill>
                            <a:schemeClr val="tx1"/>
                          </a:solidFill>
                          <a:effectLst/>
                        </a:rPr>
                        <a:t> adds commodity servers on demand so the hardware resources match the application load. If an instance fails, the application can send requests to a different one.</a:t>
                      </a:r>
                    </a:p>
                    <a:p>
                      <a:pPr marL="0" marR="0">
                        <a:lnSpc>
                          <a:spcPct val="115000"/>
                        </a:lnSpc>
                        <a:spcBef>
                          <a:spcPts val="0"/>
                        </a:spcBef>
                        <a:spcAft>
                          <a:spcPts val="0"/>
                        </a:spcAft>
                      </a:pPr>
                      <a:r>
                        <a:rPr lang="en-US" sz="1400" dirty="0">
                          <a:solidFill>
                            <a:schemeClr val="tx1"/>
                          </a:solidFill>
                          <a:effectLst/>
                        </a:rPr>
                        <a:t> </a:t>
                      </a:r>
                      <a:endParaRPr lang="en-US" sz="1400" dirty="0">
                        <a:solidFill>
                          <a:schemeClr val="tx1"/>
                        </a:solidFill>
                        <a:effectLst/>
                        <a:latin typeface="Calibri"/>
                        <a:ea typeface="Calibri"/>
                        <a:cs typeface="Times New Roman"/>
                      </a:endParaRPr>
                    </a:p>
                  </a:txBody>
                  <a:tcPr marL="60007" marR="60007" marT="0" marB="0"/>
                </a:tc>
                <a:extLst>
                  <a:ext uri="{0D108BD9-81ED-4DB2-BD59-A6C34878D82A}">
                    <a16:rowId xmlns:a16="http://schemas.microsoft.com/office/drawing/2014/main" val="10002"/>
                  </a:ext>
                </a:extLst>
              </a:tr>
              <a:tr h="1436541">
                <a:tc>
                  <a:txBody>
                    <a:bodyPr/>
                    <a:lstStyle/>
                    <a:p>
                      <a:pPr marL="0" marR="0">
                        <a:lnSpc>
                          <a:spcPct val="115000"/>
                        </a:lnSpc>
                        <a:spcBef>
                          <a:spcPts val="0"/>
                        </a:spcBef>
                        <a:spcAft>
                          <a:spcPts val="0"/>
                        </a:spcAft>
                      </a:pPr>
                      <a:r>
                        <a:rPr lang="en-US" sz="1400">
                          <a:solidFill>
                            <a:schemeClr val="tx1"/>
                          </a:solidFill>
                          <a:effectLst/>
                        </a:rPr>
                        <a:t>In relational databases, the data model is fixed and defined by a static schema. So in order to change the data model, developers have to modify the schema, or worse, request a “schema change” from the database administrators. This slows down or stops development, not only because it's a manual, time-consuming process, but also because it impacts other applications and services.</a:t>
                      </a:r>
                      <a:endParaRPr lang="en-US" sz="1400">
                        <a:solidFill>
                          <a:schemeClr val="tx1"/>
                        </a:solidFill>
                        <a:effectLst/>
                        <a:latin typeface="Calibri"/>
                        <a:ea typeface="Calibri"/>
                        <a:cs typeface="Times New Roman"/>
                      </a:endParaRPr>
                    </a:p>
                  </a:txBody>
                  <a:tcPr marL="60007" marR="60007" marT="0" marB="0"/>
                </a:tc>
                <a:tc>
                  <a:txBody>
                    <a:bodyPr/>
                    <a:lstStyle/>
                    <a:p>
                      <a:pPr marL="0" marR="0">
                        <a:lnSpc>
                          <a:spcPct val="115000"/>
                        </a:lnSpc>
                        <a:spcBef>
                          <a:spcPts val="0"/>
                        </a:spcBef>
                        <a:spcAft>
                          <a:spcPts val="0"/>
                        </a:spcAft>
                      </a:pPr>
                      <a:r>
                        <a:rPr lang="en-US" sz="1400" dirty="0">
                          <a:solidFill>
                            <a:schemeClr val="tx1"/>
                          </a:solidFill>
                          <a:effectLst/>
                        </a:rPr>
                        <a:t>By contrast, a </a:t>
                      </a:r>
                      <a:r>
                        <a:rPr lang="en-US" sz="1400" dirty="0" err="1">
                          <a:solidFill>
                            <a:schemeClr val="tx1"/>
                          </a:solidFill>
                          <a:effectLst/>
                        </a:rPr>
                        <a:t>NoSQL</a:t>
                      </a:r>
                      <a:r>
                        <a:rPr lang="en-US" sz="1400" dirty="0">
                          <a:solidFill>
                            <a:schemeClr val="tx1"/>
                          </a:solidFill>
                          <a:effectLst/>
                        </a:rPr>
                        <a:t> database fully supports agile development and does not statically define how the data must be modeled. The data model is defined by the application model. Applications and services model data as objects. </a:t>
                      </a:r>
                    </a:p>
                    <a:p>
                      <a:pPr marL="0" marR="0">
                        <a:lnSpc>
                          <a:spcPct val="115000"/>
                        </a:lnSpc>
                        <a:spcBef>
                          <a:spcPts val="0"/>
                        </a:spcBef>
                        <a:spcAft>
                          <a:spcPts val="0"/>
                        </a:spcAft>
                      </a:pPr>
                      <a:r>
                        <a:rPr lang="en-US" sz="1400" dirty="0">
                          <a:solidFill>
                            <a:schemeClr val="tx1"/>
                          </a:solidFill>
                          <a:effectLst/>
                        </a:rPr>
                        <a:t> </a:t>
                      </a:r>
                    </a:p>
                    <a:p>
                      <a:pPr marL="0" marR="0">
                        <a:lnSpc>
                          <a:spcPct val="115000"/>
                        </a:lnSpc>
                        <a:spcBef>
                          <a:spcPts val="0"/>
                        </a:spcBef>
                        <a:spcAft>
                          <a:spcPts val="0"/>
                        </a:spcAft>
                      </a:pPr>
                      <a:r>
                        <a:rPr lang="en-US" sz="1400" dirty="0">
                          <a:solidFill>
                            <a:schemeClr val="tx1"/>
                          </a:solidFill>
                          <a:effectLst/>
                        </a:rPr>
                        <a:t>The need to develop with agility, to meet changing requirements, and to eliminate data transformation.</a:t>
                      </a:r>
                      <a:endParaRPr lang="en-US" sz="1400" dirty="0">
                        <a:solidFill>
                          <a:schemeClr val="tx1"/>
                        </a:solidFill>
                        <a:effectLst/>
                        <a:latin typeface="Calibri"/>
                        <a:ea typeface="Calibri"/>
                        <a:cs typeface="Times New Roman"/>
                      </a:endParaRPr>
                    </a:p>
                  </a:txBody>
                  <a:tcPr marL="60007" marR="60007" marT="0" marB="0"/>
                </a:tc>
                <a:extLst>
                  <a:ext uri="{0D108BD9-81ED-4DB2-BD59-A6C34878D82A}">
                    <a16:rowId xmlns:a16="http://schemas.microsoft.com/office/drawing/2014/main" val="10003"/>
                  </a:ext>
                </a:extLst>
              </a:tr>
              <a:tr h="357596">
                <a:tc>
                  <a:txBody>
                    <a:bodyPr/>
                    <a:lstStyle/>
                    <a:p>
                      <a:pPr marL="0" marR="0">
                        <a:lnSpc>
                          <a:spcPct val="115000"/>
                        </a:lnSpc>
                        <a:spcBef>
                          <a:spcPts val="0"/>
                        </a:spcBef>
                        <a:spcAft>
                          <a:spcPts val="0"/>
                        </a:spcAft>
                      </a:pPr>
                      <a:r>
                        <a:rPr lang="en-US" sz="1400">
                          <a:solidFill>
                            <a:schemeClr val="tx1"/>
                          </a:solidFill>
                          <a:effectLst/>
                        </a:rPr>
                        <a:t>Requires separate software to replicate the data to other data centers</a:t>
                      </a:r>
                      <a:endParaRPr lang="en-US" sz="1400">
                        <a:solidFill>
                          <a:schemeClr val="tx1"/>
                        </a:solidFill>
                        <a:effectLst/>
                        <a:latin typeface="Calibri"/>
                        <a:ea typeface="Calibri"/>
                        <a:cs typeface="Times New Roman"/>
                      </a:endParaRPr>
                    </a:p>
                  </a:txBody>
                  <a:tcPr marL="60007" marR="60007" marT="0" marB="0"/>
                </a:tc>
                <a:tc>
                  <a:txBody>
                    <a:bodyPr/>
                    <a:lstStyle/>
                    <a:p>
                      <a:pPr marL="0" marR="0">
                        <a:lnSpc>
                          <a:spcPct val="115000"/>
                        </a:lnSpc>
                        <a:spcBef>
                          <a:spcPts val="0"/>
                        </a:spcBef>
                        <a:spcAft>
                          <a:spcPts val="0"/>
                        </a:spcAft>
                      </a:pPr>
                      <a:r>
                        <a:rPr lang="en-US" sz="1400" dirty="0">
                          <a:solidFill>
                            <a:schemeClr val="tx1"/>
                          </a:solidFill>
                          <a:effectLst/>
                        </a:rPr>
                        <a:t>Data replication between data centers is fully built-in and bi-directional</a:t>
                      </a:r>
                      <a:endParaRPr lang="en-US" sz="1400" dirty="0">
                        <a:solidFill>
                          <a:schemeClr val="tx1"/>
                        </a:solidFill>
                        <a:effectLst/>
                        <a:latin typeface="Calibri"/>
                        <a:ea typeface="Calibri"/>
                        <a:cs typeface="Times New Roman"/>
                      </a:endParaRPr>
                    </a:p>
                  </a:txBody>
                  <a:tcPr marL="60007" marR="60007"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47608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ook Antiqua" pitchFamily="18" charset="0"/>
              </a:rPr>
              <a:t>Example</a:t>
            </a:r>
            <a:endParaRPr lang="en-US" dirty="0"/>
          </a:p>
        </p:txBody>
      </p:sp>
      <p:sp>
        <p:nvSpPr>
          <p:cNvPr id="3" name="Text Placeholder 2"/>
          <p:cNvSpPr>
            <a:spLocks noGrp="1"/>
          </p:cNvSpPr>
          <p:nvPr>
            <p:ph type="body" idx="1"/>
          </p:nvPr>
        </p:nvSpPr>
        <p:spPr/>
        <p:txBody>
          <a:bodyPr/>
          <a:lstStyle/>
          <a:p>
            <a:r>
              <a:rPr lang="en-US" dirty="0">
                <a:latin typeface="Book Antiqua" pitchFamily="18" charset="0"/>
              </a:rPr>
              <a:t>Suppose a client needs a database design for his blog/website and see the differences between RDBMS and </a:t>
            </a:r>
            <a:r>
              <a:rPr lang="en-US" dirty="0" err="1">
                <a:latin typeface="Book Antiqua" pitchFamily="18" charset="0"/>
              </a:rPr>
              <a:t>MongoDB</a:t>
            </a:r>
            <a:r>
              <a:rPr lang="en-US" dirty="0">
                <a:latin typeface="Book Antiqua" pitchFamily="18" charset="0"/>
              </a:rPr>
              <a:t> schema design. Website has the following requirements.</a:t>
            </a:r>
          </a:p>
          <a:p>
            <a:r>
              <a:rPr lang="en-US" dirty="0">
                <a:latin typeface="Book Antiqua" pitchFamily="18" charset="0"/>
              </a:rPr>
              <a:t>Every post has the unique title, description and </a:t>
            </a:r>
            <a:r>
              <a:rPr lang="en-US" dirty="0" err="1">
                <a:latin typeface="Book Antiqua" pitchFamily="18" charset="0"/>
              </a:rPr>
              <a:t>url</a:t>
            </a:r>
            <a:r>
              <a:rPr lang="en-US" dirty="0">
                <a:latin typeface="Book Antiqua" pitchFamily="18" charset="0"/>
              </a:rPr>
              <a:t>.</a:t>
            </a:r>
          </a:p>
          <a:p>
            <a:r>
              <a:rPr lang="en-US" dirty="0">
                <a:latin typeface="Book Antiqua" pitchFamily="18" charset="0"/>
              </a:rPr>
              <a:t>Every post can have one or more tags.</a:t>
            </a:r>
          </a:p>
          <a:p>
            <a:r>
              <a:rPr lang="en-US" dirty="0">
                <a:latin typeface="Book Antiqua" pitchFamily="18" charset="0"/>
              </a:rPr>
              <a:t>Every post has the name of its publisher and total number of likes.</a:t>
            </a:r>
          </a:p>
          <a:p>
            <a:r>
              <a:rPr lang="en-US" dirty="0">
                <a:latin typeface="Book Antiqua" pitchFamily="18" charset="0"/>
              </a:rPr>
              <a:t>Every post has comments given by users along with their name, message, data-time and likes.</a:t>
            </a:r>
          </a:p>
          <a:p>
            <a:r>
              <a:rPr lang="en-US" dirty="0">
                <a:latin typeface="Book Antiqua" pitchFamily="18" charset="0"/>
              </a:rPr>
              <a:t>On each post, there can be zero or more comments.</a:t>
            </a:r>
          </a:p>
        </p:txBody>
      </p:sp>
    </p:spTree>
    <p:extLst>
      <p:ext uri="{BB962C8B-B14F-4D97-AF65-F5344CB8AC3E}">
        <p14:creationId xmlns:p14="http://schemas.microsoft.com/office/powerpoint/2010/main" val="1866453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r>
              <a:rPr lang="en-US" dirty="0">
                <a:latin typeface="Book Antiqua" pitchFamily="18" charset="0"/>
              </a:rPr>
              <a:t>In RDBMS schema, design for above requirements will have minimum three tables.</a:t>
            </a:r>
            <a:br>
              <a:rPr lang="en-US" dirty="0">
                <a:latin typeface="Book Antiqua" pitchFamily="18" charset="0"/>
              </a:rPr>
            </a:b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301" y="2767013"/>
            <a:ext cx="8129773" cy="3384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6617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311700" y="1536633"/>
            <a:ext cx="3917400" cy="4555200"/>
          </a:xfrm>
        </p:spPr>
        <p:txBody>
          <a:bodyPr/>
          <a:lstStyle/>
          <a:p>
            <a:r>
              <a:rPr lang="en-US" dirty="0"/>
              <a:t>In </a:t>
            </a:r>
            <a:r>
              <a:rPr lang="en-US" dirty="0" err="1"/>
              <a:t>MongoDB</a:t>
            </a:r>
            <a:r>
              <a:rPr lang="en-US" dirty="0"/>
              <a:t> schema, design will have one collection post and the following structure: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1500" y="738187"/>
            <a:ext cx="3095626" cy="538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8910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CAP Theorem</a:t>
            </a:r>
          </a:p>
        </p:txBody>
      </p:sp>
      <p:sp>
        <p:nvSpPr>
          <p:cNvPr id="3" name="Text Placeholder 2"/>
          <p:cNvSpPr>
            <a:spLocks noGrp="1"/>
          </p:cNvSpPr>
          <p:nvPr>
            <p:ph type="body" idx="1"/>
          </p:nvPr>
        </p:nvSpPr>
        <p:spPr/>
        <p:txBody>
          <a:bodyPr/>
          <a:lstStyle/>
          <a:p>
            <a:pPr marL="546100" indent="-457200">
              <a:buFont typeface="+mj-lt"/>
              <a:buAutoNum type="arabicPeriod"/>
            </a:pPr>
            <a:r>
              <a:rPr lang="en-US" sz="2000" b="1" dirty="0"/>
              <a:t>Consistency</a:t>
            </a:r>
            <a:r>
              <a:rPr lang="en-US" sz="2000" dirty="0"/>
              <a:t> - Consistency refers to every client having the same view of the data.</a:t>
            </a:r>
          </a:p>
          <a:p>
            <a:pPr marL="546100" indent="-457200">
              <a:buFont typeface="+mj-lt"/>
              <a:buAutoNum type="arabicPeriod"/>
            </a:pPr>
            <a:r>
              <a:rPr lang="en-US" sz="2000" b="1" dirty="0"/>
              <a:t>Availability</a:t>
            </a:r>
            <a:r>
              <a:rPr lang="en-US" sz="2000" dirty="0"/>
              <a:t> </a:t>
            </a:r>
            <a:r>
              <a:rPr lang="en-US" sz="2000" b="1" dirty="0"/>
              <a:t>- </a:t>
            </a:r>
            <a:r>
              <a:rPr lang="en-US" sz="2000" dirty="0"/>
              <a:t>Availability means that each read or write request for a data item will either be processed successfully or will receive a message that the operation cannot be completed.</a:t>
            </a:r>
            <a:endParaRPr lang="en-US" sz="2000" b="1" dirty="0"/>
          </a:p>
          <a:p>
            <a:pPr marL="546100" indent="-457200">
              <a:buFont typeface="+mj-lt"/>
              <a:buAutoNum type="arabicPeriod"/>
            </a:pPr>
            <a:r>
              <a:rPr lang="en-US" sz="2000" b="1" dirty="0"/>
              <a:t>Partition tolerance</a:t>
            </a:r>
            <a:r>
              <a:rPr lang="en-US" sz="2000" dirty="0"/>
              <a:t> - Partition tolerance means that the system can continue operating even if the network connecting the nodes has a fault that results in two or more partitions, where the nodes in each partition can only communicate among each other. That means, the system continues to function and upholds its consistency guarantees in spite of network partitions.</a:t>
            </a:r>
          </a:p>
          <a:p>
            <a:endParaRPr lang="en-US" sz="2000" dirty="0"/>
          </a:p>
          <a:p>
            <a:r>
              <a:rPr lang="en-US" sz="2000" dirty="0"/>
              <a:t>The CAP theorem states that it is not possible to guarantee all three of the desirable properties – consistency, availability, and partition tolerance at the same time in a distributed system with data replication. </a:t>
            </a:r>
          </a:p>
        </p:txBody>
      </p:sp>
    </p:spTree>
    <p:extLst>
      <p:ext uri="{BB962C8B-B14F-4D97-AF65-F5344CB8AC3E}">
        <p14:creationId xmlns:p14="http://schemas.microsoft.com/office/powerpoint/2010/main" val="3719823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latin typeface="Nunito"/>
                <a:cs typeface="Arial" pitchFamily="34" charset="0"/>
              </a:rPr>
              <a:t>Relationship of RDBMS with </a:t>
            </a:r>
            <a:r>
              <a:rPr lang="en-US" dirty="0" err="1">
                <a:latin typeface="Nunito"/>
                <a:cs typeface="Arial" pitchFamily="34" charset="0"/>
              </a:rPr>
              <a:t>MongoDB</a:t>
            </a:r>
            <a:br>
              <a:rPr lang="en-US" sz="4000" dirty="0">
                <a:solidFill>
                  <a:schemeClr val="tx1"/>
                </a:solidFill>
                <a:latin typeface="Arial" pitchFamily="34" charset="0"/>
                <a:cs typeface="Arial" pitchFamily="34" charset="0"/>
              </a:rPr>
            </a:br>
            <a:endParaRPr lang="en-US" dirty="0"/>
          </a:p>
        </p:txBody>
      </p:sp>
      <p:sp>
        <p:nvSpPr>
          <p:cNvPr id="3" name="Text Placeholder 2"/>
          <p:cNvSpPr>
            <a:spLocks noGrp="1"/>
          </p:cNvSpPr>
          <p:nvPr>
            <p:ph type="body" idx="1"/>
          </p:nvPr>
        </p:nvSpPr>
        <p:spPr/>
        <p:txBody>
          <a:bodyPr/>
          <a:lstStyle/>
          <a:p>
            <a:pPr marL="0" lvl="0" indent="0" algn="just" fontAlgn="base">
              <a:spcBef>
                <a:spcPct val="0"/>
              </a:spcBef>
              <a:spcAft>
                <a:spcPct val="0"/>
              </a:spcAft>
              <a:buClrTx/>
              <a:buSzTx/>
              <a:buNone/>
            </a:pPr>
            <a:r>
              <a:rPr lang="en-US" sz="2000" dirty="0">
                <a:latin typeface="Nunito"/>
                <a:cs typeface="Arial" pitchFamily="34" charset="0"/>
              </a:rPr>
              <a:t>The following table shows the relationship of RDBMS terminology with </a:t>
            </a:r>
            <a:r>
              <a:rPr lang="en-US" sz="2000" dirty="0" err="1">
                <a:latin typeface="Nunito"/>
                <a:cs typeface="Arial" pitchFamily="34" charset="0"/>
              </a:rPr>
              <a:t>MongoDB</a:t>
            </a:r>
            <a:r>
              <a:rPr lang="en-US" sz="2000" dirty="0">
                <a:latin typeface="Nunito"/>
                <a:cs typeface="Arial" pitchFamily="34" charset="0"/>
              </a:rPr>
              <a:t>.</a:t>
            </a:r>
            <a:endParaRPr lang="en-US" sz="3200" dirty="0">
              <a:solidFill>
                <a:schemeClr val="tx1"/>
              </a:solidFill>
              <a:latin typeface="Arial" pitchFamily="34" charset="0"/>
              <a:cs typeface="Arial"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765395427"/>
              </p:ext>
            </p:extLst>
          </p:nvPr>
        </p:nvGraphicFramePr>
        <p:xfrm>
          <a:off x="1550643" y="2659539"/>
          <a:ext cx="6364632" cy="3352800"/>
        </p:xfrm>
        <a:graphic>
          <a:graphicData uri="http://schemas.openxmlformats.org/drawingml/2006/table">
            <a:tbl>
              <a:tblPr/>
              <a:tblGrid>
                <a:gridCol w="1649757">
                  <a:extLst>
                    <a:ext uri="{9D8B030D-6E8A-4147-A177-3AD203B41FA5}">
                      <a16:colId xmlns:a16="http://schemas.microsoft.com/office/drawing/2014/main" val="20000"/>
                    </a:ext>
                  </a:extLst>
                </a:gridCol>
                <a:gridCol w="1527886">
                  <a:extLst>
                    <a:ext uri="{9D8B030D-6E8A-4147-A177-3AD203B41FA5}">
                      <a16:colId xmlns:a16="http://schemas.microsoft.com/office/drawing/2014/main" val="20001"/>
                    </a:ext>
                  </a:extLst>
                </a:gridCol>
                <a:gridCol w="3186989">
                  <a:extLst>
                    <a:ext uri="{9D8B030D-6E8A-4147-A177-3AD203B41FA5}">
                      <a16:colId xmlns:a16="http://schemas.microsoft.com/office/drawing/2014/main" val="20002"/>
                    </a:ext>
                  </a:extLst>
                </a:gridCol>
              </a:tblGrid>
              <a:tr h="0">
                <a:tc>
                  <a:txBody>
                    <a:bodyPr/>
                    <a:lstStyle/>
                    <a:p>
                      <a:pPr algn="ctr" fontAlgn="t"/>
                      <a:r>
                        <a:rPr lang="en-US" dirty="0">
                          <a:effectLst/>
                        </a:rPr>
                        <a:t>RDBMS</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gridSpan="2">
                  <a:txBody>
                    <a:bodyPr/>
                    <a:lstStyle/>
                    <a:p>
                      <a:pPr algn="ctr" fontAlgn="t"/>
                      <a:r>
                        <a:rPr lang="en-US">
                          <a:effectLst/>
                        </a:rPr>
                        <a:t>MongoDB</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hMerge="1">
                  <a:txBody>
                    <a:bodyPr/>
                    <a:lstStyle/>
                    <a:p>
                      <a:pPr algn="ctr" fontAlgn="t"/>
                      <a:endParaRPr lang="en-US">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0">
                <a:tc>
                  <a:txBody>
                    <a:bodyPr/>
                    <a:lstStyle/>
                    <a:p>
                      <a:pPr fontAlgn="t"/>
                      <a:r>
                        <a:rPr lang="en-US">
                          <a:effectLst/>
                        </a:rPr>
                        <a:t>Database</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gridSpan="2">
                  <a:txBody>
                    <a:bodyPr/>
                    <a:lstStyle/>
                    <a:p>
                      <a:pPr fontAlgn="t"/>
                      <a:r>
                        <a:rPr lang="en-US">
                          <a:effectLst/>
                        </a:rPr>
                        <a:t>Database</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hMerge="1">
                  <a:txBody>
                    <a:bodyPr/>
                    <a:lstStyle/>
                    <a:p>
                      <a:pPr fontAlgn="t"/>
                      <a:endParaRPr lang="en-US">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fontAlgn="t"/>
                      <a:r>
                        <a:rPr lang="en-US">
                          <a:effectLst/>
                        </a:rPr>
                        <a:t>Table</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gridSpan="2">
                  <a:txBody>
                    <a:bodyPr/>
                    <a:lstStyle/>
                    <a:p>
                      <a:pPr fontAlgn="t"/>
                      <a:r>
                        <a:rPr lang="en-US">
                          <a:effectLst/>
                        </a:rPr>
                        <a:t>Collection</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hMerge="1">
                  <a:txBody>
                    <a:bodyPr/>
                    <a:lstStyle/>
                    <a:p>
                      <a:pPr fontAlgn="t"/>
                      <a:endParaRPr lang="en-US">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fontAlgn="t"/>
                      <a:r>
                        <a:rPr lang="en-US">
                          <a:effectLst/>
                        </a:rPr>
                        <a:t>Tuple/Row</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gridSpan="2">
                  <a:txBody>
                    <a:bodyPr/>
                    <a:lstStyle/>
                    <a:p>
                      <a:pPr fontAlgn="t"/>
                      <a:r>
                        <a:rPr lang="en-US">
                          <a:effectLst/>
                        </a:rPr>
                        <a:t>Document</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hMerge="1">
                  <a:txBody>
                    <a:bodyPr/>
                    <a:lstStyle/>
                    <a:p>
                      <a:pPr fontAlgn="t"/>
                      <a:endParaRPr lang="en-US">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fontAlgn="t"/>
                      <a:r>
                        <a:rPr lang="en-US">
                          <a:effectLst/>
                        </a:rPr>
                        <a:t>column</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gridSpan="2">
                  <a:txBody>
                    <a:bodyPr/>
                    <a:lstStyle/>
                    <a:p>
                      <a:pPr fontAlgn="t"/>
                      <a:r>
                        <a:rPr lang="en-US">
                          <a:effectLst/>
                        </a:rPr>
                        <a:t>Field</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hMerge="1">
                  <a:txBody>
                    <a:bodyPr/>
                    <a:lstStyle/>
                    <a:p>
                      <a:pPr fontAlgn="t"/>
                      <a:endParaRPr lang="en-US">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fontAlgn="t"/>
                      <a:r>
                        <a:rPr lang="en-US" dirty="0">
                          <a:effectLst/>
                        </a:rPr>
                        <a:t>Table Join</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gridSpan="2">
                  <a:txBody>
                    <a:bodyPr/>
                    <a:lstStyle/>
                    <a:p>
                      <a:pPr fontAlgn="t"/>
                      <a:r>
                        <a:rPr lang="en-US">
                          <a:effectLst/>
                        </a:rPr>
                        <a:t>Embedded Documents</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hMerge="1">
                  <a:txBody>
                    <a:bodyPr/>
                    <a:lstStyle/>
                    <a:p>
                      <a:pPr fontAlgn="t"/>
                      <a:endParaRPr lang="en-US">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fontAlgn="t"/>
                      <a:r>
                        <a:rPr lang="en-US">
                          <a:effectLst/>
                        </a:rPr>
                        <a:t>Primary Key</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gridSpan="2">
                  <a:txBody>
                    <a:bodyPr/>
                    <a:lstStyle/>
                    <a:p>
                      <a:pPr fontAlgn="t"/>
                      <a:r>
                        <a:rPr lang="en-US">
                          <a:effectLst/>
                        </a:rPr>
                        <a:t>Primary Key (Default key _id provided by MongoDB itself)</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hMerge="1">
                  <a:txBody>
                    <a:bodyPr/>
                    <a:lstStyle/>
                    <a:p>
                      <a:pPr fontAlgn="t"/>
                      <a:endParaRPr lang="en-US">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6"/>
                  </a:ext>
                </a:extLst>
              </a:tr>
              <a:tr h="0">
                <a:tc gridSpan="3">
                  <a:txBody>
                    <a:bodyPr/>
                    <a:lstStyle/>
                    <a:p>
                      <a:pPr algn="ctr" fontAlgn="t"/>
                      <a:r>
                        <a:rPr lang="en-US">
                          <a:effectLst/>
                        </a:rPr>
                        <a:t>Database Server and Client</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0">
                <a:tc gridSpan="2">
                  <a:txBody>
                    <a:bodyPr/>
                    <a:lstStyle/>
                    <a:p>
                      <a:pPr fontAlgn="t"/>
                      <a:r>
                        <a:rPr lang="en-US">
                          <a:effectLst/>
                        </a:rPr>
                        <a:t>mysqld/Oracle</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hMerge="1">
                  <a:txBody>
                    <a:bodyPr/>
                    <a:lstStyle/>
                    <a:p>
                      <a:endParaRPr lang="en-US"/>
                    </a:p>
                  </a:txBody>
                  <a:tcPr/>
                </a:tc>
                <a:tc>
                  <a:txBody>
                    <a:bodyPr/>
                    <a:lstStyle/>
                    <a:p>
                      <a:pPr fontAlgn="t"/>
                      <a:r>
                        <a:rPr lang="en-US">
                          <a:effectLst/>
                        </a:rPr>
                        <a:t>mongod</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8"/>
                  </a:ext>
                </a:extLst>
              </a:tr>
              <a:tr h="0">
                <a:tc gridSpan="2">
                  <a:txBody>
                    <a:bodyPr/>
                    <a:lstStyle/>
                    <a:p>
                      <a:pPr fontAlgn="t"/>
                      <a:r>
                        <a:rPr lang="en-US">
                          <a:effectLst/>
                        </a:rPr>
                        <a:t>mysql/sqlplus</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hMerge="1">
                  <a:txBody>
                    <a:bodyPr/>
                    <a:lstStyle/>
                    <a:p>
                      <a:endParaRPr lang="en-US"/>
                    </a:p>
                  </a:txBody>
                  <a:tcPr/>
                </a:tc>
                <a:tc>
                  <a:txBody>
                    <a:bodyPr/>
                    <a:lstStyle/>
                    <a:p>
                      <a:pPr fontAlgn="t"/>
                      <a:r>
                        <a:rPr lang="en-US" dirty="0">
                          <a:effectLst/>
                        </a:rPr>
                        <a:t>mongo</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747007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111" y="1495425"/>
            <a:ext cx="8414314"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7003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Types of </a:t>
            </a:r>
            <a:r>
              <a:rPr lang="en-US" dirty="0" err="1"/>
              <a:t>NoSQL</a:t>
            </a:r>
            <a:r>
              <a:rPr lang="en-US" dirty="0"/>
              <a:t> Databases</a:t>
            </a:r>
          </a:p>
        </p:txBody>
      </p:sp>
      <p:sp>
        <p:nvSpPr>
          <p:cNvPr id="3" name="Text Placeholder 2"/>
          <p:cNvSpPr>
            <a:spLocks noGrp="1"/>
          </p:cNvSpPr>
          <p:nvPr>
            <p:ph type="body" idx="1"/>
          </p:nvPr>
        </p:nvSpPr>
        <p:spPr/>
        <p:txBody>
          <a:bodyPr/>
          <a:lstStyle/>
          <a:p>
            <a:r>
              <a:rPr lang="en-US" b="1" dirty="0" err="1"/>
              <a:t>NoSQL</a:t>
            </a:r>
            <a:r>
              <a:rPr lang="en-US" b="1" dirty="0"/>
              <a:t> Databases</a:t>
            </a:r>
            <a:r>
              <a:rPr lang="en-US" dirty="0"/>
              <a:t> are mainly categorized into four types: Key-value pair, Column-oriented, Graph-based and Document-oriented. Every category has its unique attributes and limitations. None of the above-specified database is better to solve all the problems. Users should select the database based on their product needs.</a:t>
            </a:r>
          </a:p>
          <a:p>
            <a:r>
              <a:rPr lang="en-US" dirty="0"/>
              <a:t>Types of </a:t>
            </a:r>
            <a:r>
              <a:rPr lang="en-US" dirty="0" err="1"/>
              <a:t>NoSQL</a:t>
            </a:r>
            <a:r>
              <a:rPr lang="en-US" dirty="0"/>
              <a:t> Databases:</a:t>
            </a:r>
          </a:p>
          <a:p>
            <a:pPr lvl="1">
              <a:buFont typeface="+mj-lt"/>
              <a:buAutoNum type="arabicPeriod"/>
            </a:pPr>
            <a:r>
              <a:rPr lang="en-US" sz="2200" dirty="0"/>
              <a:t>Key-value Pair Based</a:t>
            </a:r>
          </a:p>
          <a:p>
            <a:pPr lvl="1">
              <a:buFont typeface="+mj-lt"/>
              <a:buAutoNum type="arabicPeriod"/>
            </a:pPr>
            <a:r>
              <a:rPr lang="en-US" sz="2200" dirty="0"/>
              <a:t>Column-oriented Graph</a:t>
            </a:r>
          </a:p>
          <a:p>
            <a:pPr lvl="1">
              <a:buFont typeface="+mj-lt"/>
              <a:buAutoNum type="arabicPeriod"/>
            </a:pPr>
            <a:r>
              <a:rPr lang="en-US" sz="2200" dirty="0"/>
              <a:t>Graphs based</a:t>
            </a:r>
          </a:p>
          <a:p>
            <a:pPr lvl="1">
              <a:buFont typeface="+mj-lt"/>
              <a:buAutoNum type="arabicPeriod"/>
            </a:pPr>
            <a:r>
              <a:rPr lang="en-US" sz="2200" dirty="0"/>
              <a:t>Document-oriented</a:t>
            </a:r>
          </a:p>
          <a:p>
            <a:endParaRPr lang="en-US" dirty="0"/>
          </a:p>
        </p:txBody>
      </p:sp>
    </p:spTree>
    <p:extLst>
      <p:ext uri="{BB962C8B-B14F-4D97-AF65-F5344CB8AC3E}">
        <p14:creationId xmlns:p14="http://schemas.microsoft.com/office/powerpoint/2010/main" val="2445107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2" descr="https://www.guru99.com/images/1/101818_0537_NoSQLTutori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31" y="1885950"/>
            <a:ext cx="8994233" cy="3248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5195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355242"/>
            <a:ext cx="8520600" cy="763500"/>
          </a:xfrm>
        </p:spPr>
        <p:txBody>
          <a:bodyPr/>
          <a:lstStyle/>
          <a:p>
            <a:r>
              <a:rPr lang="en-US" dirty="0"/>
              <a:t>1. Key Value Pair Based Databases</a:t>
            </a:r>
          </a:p>
        </p:txBody>
      </p:sp>
      <p:sp>
        <p:nvSpPr>
          <p:cNvPr id="3" name="Text Placeholder 2"/>
          <p:cNvSpPr>
            <a:spLocks noGrp="1"/>
          </p:cNvSpPr>
          <p:nvPr>
            <p:ph type="body" idx="1"/>
          </p:nvPr>
        </p:nvSpPr>
        <p:spPr>
          <a:xfrm>
            <a:off x="311699" y="971550"/>
            <a:ext cx="8660851" cy="4796433"/>
          </a:xfrm>
        </p:spPr>
        <p:txBody>
          <a:bodyPr/>
          <a:lstStyle/>
          <a:p>
            <a:r>
              <a:rPr lang="en-US" dirty="0"/>
              <a:t>Data is stored in key/value pairs. It is designed in such a way to handle lots of data and heavy load.</a:t>
            </a:r>
          </a:p>
          <a:p>
            <a:r>
              <a:rPr lang="en-US" dirty="0"/>
              <a:t>Key-value pair storage databases store data as a hash table where each key is unique, and the value can be a JSON, BLOB(Binary Large Objects), string, etc.</a:t>
            </a:r>
          </a:p>
          <a:p>
            <a:r>
              <a:rPr lang="en-US" dirty="0"/>
              <a:t>For example, a key-value pair may contain a key like “Website” associated with a value like “Guru99”.</a:t>
            </a:r>
          </a:p>
          <a:p>
            <a:endParaRPr lang="en-US" dirty="0"/>
          </a:p>
        </p:txBody>
      </p:sp>
      <p:pic>
        <p:nvPicPr>
          <p:cNvPr id="5122" name="Picture 2" descr="https://www.guru99.com/images/1/101818_0537_NoSQLTutori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0049" y="3062287"/>
            <a:ext cx="4467225" cy="301466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61924" y="3323539"/>
            <a:ext cx="3743326" cy="2677656"/>
          </a:xfrm>
          <a:prstGeom prst="rect">
            <a:avLst/>
          </a:prstGeom>
        </p:spPr>
        <p:txBody>
          <a:bodyPr wrap="square">
            <a:spAutoFit/>
          </a:bodyPr>
          <a:lstStyle/>
          <a:p>
            <a:pPr marL="285750" indent="-285750">
              <a:buFont typeface="Arial" pitchFamily="34" charset="0"/>
              <a:buChar char="•"/>
            </a:pPr>
            <a:r>
              <a:rPr lang="en-US" dirty="0">
                <a:solidFill>
                  <a:srgbClr val="FF0000"/>
                </a:solidFill>
              </a:rPr>
              <a:t>It is one of the most basic </a:t>
            </a:r>
            <a:r>
              <a:rPr lang="en-US" dirty="0" err="1">
                <a:solidFill>
                  <a:srgbClr val="FF0000"/>
                </a:solidFill>
              </a:rPr>
              <a:t>NoSQL</a:t>
            </a:r>
            <a:r>
              <a:rPr lang="en-US" dirty="0">
                <a:solidFill>
                  <a:srgbClr val="FF0000"/>
                </a:solidFill>
              </a:rPr>
              <a:t> database example. </a:t>
            </a:r>
          </a:p>
          <a:p>
            <a:pPr marL="285750" indent="-285750">
              <a:buFont typeface="Arial" pitchFamily="34" charset="0"/>
              <a:buChar char="•"/>
            </a:pPr>
            <a:r>
              <a:rPr lang="en-US" dirty="0">
                <a:solidFill>
                  <a:srgbClr val="FF0000"/>
                </a:solidFill>
              </a:rPr>
              <a:t>This kind of </a:t>
            </a:r>
            <a:r>
              <a:rPr lang="en-US" dirty="0" err="1">
                <a:solidFill>
                  <a:srgbClr val="FF0000"/>
                </a:solidFill>
              </a:rPr>
              <a:t>NoSQL</a:t>
            </a:r>
            <a:r>
              <a:rPr lang="en-US" dirty="0">
                <a:solidFill>
                  <a:srgbClr val="FF0000"/>
                </a:solidFill>
              </a:rPr>
              <a:t> database is used as a collection, dictionaries, associative arrays, etc. Key value stores help the developer to store schema-less data. They work best for shopping cart contents.</a:t>
            </a:r>
          </a:p>
          <a:p>
            <a:pPr marL="285750" indent="-285750">
              <a:buFont typeface="Arial" pitchFamily="34" charset="0"/>
              <a:buChar char="•"/>
            </a:pPr>
            <a:r>
              <a:rPr lang="en-US" dirty="0" err="1">
                <a:solidFill>
                  <a:srgbClr val="FF0000"/>
                </a:solidFill>
              </a:rPr>
              <a:t>Redis</a:t>
            </a:r>
            <a:r>
              <a:rPr lang="en-US" dirty="0">
                <a:solidFill>
                  <a:srgbClr val="FF0000"/>
                </a:solidFill>
              </a:rPr>
              <a:t>, Dynamo, </a:t>
            </a:r>
            <a:r>
              <a:rPr lang="en-US" dirty="0" err="1">
                <a:solidFill>
                  <a:srgbClr val="FF0000"/>
                </a:solidFill>
              </a:rPr>
              <a:t>Riak</a:t>
            </a:r>
            <a:r>
              <a:rPr lang="en-US" dirty="0">
                <a:solidFill>
                  <a:srgbClr val="FF0000"/>
                </a:solidFill>
              </a:rPr>
              <a:t> are some </a:t>
            </a:r>
            <a:r>
              <a:rPr lang="en-US" dirty="0" err="1">
                <a:solidFill>
                  <a:srgbClr val="FF0000"/>
                </a:solidFill>
              </a:rPr>
              <a:t>NoSQL</a:t>
            </a:r>
            <a:r>
              <a:rPr lang="en-US" dirty="0">
                <a:solidFill>
                  <a:srgbClr val="FF0000"/>
                </a:solidFill>
              </a:rPr>
              <a:t> examples of key-value store </a:t>
            </a:r>
            <a:r>
              <a:rPr lang="en-US" dirty="0" err="1">
                <a:solidFill>
                  <a:srgbClr val="FF0000"/>
                </a:solidFill>
              </a:rPr>
              <a:t>DataBases</a:t>
            </a:r>
            <a:r>
              <a:rPr lang="en-US" dirty="0">
                <a:solidFill>
                  <a:srgbClr val="FF0000"/>
                </a:solidFill>
              </a:rPr>
              <a:t>. They are all based on Amazon’s Dynamo paper.</a:t>
            </a:r>
          </a:p>
        </p:txBody>
      </p:sp>
    </p:spTree>
    <p:extLst>
      <p:ext uri="{BB962C8B-B14F-4D97-AF65-F5344CB8AC3E}">
        <p14:creationId xmlns:p14="http://schemas.microsoft.com/office/powerpoint/2010/main" val="726065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364767"/>
            <a:ext cx="8520600" cy="763500"/>
          </a:xfrm>
        </p:spPr>
        <p:txBody>
          <a:bodyPr/>
          <a:lstStyle/>
          <a:p>
            <a:r>
              <a:rPr lang="en-US" dirty="0"/>
              <a:t>2. Column-based</a:t>
            </a:r>
          </a:p>
        </p:txBody>
      </p:sp>
      <p:sp>
        <p:nvSpPr>
          <p:cNvPr id="3" name="Text Placeholder 2"/>
          <p:cNvSpPr>
            <a:spLocks noGrp="1"/>
          </p:cNvSpPr>
          <p:nvPr>
            <p:ph type="body" idx="1"/>
          </p:nvPr>
        </p:nvSpPr>
        <p:spPr>
          <a:xfrm>
            <a:off x="302175" y="1088958"/>
            <a:ext cx="8520600" cy="4555200"/>
          </a:xfrm>
        </p:spPr>
        <p:txBody>
          <a:bodyPr/>
          <a:lstStyle/>
          <a:p>
            <a:r>
              <a:rPr lang="en-US" dirty="0"/>
              <a:t>Column-oriented databases work on columns and are based on </a:t>
            </a:r>
            <a:r>
              <a:rPr lang="en-US" dirty="0" err="1"/>
              <a:t>BigTable</a:t>
            </a:r>
            <a:r>
              <a:rPr lang="en-US" dirty="0"/>
              <a:t> paper by Google. Every column is treated separately. Values of single column databases are stored contiguously.</a:t>
            </a:r>
          </a:p>
          <a:p>
            <a:r>
              <a:rPr lang="en-US" dirty="0"/>
              <a:t>They deliver high performance on aggregation queries like SUM, COUNT, AVG, MIN etc. as the data is readily available in a column.</a:t>
            </a:r>
          </a:p>
          <a:p>
            <a:r>
              <a:rPr lang="en-US" dirty="0"/>
              <a:t>Column-based </a:t>
            </a:r>
            <a:r>
              <a:rPr lang="en-US" dirty="0" err="1"/>
              <a:t>NoSQL</a:t>
            </a:r>
            <a:r>
              <a:rPr lang="en-US" dirty="0"/>
              <a:t> databases are widely used to manage data warehouses, </a:t>
            </a:r>
            <a:r>
              <a:rPr lang="en-US" dirty="0">
                <a:hlinkClick r:id="rId2"/>
              </a:rPr>
              <a:t>business intelligence</a:t>
            </a:r>
            <a:r>
              <a:rPr lang="en-US" dirty="0"/>
              <a:t>, CRM, Library card catalogs,</a:t>
            </a:r>
          </a:p>
          <a:p>
            <a:r>
              <a:rPr lang="en-US" dirty="0" err="1"/>
              <a:t>HBase</a:t>
            </a:r>
            <a:r>
              <a:rPr lang="en-US" dirty="0"/>
              <a:t>, Cassandra, </a:t>
            </a:r>
            <a:r>
              <a:rPr lang="en-US" dirty="0" err="1"/>
              <a:t>HBase</a:t>
            </a:r>
            <a:r>
              <a:rPr lang="en-US" dirty="0"/>
              <a:t>, </a:t>
            </a:r>
            <a:r>
              <a:rPr lang="en-US" dirty="0" err="1"/>
              <a:t>Hypertable</a:t>
            </a:r>
            <a:r>
              <a:rPr lang="en-US" dirty="0"/>
              <a:t> are </a:t>
            </a:r>
            <a:r>
              <a:rPr lang="en-US" dirty="0" err="1"/>
              <a:t>NoSQL</a:t>
            </a:r>
            <a:r>
              <a:rPr lang="en-US" dirty="0"/>
              <a:t> query examples of column based database.</a:t>
            </a:r>
          </a:p>
          <a:p>
            <a:endParaRPr lang="en-US" dirty="0"/>
          </a:p>
        </p:txBody>
      </p:sp>
      <p:pic>
        <p:nvPicPr>
          <p:cNvPr id="7170" name="Picture 2" descr="https://www.guru99.com/images/1/101818_0537_NoSQLTutori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7870" y="3948112"/>
            <a:ext cx="3356700" cy="2376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9561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175" y="279042"/>
            <a:ext cx="8520600" cy="763500"/>
          </a:xfrm>
        </p:spPr>
        <p:txBody>
          <a:bodyPr/>
          <a:lstStyle/>
          <a:p>
            <a:r>
              <a:rPr lang="en-US" dirty="0"/>
              <a:t>3. Document-Oriented</a:t>
            </a:r>
          </a:p>
        </p:txBody>
      </p:sp>
      <p:sp>
        <p:nvSpPr>
          <p:cNvPr id="3" name="Text Placeholder 2"/>
          <p:cNvSpPr>
            <a:spLocks noGrp="1"/>
          </p:cNvSpPr>
          <p:nvPr>
            <p:ph type="body" idx="1"/>
          </p:nvPr>
        </p:nvSpPr>
        <p:spPr>
          <a:xfrm>
            <a:off x="264075" y="812732"/>
            <a:ext cx="8520600" cy="5683317"/>
          </a:xfrm>
        </p:spPr>
        <p:txBody>
          <a:bodyPr/>
          <a:lstStyle/>
          <a:p>
            <a:r>
              <a:rPr lang="en-US" sz="1800" dirty="0"/>
              <a:t>Document-Oriented </a:t>
            </a:r>
            <a:r>
              <a:rPr lang="en-US" sz="1800" dirty="0" err="1"/>
              <a:t>NoSQL</a:t>
            </a:r>
            <a:r>
              <a:rPr lang="en-US" sz="1800" dirty="0"/>
              <a:t> DB stores and retrieves data as a key value pair but the value part is stored as a document. The document is stored in JSON or XML formats. The value is understood by the DB and can be queried.</a:t>
            </a:r>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r>
              <a:rPr lang="en-US" sz="1800" dirty="0"/>
              <a:t>In this diagram on your left you can see we have rows and columns, and in the right, we have a document database which has a similar structure to JSON. Now for the relational database, you have to know what columns you have and so on. However, for a document database, you have data store like JSON object. You do not require to define which make it flexible.</a:t>
            </a:r>
          </a:p>
          <a:p>
            <a:r>
              <a:rPr lang="en-US" sz="1800" dirty="0"/>
              <a:t>The document type is mostly used for CMS systems, blogging platforms, real-time analytics &amp; e-commerce applications. It should not use for complex transactions which require multiple operations or queries against varying aggregate structures.</a:t>
            </a:r>
          </a:p>
          <a:p>
            <a:r>
              <a:rPr lang="en-US" sz="1800" dirty="0"/>
              <a:t>Amazon </a:t>
            </a:r>
            <a:r>
              <a:rPr lang="en-US" sz="1800" dirty="0" err="1"/>
              <a:t>SimpleDB</a:t>
            </a:r>
            <a:r>
              <a:rPr lang="en-US" sz="1800" dirty="0"/>
              <a:t>, </a:t>
            </a:r>
            <a:r>
              <a:rPr lang="en-US" sz="1800" dirty="0" err="1"/>
              <a:t>CouchDB</a:t>
            </a:r>
            <a:r>
              <a:rPr lang="en-US" sz="1800" dirty="0"/>
              <a:t>, </a:t>
            </a:r>
            <a:r>
              <a:rPr lang="en-US" sz="1800" dirty="0" err="1"/>
              <a:t>MongoDB</a:t>
            </a:r>
            <a:r>
              <a:rPr lang="en-US" sz="1800" dirty="0"/>
              <a:t>, </a:t>
            </a:r>
            <a:r>
              <a:rPr lang="en-US" sz="1800" dirty="0" err="1"/>
              <a:t>Riak</a:t>
            </a:r>
            <a:r>
              <a:rPr lang="en-US" sz="1800" dirty="0"/>
              <a:t>, Lotus Notes, </a:t>
            </a:r>
            <a:r>
              <a:rPr lang="en-US" sz="1800" dirty="0" err="1"/>
              <a:t>MongoDB</a:t>
            </a:r>
            <a:r>
              <a:rPr lang="en-US" sz="1800" dirty="0"/>
              <a:t>, are popular Document originated DBMS systems.</a:t>
            </a:r>
          </a:p>
          <a:p>
            <a:endParaRPr lang="en-US" sz="1800" dirty="0"/>
          </a:p>
        </p:txBody>
      </p:sp>
      <p:pic>
        <p:nvPicPr>
          <p:cNvPr id="8194" name="Picture 2" descr="https://www.guru99.com/images/1/101818_0537_NoSQLTutori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7600" y="1684337"/>
            <a:ext cx="7334843" cy="2173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8225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175" y="307617"/>
            <a:ext cx="8520600" cy="763500"/>
          </a:xfrm>
        </p:spPr>
        <p:txBody>
          <a:bodyPr/>
          <a:lstStyle/>
          <a:p>
            <a:r>
              <a:rPr lang="en-US" dirty="0"/>
              <a:t>4. Graph-Based</a:t>
            </a:r>
          </a:p>
        </p:txBody>
      </p:sp>
      <p:sp>
        <p:nvSpPr>
          <p:cNvPr id="3" name="Text Placeholder 2"/>
          <p:cNvSpPr>
            <a:spLocks noGrp="1"/>
          </p:cNvSpPr>
          <p:nvPr>
            <p:ph type="body" idx="1"/>
          </p:nvPr>
        </p:nvSpPr>
        <p:spPr>
          <a:xfrm>
            <a:off x="311700" y="927033"/>
            <a:ext cx="8520600" cy="4555200"/>
          </a:xfrm>
        </p:spPr>
        <p:txBody>
          <a:bodyPr/>
          <a:lstStyle/>
          <a:p>
            <a:r>
              <a:rPr lang="en-US" sz="1800" dirty="0"/>
              <a:t>A graph type database stores entities as well the relations amongst those entities. The entity is stored as a node with the relationship as edges. An edge gives a relationship between nodes. Every node and edge has a unique identifier.</a:t>
            </a:r>
          </a:p>
          <a:p>
            <a:r>
              <a:rPr lang="en-US" sz="1800" dirty="0"/>
              <a:t>Compared to a relational database where tables are loosely connected, a Graph database is a multi-relational in nature. Traversing relationship is fast as they are already captured into the DB, and there is no need to calculate them.</a:t>
            </a:r>
          </a:p>
          <a:p>
            <a:r>
              <a:rPr lang="en-US" sz="1800" dirty="0"/>
              <a:t>Graph base database mostly used for social networks, logistics, spatial data.</a:t>
            </a:r>
          </a:p>
          <a:p>
            <a:r>
              <a:rPr lang="en-US" sz="1800" dirty="0"/>
              <a:t>Neo4J, Infinite Graph, </a:t>
            </a:r>
            <a:r>
              <a:rPr lang="en-US" sz="1800" dirty="0" err="1"/>
              <a:t>OrientDB</a:t>
            </a:r>
            <a:r>
              <a:rPr lang="en-US" sz="1800" dirty="0"/>
              <a:t>, </a:t>
            </a:r>
            <a:r>
              <a:rPr lang="en-US" sz="1800" dirty="0" err="1"/>
              <a:t>FlockDB</a:t>
            </a:r>
            <a:r>
              <a:rPr lang="en-US" sz="1800" dirty="0"/>
              <a:t> are some popular graph-based databases.</a:t>
            </a:r>
          </a:p>
          <a:p>
            <a:endParaRPr lang="en-US" sz="1800" dirty="0"/>
          </a:p>
        </p:txBody>
      </p:sp>
      <p:pic>
        <p:nvPicPr>
          <p:cNvPr id="9218" name="Picture 2" descr="https://www.guru99.com/images/1/101818_0537_NoSQLTutori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8026" y="3314701"/>
            <a:ext cx="3824654" cy="308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5332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Book Antiqua" pitchFamily="18" charset="0"/>
              </a:rPr>
              <a:t>Advantages of </a:t>
            </a:r>
            <a:r>
              <a:rPr lang="en-US" dirty="0" err="1">
                <a:latin typeface="Book Antiqua" pitchFamily="18" charset="0"/>
              </a:rPr>
              <a:t>MongoDB</a:t>
            </a:r>
            <a:r>
              <a:rPr lang="en-US" dirty="0">
                <a:latin typeface="Book Antiqua" pitchFamily="18" charset="0"/>
              </a:rPr>
              <a:t> over RDBMS</a:t>
            </a:r>
            <a:endParaRPr lang="en-US" dirty="0"/>
          </a:p>
        </p:txBody>
      </p:sp>
      <p:sp>
        <p:nvSpPr>
          <p:cNvPr id="3" name="Text Placeholder 2"/>
          <p:cNvSpPr>
            <a:spLocks noGrp="1"/>
          </p:cNvSpPr>
          <p:nvPr>
            <p:ph type="body" idx="1"/>
          </p:nvPr>
        </p:nvSpPr>
        <p:spPr/>
        <p:txBody>
          <a:bodyPr/>
          <a:lstStyle/>
          <a:p>
            <a:r>
              <a:rPr lang="en-US" sz="2000" dirty="0">
                <a:latin typeface="Book Antiqua" pitchFamily="18" charset="0"/>
              </a:rPr>
              <a:t>Schema less: </a:t>
            </a:r>
            <a:r>
              <a:rPr lang="en-US" sz="2000" dirty="0" err="1">
                <a:latin typeface="Book Antiqua" pitchFamily="18" charset="0"/>
              </a:rPr>
              <a:t>MongoDB</a:t>
            </a:r>
            <a:r>
              <a:rPr lang="en-US" sz="2000" dirty="0">
                <a:latin typeface="Book Antiqua" pitchFamily="18" charset="0"/>
              </a:rPr>
              <a:t> is a document database in which one collection holds different documents. Number of fields, content and size of the document can differ from one document to another.</a:t>
            </a:r>
          </a:p>
          <a:p>
            <a:r>
              <a:rPr lang="en-US" sz="2000" dirty="0">
                <a:latin typeface="Book Antiqua" pitchFamily="18" charset="0"/>
              </a:rPr>
              <a:t>Structure of a single object is clear.</a:t>
            </a:r>
          </a:p>
          <a:p>
            <a:r>
              <a:rPr lang="en-US" sz="2000" dirty="0">
                <a:latin typeface="Book Antiqua" pitchFamily="18" charset="0"/>
              </a:rPr>
              <a:t>No complex joins.</a:t>
            </a:r>
          </a:p>
          <a:p>
            <a:r>
              <a:rPr lang="en-US" sz="2000" dirty="0">
                <a:latin typeface="Book Antiqua" pitchFamily="18" charset="0"/>
              </a:rPr>
              <a:t>Deep query-ability. </a:t>
            </a:r>
            <a:r>
              <a:rPr lang="en-US" sz="2000" dirty="0" err="1">
                <a:latin typeface="Book Antiqua" pitchFamily="18" charset="0"/>
              </a:rPr>
              <a:t>MongoDB</a:t>
            </a:r>
            <a:r>
              <a:rPr lang="en-US" sz="2000" dirty="0">
                <a:latin typeface="Book Antiqua" pitchFamily="18" charset="0"/>
              </a:rPr>
              <a:t> supports dynamic queries on documents using a document-based query language that's nearly as powerful as SQL.</a:t>
            </a:r>
          </a:p>
          <a:p>
            <a:r>
              <a:rPr lang="en-US" sz="2000" dirty="0">
                <a:latin typeface="Book Antiqua" pitchFamily="18" charset="0"/>
              </a:rPr>
              <a:t>Tuning.</a:t>
            </a:r>
          </a:p>
          <a:p>
            <a:r>
              <a:rPr lang="en-US" sz="2000" dirty="0">
                <a:latin typeface="Book Antiqua" pitchFamily="18" charset="0"/>
              </a:rPr>
              <a:t>Ease of scale-out: </a:t>
            </a:r>
            <a:r>
              <a:rPr lang="en-US" sz="2000" dirty="0" err="1">
                <a:latin typeface="Book Antiqua" pitchFamily="18" charset="0"/>
              </a:rPr>
              <a:t>MongoDB</a:t>
            </a:r>
            <a:r>
              <a:rPr lang="en-US" sz="2000" dirty="0">
                <a:latin typeface="Book Antiqua" pitchFamily="18" charset="0"/>
              </a:rPr>
              <a:t> is easy to scale.</a:t>
            </a:r>
          </a:p>
          <a:p>
            <a:r>
              <a:rPr lang="en-US" sz="2000" dirty="0">
                <a:latin typeface="Book Antiqua" pitchFamily="18" charset="0"/>
              </a:rPr>
              <a:t>Conversion/mapping of application objects to database objects not needed.</a:t>
            </a:r>
          </a:p>
          <a:p>
            <a:r>
              <a:rPr lang="en-US" sz="2000" dirty="0">
                <a:latin typeface="Book Antiqua" pitchFamily="18" charset="0"/>
              </a:rPr>
              <a:t>Uses internal memory for storing the (windowed) working set, enabling faster access of data.</a:t>
            </a:r>
          </a:p>
        </p:txBody>
      </p:sp>
    </p:spTree>
    <p:extLst>
      <p:ext uri="{BB962C8B-B14F-4D97-AF65-F5344CB8AC3E}">
        <p14:creationId xmlns:p14="http://schemas.microsoft.com/office/powerpoint/2010/main" val="3292950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Book Antiqua" pitchFamily="18" charset="0"/>
              </a:rPr>
              <a:t>Why Use </a:t>
            </a:r>
            <a:r>
              <a:rPr lang="en-US" dirty="0" err="1">
                <a:latin typeface="Book Antiqua" pitchFamily="18" charset="0"/>
              </a:rPr>
              <a:t>MongoDB</a:t>
            </a:r>
            <a:r>
              <a:rPr lang="en-US" dirty="0">
                <a:latin typeface="Book Antiqua" pitchFamily="18" charset="0"/>
              </a:rPr>
              <a:t>?</a:t>
            </a:r>
            <a:endParaRPr lang="en-US" dirty="0"/>
          </a:p>
        </p:txBody>
      </p:sp>
      <p:sp>
        <p:nvSpPr>
          <p:cNvPr id="3" name="Text Placeholder 2"/>
          <p:cNvSpPr>
            <a:spLocks noGrp="1"/>
          </p:cNvSpPr>
          <p:nvPr>
            <p:ph type="body" idx="1"/>
          </p:nvPr>
        </p:nvSpPr>
        <p:spPr/>
        <p:txBody>
          <a:bodyPr/>
          <a:lstStyle/>
          <a:p>
            <a:r>
              <a:rPr lang="en-US" dirty="0">
                <a:latin typeface="Book Antiqua" pitchFamily="18" charset="0"/>
              </a:rPr>
              <a:t>Document Oriented Storage: Data is stored in the form of JSON style documents.</a:t>
            </a:r>
          </a:p>
          <a:p>
            <a:r>
              <a:rPr lang="en-US" dirty="0">
                <a:latin typeface="Book Antiqua" pitchFamily="18" charset="0"/>
              </a:rPr>
              <a:t>Index on any attribute</a:t>
            </a:r>
          </a:p>
          <a:p>
            <a:r>
              <a:rPr lang="en-US" dirty="0">
                <a:latin typeface="Book Antiqua" pitchFamily="18" charset="0"/>
              </a:rPr>
              <a:t>Replication and high availability</a:t>
            </a:r>
          </a:p>
          <a:p>
            <a:r>
              <a:rPr lang="en-US" dirty="0">
                <a:latin typeface="Book Antiqua" pitchFamily="18" charset="0"/>
              </a:rPr>
              <a:t>Auto-</a:t>
            </a:r>
            <a:r>
              <a:rPr lang="en-US" dirty="0" err="1">
                <a:latin typeface="Book Antiqua" pitchFamily="18" charset="0"/>
              </a:rPr>
              <a:t>sharding</a:t>
            </a:r>
            <a:endParaRPr lang="en-US" dirty="0">
              <a:latin typeface="Book Antiqua" pitchFamily="18" charset="0"/>
            </a:endParaRPr>
          </a:p>
          <a:p>
            <a:r>
              <a:rPr lang="en-US" dirty="0">
                <a:latin typeface="Book Antiqua" pitchFamily="18" charset="0"/>
              </a:rPr>
              <a:t>Rich queries</a:t>
            </a:r>
          </a:p>
          <a:p>
            <a:r>
              <a:rPr lang="en-US" dirty="0">
                <a:latin typeface="Book Antiqua" pitchFamily="18" charset="0"/>
              </a:rPr>
              <a:t>Fast in-place updates</a:t>
            </a:r>
          </a:p>
          <a:p>
            <a:r>
              <a:rPr lang="en-US" dirty="0">
                <a:latin typeface="Book Antiqua" pitchFamily="18" charset="0"/>
              </a:rPr>
              <a:t>Professional support by </a:t>
            </a:r>
            <a:r>
              <a:rPr lang="en-US" dirty="0" err="1">
                <a:latin typeface="Book Antiqua" pitchFamily="18" charset="0"/>
              </a:rPr>
              <a:t>MongoDB</a:t>
            </a:r>
            <a:endParaRPr lang="en-US" dirty="0">
              <a:latin typeface="Book Antiqua" pitchFamily="18" charset="0"/>
            </a:endParaRPr>
          </a:p>
        </p:txBody>
      </p:sp>
    </p:spTree>
    <p:extLst>
      <p:ext uri="{BB962C8B-B14F-4D97-AF65-F5344CB8AC3E}">
        <p14:creationId xmlns:p14="http://schemas.microsoft.com/office/powerpoint/2010/main" val="1948071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Book Antiqua" pitchFamily="18" charset="0"/>
              </a:rPr>
              <a:t>Where to Use </a:t>
            </a:r>
            <a:r>
              <a:rPr lang="en-US" dirty="0" err="1">
                <a:latin typeface="Book Antiqua" pitchFamily="18" charset="0"/>
              </a:rPr>
              <a:t>MongoDB</a:t>
            </a:r>
            <a:r>
              <a:rPr lang="en-US" dirty="0">
                <a:latin typeface="Book Antiqua" pitchFamily="18" charset="0"/>
              </a:rPr>
              <a:t>?</a:t>
            </a:r>
            <a:endParaRPr lang="en-US" dirty="0"/>
          </a:p>
        </p:txBody>
      </p:sp>
      <p:sp>
        <p:nvSpPr>
          <p:cNvPr id="3" name="Text Placeholder 2"/>
          <p:cNvSpPr>
            <a:spLocks noGrp="1"/>
          </p:cNvSpPr>
          <p:nvPr>
            <p:ph type="body" idx="1"/>
          </p:nvPr>
        </p:nvSpPr>
        <p:spPr/>
        <p:txBody>
          <a:bodyPr/>
          <a:lstStyle/>
          <a:p>
            <a:r>
              <a:rPr lang="en-US" dirty="0">
                <a:latin typeface="Book Antiqua" pitchFamily="18" charset="0"/>
              </a:rPr>
              <a:t>Big Data</a:t>
            </a:r>
          </a:p>
          <a:p>
            <a:r>
              <a:rPr lang="en-US" dirty="0">
                <a:latin typeface="Book Antiqua" pitchFamily="18" charset="0"/>
              </a:rPr>
              <a:t>Content Management and Delivery</a:t>
            </a:r>
          </a:p>
          <a:p>
            <a:r>
              <a:rPr lang="en-US" dirty="0">
                <a:latin typeface="Book Antiqua" pitchFamily="18" charset="0"/>
              </a:rPr>
              <a:t>Mobile and Social Infrastructure</a:t>
            </a:r>
          </a:p>
          <a:p>
            <a:r>
              <a:rPr lang="en-US" dirty="0">
                <a:latin typeface="Book Antiqua" pitchFamily="18" charset="0"/>
              </a:rPr>
              <a:t>User Data Management</a:t>
            </a:r>
          </a:p>
          <a:p>
            <a:r>
              <a:rPr lang="en-US" dirty="0">
                <a:latin typeface="Book Antiqua" pitchFamily="18" charset="0"/>
              </a:rPr>
              <a:t>Data Hub</a:t>
            </a:r>
          </a:p>
        </p:txBody>
      </p:sp>
    </p:spTree>
    <p:extLst>
      <p:ext uri="{BB962C8B-B14F-4D97-AF65-F5344CB8AC3E}">
        <p14:creationId xmlns:p14="http://schemas.microsoft.com/office/powerpoint/2010/main" val="1887940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225" y="393342"/>
            <a:ext cx="8520600" cy="763500"/>
          </a:xfrm>
        </p:spPr>
        <p:txBody>
          <a:bodyPr/>
          <a:lstStyle/>
          <a:p>
            <a:r>
              <a:rPr lang="en-US" dirty="0"/>
              <a:t>Installing </a:t>
            </a:r>
            <a:r>
              <a:rPr lang="en-US" dirty="0" err="1"/>
              <a:t>MongoDB</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365" y="992085"/>
            <a:ext cx="5138735" cy="530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4917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2663" y="671513"/>
            <a:ext cx="6296025" cy="551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3948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r>
              <a:rPr lang="en-US" sz="2000" dirty="0" err="1"/>
              <a:t>MongoDB</a:t>
            </a:r>
            <a:r>
              <a:rPr lang="en-US" sz="2000" dirty="0"/>
              <a:t> is an open-source document database and leading </a:t>
            </a:r>
            <a:r>
              <a:rPr lang="en-US" sz="2000" dirty="0" err="1"/>
              <a:t>NoSQL</a:t>
            </a:r>
            <a:r>
              <a:rPr lang="en-US" sz="2000" dirty="0"/>
              <a:t> database. </a:t>
            </a:r>
          </a:p>
          <a:p>
            <a:r>
              <a:rPr lang="en-US" sz="2000" dirty="0" err="1"/>
              <a:t>MongoDB</a:t>
            </a:r>
            <a:r>
              <a:rPr lang="en-US" sz="2000" dirty="0"/>
              <a:t> is written in C++.</a:t>
            </a:r>
          </a:p>
          <a:p>
            <a:r>
              <a:rPr lang="en-US" sz="2000" dirty="0" err="1"/>
              <a:t>MongoDB</a:t>
            </a:r>
            <a:r>
              <a:rPr lang="en-US" sz="2000" dirty="0"/>
              <a:t> is a cross-platform, document oriented database that provides, high performance, high availability, and easy scalability. </a:t>
            </a:r>
          </a:p>
          <a:p>
            <a:r>
              <a:rPr lang="en-US" sz="2000" dirty="0" err="1"/>
              <a:t>MongoDB</a:t>
            </a:r>
            <a:r>
              <a:rPr lang="en-US" sz="2000" dirty="0"/>
              <a:t> works on concept of collection and document.</a:t>
            </a:r>
          </a:p>
          <a:p>
            <a:endParaRPr lang="en-US" sz="2000" dirty="0"/>
          </a:p>
          <a:p>
            <a:r>
              <a:rPr lang="en-US" sz="2000" dirty="0"/>
              <a:t>Collection is a group of </a:t>
            </a:r>
            <a:r>
              <a:rPr lang="en-US" sz="2000" dirty="0" err="1"/>
              <a:t>MongoDB</a:t>
            </a:r>
            <a:r>
              <a:rPr lang="en-US" sz="2000" dirty="0"/>
              <a:t> documents. It is the equivalent of an RDBMS table. A collection exists within a single database. Collections do not enforce a schema. Documents within a collection can have different fields. Typically, all documents in a collection are of similar or related purpose.</a:t>
            </a:r>
          </a:p>
          <a:p>
            <a:endParaRPr lang="en-US" sz="2000" dirty="0"/>
          </a:p>
          <a:p>
            <a:r>
              <a:rPr lang="en-US" sz="2000" dirty="0"/>
              <a:t>Document is a set of key-value pairs. Documents have dynamic schema. Dynamic schema means that documents in the same collection do not need to have the same set of fields or structure, and common fields in a collection's documents may hold different types of data.</a:t>
            </a:r>
          </a:p>
        </p:txBody>
      </p:sp>
    </p:spTree>
    <p:extLst>
      <p:ext uri="{BB962C8B-B14F-4D97-AF65-F5344CB8AC3E}">
        <p14:creationId xmlns:p14="http://schemas.microsoft.com/office/powerpoint/2010/main" val="15830937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Create/Drop Database</a:t>
            </a:r>
          </a:p>
        </p:txBody>
      </p:sp>
      <p:sp>
        <p:nvSpPr>
          <p:cNvPr id="3" name="Text Placeholder 2"/>
          <p:cNvSpPr>
            <a:spLocks noGrp="1"/>
          </p:cNvSpPr>
          <p:nvPr>
            <p:ph type="body" idx="1"/>
          </p:nvPr>
        </p:nvSpPr>
        <p:spPr/>
        <p:txBody>
          <a:bodyPr/>
          <a:lstStyle/>
          <a:p>
            <a:r>
              <a:rPr lang="en-US" dirty="0">
                <a:latin typeface="Book Antiqua" pitchFamily="18" charset="0"/>
              </a:rPr>
              <a:t>use DATABASE_NAME - to create database. In </a:t>
            </a:r>
            <a:r>
              <a:rPr lang="en-US" dirty="0" err="1">
                <a:latin typeface="Book Antiqua" pitchFamily="18" charset="0"/>
              </a:rPr>
              <a:t>MongoDB</a:t>
            </a:r>
            <a:r>
              <a:rPr lang="en-US" dirty="0">
                <a:latin typeface="Book Antiqua" pitchFamily="18" charset="0"/>
              </a:rPr>
              <a:t> default database is test. If you didn't create any database, then collections will be stored in test database. E.g.: use </a:t>
            </a:r>
            <a:r>
              <a:rPr lang="en-US" dirty="0" err="1">
                <a:latin typeface="Book Antiqua" pitchFamily="18" charset="0"/>
              </a:rPr>
              <a:t>mydb</a:t>
            </a:r>
            <a:endParaRPr lang="en-US" dirty="0">
              <a:latin typeface="Book Antiqua" pitchFamily="18" charset="0"/>
            </a:endParaRPr>
          </a:p>
          <a:p>
            <a:r>
              <a:rPr lang="en-US" dirty="0" err="1">
                <a:latin typeface="Book Antiqua" pitchFamily="18" charset="0"/>
              </a:rPr>
              <a:t>db</a:t>
            </a:r>
            <a:r>
              <a:rPr lang="en-US" dirty="0">
                <a:latin typeface="Book Antiqua" pitchFamily="18" charset="0"/>
              </a:rPr>
              <a:t> - To check your currently selected database, use the command </a:t>
            </a:r>
            <a:r>
              <a:rPr lang="en-US" dirty="0" err="1">
                <a:latin typeface="Book Antiqua" pitchFamily="18" charset="0"/>
              </a:rPr>
              <a:t>db</a:t>
            </a:r>
            <a:endParaRPr lang="en-US" dirty="0">
              <a:latin typeface="Book Antiqua" pitchFamily="18" charset="0"/>
            </a:endParaRPr>
          </a:p>
          <a:p>
            <a:r>
              <a:rPr lang="en-US" dirty="0">
                <a:latin typeface="Book Antiqua" pitchFamily="18" charset="0"/>
              </a:rPr>
              <a:t>show </a:t>
            </a:r>
            <a:r>
              <a:rPr lang="en-US" dirty="0" err="1">
                <a:latin typeface="Book Antiqua" pitchFamily="18" charset="0"/>
              </a:rPr>
              <a:t>dbs</a:t>
            </a:r>
            <a:r>
              <a:rPr lang="en-US" dirty="0">
                <a:latin typeface="Book Antiqua" pitchFamily="18" charset="0"/>
              </a:rPr>
              <a:t> - to check your databases list. To display database, you need to insert at least one document into it.</a:t>
            </a:r>
          </a:p>
          <a:p>
            <a:r>
              <a:rPr lang="en-US" dirty="0" err="1">
                <a:latin typeface="Book Antiqua" pitchFamily="18" charset="0"/>
              </a:rPr>
              <a:t>db.school.insert</a:t>
            </a:r>
            <a:r>
              <a:rPr lang="en-US" dirty="0">
                <a:latin typeface="Book Antiqua" pitchFamily="18" charset="0"/>
              </a:rPr>
              <a:t>({"name":"</a:t>
            </a:r>
            <a:r>
              <a:rPr lang="en-US" dirty="0" err="1">
                <a:latin typeface="Book Antiqua" pitchFamily="18" charset="0"/>
              </a:rPr>
              <a:t>christ</a:t>
            </a:r>
            <a:r>
              <a:rPr lang="en-US" dirty="0">
                <a:latin typeface="Book Antiqua" pitchFamily="18" charset="0"/>
              </a:rPr>
              <a:t> university"})</a:t>
            </a:r>
          </a:p>
          <a:p>
            <a:r>
              <a:rPr lang="en-US" dirty="0" err="1">
                <a:latin typeface="Book Antiqua" pitchFamily="18" charset="0"/>
              </a:rPr>
              <a:t>db.dropDatabase</a:t>
            </a:r>
            <a:r>
              <a:rPr lang="en-US" dirty="0">
                <a:latin typeface="Book Antiqua" pitchFamily="18" charset="0"/>
              </a:rPr>
              <a:t>() - to delete the database</a:t>
            </a:r>
          </a:p>
          <a:p>
            <a:r>
              <a:rPr lang="en-US" dirty="0" err="1">
                <a:latin typeface="Book Antiqua" pitchFamily="18" charset="0"/>
              </a:rPr>
              <a:t>db.school.find</a:t>
            </a:r>
            <a:r>
              <a:rPr lang="en-US" dirty="0">
                <a:latin typeface="Book Antiqua" pitchFamily="18" charset="0"/>
              </a:rPr>
              <a:t>() – to find the inserted values in school</a:t>
            </a:r>
          </a:p>
          <a:p>
            <a:r>
              <a:rPr lang="en-US" dirty="0" err="1">
                <a:latin typeface="Book Antiqua" pitchFamily="18" charset="0"/>
              </a:rPr>
              <a:t>db.school.find</a:t>
            </a:r>
            <a:r>
              <a:rPr lang="en-US" dirty="0">
                <a:latin typeface="Book Antiqua" pitchFamily="18" charset="0"/>
              </a:rPr>
              <a:t>().pretty() – to make the output readable</a:t>
            </a:r>
          </a:p>
          <a:p>
            <a:endParaRPr lang="en-US" dirty="0">
              <a:latin typeface="Book Antiqua" pitchFamily="18" charset="0"/>
            </a:endParaRPr>
          </a:p>
        </p:txBody>
      </p:sp>
    </p:spTree>
    <p:extLst>
      <p:ext uri="{BB962C8B-B14F-4D97-AF65-F5344CB8AC3E}">
        <p14:creationId xmlns:p14="http://schemas.microsoft.com/office/powerpoint/2010/main" val="14761672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650" y="393342"/>
            <a:ext cx="8520600" cy="763500"/>
          </a:xfrm>
        </p:spPr>
        <p:txBody>
          <a:bodyPr/>
          <a:lstStyle/>
          <a:p>
            <a:pPr algn="ctr"/>
            <a:r>
              <a:rPr lang="en-US" dirty="0"/>
              <a:t>Create/drop Collection</a:t>
            </a:r>
          </a:p>
        </p:txBody>
      </p:sp>
      <p:sp>
        <p:nvSpPr>
          <p:cNvPr id="3" name="Text Placeholder 2"/>
          <p:cNvSpPr>
            <a:spLocks noGrp="1"/>
          </p:cNvSpPr>
          <p:nvPr>
            <p:ph type="body" idx="1"/>
          </p:nvPr>
        </p:nvSpPr>
        <p:spPr>
          <a:xfrm>
            <a:off x="292650" y="1051149"/>
            <a:ext cx="8520600" cy="4555200"/>
          </a:xfrm>
        </p:spPr>
        <p:txBody>
          <a:bodyPr/>
          <a:lstStyle/>
          <a:p>
            <a:r>
              <a:rPr lang="en-US" sz="2000" dirty="0" err="1">
                <a:latin typeface="Book Antiqua" pitchFamily="18" charset="0"/>
              </a:rPr>
              <a:t>db.createCollection</a:t>
            </a:r>
            <a:r>
              <a:rPr lang="en-US" sz="2000" dirty="0">
                <a:latin typeface="Book Antiqua" pitchFamily="18" charset="0"/>
              </a:rPr>
              <a:t>(name, options) - to create collection. In </a:t>
            </a:r>
            <a:r>
              <a:rPr lang="en-US" sz="2000" dirty="0" err="1">
                <a:latin typeface="Book Antiqua" pitchFamily="18" charset="0"/>
              </a:rPr>
              <a:t>MongoDB</a:t>
            </a:r>
            <a:r>
              <a:rPr lang="en-US" sz="2000" dirty="0">
                <a:latin typeface="Book Antiqua" pitchFamily="18" charset="0"/>
              </a:rPr>
              <a:t>, you don't need to create collection. </a:t>
            </a:r>
            <a:r>
              <a:rPr lang="en-US" sz="2000" dirty="0" err="1">
                <a:latin typeface="Book Antiqua" pitchFamily="18" charset="0"/>
              </a:rPr>
              <a:t>MongoDB</a:t>
            </a:r>
            <a:r>
              <a:rPr lang="en-US" sz="2000" dirty="0">
                <a:latin typeface="Book Antiqua" pitchFamily="18" charset="0"/>
              </a:rPr>
              <a:t> creates collection automatically, when you insert some document.</a:t>
            </a:r>
          </a:p>
          <a:p>
            <a:endParaRPr lang="en-US" dirty="0">
              <a:latin typeface="Book Antiqua" pitchFamily="18" charset="0"/>
            </a:endParaRPr>
          </a:p>
          <a:p>
            <a:endParaRPr lang="en-US" dirty="0">
              <a:latin typeface="Book Antiqua" pitchFamily="18" charset="0"/>
            </a:endParaRPr>
          </a:p>
          <a:p>
            <a:endParaRPr lang="en-US" dirty="0">
              <a:latin typeface="Book Antiqua" pitchFamily="18" charset="0"/>
            </a:endParaRPr>
          </a:p>
          <a:p>
            <a:endParaRPr lang="en-US" dirty="0">
              <a:latin typeface="Book Antiqua" pitchFamily="18" charset="0"/>
            </a:endParaRPr>
          </a:p>
          <a:p>
            <a:endParaRPr lang="en-US" dirty="0">
              <a:latin typeface="Book Antiqua" pitchFamily="18" charset="0"/>
            </a:endParaRPr>
          </a:p>
          <a:p>
            <a:r>
              <a:rPr lang="en-US" dirty="0"/>
              <a:t>Following is the list of options you can use:</a:t>
            </a:r>
            <a:endParaRPr lang="en-US" dirty="0">
              <a:latin typeface="Book Antiqua" pitchFamily="18" charset="0"/>
            </a:endParaRPr>
          </a:p>
          <a:p>
            <a:endParaRPr lang="en-US" dirty="0">
              <a:latin typeface="Book Antiqua" pitchFamily="18" charset="0"/>
            </a:endParaRP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722" y="2090738"/>
            <a:ext cx="6140228" cy="1409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720" y="3590925"/>
            <a:ext cx="5227151" cy="2744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238875" y="4078843"/>
            <a:ext cx="2781300" cy="954107"/>
          </a:xfrm>
          <a:prstGeom prst="rect">
            <a:avLst/>
          </a:prstGeom>
        </p:spPr>
        <p:txBody>
          <a:bodyPr wrap="square">
            <a:spAutoFit/>
          </a:bodyPr>
          <a:lstStyle/>
          <a:p>
            <a:r>
              <a:rPr lang="en-US" dirty="0"/>
              <a:t>While inserting the document, </a:t>
            </a:r>
            <a:r>
              <a:rPr lang="en-US" dirty="0" err="1"/>
              <a:t>MongoDB</a:t>
            </a:r>
            <a:r>
              <a:rPr lang="en-US" dirty="0"/>
              <a:t> first checks size field of capped collection, then it</a:t>
            </a:r>
          </a:p>
          <a:p>
            <a:r>
              <a:rPr lang="en-US" dirty="0"/>
              <a:t>checks max field.</a:t>
            </a:r>
          </a:p>
        </p:txBody>
      </p:sp>
    </p:spTree>
    <p:extLst>
      <p:ext uri="{BB962C8B-B14F-4D97-AF65-F5344CB8AC3E}">
        <p14:creationId xmlns:p14="http://schemas.microsoft.com/office/powerpoint/2010/main" val="4247668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r>
              <a:rPr lang="en-US" dirty="0"/>
              <a:t>test&gt; </a:t>
            </a:r>
            <a:r>
              <a:rPr lang="en-US" dirty="0" err="1"/>
              <a:t>db.createCollection</a:t>
            </a:r>
            <a:r>
              <a:rPr lang="en-US" dirty="0"/>
              <a:t>("</a:t>
            </a:r>
            <a:r>
              <a:rPr lang="en-US" dirty="0" err="1"/>
              <a:t>mycollection</a:t>
            </a:r>
            <a:r>
              <a:rPr lang="en-US" dirty="0"/>
              <a:t>")     - to create collection</a:t>
            </a:r>
          </a:p>
          <a:p>
            <a:r>
              <a:rPr lang="en-US" dirty="0"/>
              <a:t>test&gt; show collections       - to check the created collection</a:t>
            </a:r>
          </a:p>
          <a:p>
            <a:endParaRPr lang="en-US" dirty="0"/>
          </a:p>
          <a:p>
            <a:pPr marL="88900" indent="0">
              <a:buNone/>
            </a:pPr>
            <a:r>
              <a:rPr lang="en-US" dirty="0"/>
              <a:t>syntax of </a:t>
            </a:r>
            <a:r>
              <a:rPr lang="en-US" b="1" dirty="0" err="1"/>
              <a:t>createCollection</a:t>
            </a:r>
            <a:r>
              <a:rPr lang="en-US" b="1" dirty="0"/>
              <a:t>() </a:t>
            </a:r>
            <a:r>
              <a:rPr lang="en-US" dirty="0"/>
              <a:t>method with few important options:</a:t>
            </a:r>
          </a:p>
          <a:p>
            <a:r>
              <a:rPr lang="en-US" dirty="0" err="1"/>
              <a:t>db.createCollection</a:t>
            </a:r>
            <a:r>
              <a:rPr lang="en-US" dirty="0"/>
              <a:t>("</a:t>
            </a:r>
            <a:r>
              <a:rPr lang="en-US" dirty="0" err="1"/>
              <a:t>mycol</a:t>
            </a:r>
            <a:r>
              <a:rPr lang="en-US" dirty="0"/>
              <a:t>", { capped : true, size : 6142800,max : 10000 } )</a:t>
            </a:r>
          </a:p>
          <a:p>
            <a:r>
              <a:rPr lang="en-US" dirty="0" err="1"/>
              <a:t>db.mycol.insert</a:t>
            </a:r>
            <a:r>
              <a:rPr lang="en-US" dirty="0"/>
              <a:t>({"name":"</a:t>
            </a:r>
            <a:r>
              <a:rPr lang="en-US" dirty="0" err="1"/>
              <a:t>diana</a:t>
            </a:r>
            <a:r>
              <a:rPr lang="en-US" dirty="0"/>
              <a:t>"}) – to insert values into a collection</a:t>
            </a:r>
          </a:p>
          <a:p>
            <a:r>
              <a:rPr lang="en-US" dirty="0" err="1"/>
              <a:t>db.mycol.find</a:t>
            </a:r>
            <a:r>
              <a:rPr lang="en-US" dirty="0"/>
              <a:t>() - to see the inserted document</a:t>
            </a:r>
          </a:p>
          <a:p>
            <a:r>
              <a:rPr lang="en-US" dirty="0" err="1"/>
              <a:t>db.mycol.drop</a:t>
            </a:r>
            <a:r>
              <a:rPr lang="en-US" dirty="0"/>
              <a:t>() – to drop the collection</a:t>
            </a:r>
          </a:p>
        </p:txBody>
      </p:sp>
    </p:spTree>
    <p:extLst>
      <p:ext uri="{BB962C8B-B14F-4D97-AF65-F5344CB8AC3E}">
        <p14:creationId xmlns:p14="http://schemas.microsoft.com/office/powerpoint/2010/main" val="19444310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225" y="393342"/>
            <a:ext cx="8520600" cy="763500"/>
          </a:xfrm>
        </p:spPr>
        <p:txBody>
          <a:bodyPr/>
          <a:lstStyle/>
          <a:p>
            <a:r>
              <a:rPr lang="en-US" dirty="0"/>
              <a:t>Data types</a:t>
            </a:r>
          </a:p>
        </p:txBody>
      </p:sp>
      <p:sp>
        <p:nvSpPr>
          <p:cNvPr id="3" name="Text Placeholder 2"/>
          <p:cNvSpPr>
            <a:spLocks noGrp="1"/>
          </p:cNvSpPr>
          <p:nvPr>
            <p:ph type="body" idx="1"/>
          </p:nvPr>
        </p:nvSpPr>
        <p:spPr/>
        <p:txBody>
          <a:bodyPr/>
          <a:lstStyle/>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962257950"/>
              </p:ext>
            </p:extLst>
          </p:nvPr>
        </p:nvGraphicFramePr>
        <p:xfrm>
          <a:off x="123825" y="1116270"/>
          <a:ext cx="8934450" cy="5425440"/>
        </p:xfrm>
        <a:graphic>
          <a:graphicData uri="http://schemas.openxmlformats.org/drawingml/2006/table">
            <a:tbl>
              <a:tblPr firstRow="1" bandRow="1">
                <a:tableStyleId>{5C22544A-7EE6-4342-B048-85BDC9FD1C3A}</a:tableStyleId>
              </a:tblPr>
              <a:tblGrid>
                <a:gridCol w="1814654">
                  <a:extLst>
                    <a:ext uri="{9D8B030D-6E8A-4147-A177-3AD203B41FA5}">
                      <a16:colId xmlns:a16="http://schemas.microsoft.com/office/drawing/2014/main" val="20000"/>
                    </a:ext>
                  </a:extLst>
                </a:gridCol>
                <a:gridCol w="7119796">
                  <a:extLst>
                    <a:ext uri="{9D8B030D-6E8A-4147-A177-3AD203B41FA5}">
                      <a16:colId xmlns:a16="http://schemas.microsoft.com/office/drawing/2014/main" val="20001"/>
                    </a:ext>
                  </a:extLst>
                </a:gridCol>
              </a:tblGrid>
              <a:tr h="266992">
                <a:tc>
                  <a:txBody>
                    <a:bodyPr/>
                    <a:lstStyle/>
                    <a:p>
                      <a:endParaRPr lang="en-US" sz="1300" dirty="0"/>
                    </a:p>
                  </a:txBody>
                  <a:tcPr/>
                </a:tc>
                <a:tc>
                  <a:txBody>
                    <a:bodyPr/>
                    <a:lstStyle/>
                    <a:p>
                      <a:endParaRPr lang="en-US" sz="1300"/>
                    </a:p>
                  </a:txBody>
                  <a:tcPr/>
                </a:tc>
                <a:extLst>
                  <a:ext uri="{0D108BD9-81ED-4DB2-BD59-A6C34878D82A}">
                    <a16:rowId xmlns:a16="http://schemas.microsoft.com/office/drawing/2014/main" val="10000"/>
                  </a:ext>
                </a:extLst>
              </a:tr>
              <a:tr h="449671">
                <a:tc>
                  <a:txBody>
                    <a:bodyPr/>
                    <a:lstStyle/>
                    <a:p>
                      <a:r>
                        <a:rPr lang="en-US" sz="1300" b="1" i="0" u="none" strike="noStrike" cap="none" dirty="0">
                          <a:solidFill>
                            <a:schemeClr val="dk1"/>
                          </a:solidFill>
                          <a:effectLst/>
                          <a:latin typeface="+mn-lt"/>
                          <a:ea typeface="+mn-ea"/>
                          <a:cs typeface="+mn-cs"/>
                          <a:sym typeface="Arial"/>
                        </a:rPr>
                        <a:t>String</a:t>
                      </a:r>
                      <a:r>
                        <a:rPr lang="en-US" sz="1300" b="0" i="0" u="none" strike="noStrike" cap="none" dirty="0">
                          <a:solidFill>
                            <a:schemeClr val="dk1"/>
                          </a:solidFill>
                          <a:effectLst/>
                          <a:latin typeface="+mn-lt"/>
                          <a:ea typeface="+mn-ea"/>
                          <a:cs typeface="+mn-cs"/>
                          <a:sym typeface="Arial"/>
                        </a:rPr>
                        <a:t> </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i="0" u="none" strike="noStrike" cap="none" dirty="0">
                          <a:solidFill>
                            <a:schemeClr val="dk1"/>
                          </a:solidFill>
                          <a:effectLst/>
                          <a:latin typeface="+mn-lt"/>
                          <a:ea typeface="+mn-ea"/>
                          <a:cs typeface="+mn-cs"/>
                          <a:sym typeface="Arial"/>
                        </a:rPr>
                        <a:t>This is the most commonly used </a:t>
                      </a:r>
                      <a:r>
                        <a:rPr lang="en-US" sz="1300" b="0" i="0" u="none" strike="noStrike" cap="none" dirty="0" err="1">
                          <a:solidFill>
                            <a:schemeClr val="dk1"/>
                          </a:solidFill>
                          <a:effectLst/>
                          <a:latin typeface="+mn-lt"/>
                          <a:ea typeface="+mn-ea"/>
                          <a:cs typeface="+mn-cs"/>
                          <a:sym typeface="Arial"/>
                        </a:rPr>
                        <a:t>datatype</a:t>
                      </a:r>
                      <a:r>
                        <a:rPr lang="en-US" sz="1300" b="0" i="0" u="none" strike="noStrike" cap="none" dirty="0">
                          <a:solidFill>
                            <a:schemeClr val="dk1"/>
                          </a:solidFill>
                          <a:effectLst/>
                          <a:latin typeface="+mn-lt"/>
                          <a:ea typeface="+mn-ea"/>
                          <a:cs typeface="+mn-cs"/>
                          <a:sym typeface="Arial"/>
                        </a:rPr>
                        <a:t> to store the data. String in </a:t>
                      </a:r>
                      <a:r>
                        <a:rPr lang="en-US" sz="1300" b="0" i="0" u="none" strike="noStrike" cap="none" dirty="0" err="1">
                          <a:solidFill>
                            <a:schemeClr val="dk1"/>
                          </a:solidFill>
                          <a:effectLst/>
                          <a:latin typeface="+mn-lt"/>
                          <a:ea typeface="+mn-ea"/>
                          <a:cs typeface="+mn-cs"/>
                          <a:sym typeface="Arial"/>
                        </a:rPr>
                        <a:t>MongoDB</a:t>
                      </a:r>
                      <a:r>
                        <a:rPr lang="en-US" sz="1300" b="0" i="0" u="none" strike="noStrike" cap="none" dirty="0">
                          <a:solidFill>
                            <a:schemeClr val="dk1"/>
                          </a:solidFill>
                          <a:effectLst/>
                          <a:latin typeface="+mn-lt"/>
                          <a:ea typeface="+mn-ea"/>
                          <a:cs typeface="+mn-cs"/>
                          <a:sym typeface="Arial"/>
                        </a:rPr>
                        <a:t> must be UTF-8 valid.</a:t>
                      </a:r>
                    </a:p>
                  </a:txBody>
                  <a:tcPr/>
                </a:tc>
                <a:extLst>
                  <a:ext uri="{0D108BD9-81ED-4DB2-BD59-A6C34878D82A}">
                    <a16:rowId xmlns:a16="http://schemas.microsoft.com/office/drawing/2014/main" val="10001"/>
                  </a:ext>
                </a:extLst>
              </a:tr>
              <a:tr h="449671">
                <a:tc>
                  <a:txBody>
                    <a:bodyPr/>
                    <a:lstStyle/>
                    <a:p>
                      <a:r>
                        <a:rPr lang="en-US" sz="1300" b="1" i="0" u="none" strike="noStrike" cap="none" dirty="0">
                          <a:solidFill>
                            <a:schemeClr val="dk1"/>
                          </a:solidFill>
                          <a:effectLst/>
                          <a:latin typeface="+mn-lt"/>
                          <a:ea typeface="+mn-ea"/>
                          <a:cs typeface="+mn-cs"/>
                          <a:sym typeface="Arial"/>
                        </a:rPr>
                        <a:t>Integer</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i="0" u="none" strike="noStrike" cap="none" dirty="0">
                          <a:solidFill>
                            <a:schemeClr val="dk1"/>
                          </a:solidFill>
                          <a:effectLst/>
                          <a:latin typeface="+mn-lt"/>
                          <a:ea typeface="+mn-ea"/>
                          <a:cs typeface="+mn-cs"/>
                          <a:sym typeface="Arial"/>
                        </a:rPr>
                        <a:t>This type is used to store a numerical value. Integer can be 32 bit or 64 bit depending upon your server.</a:t>
                      </a:r>
                    </a:p>
                  </a:txBody>
                  <a:tcPr/>
                </a:tc>
                <a:extLst>
                  <a:ext uri="{0D108BD9-81ED-4DB2-BD59-A6C34878D82A}">
                    <a16:rowId xmlns:a16="http://schemas.microsoft.com/office/drawing/2014/main" val="10002"/>
                  </a:ext>
                </a:extLst>
              </a:tr>
              <a:tr h="266992">
                <a:tc>
                  <a:txBody>
                    <a:bodyPr/>
                    <a:lstStyle/>
                    <a:p>
                      <a:r>
                        <a:rPr lang="en-US" sz="1300" b="1" i="0" u="none" strike="noStrike" cap="none" dirty="0">
                          <a:solidFill>
                            <a:schemeClr val="dk1"/>
                          </a:solidFill>
                          <a:effectLst/>
                          <a:latin typeface="+mn-lt"/>
                          <a:ea typeface="+mn-ea"/>
                          <a:cs typeface="+mn-cs"/>
                          <a:sym typeface="Arial"/>
                        </a:rPr>
                        <a:t>Boolean</a:t>
                      </a:r>
                      <a:endParaRPr lang="en-US" sz="1300" b="0" i="0" u="none" strike="noStrike" cap="none" dirty="0">
                        <a:solidFill>
                          <a:schemeClr val="dk1"/>
                        </a:solidFill>
                        <a:effectLst/>
                        <a:latin typeface="+mn-lt"/>
                        <a:ea typeface="+mn-ea"/>
                        <a:cs typeface="+mn-cs"/>
                        <a:sym typeface="Arial"/>
                      </a:endParaRP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i="0" u="none" strike="noStrike" cap="none" dirty="0">
                          <a:solidFill>
                            <a:schemeClr val="dk1"/>
                          </a:solidFill>
                          <a:effectLst/>
                          <a:latin typeface="+mn-lt"/>
                          <a:ea typeface="+mn-ea"/>
                          <a:cs typeface="+mn-cs"/>
                          <a:sym typeface="Arial"/>
                        </a:rPr>
                        <a:t>This type is used to store a </a:t>
                      </a:r>
                      <a:r>
                        <a:rPr lang="en-US" sz="1300" b="0" i="0" u="none" strike="noStrike" cap="none" dirty="0" err="1">
                          <a:solidFill>
                            <a:schemeClr val="dk1"/>
                          </a:solidFill>
                          <a:effectLst/>
                          <a:latin typeface="+mn-lt"/>
                          <a:ea typeface="+mn-ea"/>
                          <a:cs typeface="+mn-cs"/>
                          <a:sym typeface="Arial"/>
                        </a:rPr>
                        <a:t>boolean</a:t>
                      </a:r>
                      <a:r>
                        <a:rPr lang="en-US" sz="1300" b="0" i="0" u="none" strike="noStrike" cap="none" dirty="0">
                          <a:solidFill>
                            <a:schemeClr val="dk1"/>
                          </a:solidFill>
                          <a:effectLst/>
                          <a:latin typeface="+mn-lt"/>
                          <a:ea typeface="+mn-ea"/>
                          <a:cs typeface="+mn-cs"/>
                          <a:sym typeface="Arial"/>
                        </a:rPr>
                        <a:t> (true/ false) value</a:t>
                      </a:r>
                    </a:p>
                  </a:txBody>
                  <a:tcPr/>
                </a:tc>
                <a:extLst>
                  <a:ext uri="{0D108BD9-81ED-4DB2-BD59-A6C34878D82A}">
                    <a16:rowId xmlns:a16="http://schemas.microsoft.com/office/drawing/2014/main" val="10003"/>
                  </a:ext>
                </a:extLst>
              </a:tr>
              <a:tr h="266992">
                <a:tc>
                  <a:txBody>
                    <a:bodyPr/>
                    <a:lstStyle/>
                    <a:p>
                      <a:r>
                        <a:rPr lang="en-US" sz="1300" b="1" i="0" u="none" strike="noStrike" cap="none" dirty="0">
                          <a:solidFill>
                            <a:schemeClr val="dk1"/>
                          </a:solidFill>
                          <a:effectLst/>
                          <a:latin typeface="+mn-lt"/>
                          <a:ea typeface="+mn-ea"/>
                          <a:cs typeface="+mn-cs"/>
                          <a:sym typeface="Arial"/>
                        </a:rPr>
                        <a:t>Double</a:t>
                      </a:r>
                      <a:endParaRPr lang="en-US" sz="1300" b="0" i="0" u="none" strike="noStrike" cap="none" dirty="0">
                        <a:solidFill>
                          <a:schemeClr val="dk1"/>
                        </a:solidFill>
                        <a:effectLst/>
                        <a:latin typeface="+mn-lt"/>
                        <a:ea typeface="+mn-ea"/>
                        <a:cs typeface="+mn-cs"/>
                        <a:sym typeface="Arial"/>
                      </a:endParaRP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i="0" u="none" strike="noStrike" cap="none" dirty="0">
                          <a:solidFill>
                            <a:schemeClr val="dk1"/>
                          </a:solidFill>
                          <a:effectLst/>
                          <a:latin typeface="+mn-lt"/>
                          <a:ea typeface="+mn-ea"/>
                          <a:cs typeface="+mn-cs"/>
                          <a:sym typeface="Arial"/>
                        </a:rPr>
                        <a:t>This type is used to store floating point values</a:t>
                      </a:r>
                    </a:p>
                  </a:txBody>
                  <a:tcPr/>
                </a:tc>
                <a:extLst>
                  <a:ext uri="{0D108BD9-81ED-4DB2-BD59-A6C34878D82A}">
                    <a16:rowId xmlns:a16="http://schemas.microsoft.com/office/drawing/2014/main" val="10004"/>
                  </a:ext>
                </a:extLst>
              </a:tr>
              <a:tr h="266992">
                <a:tc>
                  <a:txBody>
                    <a:bodyPr/>
                    <a:lstStyle/>
                    <a:p>
                      <a:r>
                        <a:rPr lang="en-US" sz="1300" b="1" i="0" u="none" strike="noStrike" cap="none" dirty="0">
                          <a:solidFill>
                            <a:schemeClr val="dk1"/>
                          </a:solidFill>
                          <a:effectLst/>
                          <a:latin typeface="+mn-lt"/>
                          <a:ea typeface="+mn-ea"/>
                          <a:cs typeface="+mn-cs"/>
                          <a:sym typeface="Arial"/>
                        </a:rPr>
                        <a:t>Min/ Max keys</a:t>
                      </a:r>
                      <a:endParaRPr lang="en-US" sz="1300" b="0" i="0" u="none" strike="noStrike" cap="none" dirty="0">
                        <a:solidFill>
                          <a:schemeClr val="dk1"/>
                        </a:solidFill>
                        <a:effectLst/>
                        <a:latin typeface="+mn-lt"/>
                        <a:ea typeface="+mn-ea"/>
                        <a:cs typeface="+mn-cs"/>
                        <a:sym typeface="Arial"/>
                      </a:endParaRP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i="0" u="none" strike="noStrike" cap="none" dirty="0">
                          <a:solidFill>
                            <a:schemeClr val="dk1"/>
                          </a:solidFill>
                          <a:effectLst/>
                          <a:latin typeface="+mn-lt"/>
                          <a:ea typeface="+mn-ea"/>
                          <a:cs typeface="+mn-cs"/>
                          <a:sym typeface="Arial"/>
                        </a:rPr>
                        <a:t>This type is used to compare a value against the lowest and highest BSON elements</a:t>
                      </a:r>
                    </a:p>
                  </a:txBody>
                  <a:tcPr/>
                </a:tc>
                <a:extLst>
                  <a:ext uri="{0D108BD9-81ED-4DB2-BD59-A6C34878D82A}">
                    <a16:rowId xmlns:a16="http://schemas.microsoft.com/office/drawing/2014/main" val="10005"/>
                  </a:ext>
                </a:extLst>
              </a:tr>
              <a:tr h="266992">
                <a:tc>
                  <a:txBody>
                    <a:bodyPr/>
                    <a:lstStyle/>
                    <a:p>
                      <a:r>
                        <a:rPr lang="en-US" sz="1300" b="1" i="0" u="none" strike="noStrike" cap="none" dirty="0">
                          <a:solidFill>
                            <a:schemeClr val="dk1"/>
                          </a:solidFill>
                          <a:effectLst/>
                          <a:latin typeface="+mn-lt"/>
                          <a:ea typeface="+mn-ea"/>
                          <a:cs typeface="+mn-cs"/>
                          <a:sym typeface="Arial"/>
                        </a:rPr>
                        <a:t>Arrays</a:t>
                      </a:r>
                      <a:endParaRPr lang="en-US" sz="1300" b="0" i="0" u="none" strike="noStrike" cap="none" dirty="0">
                        <a:solidFill>
                          <a:schemeClr val="dk1"/>
                        </a:solidFill>
                        <a:effectLst/>
                        <a:latin typeface="+mn-lt"/>
                        <a:ea typeface="+mn-ea"/>
                        <a:cs typeface="+mn-cs"/>
                        <a:sym typeface="Arial"/>
                      </a:endParaRPr>
                    </a:p>
                  </a:txBody>
                  <a:tcPr/>
                </a:tc>
                <a:tc>
                  <a:txBody>
                    <a:bodyPr/>
                    <a:lstStyle/>
                    <a:p>
                      <a:r>
                        <a:rPr lang="en-US" sz="1300" b="0" i="0" u="none" strike="noStrike" cap="none" dirty="0">
                          <a:solidFill>
                            <a:schemeClr val="dk1"/>
                          </a:solidFill>
                          <a:effectLst/>
                          <a:latin typeface="+mn-lt"/>
                          <a:ea typeface="+mn-ea"/>
                          <a:cs typeface="+mn-cs"/>
                          <a:sym typeface="Arial"/>
                        </a:rPr>
                        <a:t>This type is used to store arrays or list or multiple values into one key</a:t>
                      </a:r>
                      <a:endParaRPr lang="en-US" sz="1300" dirty="0"/>
                    </a:p>
                  </a:txBody>
                  <a:tcPr/>
                </a:tc>
                <a:extLst>
                  <a:ext uri="{0D108BD9-81ED-4DB2-BD59-A6C34878D82A}">
                    <a16:rowId xmlns:a16="http://schemas.microsoft.com/office/drawing/2014/main" val="10006"/>
                  </a:ext>
                </a:extLst>
              </a:tr>
              <a:tr h="274612">
                <a:tc>
                  <a:txBody>
                    <a:bodyPr/>
                    <a:lstStyle/>
                    <a:p>
                      <a:r>
                        <a:rPr lang="en-US" sz="1300" b="1" i="0" u="none" strike="noStrike" cap="none" dirty="0">
                          <a:solidFill>
                            <a:schemeClr val="dk1"/>
                          </a:solidFill>
                          <a:effectLst/>
                          <a:latin typeface="+mn-lt"/>
                          <a:ea typeface="+mn-ea"/>
                          <a:cs typeface="+mn-cs"/>
                          <a:sym typeface="Arial"/>
                        </a:rPr>
                        <a:t>Timestamp</a:t>
                      </a:r>
                      <a:endParaRPr lang="en-US" sz="1300" b="0" i="0" u="none" strike="noStrike" cap="none" dirty="0">
                        <a:solidFill>
                          <a:schemeClr val="dk1"/>
                        </a:solidFill>
                        <a:effectLst/>
                        <a:latin typeface="+mn-lt"/>
                        <a:ea typeface="+mn-ea"/>
                        <a:cs typeface="+mn-cs"/>
                        <a:sym typeface="Arial"/>
                      </a:endParaRP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i="0" u="none" strike="noStrike" cap="none" dirty="0" err="1">
                          <a:solidFill>
                            <a:schemeClr val="dk1"/>
                          </a:solidFill>
                          <a:effectLst/>
                          <a:latin typeface="+mn-lt"/>
                          <a:ea typeface="+mn-ea"/>
                          <a:cs typeface="+mn-cs"/>
                          <a:sym typeface="Arial"/>
                        </a:rPr>
                        <a:t>ctimestamp</a:t>
                      </a:r>
                      <a:r>
                        <a:rPr lang="en-US" sz="1300" b="0" i="0" u="none" strike="noStrike" cap="none" dirty="0">
                          <a:solidFill>
                            <a:schemeClr val="dk1"/>
                          </a:solidFill>
                          <a:effectLst/>
                          <a:latin typeface="+mn-lt"/>
                          <a:ea typeface="+mn-ea"/>
                          <a:cs typeface="+mn-cs"/>
                          <a:sym typeface="Arial"/>
                        </a:rPr>
                        <a:t>. This can be handy for recording when a document has been modified or added</a:t>
                      </a:r>
                    </a:p>
                  </a:txBody>
                  <a:tcPr/>
                </a:tc>
                <a:extLst>
                  <a:ext uri="{0D108BD9-81ED-4DB2-BD59-A6C34878D82A}">
                    <a16:rowId xmlns:a16="http://schemas.microsoft.com/office/drawing/2014/main" val="10007"/>
                  </a:ext>
                </a:extLst>
              </a:tr>
              <a:tr h="266992">
                <a:tc>
                  <a:txBody>
                    <a:bodyPr/>
                    <a:lstStyle/>
                    <a:p>
                      <a:r>
                        <a:rPr lang="en-US" sz="1300" b="1" i="0" u="none" strike="noStrike" cap="none" dirty="0">
                          <a:solidFill>
                            <a:schemeClr val="dk1"/>
                          </a:solidFill>
                          <a:effectLst/>
                          <a:latin typeface="+mn-lt"/>
                          <a:ea typeface="+mn-ea"/>
                          <a:cs typeface="+mn-cs"/>
                          <a:sym typeface="Arial"/>
                        </a:rPr>
                        <a:t>Object</a:t>
                      </a:r>
                      <a:r>
                        <a:rPr lang="en-US" sz="1300" b="0" i="0" u="none" strike="noStrike" cap="none" dirty="0">
                          <a:solidFill>
                            <a:schemeClr val="dk1"/>
                          </a:solidFill>
                          <a:effectLst/>
                          <a:latin typeface="+mn-lt"/>
                          <a:ea typeface="+mn-ea"/>
                          <a:cs typeface="+mn-cs"/>
                          <a:sym typeface="Arial"/>
                        </a:rPr>
                        <a:t> </a:t>
                      </a:r>
                    </a:p>
                  </a:txBody>
                  <a:tcPr/>
                </a:tc>
                <a:tc>
                  <a:txBody>
                    <a:bodyPr/>
                    <a:lstStyle/>
                    <a:p>
                      <a:r>
                        <a:rPr lang="en-US" sz="1300" b="0" i="0" u="none" strike="noStrike" cap="none" dirty="0">
                          <a:solidFill>
                            <a:schemeClr val="dk1"/>
                          </a:solidFill>
                          <a:effectLst/>
                          <a:latin typeface="+mn-lt"/>
                          <a:ea typeface="+mn-ea"/>
                          <a:cs typeface="+mn-cs"/>
                          <a:sym typeface="Arial"/>
                        </a:rPr>
                        <a:t>This </a:t>
                      </a:r>
                      <a:r>
                        <a:rPr lang="en-US" sz="1300" b="0" i="0" u="none" strike="noStrike" cap="none" dirty="0" err="1">
                          <a:solidFill>
                            <a:schemeClr val="dk1"/>
                          </a:solidFill>
                          <a:effectLst/>
                          <a:latin typeface="+mn-lt"/>
                          <a:ea typeface="+mn-ea"/>
                          <a:cs typeface="+mn-cs"/>
                          <a:sym typeface="Arial"/>
                        </a:rPr>
                        <a:t>datatype</a:t>
                      </a:r>
                      <a:r>
                        <a:rPr lang="en-US" sz="1300" b="0" i="0" u="none" strike="noStrike" cap="none" dirty="0">
                          <a:solidFill>
                            <a:schemeClr val="dk1"/>
                          </a:solidFill>
                          <a:effectLst/>
                          <a:latin typeface="+mn-lt"/>
                          <a:ea typeface="+mn-ea"/>
                          <a:cs typeface="+mn-cs"/>
                          <a:sym typeface="Arial"/>
                        </a:rPr>
                        <a:t> is used for embedded documents.</a:t>
                      </a:r>
                      <a:endParaRPr lang="en-US" sz="1300" dirty="0"/>
                    </a:p>
                  </a:txBody>
                  <a:tcPr/>
                </a:tc>
                <a:extLst>
                  <a:ext uri="{0D108BD9-81ED-4DB2-BD59-A6C34878D82A}">
                    <a16:rowId xmlns:a16="http://schemas.microsoft.com/office/drawing/2014/main" val="10008"/>
                  </a:ext>
                </a:extLst>
              </a:tr>
              <a:tr h="266992">
                <a:tc>
                  <a:txBody>
                    <a:bodyPr/>
                    <a:lstStyle/>
                    <a:p>
                      <a:r>
                        <a:rPr lang="en-US" sz="1300" b="1" i="0" u="none" strike="noStrike" cap="none" dirty="0">
                          <a:solidFill>
                            <a:schemeClr val="dk1"/>
                          </a:solidFill>
                          <a:effectLst/>
                          <a:latin typeface="+mn-lt"/>
                          <a:ea typeface="+mn-ea"/>
                          <a:cs typeface="+mn-cs"/>
                          <a:sym typeface="Arial"/>
                        </a:rPr>
                        <a:t>Null</a:t>
                      </a:r>
                      <a:endParaRPr lang="en-US" sz="1300" b="0" i="0" u="none" strike="noStrike" cap="none" dirty="0">
                        <a:solidFill>
                          <a:schemeClr val="dk1"/>
                        </a:solidFill>
                        <a:effectLst/>
                        <a:latin typeface="+mn-lt"/>
                        <a:ea typeface="+mn-ea"/>
                        <a:cs typeface="+mn-cs"/>
                        <a:sym typeface="Arial"/>
                      </a:endParaRP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i="0" u="none" strike="noStrike" cap="none" dirty="0">
                          <a:solidFill>
                            <a:schemeClr val="dk1"/>
                          </a:solidFill>
                          <a:effectLst/>
                          <a:latin typeface="+mn-lt"/>
                          <a:ea typeface="+mn-ea"/>
                          <a:cs typeface="+mn-cs"/>
                          <a:sym typeface="Arial"/>
                        </a:rPr>
                        <a:t>This type is used to store a Null value.</a:t>
                      </a:r>
                    </a:p>
                  </a:txBody>
                  <a:tcPr/>
                </a:tc>
                <a:extLst>
                  <a:ext uri="{0D108BD9-81ED-4DB2-BD59-A6C34878D82A}">
                    <a16:rowId xmlns:a16="http://schemas.microsoft.com/office/drawing/2014/main" val="10009"/>
                  </a:ext>
                </a:extLst>
              </a:tr>
              <a:tr h="449671">
                <a:tc>
                  <a:txBody>
                    <a:bodyPr/>
                    <a:lstStyle/>
                    <a:p>
                      <a:r>
                        <a:rPr lang="en-US" sz="1300" b="1" i="0" u="none" strike="noStrike" cap="none" dirty="0">
                          <a:solidFill>
                            <a:schemeClr val="dk1"/>
                          </a:solidFill>
                          <a:effectLst/>
                          <a:latin typeface="+mn-lt"/>
                          <a:ea typeface="+mn-ea"/>
                          <a:cs typeface="+mn-cs"/>
                          <a:sym typeface="Arial"/>
                        </a:rPr>
                        <a:t>Symbol</a:t>
                      </a:r>
                      <a:r>
                        <a:rPr lang="en-US" sz="1300" b="0" i="0" u="none" strike="noStrike" cap="none" dirty="0">
                          <a:solidFill>
                            <a:schemeClr val="dk1"/>
                          </a:solidFill>
                          <a:effectLst/>
                          <a:latin typeface="+mn-lt"/>
                          <a:ea typeface="+mn-ea"/>
                          <a:cs typeface="+mn-cs"/>
                          <a:sym typeface="Arial"/>
                        </a:rPr>
                        <a:t> </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i="0" u="none" strike="noStrike" cap="none" dirty="0">
                          <a:solidFill>
                            <a:schemeClr val="dk1"/>
                          </a:solidFill>
                          <a:effectLst/>
                          <a:latin typeface="+mn-lt"/>
                          <a:ea typeface="+mn-ea"/>
                          <a:cs typeface="+mn-cs"/>
                          <a:sym typeface="Arial"/>
                        </a:rPr>
                        <a:t>This </a:t>
                      </a:r>
                      <a:r>
                        <a:rPr lang="en-US" sz="1300" b="0" i="0" u="none" strike="noStrike" cap="none" dirty="0" err="1">
                          <a:solidFill>
                            <a:schemeClr val="dk1"/>
                          </a:solidFill>
                          <a:effectLst/>
                          <a:latin typeface="+mn-lt"/>
                          <a:ea typeface="+mn-ea"/>
                          <a:cs typeface="+mn-cs"/>
                          <a:sym typeface="Arial"/>
                        </a:rPr>
                        <a:t>datatype</a:t>
                      </a:r>
                      <a:r>
                        <a:rPr lang="en-US" sz="1300" b="0" i="0" u="none" strike="noStrike" cap="none" dirty="0">
                          <a:solidFill>
                            <a:schemeClr val="dk1"/>
                          </a:solidFill>
                          <a:effectLst/>
                          <a:latin typeface="+mn-lt"/>
                          <a:ea typeface="+mn-ea"/>
                          <a:cs typeface="+mn-cs"/>
                          <a:sym typeface="Arial"/>
                        </a:rPr>
                        <a:t> is used identically to a string; however, it's generally reserved for languages that use a specific symbol type.</a:t>
                      </a:r>
                    </a:p>
                  </a:txBody>
                  <a:tcPr/>
                </a:tc>
                <a:extLst>
                  <a:ext uri="{0D108BD9-81ED-4DB2-BD59-A6C34878D82A}">
                    <a16:rowId xmlns:a16="http://schemas.microsoft.com/office/drawing/2014/main" val="10010"/>
                  </a:ext>
                </a:extLst>
              </a:tr>
              <a:tr h="449671">
                <a:tc>
                  <a:txBody>
                    <a:bodyPr/>
                    <a:lstStyle/>
                    <a:p>
                      <a:r>
                        <a:rPr lang="en-US" sz="1300" b="1" i="0" u="none" strike="noStrike" cap="none" dirty="0">
                          <a:solidFill>
                            <a:schemeClr val="dk1"/>
                          </a:solidFill>
                          <a:effectLst/>
                          <a:latin typeface="+mn-lt"/>
                          <a:ea typeface="+mn-ea"/>
                          <a:cs typeface="+mn-cs"/>
                          <a:sym typeface="Arial"/>
                        </a:rPr>
                        <a:t>Date</a:t>
                      </a:r>
                      <a:endParaRPr lang="en-US" sz="1300" b="0" i="0" u="none" strike="noStrike" cap="none" dirty="0">
                        <a:solidFill>
                          <a:schemeClr val="dk1"/>
                        </a:solidFill>
                        <a:effectLst/>
                        <a:latin typeface="+mn-lt"/>
                        <a:ea typeface="+mn-ea"/>
                        <a:cs typeface="+mn-cs"/>
                        <a:sym typeface="Arial"/>
                      </a:endParaRPr>
                    </a:p>
                  </a:txBody>
                  <a:tcPr/>
                </a:tc>
                <a:tc>
                  <a:txBody>
                    <a:bodyPr/>
                    <a:lstStyle/>
                    <a:p>
                      <a:r>
                        <a:rPr lang="en-US" sz="1300" b="0" i="0" u="none" strike="noStrike" cap="none" dirty="0">
                          <a:solidFill>
                            <a:schemeClr val="dk1"/>
                          </a:solidFill>
                          <a:effectLst/>
                          <a:latin typeface="+mn-lt"/>
                          <a:ea typeface="+mn-ea"/>
                          <a:cs typeface="+mn-cs"/>
                          <a:sym typeface="Arial"/>
                        </a:rPr>
                        <a:t>This </a:t>
                      </a:r>
                      <a:r>
                        <a:rPr lang="en-US" sz="1300" b="0" i="0" u="none" strike="noStrike" cap="none" dirty="0" err="1">
                          <a:solidFill>
                            <a:schemeClr val="dk1"/>
                          </a:solidFill>
                          <a:effectLst/>
                          <a:latin typeface="+mn-lt"/>
                          <a:ea typeface="+mn-ea"/>
                          <a:cs typeface="+mn-cs"/>
                          <a:sym typeface="Arial"/>
                        </a:rPr>
                        <a:t>datatype</a:t>
                      </a:r>
                      <a:r>
                        <a:rPr lang="en-US" sz="1300" b="0" i="0" u="none" strike="noStrike" cap="none" dirty="0">
                          <a:solidFill>
                            <a:schemeClr val="dk1"/>
                          </a:solidFill>
                          <a:effectLst/>
                          <a:latin typeface="+mn-lt"/>
                          <a:ea typeface="+mn-ea"/>
                          <a:cs typeface="+mn-cs"/>
                          <a:sym typeface="Arial"/>
                        </a:rPr>
                        <a:t> is used to store the current date or time in UNIX time format. You can specify your own date time by creating object of Date and passing day, month, year into it.</a:t>
                      </a:r>
                      <a:endParaRPr lang="en-US" sz="1300" dirty="0"/>
                    </a:p>
                  </a:txBody>
                  <a:tcPr/>
                </a:tc>
                <a:extLst>
                  <a:ext uri="{0D108BD9-81ED-4DB2-BD59-A6C34878D82A}">
                    <a16:rowId xmlns:a16="http://schemas.microsoft.com/office/drawing/2014/main" val="10011"/>
                  </a:ext>
                </a:extLst>
              </a:tr>
              <a:tr h="266992">
                <a:tc>
                  <a:txBody>
                    <a:bodyPr/>
                    <a:lstStyle/>
                    <a:p>
                      <a:r>
                        <a:rPr lang="en-US" sz="1300" b="1" i="0" u="none" strike="noStrike" cap="none" dirty="0">
                          <a:solidFill>
                            <a:schemeClr val="dk1"/>
                          </a:solidFill>
                          <a:effectLst/>
                          <a:latin typeface="+mn-lt"/>
                          <a:ea typeface="+mn-ea"/>
                          <a:cs typeface="+mn-cs"/>
                          <a:sym typeface="Arial"/>
                        </a:rPr>
                        <a:t>Object ID</a:t>
                      </a:r>
                      <a:endParaRPr lang="en-US" sz="1300" b="0" i="0" u="none" strike="noStrike" cap="none" dirty="0">
                        <a:solidFill>
                          <a:schemeClr val="dk1"/>
                        </a:solidFill>
                        <a:effectLst/>
                        <a:latin typeface="+mn-lt"/>
                        <a:ea typeface="+mn-ea"/>
                        <a:cs typeface="+mn-cs"/>
                        <a:sym typeface="Arial"/>
                      </a:endParaRPr>
                    </a:p>
                  </a:txBody>
                  <a:tcPr/>
                </a:tc>
                <a:tc>
                  <a:txBody>
                    <a:bodyPr/>
                    <a:lstStyle/>
                    <a:p>
                      <a:r>
                        <a:rPr lang="en-US" sz="1300" b="0" i="0" u="none" strike="noStrike" cap="none" dirty="0">
                          <a:solidFill>
                            <a:schemeClr val="dk1"/>
                          </a:solidFill>
                          <a:effectLst/>
                          <a:latin typeface="+mn-lt"/>
                          <a:ea typeface="+mn-ea"/>
                          <a:cs typeface="+mn-cs"/>
                          <a:sym typeface="Arial"/>
                        </a:rPr>
                        <a:t>This </a:t>
                      </a:r>
                      <a:r>
                        <a:rPr lang="en-US" sz="1300" b="0" i="0" u="none" strike="noStrike" cap="none" dirty="0" err="1">
                          <a:solidFill>
                            <a:schemeClr val="dk1"/>
                          </a:solidFill>
                          <a:effectLst/>
                          <a:latin typeface="+mn-lt"/>
                          <a:ea typeface="+mn-ea"/>
                          <a:cs typeface="+mn-cs"/>
                          <a:sym typeface="Arial"/>
                        </a:rPr>
                        <a:t>datatype</a:t>
                      </a:r>
                      <a:r>
                        <a:rPr lang="en-US" sz="1300" b="0" i="0" u="none" strike="noStrike" cap="none" dirty="0">
                          <a:solidFill>
                            <a:schemeClr val="dk1"/>
                          </a:solidFill>
                          <a:effectLst/>
                          <a:latin typeface="+mn-lt"/>
                          <a:ea typeface="+mn-ea"/>
                          <a:cs typeface="+mn-cs"/>
                          <a:sym typeface="Arial"/>
                        </a:rPr>
                        <a:t> is used to store the document’s ID.</a:t>
                      </a:r>
                    </a:p>
                  </a:txBody>
                  <a:tcPr/>
                </a:tc>
                <a:extLst>
                  <a:ext uri="{0D108BD9-81ED-4DB2-BD59-A6C34878D82A}">
                    <a16:rowId xmlns:a16="http://schemas.microsoft.com/office/drawing/2014/main" val="10012"/>
                  </a:ext>
                </a:extLst>
              </a:tr>
              <a:tr h="266992">
                <a:tc>
                  <a:txBody>
                    <a:bodyPr/>
                    <a:lstStyle/>
                    <a:p>
                      <a:r>
                        <a:rPr lang="en-US" sz="1300" b="1" i="0" u="none" strike="noStrike" cap="none" dirty="0">
                          <a:solidFill>
                            <a:schemeClr val="dk1"/>
                          </a:solidFill>
                          <a:effectLst/>
                          <a:latin typeface="+mn-lt"/>
                          <a:ea typeface="+mn-ea"/>
                          <a:cs typeface="+mn-cs"/>
                          <a:sym typeface="Arial"/>
                        </a:rPr>
                        <a:t>Binary data</a:t>
                      </a:r>
                      <a:endParaRPr lang="en-US" sz="1300" b="0" i="0" u="none" strike="noStrike" cap="none" dirty="0">
                        <a:solidFill>
                          <a:schemeClr val="dk1"/>
                        </a:solidFill>
                        <a:effectLst/>
                        <a:latin typeface="+mn-lt"/>
                        <a:ea typeface="+mn-ea"/>
                        <a:cs typeface="+mn-cs"/>
                        <a:sym typeface="Arial"/>
                      </a:endParaRPr>
                    </a:p>
                  </a:txBody>
                  <a:tcPr/>
                </a:tc>
                <a:tc>
                  <a:txBody>
                    <a:bodyPr/>
                    <a:lstStyle/>
                    <a:p>
                      <a:r>
                        <a:rPr lang="en-US" sz="1300" b="0" i="0" u="none" strike="noStrike" cap="none" dirty="0">
                          <a:solidFill>
                            <a:schemeClr val="dk1"/>
                          </a:solidFill>
                          <a:effectLst/>
                          <a:latin typeface="+mn-lt"/>
                          <a:ea typeface="+mn-ea"/>
                          <a:cs typeface="+mn-cs"/>
                          <a:sym typeface="Arial"/>
                        </a:rPr>
                        <a:t>This </a:t>
                      </a:r>
                      <a:r>
                        <a:rPr lang="en-US" sz="1300" b="0" i="0" u="none" strike="noStrike" cap="none" dirty="0" err="1">
                          <a:solidFill>
                            <a:schemeClr val="dk1"/>
                          </a:solidFill>
                          <a:effectLst/>
                          <a:latin typeface="+mn-lt"/>
                          <a:ea typeface="+mn-ea"/>
                          <a:cs typeface="+mn-cs"/>
                          <a:sym typeface="Arial"/>
                        </a:rPr>
                        <a:t>datatype</a:t>
                      </a:r>
                      <a:r>
                        <a:rPr lang="en-US" sz="1300" b="0" i="0" u="none" strike="noStrike" cap="none" dirty="0">
                          <a:solidFill>
                            <a:schemeClr val="dk1"/>
                          </a:solidFill>
                          <a:effectLst/>
                          <a:latin typeface="+mn-lt"/>
                          <a:ea typeface="+mn-ea"/>
                          <a:cs typeface="+mn-cs"/>
                          <a:sym typeface="Arial"/>
                        </a:rPr>
                        <a:t> is used to store binary data.</a:t>
                      </a:r>
                    </a:p>
                  </a:txBody>
                  <a:tcPr/>
                </a:tc>
                <a:extLst>
                  <a:ext uri="{0D108BD9-81ED-4DB2-BD59-A6C34878D82A}">
                    <a16:rowId xmlns:a16="http://schemas.microsoft.com/office/drawing/2014/main" val="10013"/>
                  </a:ext>
                </a:extLst>
              </a:tr>
              <a:tr h="266992">
                <a:tc>
                  <a:txBody>
                    <a:bodyPr/>
                    <a:lstStyle/>
                    <a:p>
                      <a:r>
                        <a:rPr lang="en-US" sz="1300" b="1" i="0" u="none" strike="noStrike" cap="none" dirty="0">
                          <a:solidFill>
                            <a:schemeClr val="dk1"/>
                          </a:solidFill>
                          <a:effectLst/>
                          <a:latin typeface="+mn-lt"/>
                          <a:ea typeface="+mn-ea"/>
                          <a:cs typeface="+mn-cs"/>
                          <a:sym typeface="Arial"/>
                        </a:rPr>
                        <a:t>Code</a:t>
                      </a:r>
                      <a:endParaRPr lang="en-US" sz="1300" b="0" i="0" u="none" strike="noStrike" cap="none" dirty="0">
                        <a:solidFill>
                          <a:schemeClr val="dk1"/>
                        </a:solidFill>
                        <a:effectLst/>
                        <a:latin typeface="+mn-lt"/>
                        <a:ea typeface="+mn-ea"/>
                        <a:cs typeface="+mn-cs"/>
                        <a:sym typeface="Arial"/>
                      </a:endParaRP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i="0" u="none" strike="noStrike" cap="none" dirty="0">
                          <a:solidFill>
                            <a:schemeClr val="dk1"/>
                          </a:solidFill>
                          <a:effectLst/>
                          <a:latin typeface="+mn-lt"/>
                          <a:ea typeface="+mn-ea"/>
                          <a:cs typeface="+mn-cs"/>
                          <a:sym typeface="Arial"/>
                        </a:rPr>
                        <a:t>This </a:t>
                      </a:r>
                      <a:r>
                        <a:rPr lang="en-US" sz="1300" b="0" i="0" u="none" strike="noStrike" cap="none" dirty="0" err="1">
                          <a:solidFill>
                            <a:schemeClr val="dk1"/>
                          </a:solidFill>
                          <a:effectLst/>
                          <a:latin typeface="+mn-lt"/>
                          <a:ea typeface="+mn-ea"/>
                          <a:cs typeface="+mn-cs"/>
                          <a:sym typeface="Arial"/>
                        </a:rPr>
                        <a:t>datatype</a:t>
                      </a:r>
                      <a:r>
                        <a:rPr lang="en-US" sz="1300" b="0" i="0" u="none" strike="noStrike" cap="none" dirty="0">
                          <a:solidFill>
                            <a:schemeClr val="dk1"/>
                          </a:solidFill>
                          <a:effectLst/>
                          <a:latin typeface="+mn-lt"/>
                          <a:ea typeface="+mn-ea"/>
                          <a:cs typeface="+mn-cs"/>
                          <a:sym typeface="Arial"/>
                        </a:rPr>
                        <a:t> is used to store JavaScript code into the document.</a:t>
                      </a:r>
                    </a:p>
                  </a:txBody>
                  <a:tcPr/>
                </a:tc>
                <a:extLst>
                  <a:ext uri="{0D108BD9-81ED-4DB2-BD59-A6C34878D82A}">
                    <a16:rowId xmlns:a16="http://schemas.microsoft.com/office/drawing/2014/main" val="10014"/>
                  </a:ext>
                </a:extLst>
              </a:tr>
              <a:tr h="274612">
                <a:tc>
                  <a:txBody>
                    <a:bodyPr/>
                    <a:lstStyle/>
                    <a:p>
                      <a:r>
                        <a:rPr lang="en-US" sz="1300" b="1" i="0" u="none" strike="noStrike" cap="none" dirty="0">
                          <a:solidFill>
                            <a:schemeClr val="dk1"/>
                          </a:solidFill>
                          <a:effectLst/>
                          <a:latin typeface="+mn-lt"/>
                          <a:ea typeface="+mn-ea"/>
                          <a:cs typeface="+mn-cs"/>
                          <a:sym typeface="Arial"/>
                        </a:rPr>
                        <a:t>Regular expression</a:t>
                      </a:r>
                      <a:endParaRPr lang="en-US" sz="1300" b="0" i="0" u="none" strike="noStrike" cap="none" dirty="0">
                        <a:solidFill>
                          <a:schemeClr val="dk1"/>
                        </a:solidFill>
                        <a:effectLst/>
                        <a:latin typeface="+mn-lt"/>
                        <a:ea typeface="+mn-ea"/>
                        <a:cs typeface="+mn-cs"/>
                        <a:sym typeface="Arial"/>
                      </a:endParaRP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i="0" u="none" strike="noStrike" cap="none" dirty="0">
                          <a:solidFill>
                            <a:schemeClr val="dk1"/>
                          </a:solidFill>
                          <a:effectLst/>
                          <a:latin typeface="+mn-lt"/>
                          <a:ea typeface="+mn-ea"/>
                          <a:cs typeface="+mn-cs"/>
                          <a:sym typeface="Arial"/>
                        </a:rPr>
                        <a:t>This </a:t>
                      </a:r>
                      <a:r>
                        <a:rPr lang="en-US" sz="1300" b="0" i="0" u="none" strike="noStrike" cap="none" dirty="0" err="1">
                          <a:solidFill>
                            <a:schemeClr val="dk1"/>
                          </a:solidFill>
                          <a:effectLst/>
                          <a:latin typeface="+mn-lt"/>
                          <a:ea typeface="+mn-ea"/>
                          <a:cs typeface="+mn-cs"/>
                          <a:sym typeface="Arial"/>
                        </a:rPr>
                        <a:t>datatype</a:t>
                      </a:r>
                      <a:r>
                        <a:rPr lang="en-US" sz="1300" b="0" i="0" u="none" strike="noStrike" cap="none" dirty="0">
                          <a:solidFill>
                            <a:schemeClr val="dk1"/>
                          </a:solidFill>
                          <a:effectLst/>
                          <a:latin typeface="+mn-lt"/>
                          <a:ea typeface="+mn-ea"/>
                          <a:cs typeface="+mn-cs"/>
                          <a:sym typeface="Arial"/>
                        </a:rPr>
                        <a:t> is used to store regular expression.</a:t>
                      </a:r>
                    </a:p>
                  </a:txBody>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42850471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288567"/>
            <a:ext cx="8520600" cy="763500"/>
          </a:xfrm>
        </p:spPr>
        <p:txBody>
          <a:bodyPr/>
          <a:lstStyle/>
          <a:p>
            <a:r>
              <a:rPr lang="en-US" dirty="0"/>
              <a:t>INSERT method</a:t>
            </a:r>
          </a:p>
        </p:txBody>
      </p:sp>
      <p:sp>
        <p:nvSpPr>
          <p:cNvPr id="3" name="Text Placeholder 2"/>
          <p:cNvSpPr>
            <a:spLocks noGrp="1"/>
          </p:cNvSpPr>
          <p:nvPr>
            <p:ph type="body" idx="1"/>
          </p:nvPr>
        </p:nvSpPr>
        <p:spPr>
          <a:xfrm>
            <a:off x="303487" y="818025"/>
            <a:ext cx="8689425" cy="4555200"/>
          </a:xfrm>
        </p:spPr>
        <p:txBody>
          <a:bodyPr/>
          <a:lstStyle/>
          <a:p>
            <a:pPr>
              <a:tabLst>
                <a:tab pos="6915150" algn="l"/>
                <a:tab pos="7029450" algn="l"/>
                <a:tab pos="7258050" algn="l"/>
                <a:tab pos="8505825" algn="l"/>
              </a:tabLst>
            </a:pPr>
            <a:r>
              <a:rPr lang="en-US" sz="1800" dirty="0">
                <a:latin typeface="Book Antiqua" pitchFamily="18" charset="0"/>
              </a:rPr>
              <a:t>To insert data into </a:t>
            </a:r>
            <a:r>
              <a:rPr lang="en-US" sz="1800" dirty="0" err="1">
                <a:latin typeface="Book Antiqua" pitchFamily="18" charset="0"/>
              </a:rPr>
              <a:t>MongoDB</a:t>
            </a:r>
            <a:r>
              <a:rPr lang="en-US" sz="1800" dirty="0">
                <a:latin typeface="Book Antiqua" pitchFamily="18" charset="0"/>
              </a:rPr>
              <a:t> collection, you need to use </a:t>
            </a:r>
            <a:r>
              <a:rPr lang="en-US" sz="1800" dirty="0" err="1">
                <a:latin typeface="Book Antiqua" pitchFamily="18" charset="0"/>
              </a:rPr>
              <a:t>MongoDB's</a:t>
            </a:r>
            <a:r>
              <a:rPr lang="en-US" sz="1800" dirty="0">
                <a:latin typeface="Book Antiqua" pitchFamily="18" charset="0"/>
              </a:rPr>
              <a:t> </a:t>
            </a:r>
            <a:r>
              <a:rPr lang="en-US" sz="1800" b="1" dirty="0">
                <a:latin typeface="Book Antiqua" pitchFamily="18" charset="0"/>
              </a:rPr>
              <a:t>insert()</a:t>
            </a:r>
            <a:r>
              <a:rPr lang="en-US" sz="1800" dirty="0">
                <a:latin typeface="Book Antiqua" pitchFamily="18" charset="0"/>
              </a:rPr>
              <a:t> or </a:t>
            </a:r>
            <a:r>
              <a:rPr lang="en-US" sz="1800" b="1" dirty="0">
                <a:latin typeface="Book Antiqua" pitchFamily="18" charset="0"/>
              </a:rPr>
              <a:t>save()</a:t>
            </a:r>
            <a:r>
              <a:rPr lang="en-US" sz="1800" dirty="0">
                <a:latin typeface="Book Antiqua" pitchFamily="18" charset="0"/>
              </a:rPr>
              <a:t> method.</a:t>
            </a:r>
          </a:p>
          <a:p>
            <a:pPr>
              <a:tabLst>
                <a:tab pos="6915150" algn="l"/>
                <a:tab pos="7029450" algn="l"/>
                <a:tab pos="7258050" algn="l"/>
                <a:tab pos="8505825" algn="l"/>
              </a:tabLst>
            </a:pPr>
            <a:r>
              <a:rPr lang="en-US" sz="1800" dirty="0">
                <a:latin typeface="Book Antiqua" pitchFamily="18" charset="0"/>
              </a:rPr>
              <a:t>Syntax: </a:t>
            </a:r>
            <a:r>
              <a:rPr lang="en-US" sz="1800" dirty="0" err="1">
                <a:latin typeface="Book Antiqua" pitchFamily="18" charset="0"/>
              </a:rPr>
              <a:t>db.COLLECTION_NAME.insert</a:t>
            </a:r>
            <a:r>
              <a:rPr lang="en-US" sz="1800" dirty="0">
                <a:latin typeface="Book Antiqua" pitchFamily="18" charset="0"/>
              </a:rPr>
              <a:t>(document)</a:t>
            </a:r>
          </a:p>
          <a:p>
            <a:pPr>
              <a:tabLst>
                <a:tab pos="6915150" algn="l"/>
                <a:tab pos="7029450" algn="l"/>
                <a:tab pos="7258050" algn="l"/>
                <a:tab pos="8505825" algn="l"/>
              </a:tabLst>
            </a:pPr>
            <a:r>
              <a:rPr lang="en-US" sz="1800" dirty="0">
                <a:latin typeface="Book Antiqua" pitchFamily="18" charset="0"/>
              </a:rPr>
              <a:t>Example: </a:t>
            </a:r>
          </a:p>
          <a:p>
            <a:pPr marL="88900" indent="0">
              <a:buNone/>
              <a:tabLst>
                <a:tab pos="6915150" algn="l"/>
                <a:tab pos="7029450" algn="l"/>
                <a:tab pos="7258050" algn="l"/>
                <a:tab pos="8505825" algn="l"/>
              </a:tabLst>
            </a:pPr>
            <a:endParaRPr lang="en-US" sz="1800" dirty="0">
              <a:latin typeface="Book Antiqua" pitchFamily="18" charset="0"/>
            </a:endParaRPr>
          </a:p>
          <a:p>
            <a:pPr marL="88900" indent="0">
              <a:buNone/>
              <a:tabLst>
                <a:tab pos="6915150" algn="l"/>
                <a:tab pos="7029450" algn="l"/>
                <a:tab pos="7258050" algn="l"/>
                <a:tab pos="8505825" algn="l"/>
              </a:tabLst>
            </a:pPr>
            <a:endParaRPr lang="en-US" sz="1800" dirty="0">
              <a:latin typeface="Book Antiqua" pitchFamily="18" charset="0"/>
            </a:endParaRPr>
          </a:p>
          <a:p>
            <a:pPr marL="88900" indent="0">
              <a:buNone/>
              <a:tabLst>
                <a:tab pos="6915150" algn="l"/>
                <a:tab pos="7029450" algn="l"/>
                <a:tab pos="7258050" algn="l"/>
                <a:tab pos="8505825" algn="l"/>
              </a:tabLst>
            </a:pPr>
            <a:endParaRPr lang="en-US" sz="1800" dirty="0">
              <a:latin typeface="Book Antiqua" pitchFamily="18" charset="0"/>
            </a:endParaRPr>
          </a:p>
          <a:p>
            <a:pPr marL="88900" indent="0">
              <a:buNone/>
              <a:tabLst>
                <a:tab pos="6915150" algn="l"/>
                <a:tab pos="7029450" algn="l"/>
                <a:tab pos="7258050" algn="l"/>
                <a:tab pos="8505825" algn="l"/>
              </a:tabLst>
            </a:pPr>
            <a:endParaRPr lang="en-US" sz="1800" dirty="0">
              <a:latin typeface="Book Antiqua" pitchFamily="18" charset="0"/>
            </a:endParaRPr>
          </a:p>
          <a:p>
            <a:pPr marL="88900" indent="0">
              <a:buNone/>
              <a:tabLst>
                <a:tab pos="6915150" algn="l"/>
                <a:tab pos="7029450" algn="l"/>
                <a:tab pos="7258050" algn="l"/>
                <a:tab pos="8505825" algn="l"/>
              </a:tabLst>
            </a:pPr>
            <a:endParaRPr lang="en-US" sz="1800" dirty="0">
              <a:latin typeface="Book Antiqua" pitchFamily="18" charset="0"/>
            </a:endParaRPr>
          </a:p>
          <a:p>
            <a:pPr marL="88900" indent="0">
              <a:buNone/>
              <a:tabLst>
                <a:tab pos="6915150" algn="l"/>
                <a:tab pos="7029450" algn="l"/>
                <a:tab pos="7258050" algn="l"/>
                <a:tab pos="8505825" algn="l"/>
              </a:tabLst>
            </a:pPr>
            <a:endParaRPr lang="en-US" sz="1800" dirty="0">
              <a:latin typeface="Book Antiqua" pitchFamily="18" charset="0"/>
            </a:endParaRPr>
          </a:p>
          <a:p>
            <a:pPr>
              <a:tabLst>
                <a:tab pos="6915150" algn="l"/>
                <a:tab pos="7029450" algn="l"/>
                <a:tab pos="7258050" algn="l"/>
                <a:tab pos="8505825" algn="l"/>
              </a:tabLst>
            </a:pPr>
            <a:r>
              <a:rPr lang="en-US" sz="1800" dirty="0">
                <a:latin typeface="Book Antiqua" pitchFamily="18" charset="0"/>
              </a:rPr>
              <a:t>To insert the document you can use </a:t>
            </a:r>
            <a:r>
              <a:rPr lang="en-US" sz="1800" dirty="0" err="1">
                <a:latin typeface="Book Antiqua" pitchFamily="18" charset="0"/>
              </a:rPr>
              <a:t>db.post.save</a:t>
            </a:r>
            <a:r>
              <a:rPr lang="en-US" sz="1800" dirty="0">
                <a:latin typeface="Book Antiqua" pitchFamily="18" charset="0"/>
              </a:rPr>
              <a:t>(document) also.</a:t>
            </a:r>
          </a:p>
          <a:p>
            <a:pPr>
              <a:tabLst>
                <a:tab pos="6915150" algn="l"/>
                <a:tab pos="7029450" algn="l"/>
                <a:tab pos="7258050" algn="l"/>
                <a:tab pos="8505825" algn="l"/>
              </a:tabLst>
            </a:pPr>
            <a:endParaRPr lang="en-US" sz="1800" dirty="0">
              <a:latin typeface="Book Antiqua" pitchFamily="18" charset="0"/>
            </a:endParaRPr>
          </a:p>
          <a:p>
            <a:pPr>
              <a:tabLst>
                <a:tab pos="6915150" algn="l"/>
                <a:tab pos="7029450" algn="l"/>
                <a:tab pos="7258050" algn="l"/>
                <a:tab pos="8505825" algn="l"/>
              </a:tabLst>
            </a:pPr>
            <a:r>
              <a:rPr lang="en-US" sz="1800" dirty="0">
                <a:solidFill>
                  <a:srgbClr val="0070C0"/>
                </a:solidFill>
                <a:latin typeface="Book Antiqua" pitchFamily="18" charset="0"/>
              </a:rPr>
              <a:t>If we don't specify the _id parameter, then </a:t>
            </a:r>
            <a:r>
              <a:rPr lang="en-US" sz="1800" dirty="0" err="1">
                <a:solidFill>
                  <a:srgbClr val="0070C0"/>
                </a:solidFill>
                <a:latin typeface="Book Antiqua" pitchFamily="18" charset="0"/>
              </a:rPr>
              <a:t>MongoDB</a:t>
            </a:r>
            <a:r>
              <a:rPr lang="en-US" sz="1800" dirty="0">
                <a:solidFill>
                  <a:srgbClr val="0070C0"/>
                </a:solidFill>
                <a:latin typeface="Book Antiqua" pitchFamily="18" charset="0"/>
              </a:rPr>
              <a:t> assigns a unique </a:t>
            </a:r>
            <a:r>
              <a:rPr lang="en-US" sz="1800" dirty="0" err="1">
                <a:solidFill>
                  <a:srgbClr val="0070C0"/>
                </a:solidFill>
                <a:latin typeface="Book Antiqua" pitchFamily="18" charset="0"/>
              </a:rPr>
              <a:t>ObjectId</a:t>
            </a:r>
            <a:r>
              <a:rPr lang="en-US" sz="1800" dirty="0">
                <a:solidFill>
                  <a:srgbClr val="0070C0"/>
                </a:solidFill>
                <a:latin typeface="Book Antiqua" pitchFamily="18" charset="0"/>
              </a:rPr>
              <a:t> for this document. id is 12 bytes hexadecimal number unique for every document in a collection. 12 bytes are divided as follows: _id: </a:t>
            </a:r>
            <a:r>
              <a:rPr lang="en-US" sz="1800" dirty="0" err="1">
                <a:solidFill>
                  <a:srgbClr val="0070C0"/>
                </a:solidFill>
                <a:latin typeface="Book Antiqua" pitchFamily="18" charset="0"/>
              </a:rPr>
              <a:t>ObjectId</a:t>
            </a:r>
            <a:r>
              <a:rPr lang="en-US" sz="1800" dirty="0">
                <a:solidFill>
                  <a:srgbClr val="0070C0"/>
                </a:solidFill>
                <a:latin typeface="Book Antiqua" pitchFamily="18" charset="0"/>
              </a:rPr>
              <a:t>(4 bytes timestamp, 3 bytes machine id, 2 bytes process id, 3 bytes </a:t>
            </a:r>
            <a:r>
              <a:rPr lang="en-US" sz="1800" dirty="0" err="1">
                <a:solidFill>
                  <a:srgbClr val="0070C0"/>
                </a:solidFill>
                <a:latin typeface="Book Antiqua" pitchFamily="18" charset="0"/>
              </a:rPr>
              <a:t>incrementer</a:t>
            </a:r>
            <a:r>
              <a:rPr lang="en-US" sz="1800" dirty="0">
                <a:solidFill>
                  <a:srgbClr val="0070C0"/>
                </a:solidFill>
                <a:latin typeface="Book Antiqua" pitchFamily="18" charset="0"/>
              </a:rPr>
              <a:t>)</a:t>
            </a:r>
          </a:p>
          <a:p>
            <a:pPr>
              <a:tabLst>
                <a:tab pos="6915150" algn="l"/>
                <a:tab pos="7029450" algn="l"/>
                <a:tab pos="7258050" algn="l"/>
                <a:tab pos="8505825" algn="l"/>
              </a:tabLst>
            </a:pPr>
            <a:endParaRPr lang="en-US" sz="1800" dirty="0">
              <a:latin typeface="Book Antiqua" pitchFamily="18" charset="0"/>
            </a:endParaRPr>
          </a:p>
          <a:p>
            <a:pPr>
              <a:tabLst>
                <a:tab pos="6915150" algn="l"/>
                <a:tab pos="7029450" algn="l"/>
                <a:tab pos="7258050" algn="l"/>
                <a:tab pos="8505825" algn="l"/>
              </a:tabLst>
            </a:pPr>
            <a:endParaRPr lang="en-US" sz="1800" dirty="0">
              <a:latin typeface="Book Antiqua" pitchFamily="18" charset="0"/>
            </a:endParaRPr>
          </a:p>
        </p:txBody>
      </p:sp>
      <p:sp>
        <p:nvSpPr>
          <p:cNvPr id="4" name="Rectangle 3"/>
          <p:cNvSpPr/>
          <p:nvPr/>
        </p:nvSpPr>
        <p:spPr>
          <a:xfrm>
            <a:off x="2362200" y="1952506"/>
            <a:ext cx="4572000" cy="1600438"/>
          </a:xfrm>
          <a:prstGeom prst="rect">
            <a:avLst/>
          </a:prstGeom>
        </p:spPr>
        <p:txBody>
          <a:bodyPr>
            <a:spAutoFit/>
          </a:bodyPr>
          <a:lstStyle/>
          <a:p>
            <a:pPr marL="88900" indent="0">
              <a:buNone/>
              <a:tabLst>
                <a:tab pos="6915150" algn="l"/>
                <a:tab pos="7029450" algn="l"/>
                <a:tab pos="7258050" algn="l"/>
                <a:tab pos="8505825" algn="l"/>
              </a:tabLst>
            </a:pPr>
            <a:r>
              <a:rPr lang="en-US" b="1" dirty="0" err="1">
                <a:solidFill>
                  <a:srgbClr val="FF0000"/>
                </a:solidFill>
                <a:latin typeface="Book Antiqua" pitchFamily="18" charset="0"/>
              </a:rPr>
              <a:t>db.school.insert</a:t>
            </a:r>
            <a:r>
              <a:rPr lang="en-US" b="1" dirty="0">
                <a:solidFill>
                  <a:srgbClr val="FF0000"/>
                </a:solidFill>
                <a:latin typeface="Book Antiqua" pitchFamily="18" charset="0"/>
              </a:rPr>
              <a:t>({id : </a:t>
            </a:r>
            <a:r>
              <a:rPr lang="en-US" b="1" dirty="0" err="1">
                <a:solidFill>
                  <a:srgbClr val="FF0000"/>
                </a:solidFill>
                <a:latin typeface="Book Antiqua" pitchFamily="18" charset="0"/>
              </a:rPr>
              <a:t>ObjectId</a:t>
            </a:r>
            <a:r>
              <a:rPr lang="en-US" b="1" dirty="0">
                <a:solidFill>
                  <a:srgbClr val="FF0000"/>
                </a:solidFill>
                <a:latin typeface="Book Antiqua" pitchFamily="18" charset="0"/>
              </a:rPr>
              <a:t>("507f191e810c19729de860ea"),</a:t>
            </a:r>
          </a:p>
          <a:p>
            <a:pPr marL="88900" indent="0">
              <a:buNone/>
              <a:tabLst>
                <a:tab pos="6915150" algn="l"/>
                <a:tab pos="7029450" algn="l"/>
                <a:tab pos="7258050" algn="l"/>
                <a:tab pos="8505825" algn="l"/>
              </a:tabLst>
            </a:pPr>
            <a:r>
              <a:rPr lang="en-US" b="1" dirty="0">
                <a:solidFill>
                  <a:srgbClr val="FF0000"/>
                </a:solidFill>
                <a:latin typeface="Book Antiqua" pitchFamily="18" charset="0"/>
              </a:rPr>
              <a:t>title: "</a:t>
            </a:r>
            <a:r>
              <a:rPr lang="en-US" b="1" dirty="0" err="1">
                <a:solidFill>
                  <a:srgbClr val="FF0000"/>
                </a:solidFill>
                <a:latin typeface="Book Antiqua" pitchFamily="18" charset="0"/>
              </a:rPr>
              <a:t>MongoDB</a:t>
            </a:r>
            <a:r>
              <a:rPr lang="en-US" b="1" dirty="0">
                <a:solidFill>
                  <a:srgbClr val="FF0000"/>
                </a:solidFill>
                <a:latin typeface="Book Antiqua" pitchFamily="18" charset="0"/>
              </a:rPr>
              <a:t> Overview",</a:t>
            </a:r>
          </a:p>
          <a:p>
            <a:pPr marL="88900" indent="0">
              <a:buNone/>
              <a:tabLst>
                <a:tab pos="6915150" algn="l"/>
                <a:tab pos="7029450" algn="l"/>
                <a:tab pos="7258050" algn="l"/>
                <a:tab pos="8505825" algn="l"/>
              </a:tabLst>
            </a:pPr>
            <a:r>
              <a:rPr lang="en-US" b="1" dirty="0">
                <a:solidFill>
                  <a:srgbClr val="FF0000"/>
                </a:solidFill>
                <a:latin typeface="Book Antiqua" pitchFamily="18" charset="0"/>
              </a:rPr>
              <a:t>description: "</a:t>
            </a:r>
            <a:r>
              <a:rPr lang="en-US" b="1" dirty="0" err="1">
                <a:solidFill>
                  <a:srgbClr val="FF0000"/>
                </a:solidFill>
                <a:latin typeface="Book Antiqua" pitchFamily="18" charset="0"/>
              </a:rPr>
              <a:t>MongoDB</a:t>
            </a:r>
            <a:r>
              <a:rPr lang="en-US" b="1" dirty="0">
                <a:solidFill>
                  <a:srgbClr val="FF0000"/>
                </a:solidFill>
                <a:latin typeface="Book Antiqua" pitchFamily="18" charset="0"/>
              </a:rPr>
              <a:t> is no </a:t>
            </a:r>
            <a:r>
              <a:rPr lang="en-US" b="1" dirty="0" err="1">
                <a:solidFill>
                  <a:srgbClr val="FF0000"/>
                </a:solidFill>
                <a:latin typeface="Book Antiqua" pitchFamily="18" charset="0"/>
              </a:rPr>
              <a:t>sql</a:t>
            </a:r>
            <a:r>
              <a:rPr lang="en-US" b="1" dirty="0">
                <a:solidFill>
                  <a:srgbClr val="FF0000"/>
                </a:solidFill>
                <a:latin typeface="Book Antiqua" pitchFamily="18" charset="0"/>
              </a:rPr>
              <a:t> database",</a:t>
            </a:r>
          </a:p>
          <a:p>
            <a:pPr marL="88900" indent="0">
              <a:buNone/>
              <a:tabLst>
                <a:tab pos="6915150" algn="l"/>
                <a:tab pos="7029450" algn="l"/>
                <a:tab pos="7258050" algn="l"/>
                <a:tab pos="8505825" algn="l"/>
              </a:tabLst>
            </a:pPr>
            <a:r>
              <a:rPr lang="en-US" b="1" dirty="0">
                <a:solidFill>
                  <a:srgbClr val="FF0000"/>
                </a:solidFill>
                <a:latin typeface="Book Antiqua" pitchFamily="18" charset="0"/>
              </a:rPr>
              <a:t>by: "Christ University",</a:t>
            </a:r>
          </a:p>
          <a:p>
            <a:pPr marL="88900" indent="0">
              <a:buNone/>
              <a:tabLst>
                <a:tab pos="6915150" algn="l"/>
                <a:tab pos="7029450" algn="l"/>
                <a:tab pos="7258050" algn="l"/>
                <a:tab pos="8505825" algn="l"/>
              </a:tabLst>
            </a:pPr>
            <a:r>
              <a:rPr lang="en-US" b="1" dirty="0">
                <a:solidFill>
                  <a:srgbClr val="FF0000"/>
                </a:solidFill>
                <a:latin typeface="Book Antiqua" pitchFamily="18" charset="0"/>
              </a:rPr>
              <a:t>url: "http://www.tutorialspoint.com",</a:t>
            </a:r>
          </a:p>
          <a:p>
            <a:pPr marL="88900" indent="0">
              <a:buNone/>
              <a:tabLst>
                <a:tab pos="6915150" algn="l"/>
                <a:tab pos="7029450" algn="l"/>
                <a:tab pos="7258050" algn="l"/>
                <a:tab pos="8505825" algn="l"/>
              </a:tabLst>
            </a:pPr>
            <a:r>
              <a:rPr lang="en-US" b="1" dirty="0">
                <a:solidFill>
                  <a:srgbClr val="FF0000"/>
                </a:solidFill>
                <a:latin typeface="Book Antiqua" pitchFamily="18" charset="0"/>
              </a:rPr>
              <a:t>tags: ['</a:t>
            </a:r>
            <a:r>
              <a:rPr lang="en-US" b="1" dirty="0" err="1">
                <a:solidFill>
                  <a:srgbClr val="FF0000"/>
                </a:solidFill>
                <a:latin typeface="Book Antiqua" pitchFamily="18" charset="0"/>
              </a:rPr>
              <a:t>mongodb</a:t>
            </a:r>
            <a:r>
              <a:rPr lang="en-US" b="1" dirty="0">
                <a:solidFill>
                  <a:srgbClr val="FF0000"/>
                </a:solidFill>
                <a:latin typeface="Book Antiqua" pitchFamily="18" charset="0"/>
              </a:rPr>
              <a:t>', 'database', '</a:t>
            </a:r>
            <a:r>
              <a:rPr lang="en-US" b="1" dirty="0" err="1">
                <a:solidFill>
                  <a:srgbClr val="FF0000"/>
                </a:solidFill>
                <a:latin typeface="Book Antiqua" pitchFamily="18" charset="0"/>
              </a:rPr>
              <a:t>NoSQL</a:t>
            </a:r>
            <a:r>
              <a:rPr lang="en-US" b="1" dirty="0">
                <a:solidFill>
                  <a:srgbClr val="FF0000"/>
                </a:solidFill>
                <a:latin typeface="Book Antiqua" pitchFamily="18" charset="0"/>
              </a:rPr>
              <a:t>'],</a:t>
            </a:r>
            <a:r>
              <a:rPr lang="en-US" b="1" dirty="0" err="1">
                <a:solidFill>
                  <a:srgbClr val="FF0000"/>
                </a:solidFill>
                <a:latin typeface="Book Antiqua" pitchFamily="18" charset="0"/>
              </a:rPr>
              <a:t>ikes</a:t>
            </a:r>
            <a:r>
              <a:rPr lang="en-US" b="1" dirty="0">
                <a:solidFill>
                  <a:srgbClr val="FF0000"/>
                </a:solidFill>
                <a:latin typeface="Book Antiqua" pitchFamily="18" charset="0"/>
              </a:rPr>
              <a:t>: 100})</a:t>
            </a:r>
          </a:p>
        </p:txBody>
      </p:sp>
    </p:spTree>
    <p:extLst>
      <p:ext uri="{BB962C8B-B14F-4D97-AF65-F5344CB8AC3E}">
        <p14:creationId xmlns:p14="http://schemas.microsoft.com/office/powerpoint/2010/main" val="8697641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Insertone</a:t>
            </a:r>
            <a:r>
              <a:rPr lang="en-US" dirty="0"/>
              <a:t> and </a:t>
            </a:r>
            <a:r>
              <a:rPr lang="en-US" dirty="0" err="1"/>
              <a:t>insertmany</a:t>
            </a:r>
            <a:r>
              <a:rPr lang="en-US" dirty="0"/>
              <a:t> methods</a:t>
            </a:r>
          </a:p>
        </p:txBody>
      </p:sp>
      <p:sp>
        <p:nvSpPr>
          <p:cNvPr id="3" name="Text Placeholder 2"/>
          <p:cNvSpPr>
            <a:spLocks noGrp="1"/>
          </p:cNvSpPr>
          <p:nvPr>
            <p:ph type="body" idx="1"/>
          </p:nvPr>
        </p:nvSpPr>
        <p:spPr/>
        <p:txBody>
          <a:bodyPr/>
          <a:lstStyle/>
          <a:p>
            <a:r>
              <a:rPr lang="en-US" sz="1600" b="1" dirty="0" err="1">
                <a:latin typeface="Book Antiqua" pitchFamily="18" charset="0"/>
              </a:rPr>
              <a:t>db.COLLECTION_NAME.</a:t>
            </a:r>
            <a:r>
              <a:rPr lang="en-US" sz="1600" b="1" dirty="0" err="1">
                <a:solidFill>
                  <a:srgbClr val="FF0000"/>
                </a:solidFill>
                <a:latin typeface="Book Antiqua" pitchFamily="18" charset="0"/>
              </a:rPr>
              <a:t>insertOne</a:t>
            </a:r>
            <a:r>
              <a:rPr lang="en-US" sz="1600" b="1" dirty="0">
                <a:latin typeface="Book Antiqua" pitchFamily="18" charset="0"/>
              </a:rPr>
              <a:t>(document)    - to insert only one document into a collection</a:t>
            </a:r>
          </a:p>
          <a:p>
            <a:endParaRPr lang="en-US" sz="1600" dirty="0"/>
          </a:p>
          <a:p>
            <a:r>
              <a:rPr lang="en-US" sz="1600" dirty="0">
                <a:latin typeface="Book Antiqua" pitchFamily="18" charset="0"/>
              </a:rPr>
              <a:t>Example: </a:t>
            </a:r>
            <a:r>
              <a:rPr lang="en-US" sz="1600" dirty="0" err="1">
                <a:latin typeface="Book Antiqua" pitchFamily="18" charset="0"/>
              </a:rPr>
              <a:t>db.empDetails.insertOne</a:t>
            </a:r>
            <a:r>
              <a:rPr lang="en-US" sz="1600" dirty="0">
                <a:latin typeface="Book Antiqua" pitchFamily="18" charset="0"/>
              </a:rPr>
              <a:t>( { </a:t>
            </a:r>
            <a:r>
              <a:rPr lang="en-US" sz="1600" dirty="0" err="1">
                <a:latin typeface="Book Antiqua" pitchFamily="18" charset="0"/>
              </a:rPr>
              <a:t>First_Name</a:t>
            </a:r>
            <a:r>
              <a:rPr lang="en-US" sz="1600" dirty="0">
                <a:latin typeface="Book Antiqua" pitchFamily="18" charset="0"/>
              </a:rPr>
              <a:t>: "</a:t>
            </a:r>
            <a:r>
              <a:rPr lang="en-US" sz="1600" dirty="0" err="1">
                <a:latin typeface="Book Antiqua" pitchFamily="18" charset="0"/>
              </a:rPr>
              <a:t>Radhika</a:t>
            </a:r>
            <a:r>
              <a:rPr lang="en-US" sz="1600" dirty="0">
                <a:latin typeface="Book Antiqua" pitchFamily="18" charset="0"/>
              </a:rPr>
              <a:t>", </a:t>
            </a:r>
            <a:r>
              <a:rPr lang="en-US" sz="1600" dirty="0" err="1">
                <a:latin typeface="Book Antiqua" pitchFamily="18" charset="0"/>
              </a:rPr>
              <a:t>Last_Name</a:t>
            </a:r>
            <a:r>
              <a:rPr lang="en-US" sz="1600" dirty="0">
                <a:latin typeface="Book Antiqua" pitchFamily="18" charset="0"/>
              </a:rPr>
              <a:t>: "Sharma", </a:t>
            </a:r>
            <a:r>
              <a:rPr lang="en-US" sz="1600" dirty="0" err="1">
                <a:latin typeface="Book Antiqua" pitchFamily="18" charset="0"/>
              </a:rPr>
              <a:t>Date_Of_Birth</a:t>
            </a:r>
            <a:r>
              <a:rPr lang="en-US" sz="1600" dirty="0">
                <a:latin typeface="Book Antiqua" pitchFamily="18" charset="0"/>
              </a:rPr>
              <a:t>: "1995-09-26", </a:t>
            </a:r>
            <a:r>
              <a:rPr lang="en-US" sz="1600" dirty="0" err="1">
                <a:latin typeface="Book Antiqua" pitchFamily="18" charset="0"/>
              </a:rPr>
              <a:t>e_mail</a:t>
            </a:r>
            <a:r>
              <a:rPr lang="en-US" sz="1600" dirty="0">
                <a:latin typeface="Book Antiqua" pitchFamily="18" charset="0"/>
              </a:rPr>
              <a:t>: "radhika_sharma.123@gmail.com", phone: "9848022338" })</a:t>
            </a:r>
          </a:p>
          <a:p>
            <a:endParaRPr lang="en-US" sz="1600" dirty="0">
              <a:latin typeface="Book Antiqua" pitchFamily="18" charset="0"/>
            </a:endParaRPr>
          </a:p>
          <a:p>
            <a:r>
              <a:rPr lang="en-US" sz="1600" b="1" dirty="0" err="1">
                <a:latin typeface="Book Antiqua" pitchFamily="18" charset="0"/>
              </a:rPr>
              <a:t>db.COLLECTION_NAME.</a:t>
            </a:r>
            <a:r>
              <a:rPr lang="en-US" sz="1600" b="1" dirty="0" err="1">
                <a:solidFill>
                  <a:srgbClr val="FF0000"/>
                </a:solidFill>
                <a:latin typeface="Book Antiqua" pitchFamily="18" charset="0"/>
              </a:rPr>
              <a:t>insertMany</a:t>
            </a:r>
            <a:r>
              <a:rPr lang="en-US" sz="1600" b="1" dirty="0">
                <a:latin typeface="Book Antiqua" pitchFamily="18" charset="0"/>
              </a:rPr>
              <a:t>(document)    - to insert many documents into a collection</a:t>
            </a:r>
          </a:p>
          <a:p>
            <a:endParaRPr lang="en-US" sz="1600" dirty="0">
              <a:latin typeface="Book Antiqua" pitchFamily="18" charset="0"/>
            </a:endParaRPr>
          </a:p>
          <a:p>
            <a:r>
              <a:rPr lang="en-US" sz="1600" dirty="0">
                <a:latin typeface="Book Antiqua" pitchFamily="18" charset="0"/>
              </a:rPr>
              <a:t>Example: </a:t>
            </a:r>
            <a:r>
              <a:rPr lang="en-US" sz="1600" dirty="0" err="1">
                <a:latin typeface="Book Antiqua" pitchFamily="18" charset="0"/>
              </a:rPr>
              <a:t>db.empDetails.insertMany</a:t>
            </a:r>
            <a:r>
              <a:rPr lang="en-US" sz="1600" dirty="0">
                <a:latin typeface="Book Antiqua" pitchFamily="18" charset="0"/>
              </a:rPr>
              <a:t>( [ { </a:t>
            </a:r>
            <a:r>
              <a:rPr lang="en-US" sz="1600" dirty="0" err="1">
                <a:latin typeface="Book Antiqua" pitchFamily="18" charset="0"/>
              </a:rPr>
              <a:t>First_Name</a:t>
            </a:r>
            <a:r>
              <a:rPr lang="en-US" sz="1600" dirty="0">
                <a:latin typeface="Book Antiqua" pitchFamily="18" charset="0"/>
              </a:rPr>
              <a:t>: "</a:t>
            </a:r>
            <a:r>
              <a:rPr lang="en-US" sz="1600" dirty="0" err="1">
                <a:latin typeface="Book Antiqua" pitchFamily="18" charset="0"/>
              </a:rPr>
              <a:t>Radhika</a:t>
            </a:r>
            <a:r>
              <a:rPr lang="en-US" sz="1600" dirty="0">
                <a:latin typeface="Book Antiqua" pitchFamily="18" charset="0"/>
              </a:rPr>
              <a:t>", </a:t>
            </a:r>
            <a:r>
              <a:rPr lang="en-US" sz="1600" dirty="0" err="1">
                <a:latin typeface="Book Antiqua" pitchFamily="18" charset="0"/>
              </a:rPr>
              <a:t>Last_Name</a:t>
            </a:r>
            <a:r>
              <a:rPr lang="en-US" sz="1600" dirty="0">
                <a:latin typeface="Book Antiqua" pitchFamily="18" charset="0"/>
              </a:rPr>
              <a:t>: "Sharma", </a:t>
            </a:r>
            <a:r>
              <a:rPr lang="en-US" sz="1600" dirty="0" err="1">
                <a:latin typeface="Book Antiqua" pitchFamily="18" charset="0"/>
              </a:rPr>
              <a:t>Date_Of_Birth</a:t>
            </a:r>
            <a:r>
              <a:rPr lang="en-US" sz="1600" dirty="0">
                <a:latin typeface="Book Antiqua" pitchFamily="18" charset="0"/>
              </a:rPr>
              <a:t>: "1995-09-26", </a:t>
            </a:r>
            <a:r>
              <a:rPr lang="en-US" sz="1600" dirty="0" err="1">
                <a:latin typeface="Book Antiqua" pitchFamily="18" charset="0"/>
              </a:rPr>
              <a:t>e_mail</a:t>
            </a:r>
            <a:r>
              <a:rPr lang="en-US" sz="1600" dirty="0">
                <a:latin typeface="Book Antiqua" pitchFamily="18" charset="0"/>
              </a:rPr>
              <a:t>: "radhika_sharma.123@gmail.com", phone: "9000012345" }, { </a:t>
            </a:r>
            <a:r>
              <a:rPr lang="en-US" sz="1600" dirty="0" err="1">
                <a:latin typeface="Book Antiqua" pitchFamily="18" charset="0"/>
              </a:rPr>
              <a:t>First_Name</a:t>
            </a:r>
            <a:r>
              <a:rPr lang="en-US" sz="1600" dirty="0">
                <a:latin typeface="Book Antiqua" pitchFamily="18" charset="0"/>
              </a:rPr>
              <a:t>: "Rachel", </a:t>
            </a:r>
            <a:r>
              <a:rPr lang="en-US" sz="1600" dirty="0" err="1">
                <a:latin typeface="Book Antiqua" pitchFamily="18" charset="0"/>
              </a:rPr>
              <a:t>Last_Name</a:t>
            </a:r>
            <a:r>
              <a:rPr lang="en-US" sz="1600" dirty="0">
                <a:latin typeface="Book Antiqua" pitchFamily="18" charset="0"/>
              </a:rPr>
              <a:t>: "Christopher", </a:t>
            </a:r>
            <a:r>
              <a:rPr lang="en-US" sz="1600" dirty="0" err="1">
                <a:latin typeface="Book Antiqua" pitchFamily="18" charset="0"/>
              </a:rPr>
              <a:t>Date_Of_Birth</a:t>
            </a:r>
            <a:r>
              <a:rPr lang="en-US" sz="1600" dirty="0">
                <a:latin typeface="Book Antiqua" pitchFamily="18" charset="0"/>
              </a:rPr>
              <a:t>: "1990-02-16", </a:t>
            </a:r>
            <a:r>
              <a:rPr lang="en-US" sz="1600" dirty="0" err="1">
                <a:latin typeface="Book Antiqua" pitchFamily="18" charset="0"/>
              </a:rPr>
              <a:t>e_mail</a:t>
            </a:r>
            <a:r>
              <a:rPr lang="en-US" sz="1600" dirty="0">
                <a:latin typeface="Book Antiqua" pitchFamily="18" charset="0"/>
              </a:rPr>
              <a:t>: "Rachel_Christopher.123@gmail.com", phone: "9000054321" }, { </a:t>
            </a:r>
            <a:r>
              <a:rPr lang="en-US" sz="1600" dirty="0" err="1">
                <a:latin typeface="Book Antiqua" pitchFamily="18" charset="0"/>
              </a:rPr>
              <a:t>First_Name</a:t>
            </a:r>
            <a:r>
              <a:rPr lang="en-US" sz="1600" dirty="0">
                <a:latin typeface="Book Antiqua" pitchFamily="18" charset="0"/>
              </a:rPr>
              <a:t>: "</a:t>
            </a:r>
            <a:r>
              <a:rPr lang="en-US" sz="1600" dirty="0" err="1">
                <a:latin typeface="Book Antiqua" pitchFamily="18" charset="0"/>
              </a:rPr>
              <a:t>Fathima</a:t>
            </a:r>
            <a:r>
              <a:rPr lang="en-US" sz="1600" dirty="0">
                <a:latin typeface="Book Antiqua" pitchFamily="18" charset="0"/>
              </a:rPr>
              <a:t>", </a:t>
            </a:r>
            <a:r>
              <a:rPr lang="en-US" sz="1600" dirty="0" err="1">
                <a:latin typeface="Book Antiqua" pitchFamily="18" charset="0"/>
              </a:rPr>
              <a:t>Last_Name</a:t>
            </a:r>
            <a:r>
              <a:rPr lang="en-US" sz="1600" dirty="0">
                <a:latin typeface="Book Antiqua" pitchFamily="18" charset="0"/>
              </a:rPr>
              <a:t>: "Sheik", </a:t>
            </a:r>
            <a:r>
              <a:rPr lang="en-US" sz="1600" dirty="0" err="1">
                <a:latin typeface="Book Antiqua" pitchFamily="18" charset="0"/>
              </a:rPr>
              <a:t>Date_Of_Birth</a:t>
            </a:r>
            <a:r>
              <a:rPr lang="en-US" sz="1600" dirty="0">
                <a:latin typeface="Book Antiqua" pitchFamily="18" charset="0"/>
              </a:rPr>
              <a:t>: "1990-02-16", </a:t>
            </a:r>
            <a:r>
              <a:rPr lang="en-US" sz="1600" dirty="0" err="1">
                <a:latin typeface="Book Antiqua" pitchFamily="18" charset="0"/>
              </a:rPr>
              <a:t>e_mail</a:t>
            </a:r>
            <a:r>
              <a:rPr lang="en-US" sz="1600" dirty="0">
                <a:latin typeface="Book Antiqua" pitchFamily="18" charset="0"/>
              </a:rPr>
              <a:t>: "Fathima_Sheik.123@gmail.com", phone: "9000054321" } ] )</a:t>
            </a:r>
          </a:p>
        </p:txBody>
      </p:sp>
    </p:spTree>
    <p:extLst>
      <p:ext uri="{BB962C8B-B14F-4D97-AF65-F5344CB8AC3E}">
        <p14:creationId xmlns:p14="http://schemas.microsoft.com/office/powerpoint/2010/main" val="37935882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36192"/>
            <a:ext cx="4288875" cy="763500"/>
          </a:xfrm>
        </p:spPr>
        <p:txBody>
          <a:bodyPr/>
          <a:lstStyle/>
          <a:p>
            <a:r>
              <a:rPr lang="en-US" dirty="0"/>
              <a:t>To insert multiple documents</a:t>
            </a:r>
          </a:p>
        </p:txBody>
      </p:sp>
      <p:sp>
        <p:nvSpPr>
          <p:cNvPr id="4" name="Rectangle 3"/>
          <p:cNvSpPr/>
          <p:nvPr/>
        </p:nvSpPr>
        <p:spPr>
          <a:xfrm>
            <a:off x="3943350" y="810280"/>
            <a:ext cx="5372100" cy="5447645"/>
          </a:xfrm>
          <a:prstGeom prst="rect">
            <a:avLst/>
          </a:prstGeom>
        </p:spPr>
        <p:txBody>
          <a:bodyPr wrap="square">
            <a:spAutoFit/>
          </a:bodyPr>
          <a:lstStyle/>
          <a:p>
            <a:r>
              <a:rPr lang="en-US" sz="1200" b="1" dirty="0" err="1"/>
              <a:t>db.createCollection</a:t>
            </a:r>
            <a:r>
              <a:rPr lang="en-US" sz="1200" b="1" dirty="0"/>
              <a:t>("</a:t>
            </a:r>
            <a:r>
              <a:rPr lang="en-US" sz="1200" b="1" dirty="0" err="1"/>
              <a:t>helo</a:t>
            </a:r>
            <a:r>
              <a:rPr lang="en-US" sz="1200" b="1" dirty="0"/>
              <a:t>");</a:t>
            </a:r>
          </a:p>
          <a:p>
            <a:endParaRPr lang="en-US" sz="1200" b="1" dirty="0"/>
          </a:p>
          <a:p>
            <a:r>
              <a:rPr lang="en-US" sz="1200" b="1" dirty="0" err="1">
                <a:solidFill>
                  <a:srgbClr val="FF0000"/>
                </a:solidFill>
              </a:rPr>
              <a:t>db.helo.insert</a:t>
            </a:r>
            <a:r>
              <a:rPr lang="en-US" sz="1200" b="1" dirty="0">
                <a:solidFill>
                  <a:srgbClr val="FF0000"/>
                </a:solidFill>
              </a:rPr>
              <a:t>(</a:t>
            </a:r>
            <a:r>
              <a:rPr lang="en-US" sz="1200" b="1" dirty="0"/>
              <a:t>[</a:t>
            </a:r>
          </a:p>
          <a:p>
            <a:r>
              <a:rPr lang="en-US" sz="1200" b="1" dirty="0"/>
              <a:t>	</a:t>
            </a:r>
            <a:r>
              <a:rPr lang="en-US" sz="1200" b="1" dirty="0">
                <a:solidFill>
                  <a:srgbClr val="00B050"/>
                </a:solidFill>
              </a:rPr>
              <a:t>{</a:t>
            </a:r>
          </a:p>
          <a:p>
            <a:r>
              <a:rPr lang="en-US" sz="1200" b="1" dirty="0">
                <a:solidFill>
                  <a:srgbClr val="00B050"/>
                </a:solidFill>
              </a:rPr>
              <a:t>		title: "</a:t>
            </a:r>
            <a:r>
              <a:rPr lang="en-US" sz="1200" b="1" dirty="0" err="1">
                <a:solidFill>
                  <a:srgbClr val="00B050"/>
                </a:solidFill>
              </a:rPr>
              <a:t>MongoDB</a:t>
            </a:r>
            <a:r>
              <a:rPr lang="en-US" sz="1200" b="1" dirty="0">
                <a:solidFill>
                  <a:srgbClr val="00B050"/>
                </a:solidFill>
              </a:rPr>
              <a:t> Overview",</a:t>
            </a:r>
          </a:p>
          <a:p>
            <a:r>
              <a:rPr lang="en-US" sz="1200" b="1" dirty="0">
                <a:solidFill>
                  <a:srgbClr val="00B050"/>
                </a:solidFill>
              </a:rPr>
              <a:t>		description: "</a:t>
            </a:r>
            <a:r>
              <a:rPr lang="en-US" sz="1200" b="1" dirty="0" err="1">
                <a:solidFill>
                  <a:srgbClr val="00B050"/>
                </a:solidFill>
              </a:rPr>
              <a:t>MongoDB</a:t>
            </a:r>
            <a:r>
              <a:rPr lang="en-US" sz="1200" b="1" dirty="0">
                <a:solidFill>
                  <a:srgbClr val="00B050"/>
                </a:solidFill>
              </a:rPr>
              <a:t> is no SQL database",</a:t>
            </a:r>
          </a:p>
          <a:p>
            <a:r>
              <a:rPr lang="en-US" sz="1200" b="1" dirty="0">
                <a:solidFill>
                  <a:srgbClr val="00B050"/>
                </a:solidFill>
              </a:rPr>
              <a:t>		by: "tutorials point",</a:t>
            </a:r>
          </a:p>
          <a:p>
            <a:r>
              <a:rPr lang="en-US" sz="1200" b="1" dirty="0">
                <a:solidFill>
                  <a:srgbClr val="00B050"/>
                </a:solidFill>
              </a:rPr>
              <a:t>		url: "http://www.tutorialspoint.com",</a:t>
            </a:r>
          </a:p>
          <a:p>
            <a:r>
              <a:rPr lang="en-US" sz="1200" b="1" dirty="0">
                <a:solidFill>
                  <a:srgbClr val="00B050"/>
                </a:solidFill>
              </a:rPr>
              <a:t>		tags: ["</a:t>
            </a:r>
            <a:r>
              <a:rPr lang="en-US" sz="1200" b="1" dirty="0" err="1">
                <a:solidFill>
                  <a:srgbClr val="00B050"/>
                </a:solidFill>
              </a:rPr>
              <a:t>mongodb</a:t>
            </a:r>
            <a:r>
              <a:rPr lang="en-US" sz="1200" b="1" dirty="0">
                <a:solidFill>
                  <a:srgbClr val="00B050"/>
                </a:solidFill>
              </a:rPr>
              <a:t>", "database", "</a:t>
            </a:r>
            <a:r>
              <a:rPr lang="en-US" sz="1200" b="1" dirty="0" err="1">
                <a:solidFill>
                  <a:srgbClr val="00B050"/>
                </a:solidFill>
              </a:rPr>
              <a:t>NoSQL</a:t>
            </a:r>
            <a:r>
              <a:rPr lang="en-US" sz="1200" b="1" dirty="0">
                <a:solidFill>
                  <a:srgbClr val="00B050"/>
                </a:solidFill>
              </a:rPr>
              <a:t>"],</a:t>
            </a:r>
          </a:p>
          <a:p>
            <a:r>
              <a:rPr lang="en-US" sz="1200" b="1" dirty="0">
                <a:solidFill>
                  <a:srgbClr val="00B050"/>
                </a:solidFill>
              </a:rPr>
              <a:t>		likes: 100</a:t>
            </a:r>
          </a:p>
          <a:p>
            <a:r>
              <a:rPr lang="en-US" sz="1200" b="1" dirty="0">
                <a:solidFill>
                  <a:srgbClr val="00B050"/>
                </a:solidFill>
              </a:rPr>
              <a:t>	}</a:t>
            </a:r>
            <a:r>
              <a:rPr lang="en-US" sz="1200" b="1" dirty="0"/>
              <a:t>,</a:t>
            </a:r>
          </a:p>
          <a:p>
            <a:r>
              <a:rPr lang="en-US" sz="1200" b="1" dirty="0"/>
              <a:t>	</a:t>
            </a:r>
            <a:r>
              <a:rPr lang="en-US" sz="1200" b="1" dirty="0">
                <a:solidFill>
                  <a:srgbClr val="0070C0"/>
                </a:solidFill>
              </a:rPr>
              <a:t>{</a:t>
            </a:r>
          </a:p>
          <a:p>
            <a:r>
              <a:rPr lang="en-US" sz="1200" b="1" dirty="0">
                <a:solidFill>
                  <a:srgbClr val="0070C0"/>
                </a:solidFill>
              </a:rPr>
              <a:t>	title: "</a:t>
            </a:r>
            <a:r>
              <a:rPr lang="en-US" sz="1200" b="1" dirty="0" err="1">
                <a:solidFill>
                  <a:srgbClr val="0070C0"/>
                </a:solidFill>
              </a:rPr>
              <a:t>NoSQL</a:t>
            </a:r>
            <a:r>
              <a:rPr lang="en-US" sz="1200" b="1" dirty="0">
                <a:solidFill>
                  <a:srgbClr val="0070C0"/>
                </a:solidFill>
              </a:rPr>
              <a:t> Database",</a:t>
            </a:r>
          </a:p>
          <a:p>
            <a:r>
              <a:rPr lang="en-US" sz="1200" b="1" dirty="0">
                <a:solidFill>
                  <a:srgbClr val="0070C0"/>
                </a:solidFill>
              </a:rPr>
              <a:t>	description: "</a:t>
            </a:r>
            <a:r>
              <a:rPr lang="en-US" sz="1200" b="1" dirty="0" err="1">
                <a:solidFill>
                  <a:srgbClr val="0070C0"/>
                </a:solidFill>
              </a:rPr>
              <a:t>NoSQL</a:t>
            </a:r>
            <a:r>
              <a:rPr lang="en-US" sz="1200" b="1" dirty="0">
                <a:solidFill>
                  <a:srgbClr val="0070C0"/>
                </a:solidFill>
              </a:rPr>
              <a:t> database doesn't have tables",</a:t>
            </a:r>
          </a:p>
          <a:p>
            <a:r>
              <a:rPr lang="en-US" sz="1200" b="1" dirty="0">
                <a:solidFill>
                  <a:srgbClr val="0070C0"/>
                </a:solidFill>
              </a:rPr>
              <a:t>	by: "tutorials point",</a:t>
            </a:r>
          </a:p>
          <a:p>
            <a:r>
              <a:rPr lang="en-US" sz="1200" b="1" dirty="0">
                <a:solidFill>
                  <a:srgbClr val="0070C0"/>
                </a:solidFill>
              </a:rPr>
              <a:t>	url: "http://www.tutorialspoint.com",</a:t>
            </a:r>
          </a:p>
          <a:p>
            <a:r>
              <a:rPr lang="en-US" sz="1200" b="1" dirty="0">
                <a:solidFill>
                  <a:srgbClr val="0070C0"/>
                </a:solidFill>
              </a:rPr>
              <a:t>	tags: ["</a:t>
            </a:r>
            <a:r>
              <a:rPr lang="en-US" sz="1200" b="1" dirty="0" err="1">
                <a:solidFill>
                  <a:srgbClr val="0070C0"/>
                </a:solidFill>
              </a:rPr>
              <a:t>mongodb</a:t>
            </a:r>
            <a:r>
              <a:rPr lang="en-US" sz="1200" b="1" dirty="0">
                <a:solidFill>
                  <a:srgbClr val="0070C0"/>
                </a:solidFill>
              </a:rPr>
              <a:t>", "database", "</a:t>
            </a:r>
            <a:r>
              <a:rPr lang="en-US" sz="1200" b="1" dirty="0" err="1">
                <a:solidFill>
                  <a:srgbClr val="0070C0"/>
                </a:solidFill>
              </a:rPr>
              <a:t>NoSQL</a:t>
            </a:r>
            <a:r>
              <a:rPr lang="en-US" sz="1200" b="1" dirty="0">
                <a:solidFill>
                  <a:srgbClr val="0070C0"/>
                </a:solidFill>
              </a:rPr>
              <a:t>"],</a:t>
            </a:r>
          </a:p>
          <a:p>
            <a:r>
              <a:rPr lang="en-US" sz="1200" b="1" dirty="0">
                <a:solidFill>
                  <a:srgbClr val="0070C0"/>
                </a:solidFill>
              </a:rPr>
              <a:t>	likes: 20,</a:t>
            </a:r>
          </a:p>
          <a:p>
            <a:r>
              <a:rPr lang="en-US" sz="1200" b="1" dirty="0">
                <a:solidFill>
                  <a:srgbClr val="0070C0"/>
                </a:solidFill>
              </a:rPr>
              <a:t>	comments: [</a:t>
            </a:r>
          </a:p>
          <a:p>
            <a:r>
              <a:rPr lang="en-US" sz="1200" b="1" dirty="0">
                <a:solidFill>
                  <a:srgbClr val="0070C0"/>
                </a:solidFill>
              </a:rPr>
              <a:t>		{</a:t>
            </a:r>
          </a:p>
          <a:p>
            <a:r>
              <a:rPr lang="en-US" sz="1200" b="1" dirty="0">
                <a:solidFill>
                  <a:srgbClr val="0070C0"/>
                </a:solidFill>
              </a:rPr>
              <a:t>			user:"user1",</a:t>
            </a:r>
          </a:p>
          <a:p>
            <a:r>
              <a:rPr lang="en-US" sz="1200" b="1" dirty="0">
                <a:solidFill>
                  <a:srgbClr val="0070C0"/>
                </a:solidFill>
              </a:rPr>
              <a:t>			message: "My first comment",</a:t>
            </a:r>
          </a:p>
          <a:p>
            <a:r>
              <a:rPr lang="en-US" sz="1200" b="1" dirty="0">
                <a:solidFill>
                  <a:srgbClr val="0070C0"/>
                </a:solidFill>
              </a:rPr>
              <a:t>			</a:t>
            </a:r>
            <a:r>
              <a:rPr lang="en-US" sz="1200" b="1" dirty="0" err="1">
                <a:solidFill>
                  <a:srgbClr val="0070C0"/>
                </a:solidFill>
              </a:rPr>
              <a:t>dateCreated</a:t>
            </a:r>
            <a:r>
              <a:rPr lang="en-US" sz="1200" b="1" dirty="0">
                <a:solidFill>
                  <a:srgbClr val="0070C0"/>
                </a:solidFill>
              </a:rPr>
              <a:t>: new Date(2013,11,10,2,35),</a:t>
            </a:r>
          </a:p>
          <a:p>
            <a:r>
              <a:rPr lang="en-US" sz="1200" b="1" dirty="0">
                <a:solidFill>
                  <a:srgbClr val="0070C0"/>
                </a:solidFill>
              </a:rPr>
              <a:t>			like: 0</a:t>
            </a:r>
          </a:p>
          <a:p>
            <a:r>
              <a:rPr lang="en-US" sz="1200" b="1" dirty="0">
                <a:solidFill>
                  <a:srgbClr val="0070C0"/>
                </a:solidFill>
              </a:rPr>
              <a:t>		}</a:t>
            </a:r>
          </a:p>
          <a:p>
            <a:r>
              <a:rPr lang="en-US" sz="1200" b="1" dirty="0">
                <a:solidFill>
                  <a:srgbClr val="0070C0"/>
                </a:solidFill>
              </a:rPr>
              <a:t>	]</a:t>
            </a:r>
          </a:p>
          <a:p>
            <a:r>
              <a:rPr lang="en-US" sz="1200" b="1" dirty="0">
                <a:solidFill>
                  <a:srgbClr val="0070C0"/>
                </a:solidFill>
              </a:rPr>
              <a:t>}</a:t>
            </a:r>
          </a:p>
          <a:p>
            <a:r>
              <a:rPr lang="en-US" sz="1200" b="1" dirty="0"/>
              <a:t>])</a:t>
            </a:r>
          </a:p>
        </p:txBody>
      </p:sp>
    </p:spTree>
    <p:extLst>
      <p:ext uri="{BB962C8B-B14F-4D97-AF65-F5344CB8AC3E}">
        <p14:creationId xmlns:p14="http://schemas.microsoft.com/office/powerpoint/2010/main" val="25201046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650" y="231417"/>
            <a:ext cx="8520600" cy="763500"/>
          </a:xfrm>
        </p:spPr>
        <p:txBody>
          <a:bodyPr/>
          <a:lstStyle/>
          <a:p>
            <a:r>
              <a:rPr lang="en-US" dirty="0"/>
              <a:t>find() method</a:t>
            </a:r>
          </a:p>
        </p:txBody>
      </p:sp>
      <p:sp>
        <p:nvSpPr>
          <p:cNvPr id="3" name="Text Placeholder 2"/>
          <p:cNvSpPr>
            <a:spLocks noGrp="1"/>
          </p:cNvSpPr>
          <p:nvPr>
            <p:ph type="body" idx="1"/>
          </p:nvPr>
        </p:nvSpPr>
        <p:spPr>
          <a:xfrm>
            <a:off x="321225" y="736652"/>
            <a:ext cx="8520600" cy="4555200"/>
          </a:xfrm>
        </p:spPr>
        <p:txBody>
          <a:bodyPr/>
          <a:lstStyle/>
          <a:p>
            <a:r>
              <a:rPr lang="en-US" sz="1800" dirty="0">
                <a:latin typeface="Book Antiqua" pitchFamily="18" charset="0"/>
              </a:rPr>
              <a:t>This method is used to query data from </a:t>
            </a:r>
            <a:r>
              <a:rPr lang="en-US" sz="1800" dirty="0" err="1">
                <a:latin typeface="Book Antiqua" pitchFamily="18" charset="0"/>
              </a:rPr>
              <a:t>MongoDB</a:t>
            </a:r>
            <a:r>
              <a:rPr lang="en-US" sz="1800" dirty="0">
                <a:latin typeface="Book Antiqua" pitchFamily="18" charset="0"/>
              </a:rPr>
              <a:t> collection. </a:t>
            </a:r>
            <a:r>
              <a:rPr lang="en-US" sz="1800" b="1" dirty="0">
                <a:latin typeface="Book Antiqua" pitchFamily="18" charset="0"/>
              </a:rPr>
              <a:t>find()</a:t>
            </a:r>
            <a:r>
              <a:rPr lang="en-US" sz="1800" dirty="0">
                <a:latin typeface="Book Antiqua" pitchFamily="18" charset="0"/>
              </a:rPr>
              <a:t> method will display all the documents in a non-structured way.</a:t>
            </a:r>
          </a:p>
          <a:p>
            <a:r>
              <a:rPr lang="en-US" sz="1800" b="1" u="sng" dirty="0">
                <a:solidFill>
                  <a:schemeClr val="tx1"/>
                </a:solidFill>
                <a:latin typeface="Book Antiqua" pitchFamily="18" charset="0"/>
              </a:rPr>
              <a:t>Syntax:</a:t>
            </a:r>
            <a:r>
              <a:rPr lang="en-US" sz="1800" b="1" dirty="0">
                <a:solidFill>
                  <a:srgbClr val="FF0000"/>
                </a:solidFill>
                <a:latin typeface="Book Antiqua" pitchFamily="18" charset="0"/>
              </a:rPr>
              <a:t> </a:t>
            </a:r>
            <a:r>
              <a:rPr lang="en-US" sz="1800" b="1" dirty="0" err="1">
                <a:solidFill>
                  <a:srgbClr val="FF0000"/>
                </a:solidFill>
                <a:latin typeface="Book Antiqua" pitchFamily="18" charset="0"/>
              </a:rPr>
              <a:t>db.COLLECTION_NAME.find</a:t>
            </a:r>
            <a:r>
              <a:rPr lang="en-US" sz="1800" b="1" dirty="0">
                <a:solidFill>
                  <a:srgbClr val="FF0000"/>
                </a:solidFill>
                <a:latin typeface="Book Antiqua" pitchFamily="18" charset="0"/>
              </a:rPr>
              <a:t>()</a:t>
            </a:r>
          </a:p>
        </p:txBody>
      </p:sp>
      <p:sp>
        <p:nvSpPr>
          <p:cNvPr id="4" name="Rectangle 3"/>
          <p:cNvSpPr/>
          <p:nvPr/>
        </p:nvSpPr>
        <p:spPr>
          <a:xfrm>
            <a:off x="533400" y="1745933"/>
            <a:ext cx="6477000" cy="5016758"/>
          </a:xfrm>
          <a:prstGeom prst="rect">
            <a:avLst/>
          </a:prstGeom>
        </p:spPr>
        <p:txBody>
          <a:bodyPr wrap="square">
            <a:spAutoFit/>
          </a:bodyPr>
          <a:lstStyle/>
          <a:p>
            <a:r>
              <a:rPr lang="en-US" sz="1000" dirty="0"/>
              <a:t>school&gt; </a:t>
            </a:r>
            <a:r>
              <a:rPr lang="en-US" sz="1000" dirty="0" err="1"/>
              <a:t>db.school.find</a:t>
            </a:r>
            <a:r>
              <a:rPr lang="en-US" sz="1000" dirty="0"/>
              <a:t>();</a:t>
            </a:r>
          </a:p>
          <a:p>
            <a:endParaRPr lang="en-US" sz="1000" b="1" u="sng" dirty="0"/>
          </a:p>
          <a:p>
            <a:r>
              <a:rPr lang="en-US" sz="1000" b="1" u="sng" dirty="0"/>
              <a:t>OUTPUT:</a:t>
            </a:r>
          </a:p>
          <a:p>
            <a:r>
              <a:rPr lang="en-US" sz="1000" dirty="0"/>
              <a:t>[</a:t>
            </a:r>
          </a:p>
          <a:p>
            <a:r>
              <a:rPr lang="en-US" sz="1000" dirty="0"/>
              <a:t>  { _id: </a:t>
            </a:r>
            <a:r>
              <a:rPr lang="en-US" sz="1000" dirty="0" err="1"/>
              <a:t>ObjectId</a:t>
            </a:r>
            <a:r>
              <a:rPr lang="en-US" sz="1000" dirty="0"/>
              <a:t>("636352ba13298072e044bc60"), </a:t>
            </a:r>
            <a:r>
              <a:rPr lang="en-US" sz="1000" dirty="0" err="1"/>
              <a:t>rollno</a:t>
            </a:r>
            <a:r>
              <a:rPr lang="en-US" sz="1000" dirty="0"/>
              <a:t>: '25900' },</a:t>
            </a:r>
          </a:p>
          <a:p>
            <a:r>
              <a:rPr lang="en-US" sz="1000" dirty="0"/>
              <a:t>  {</a:t>
            </a:r>
          </a:p>
          <a:p>
            <a:r>
              <a:rPr lang="en-US" sz="1000" dirty="0"/>
              <a:t>    _id: </a:t>
            </a:r>
            <a:r>
              <a:rPr lang="en-US" sz="1000" dirty="0" err="1"/>
              <a:t>ObjectId</a:t>
            </a:r>
            <a:r>
              <a:rPr lang="en-US" sz="1000" dirty="0"/>
              <a:t>("636a01e1afc8cee715fe5b6b"),</a:t>
            </a:r>
          </a:p>
          <a:p>
            <a:r>
              <a:rPr lang="en-US" sz="1000" dirty="0"/>
              <a:t>    title: '</a:t>
            </a:r>
            <a:r>
              <a:rPr lang="en-US" sz="1000" dirty="0" err="1"/>
              <a:t>MongoDB</a:t>
            </a:r>
            <a:r>
              <a:rPr lang="en-US" sz="1000" dirty="0"/>
              <a:t> Overview',</a:t>
            </a:r>
          </a:p>
          <a:p>
            <a:r>
              <a:rPr lang="en-US" sz="1000" dirty="0"/>
              <a:t>    description: '</a:t>
            </a:r>
            <a:r>
              <a:rPr lang="en-US" sz="1000" dirty="0" err="1"/>
              <a:t>MongoDB</a:t>
            </a:r>
            <a:r>
              <a:rPr lang="en-US" sz="1000" dirty="0"/>
              <a:t> is no SQL database',</a:t>
            </a:r>
          </a:p>
          <a:p>
            <a:r>
              <a:rPr lang="en-US" sz="1000" dirty="0"/>
              <a:t>    by: 'tutorials point',</a:t>
            </a:r>
          </a:p>
          <a:p>
            <a:r>
              <a:rPr lang="en-US" sz="1000" dirty="0"/>
              <a:t>    url: 'http://www.tutorialspoint.com',</a:t>
            </a:r>
          </a:p>
          <a:p>
            <a:r>
              <a:rPr lang="en-US" sz="1000" dirty="0"/>
              <a:t>    tags: [ '</a:t>
            </a:r>
            <a:r>
              <a:rPr lang="en-US" sz="1000" dirty="0" err="1"/>
              <a:t>mongodb</a:t>
            </a:r>
            <a:r>
              <a:rPr lang="en-US" sz="1000" dirty="0"/>
              <a:t>', 'database', '</a:t>
            </a:r>
            <a:r>
              <a:rPr lang="en-US" sz="1000" dirty="0" err="1"/>
              <a:t>NoSQL</a:t>
            </a:r>
            <a:r>
              <a:rPr lang="en-US" sz="1000" dirty="0"/>
              <a:t>' ],</a:t>
            </a:r>
          </a:p>
          <a:p>
            <a:r>
              <a:rPr lang="en-US" sz="1000" dirty="0"/>
              <a:t>    likes: 100</a:t>
            </a:r>
          </a:p>
          <a:p>
            <a:r>
              <a:rPr lang="en-US" sz="1000" dirty="0"/>
              <a:t>  },</a:t>
            </a:r>
          </a:p>
          <a:p>
            <a:r>
              <a:rPr lang="en-US" sz="1000" dirty="0"/>
              <a:t>  {</a:t>
            </a:r>
          </a:p>
          <a:p>
            <a:r>
              <a:rPr lang="en-US" sz="1000" dirty="0"/>
              <a:t>    _id: </a:t>
            </a:r>
            <a:r>
              <a:rPr lang="en-US" sz="1000" dirty="0" err="1"/>
              <a:t>ObjectId</a:t>
            </a:r>
            <a:r>
              <a:rPr lang="en-US" sz="1000" dirty="0"/>
              <a:t>("636a01e1afc8cee715fe5b6c"),</a:t>
            </a:r>
          </a:p>
          <a:p>
            <a:r>
              <a:rPr lang="en-US" sz="1000" dirty="0"/>
              <a:t>    title: '</a:t>
            </a:r>
            <a:r>
              <a:rPr lang="en-US" sz="1000" dirty="0" err="1"/>
              <a:t>NoSQL</a:t>
            </a:r>
            <a:r>
              <a:rPr lang="en-US" sz="1000" dirty="0"/>
              <a:t> Database',</a:t>
            </a:r>
          </a:p>
          <a:p>
            <a:r>
              <a:rPr lang="en-US" sz="1000" dirty="0"/>
              <a:t>    description: "</a:t>
            </a:r>
            <a:r>
              <a:rPr lang="en-US" sz="1000" dirty="0" err="1"/>
              <a:t>NoSQL</a:t>
            </a:r>
            <a:r>
              <a:rPr lang="en-US" sz="1000" dirty="0"/>
              <a:t> database doesn't have tables",</a:t>
            </a:r>
          </a:p>
          <a:p>
            <a:r>
              <a:rPr lang="en-US" sz="1000" dirty="0"/>
              <a:t>    by: 'tutorials point',</a:t>
            </a:r>
          </a:p>
          <a:p>
            <a:r>
              <a:rPr lang="en-US" sz="1000" dirty="0"/>
              <a:t>    url: 'http://www.tutorialspoint.com',</a:t>
            </a:r>
          </a:p>
          <a:p>
            <a:r>
              <a:rPr lang="en-US" sz="1000" dirty="0"/>
              <a:t>    tags: [ '</a:t>
            </a:r>
            <a:r>
              <a:rPr lang="en-US" sz="1000" dirty="0" err="1"/>
              <a:t>mongodb</a:t>
            </a:r>
            <a:r>
              <a:rPr lang="en-US" sz="1000" dirty="0"/>
              <a:t>', 'database', '</a:t>
            </a:r>
            <a:r>
              <a:rPr lang="en-US" sz="1000" dirty="0" err="1"/>
              <a:t>NoSQL</a:t>
            </a:r>
            <a:r>
              <a:rPr lang="en-US" sz="1000" dirty="0"/>
              <a:t>' ],</a:t>
            </a:r>
          </a:p>
          <a:p>
            <a:r>
              <a:rPr lang="en-US" sz="1000" dirty="0"/>
              <a:t>    likes: 20,</a:t>
            </a:r>
          </a:p>
          <a:p>
            <a:r>
              <a:rPr lang="en-US" sz="1000" dirty="0"/>
              <a:t>    comments: [</a:t>
            </a:r>
          </a:p>
          <a:p>
            <a:r>
              <a:rPr lang="en-US" sz="1000" dirty="0"/>
              <a:t>      {</a:t>
            </a:r>
          </a:p>
          <a:p>
            <a:r>
              <a:rPr lang="en-US" sz="1000" dirty="0"/>
              <a:t>        user: 'user1',</a:t>
            </a:r>
          </a:p>
          <a:p>
            <a:r>
              <a:rPr lang="en-US" sz="1000" dirty="0"/>
              <a:t>        message: 'My first comment',</a:t>
            </a:r>
          </a:p>
          <a:p>
            <a:r>
              <a:rPr lang="en-US" sz="1000" dirty="0"/>
              <a:t>        </a:t>
            </a:r>
            <a:r>
              <a:rPr lang="en-US" sz="1000" dirty="0" err="1"/>
              <a:t>dateCreated</a:t>
            </a:r>
            <a:r>
              <a:rPr lang="en-US" sz="1000" dirty="0"/>
              <a:t>: </a:t>
            </a:r>
            <a:r>
              <a:rPr lang="en-US" sz="1000" dirty="0" err="1"/>
              <a:t>ISODate</a:t>
            </a:r>
            <a:r>
              <a:rPr lang="en-US" sz="1000" dirty="0"/>
              <a:t>("2013-12-09T21:05:00.000Z"),</a:t>
            </a:r>
          </a:p>
          <a:p>
            <a:r>
              <a:rPr lang="en-US" sz="1000" dirty="0"/>
              <a:t>        like: 0</a:t>
            </a:r>
          </a:p>
          <a:p>
            <a:r>
              <a:rPr lang="en-US" sz="1000" dirty="0"/>
              <a:t>      }</a:t>
            </a:r>
          </a:p>
          <a:p>
            <a:r>
              <a:rPr lang="en-US" sz="1000" dirty="0"/>
              <a:t>    ]</a:t>
            </a:r>
          </a:p>
          <a:p>
            <a:r>
              <a:rPr lang="en-US" sz="1000" dirty="0"/>
              <a:t>  }</a:t>
            </a:r>
          </a:p>
          <a:p>
            <a:r>
              <a:rPr lang="en-US" sz="1000" dirty="0"/>
              <a:t>]</a:t>
            </a:r>
          </a:p>
        </p:txBody>
      </p:sp>
    </p:spTree>
    <p:extLst>
      <p:ext uri="{BB962C8B-B14F-4D97-AF65-F5344CB8AC3E}">
        <p14:creationId xmlns:p14="http://schemas.microsoft.com/office/powerpoint/2010/main" val="25565848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650" y="374292"/>
            <a:ext cx="8520600" cy="763500"/>
          </a:xfrm>
        </p:spPr>
        <p:txBody>
          <a:bodyPr/>
          <a:lstStyle/>
          <a:p>
            <a:endParaRPr lang="en-US" dirty="0"/>
          </a:p>
        </p:txBody>
      </p:sp>
      <p:sp>
        <p:nvSpPr>
          <p:cNvPr id="3" name="Text Placeholder 2"/>
          <p:cNvSpPr>
            <a:spLocks noGrp="1"/>
          </p:cNvSpPr>
          <p:nvPr>
            <p:ph type="body" idx="1"/>
          </p:nvPr>
        </p:nvSpPr>
        <p:spPr>
          <a:xfrm>
            <a:off x="292650" y="936558"/>
            <a:ext cx="8520600" cy="4555200"/>
          </a:xfrm>
        </p:spPr>
        <p:txBody>
          <a:bodyPr/>
          <a:lstStyle/>
          <a:p>
            <a:r>
              <a:rPr lang="en-US" sz="2800" b="1" dirty="0" err="1">
                <a:latin typeface="Book Antiqua" pitchFamily="18" charset="0"/>
              </a:rPr>
              <a:t>findOne</a:t>
            </a:r>
            <a:r>
              <a:rPr lang="en-US" sz="2800" b="1" dirty="0">
                <a:latin typeface="Book Antiqua" pitchFamily="18" charset="0"/>
              </a:rPr>
              <a:t>() method </a:t>
            </a:r>
            <a:r>
              <a:rPr lang="en-US" dirty="0">
                <a:latin typeface="Book Antiqua" pitchFamily="18" charset="0"/>
              </a:rPr>
              <a:t>- returns only one document</a:t>
            </a:r>
          </a:p>
          <a:p>
            <a:r>
              <a:rPr lang="en-US" dirty="0">
                <a:latin typeface="Book Antiqua" pitchFamily="18" charset="0"/>
              </a:rPr>
              <a:t>Syntax: </a:t>
            </a:r>
            <a:r>
              <a:rPr lang="en-US" dirty="0" err="1">
                <a:latin typeface="Book Antiqua" pitchFamily="18" charset="0"/>
              </a:rPr>
              <a:t>db.COLLECTIONNAME.findOne</a:t>
            </a:r>
            <a:r>
              <a:rPr lang="en-US" dirty="0">
                <a:latin typeface="Book Antiqua" pitchFamily="18" charset="0"/>
              </a:rPr>
              <a:t>()</a:t>
            </a:r>
          </a:p>
          <a:p>
            <a:endParaRPr lang="en-US" dirty="0">
              <a:latin typeface="Book Antiqua" pitchFamily="18" charset="0"/>
            </a:endParaRPr>
          </a:p>
          <a:p>
            <a:endParaRPr lang="en-US" sz="2800" b="1" dirty="0">
              <a:latin typeface="Book Antiqua" pitchFamily="18" charset="0"/>
            </a:endParaRPr>
          </a:p>
          <a:p>
            <a:r>
              <a:rPr lang="en-US" sz="2800" b="1" dirty="0">
                <a:latin typeface="Book Antiqua" pitchFamily="18" charset="0"/>
              </a:rPr>
              <a:t>pretty() method</a:t>
            </a:r>
          </a:p>
          <a:p>
            <a:r>
              <a:rPr lang="en-US" dirty="0">
                <a:latin typeface="Book Antiqua" pitchFamily="18" charset="0"/>
              </a:rPr>
              <a:t>To display the results in a formatted way</a:t>
            </a:r>
          </a:p>
          <a:p>
            <a:r>
              <a:rPr lang="en-US" dirty="0">
                <a:latin typeface="Book Antiqua" pitchFamily="18" charset="0"/>
              </a:rPr>
              <a:t>Syntax: </a:t>
            </a:r>
            <a:r>
              <a:rPr lang="en-US" dirty="0" err="1">
                <a:latin typeface="Book Antiqua" pitchFamily="18" charset="0"/>
              </a:rPr>
              <a:t>db.COLLECTION_NAME.find</a:t>
            </a:r>
            <a:r>
              <a:rPr lang="en-US" dirty="0">
                <a:latin typeface="Book Antiqua" pitchFamily="18" charset="0"/>
              </a:rPr>
              <a:t>().pretty()</a:t>
            </a:r>
          </a:p>
          <a:p>
            <a:endParaRPr lang="en-US" dirty="0">
              <a:latin typeface="Book Antiqua" pitchFamily="18" charset="0"/>
            </a:endParaRPr>
          </a:p>
        </p:txBody>
      </p:sp>
    </p:spTree>
    <p:extLst>
      <p:ext uri="{BB962C8B-B14F-4D97-AF65-F5344CB8AC3E}">
        <p14:creationId xmlns:p14="http://schemas.microsoft.com/office/powerpoint/2010/main" val="36443231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RDBMS Where Clause Equivalents in </a:t>
            </a:r>
            <a:r>
              <a:rPr lang="en-US" b="0" dirty="0" err="1"/>
              <a:t>MongoDB</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294618363"/>
              </p:ext>
            </p:extLst>
          </p:nvPr>
        </p:nvGraphicFramePr>
        <p:xfrm>
          <a:off x="152399" y="1209676"/>
          <a:ext cx="8810627" cy="6004560"/>
        </p:xfrm>
        <a:graphic>
          <a:graphicData uri="http://schemas.openxmlformats.org/drawingml/2006/table">
            <a:tbl>
              <a:tblPr firstRow="1" bandRow="1">
                <a:tableStyleId>{5C22544A-7EE6-4342-B048-85BDC9FD1C3A}</a:tableStyleId>
              </a:tblPr>
              <a:tblGrid>
                <a:gridCol w="1901033">
                  <a:extLst>
                    <a:ext uri="{9D8B030D-6E8A-4147-A177-3AD203B41FA5}">
                      <a16:colId xmlns:a16="http://schemas.microsoft.com/office/drawing/2014/main" val="20000"/>
                    </a:ext>
                  </a:extLst>
                </a:gridCol>
                <a:gridCol w="2023268">
                  <a:extLst>
                    <a:ext uri="{9D8B030D-6E8A-4147-A177-3AD203B41FA5}">
                      <a16:colId xmlns:a16="http://schemas.microsoft.com/office/drawing/2014/main" val="20001"/>
                    </a:ext>
                  </a:extLst>
                </a:gridCol>
                <a:gridCol w="2583128">
                  <a:extLst>
                    <a:ext uri="{9D8B030D-6E8A-4147-A177-3AD203B41FA5}">
                      <a16:colId xmlns:a16="http://schemas.microsoft.com/office/drawing/2014/main" val="20002"/>
                    </a:ext>
                  </a:extLst>
                </a:gridCol>
                <a:gridCol w="2303198">
                  <a:extLst>
                    <a:ext uri="{9D8B030D-6E8A-4147-A177-3AD203B41FA5}">
                      <a16:colId xmlns:a16="http://schemas.microsoft.com/office/drawing/2014/main" val="20003"/>
                    </a:ext>
                  </a:extLst>
                </a:gridCol>
              </a:tblGrid>
              <a:tr h="309057">
                <a:tc>
                  <a:txBody>
                    <a:bodyPr/>
                    <a:lstStyle/>
                    <a:p>
                      <a:pPr algn="ctr" fontAlgn="t"/>
                      <a:r>
                        <a:rPr lang="en-US" sz="1400" dirty="0">
                          <a:effectLst/>
                        </a:rPr>
                        <a:t>Operation</a:t>
                      </a:r>
                    </a:p>
                  </a:txBody>
                  <a:tcPr marL="60960" marR="60960" marT="60960" marB="60960"/>
                </a:tc>
                <a:tc>
                  <a:txBody>
                    <a:bodyPr/>
                    <a:lstStyle/>
                    <a:p>
                      <a:pPr algn="ctr" fontAlgn="t"/>
                      <a:r>
                        <a:rPr lang="en-US" sz="1400">
                          <a:effectLst/>
                        </a:rPr>
                        <a:t>Syntax</a:t>
                      </a:r>
                    </a:p>
                  </a:txBody>
                  <a:tcPr marL="60960" marR="60960" marT="60960" marB="60960"/>
                </a:tc>
                <a:tc>
                  <a:txBody>
                    <a:bodyPr/>
                    <a:lstStyle/>
                    <a:p>
                      <a:pPr algn="ctr" fontAlgn="t"/>
                      <a:r>
                        <a:rPr lang="en-US" sz="1400">
                          <a:effectLst/>
                        </a:rPr>
                        <a:t>Example</a:t>
                      </a:r>
                    </a:p>
                  </a:txBody>
                  <a:tcPr marL="60960" marR="60960" marT="60960" marB="60960"/>
                </a:tc>
                <a:tc>
                  <a:txBody>
                    <a:bodyPr/>
                    <a:lstStyle/>
                    <a:p>
                      <a:pPr algn="ctr" fontAlgn="t"/>
                      <a:r>
                        <a:rPr lang="en-US" sz="1400">
                          <a:effectLst/>
                        </a:rPr>
                        <a:t>RDBMS Equivalent</a:t>
                      </a:r>
                    </a:p>
                  </a:txBody>
                  <a:tcPr marL="60960" marR="60960" marT="60960" marB="60960"/>
                </a:tc>
                <a:extLst>
                  <a:ext uri="{0D108BD9-81ED-4DB2-BD59-A6C34878D82A}">
                    <a16:rowId xmlns:a16="http://schemas.microsoft.com/office/drawing/2014/main" val="10000"/>
                  </a:ext>
                </a:extLst>
              </a:tr>
              <a:tr h="487983">
                <a:tc>
                  <a:txBody>
                    <a:bodyPr/>
                    <a:lstStyle/>
                    <a:p>
                      <a:pPr fontAlgn="t"/>
                      <a:r>
                        <a:rPr lang="en-US" sz="1600" dirty="0">
                          <a:effectLst/>
                        </a:rPr>
                        <a:t>Equality</a:t>
                      </a:r>
                    </a:p>
                  </a:txBody>
                  <a:tcPr marL="60960" marR="60960" marT="60960" marB="60960"/>
                </a:tc>
                <a:tc>
                  <a:txBody>
                    <a:bodyPr/>
                    <a:lstStyle/>
                    <a:p>
                      <a:pPr fontAlgn="t"/>
                      <a:r>
                        <a:rPr lang="en-US" sz="1600">
                          <a:effectLst/>
                        </a:rPr>
                        <a:t>{&lt;key&gt;:{$eg;&lt;value&gt;}}</a:t>
                      </a:r>
                    </a:p>
                  </a:txBody>
                  <a:tcPr marL="60960" marR="60960" marT="60960" marB="60960"/>
                </a:tc>
                <a:tc>
                  <a:txBody>
                    <a:bodyPr/>
                    <a:lstStyle/>
                    <a:p>
                      <a:pPr fontAlgn="t"/>
                      <a:r>
                        <a:rPr lang="en-US" sz="1400" dirty="0" err="1">
                          <a:effectLst/>
                        </a:rPr>
                        <a:t>db.mycol.find</a:t>
                      </a:r>
                      <a:r>
                        <a:rPr lang="en-US" sz="1400" dirty="0">
                          <a:effectLst/>
                        </a:rPr>
                        <a:t>({"</a:t>
                      </a:r>
                      <a:r>
                        <a:rPr lang="en-US" sz="1400" dirty="0" err="1">
                          <a:effectLst/>
                        </a:rPr>
                        <a:t>by":"tutorials</a:t>
                      </a:r>
                      <a:r>
                        <a:rPr lang="en-US" sz="1400" dirty="0">
                          <a:effectLst/>
                        </a:rPr>
                        <a:t> point"}).pretty()</a:t>
                      </a:r>
                    </a:p>
                  </a:txBody>
                  <a:tcPr marL="60960" marR="60960" marT="60960" marB="60960"/>
                </a:tc>
                <a:tc>
                  <a:txBody>
                    <a:bodyPr/>
                    <a:lstStyle/>
                    <a:p>
                      <a:pPr fontAlgn="t"/>
                      <a:r>
                        <a:rPr lang="en-US" sz="1400">
                          <a:effectLst/>
                        </a:rPr>
                        <a:t>where by = 'tutorials point'</a:t>
                      </a:r>
                    </a:p>
                  </a:txBody>
                  <a:tcPr marL="60960" marR="60960" marT="60960" marB="60960"/>
                </a:tc>
                <a:extLst>
                  <a:ext uri="{0D108BD9-81ED-4DB2-BD59-A6C34878D82A}">
                    <a16:rowId xmlns:a16="http://schemas.microsoft.com/office/drawing/2014/main" val="10001"/>
                  </a:ext>
                </a:extLst>
              </a:tr>
              <a:tr h="487983">
                <a:tc>
                  <a:txBody>
                    <a:bodyPr/>
                    <a:lstStyle/>
                    <a:p>
                      <a:pPr fontAlgn="t"/>
                      <a:r>
                        <a:rPr lang="en-US" sz="1600" dirty="0">
                          <a:effectLst/>
                        </a:rPr>
                        <a:t>Less Than</a:t>
                      </a:r>
                    </a:p>
                  </a:txBody>
                  <a:tcPr marL="60960" marR="60960" marT="60960" marB="60960"/>
                </a:tc>
                <a:tc>
                  <a:txBody>
                    <a:bodyPr/>
                    <a:lstStyle/>
                    <a:p>
                      <a:pPr fontAlgn="t"/>
                      <a:r>
                        <a:rPr lang="en-US" sz="1600">
                          <a:effectLst/>
                        </a:rPr>
                        <a:t>{&lt;key&gt;:{$lt:&lt;value&gt;}}</a:t>
                      </a:r>
                    </a:p>
                  </a:txBody>
                  <a:tcPr marL="60960" marR="60960" marT="60960" marB="60960"/>
                </a:tc>
                <a:tc>
                  <a:txBody>
                    <a:bodyPr/>
                    <a:lstStyle/>
                    <a:p>
                      <a:pPr fontAlgn="t"/>
                      <a:r>
                        <a:rPr lang="en-US" sz="1400">
                          <a:effectLst/>
                        </a:rPr>
                        <a:t>db.mycol.find({"likes":{$lt:50}}).pretty()</a:t>
                      </a:r>
                    </a:p>
                  </a:txBody>
                  <a:tcPr marL="60960" marR="60960" marT="60960" marB="60960"/>
                </a:tc>
                <a:tc>
                  <a:txBody>
                    <a:bodyPr/>
                    <a:lstStyle/>
                    <a:p>
                      <a:pPr fontAlgn="t"/>
                      <a:r>
                        <a:rPr lang="en-US" sz="1400">
                          <a:effectLst/>
                        </a:rPr>
                        <a:t>where likes &lt; 50</a:t>
                      </a:r>
                    </a:p>
                  </a:txBody>
                  <a:tcPr marL="60960" marR="60960" marT="60960" marB="60960"/>
                </a:tc>
                <a:extLst>
                  <a:ext uri="{0D108BD9-81ED-4DB2-BD59-A6C34878D82A}">
                    <a16:rowId xmlns:a16="http://schemas.microsoft.com/office/drawing/2014/main" val="10002"/>
                  </a:ext>
                </a:extLst>
              </a:tr>
              <a:tr h="487983">
                <a:tc>
                  <a:txBody>
                    <a:bodyPr/>
                    <a:lstStyle/>
                    <a:p>
                      <a:pPr fontAlgn="t"/>
                      <a:r>
                        <a:rPr lang="en-US" sz="1600" dirty="0">
                          <a:effectLst/>
                        </a:rPr>
                        <a:t>Less Than Equals</a:t>
                      </a:r>
                    </a:p>
                  </a:txBody>
                  <a:tcPr marL="60960" marR="60960" marT="60960" marB="60960"/>
                </a:tc>
                <a:tc>
                  <a:txBody>
                    <a:bodyPr/>
                    <a:lstStyle/>
                    <a:p>
                      <a:pPr fontAlgn="t"/>
                      <a:r>
                        <a:rPr lang="en-US" sz="1600">
                          <a:effectLst/>
                        </a:rPr>
                        <a:t>{&lt;key&gt;:{$lte:&lt;value&gt;}}</a:t>
                      </a:r>
                    </a:p>
                  </a:txBody>
                  <a:tcPr marL="60960" marR="60960" marT="60960" marB="60960"/>
                </a:tc>
                <a:tc>
                  <a:txBody>
                    <a:bodyPr/>
                    <a:lstStyle/>
                    <a:p>
                      <a:pPr fontAlgn="t"/>
                      <a:r>
                        <a:rPr lang="en-US" sz="1400">
                          <a:effectLst/>
                        </a:rPr>
                        <a:t>db.mycol.find({"likes":{$lte:50}}).pretty()</a:t>
                      </a:r>
                    </a:p>
                  </a:txBody>
                  <a:tcPr marL="60960" marR="60960" marT="60960" marB="60960"/>
                </a:tc>
                <a:tc>
                  <a:txBody>
                    <a:bodyPr/>
                    <a:lstStyle/>
                    <a:p>
                      <a:pPr fontAlgn="t"/>
                      <a:r>
                        <a:rPr lang="en-US" sz="1400">
                          <a:effectLst/>
                        </a:rPr>
                        <a:t>where likes &lt;= 50</a:t>
                      </a:r>
                    </a:p>
                  </a:txBody>
                  <a:tcPr marL="60960" marR="60960" marT="60960" marB="60960"/>
                </a:tc>
                <a:extLst>
                  <a:ext uri="{0D108BD9-81ED-4DB2-BD59-A6C34878D82A}">
                    <a16:rowId xmlns:a16="http://schemas.microsoft.com/office/drawing/2014/main" val="10003"/>
                  </a:ext>
                </a:extLst>
              </a:tr>
              <a:tr h="487983">
                <a:tc>
                  <a:txBody>
                    <a:bodyPr/>
                    <a:lstStyle/>
                    <a:p>
                      <a:pPr fontAlgn="t"/>
                      <a:r>
                        <a:rPr lang="en-US" sz="1600" dirty="0">
                          <a:effectLst/>
                        </a:rPr>
                        <a:t>Greater Than</a:t>
                      </a:r>
                    </a:p>
                  </a:txBody>
                  <a:tcPr marL="60960" marR="60960" marT="60960" marB="60960"/>
                </a:tc>
                <a:tc>
                  <a:txBody>
                    <a:bodyPr/>
                    <a:lstStyle/>
                    <a:p>
                      <a:pPr fontAlgn="t"/>
                      <a:r>
                        <a:rPr lang="en-US" sz="1600">
                          <a:effectLst/>
                        </a:rPr>
                        <a:t>{&lt;key&gt;:{$gt:&lt;value&gt;}}</a:t>
                      </a:r>
                    </a:p>
                  </a:txBody>
                  <a:tcPr marL="60960" marR="60960" marT="60960" marB="60960"/>
                </a:tc>
                <a:tc>
                  <a:txBody>
                    <a:bodyPr/>
                    <a:lstStyle/>
                    <a:p>
                      <a:pPr fontAlgn="t"/>
                      <a:r>
                        <a:rPr lang="en-US" sz="1400" dirty="0" err="1">
                          <a:effectLst/>
                        </a:rPr>
                        <a:t>db.mycol.find</a:t>
                      </a:r>
                      <a:r>
                        <a:rPr lang="en-US" sz="1400" dirty="0">
                          <a:effectLst/>
                        </a:rPr>
                        <a:t>({"likes":{$gt:50}}).pretty()</a:t>
                      </a:r>
                    </a:p>
                  </a:txBody>
                  <a:tcPr marL="60960" marR="60960" marT="60960" marB="60960"/>
                </a:tc>
                <a:tc>
                  <a:txBody>
                    <a:bodyPr/>
                    <a:lstStyle/>
                    <a:p>
                      <a:pPr fontAlgn="t"/>
                      <a:r>
                        <a:rPr lang="en-US" sz="1400">
                          <a:effectLst/>
                        </a:rPr>
                        <a:t>where likes &gt; 50</a:t>
                      </a:r>
                    </a:p>
                  </a:txBody>
                  <a:tcPr marL="60960" marR="60960" marT="60960" marB="60960"/>
                </a:tc>
                <a:extLst>
                  <a:ext uri="{0D108BD9-81ED-4DB2-BD59-A6C34878D82A}">
                    <a16:rowId xmlns:a16="http://schemas.microsoft.com/office/drawing/2014/main" val="10004"/>
                  </a:ext>
                </a:extLst>
              </a:tr>
              <a:tr h="487983">
                <a:tc>
                  <a:txBody>
                    <a:bodyPr/>
                    <a:lstStyle/>
                    <a:p>
                      <a:pPr fontAlgn="t"/>
                      <a:r>
                        <a:rPr lang="en-US" sz="1600" dirty="0">
                          <a:effectLst/>
                        </a:rPr>
                        <a:t>Greater Than Equals</a:t>
                      </a:r>
                    </a:p>
                  </a:txBody>
                  <a:tcPr marL="60960" marR="60960" marT="60960" marB="60960"/>
                </a:tc>
                <a:tc>
                  <a:txBody>
                    <a:bodyPr/>
                    <a:lstStyle/>
                    <a:p>
                      <a:pPr fontAlgn="t"/>
                      <a:r>
                        <a:rPr lang="en-US" sz="1600">
                          <a:effectLst/>
                        </a:rPr>
                        <a:t>{&lt;key&gt;:{$gte:&lt;value&gt;}}</a:t>
                      </a:r>
                    </a:p>
                  </a:txBody>
                  <a:tcPr marL="60960" marR="60960" marT="60960" marB="60960"/>
                </a:tc>
                <a:tc>
                  <a:txBody>
                    <a:bodyPr/>
                    <a:lstStyle/>
                    <a:p>
                      <a:pPr fontAlgn="t"/>
                      <a:r>
                        <a:rPr lang="en-US" sz="1400">
                          <a:effectLst/>
                        </a:rPr>
                        <a:t>db.mycol.find({"likes":{$gte:50}}).pretty()</a:t>
                      </a:r>
                    </a:p>
                  </a:txBody>
                  <a:tcPr marL="60960" marR="60960" marT="60960" marB="60960"/>
                </a:tc>
                <a:tc>
                  <a:txBody>
                    <a:bodyPr/>
                    <a:lstStyle/>
                    <a:p>
                      <a:pPr fontAlgn="t"/>
                      <a:r>
                        <a:rPr lang="en-US" sz="1400">
                          <a:effectLst/>
                        </a:rPr>
                        <a:t>where likes &gt;= 50</a:t>
                      </a:r>
                    </a:p>
                  </a:txBody>
                  <a:tcPr marL="60960" marR="60960" marT="60960" marB="60960"/>
                </a:tc>
                <a:extLst>
                  <a:ext uri="{0D108BD9-81ED-4DB2-BD59-A6C34878D82A}">
                    <a16:rowId xmlns:a16="http://schemas.microsoft.com/office/drawing/2014/main" val="10005"/>
                  </a:ext>
                </a:extLst>
              </a:tr>
              <a:tr h="487983">
                <a:tc>
                  <a:txBody>
                    <a:bodyPr/>
                    <a:lstStyle/>
                    <a:p>
                      <a:pPr fontAlgn="t"/>
                      <a:r>
                        <a:rPr lang="en-US" sz="1600">
                          <a:effectLst/>
                        </a:rPr>
                        <a:t>Not Equals</a:t>
                      </a:r>
                    </a:p>
                  </a:txBody>
                  <a:tcPr marL="60960" marR="60960" marT="60960" marB="60960"/>
                </a:tc>
                <a:tc>
                  <a:txBody>
                    <a:bodyPr/>
                    <a:lstStyle/>
                    <a:p>
                      <a:pPr fontAlgn="t"/>
                      <a:r>
                        <a:rPr lang="en-US" sz="1600" dirty="0">
                          <a:effectLst/>
                        </a:rPr>
                        <a:t>{&lt;key&gt;:{$ne:&lt;value&gt;}}</a:t>
                      </a:r>
                    </a:p>
                  </a:txBody>
                  <a:tcPr marL="60960" marR="60960" marT="60960" marB="60960"/>
                </a:tc>
                <a:tc>
                  <a:txBody>
                    <a:bodyPr/>
                    <a:lstStyle/>
                    <a:p>
                      <a:pPr fontAlgn="t"/>
                      <a:r>
                        <a:rPr lang="en-US" sz="1400">
                          <a:effectLst/>
                        </a:rPr>
                        <a:t>db.mycol.find({"likes":{$ne:50}}).pretty()</a:t>
                      </a:r>
                    </a:p>
                  </a:txBody>
                  <a:tcPr marL="60960" marR="60960" marT="60960" marB="60960"/>
                </a:tc>
                <a:tc>
                  <a:txBody>
                    <a:bodyPr/>
                    <a:lstStyle/>
                    <a:p>
                      <a:pPr fontAlgn="t"/>
                      <a:r>
                        <a:rPr lang="en-US" sz="1400">
                          <a:effectLst/>
                        </a:rPr>
                        <a:t>where likes != 50</a:t>
                      </a:r>
                    </a:p>
                  </a:txBody>
                  <a:tcPr marL="60960" marR="60960" marT="60960" marB="60960"/>
                </a:tc>
                <a:extLst>
                  <a:ext uri="{0D108BD9-81ED-4DB2-BD59-A6C34878D82A}">
                    <a16:rowId xmlns:a16="http://schemas.microsoft.com/office/drawing/2014/main" val="10006"/>
                  </a:ext>
                </a:extLst>
              </a:tr>
              <a:tr h="666911">
                <a:tc>
                  <a:txBody>
                    <a:bodyPr/>
                    <a:lstStyle/>
                    <a:p>
                      <a:pPr fontAlgn="t"/>
                      <a:r>
                        <a:rPr lang="en-US" sz="1600">
                          <a:effectLst/>
                        </a:rPr>
                        <a:t>Values in an array</a:t>
                      </a:r>
                    </a:p>
                  </a:txBody>
                  <a:tcPr marL="60960" marR="60960" marT="60960" marB="60960"/>
                </a:tc>
                <a:tc>
                  <a:txBody>
                    <a:bodyPr/>
                    <a:lstStyle/>
                    <a:p>
                      <a:pPr fontAlgn="t"/>
                      <a:r>
                        <a:rPr lang="en-US" sz="1600" dirty="0">
                          <a:effectLst/>
                        </a:rPr>
                        <a:t>{&lt;key&gt;:{$in:[&lt;value1&gt;, &lt;value2&gt;,……&lt;</a:t>
                      </a:r>
                      <a:r>
                        <a:rPr lang="en-US" sz="1600" dirty="0" err="1">
                          <a:effectLst/>
                        </a:rPr>
                        <a:t>valueN</a:t>
                      </a:r>
                      <a:r>
                        <a:rPr lang="en-US" sz="1600" dirty="0">
                          <a:effectLst/>
                        </a:rPr>
                        <a:t>&gt;]}}</a:t>
                      </a:r>
                    </a:p>
                  </a:txBody>
                  <a:tcPr marL="60960" marR="60960" marT="60960" marB="60960"/>
                </a:tc>
                <a:tc>
                  <a:txBody>
                    <a:bodyPr/>
                    <a:lstStyle/>
                    <a:p>
                      <a:pPr fontAlgn="t"/>
                      <a:r>
                        <a:rPr lang="en-US" sz="1400" dirty="0" err="1">
                          <a:effectLst/>
                        </a:rPr>
                        <a:t>db.mycol.find</a:t>
                      </a:r>
                      <a:r>
                        <a:rPr lang="en-US" sz="1400" dirty="0">
                          <a:effectLst/>
                        </a:rPr>
                        <a:t>({"name":{$in:["Raj", "Ram", "Raghu"]}}).pretty()</a:t>
                      </a:r>
                    </a:p>
                  </a:txBody>
                  <a:tcPr marL="60960" marR="60960" marT="60960" marB="60960"/>
                </a:tc>
                <a:tc>
                  <a:txBody>
                    <a:bodyPr/>
                    <a:lstStyle/>
                    <a:p>
                      <a:pPr fontAlgn="t"/>
                      <a:r>
                        <a:rPr lang="en-US" sz="1400" dirty="0">
                          <a:effectLst/>
                        </a:rPr>
                        <a:t>Where name matches any of the value in :["Raj", "Ram", "Raghu"]</a:t>
                      </a:r>
                    </a:p>
                  </a:txBody>
                  <a:tcPr marL="60960" marR="60960" marT="60960" marB="60960"/>
                </a:tc>
                <a:extLst>
                  <a:ext uri="{0D108BD9-81ED-4DB2-BD59-A6C34878D82A}">
                    <a16:rowId xmlns:a16="http://schemas.microsoft.com/office/drawing/2014/main" val="10007"/>
                  </a:ext>
                </a:extLst>
              </a:tr>
              <a:tr h="726548">
                <a:tc>
                  <a:txBody>
                    <a:bodyPr/>
                    <a:lstStyle/>
                    <a:p>
                      <a:pPr fontAlgn="t"/>
                      <a:r>
                        <a:rPr lang="en-US" sz="1600">
                          <a:effectLst/>
                        </a:rPr>
                        <a:t>Values not in an array</a:t>
                      </a:r>
                    </a:p>
                  </a:txBody>
                  <a:tcPr marL="60960" marR="60960" marT="60960" marB="60960"/>
                </a:tc>
                <a:tc>
                  <a:txBody>
                    <a:bodyPr/>
                    <a:lstStyle/>
                    <a:p>
                      <a:pPr fontAlgn="t"/>
                      <a:r>
                        <a:rPr lang="en-US" sz="1600" dirty="0">
                          <a:effectLst/>
                        </a:rPr>
                        <a:t>{&lt;key&gt;:{$</a:t>
                      </a:r>
                      <a:r>
                        <a:rPr lang="en-US" sz="1600" dirty="0" err="1">
                          <a:effectLst/>
                        </a:rPr>
                        <a:t>nin</a:t>
                      </a:r>
                      <a:r>
                        <a:rPr lang="en-US" sz="1600" dirty="0">
                          <a:effectLst/>
                        </a:rPr>
                        <a:t>:&lt;value&gt;}}</a:t>
                      </a:r>
                    </a:p>
                  </a:txBody>
                  <a:tcPr marL="60960" marR="60960" marT="60960" marB="60960"/>
                </a:tc>
                <a:tc>
                  <a:txBody>
                    <a:bodyPr/>
                    <a:lstStyle/>
                    <a:p>
                      <a:pPr fontAlgn="t"/>
                      <a:r>
                        <a:rPr lang="en-US" sz="1400">
                          <a:effectLst/>
                        </a:rPr>
                        <a:t>db.mycol.find({"name":{$nin:["Ramu", "Raghav"]}}).pretty()</a:t>
                      </a:r>
                    </a:p>
                  </a:txBody>
                  <a:tcPr marL="60960" marR="60960" marT="60960" marB="60960"/>
                </a:tc>
                <a:tc>
                  <a:txBody>
                    <a:bodyPr/>
                    <a:lstStyle/>
                    <a:p>
                      <a:pPr fontAlgn="t"/>
                      <a:r>
                        <a:rPr lang="en-US" sz="1400" dirty="0">
                          <a:effectLst/>
                        </a:rPr>
                        <a:t>Where name values is not in the array :["</a:t>
                      </a:r>
                      <a:r>
                        <a:rPr lang="en-US" sz="1400" dirty="0" err="1">
                          <a:effectLst/>
                        </a:rPr>
                        <a:t>Ramu</a:t>
                      </a:r>
                      <a:r>
                        <a:rPr lang="en-US" sz="1400" dirty="0">
                          <a:effectLst/>
                        </a:rPr>
                        <a:t>", "</a:t>
                      </a:r>
                      <a:r>
                        <a:rPr lang="en-US" sz="1400" dirty="0" err="1">
                          <a:effectLst/>
                        </a:rPr>
                        <a:t>Raghav</a:t>
                      </a:r>
                      <a:r>
                        <a:rPr lang="en-US" sz="1400" dirty="0">
                          <a:effectLst/>
                        </a:rPr>
                        <a:t>"] or, doesn’t exist at all</a:t>
                      </a:r>
                    </a:p>
                  </a:txBody>
                  <a:tcPr marL="60960" marR="60960" marT="60960" marB="6096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0383226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AND in </a:t>
            </a:r>
            <a:r>
              <a:rPr lang="en-US" b="0" dirty="0" err="1"/>
              <a:t>MongoDB</a:t>
            </a:r>
            <a:endParaRPr lang="en-US" dirty="0"/>
          </a:p>
        </p:txBody>
      </p:sp>
      <p:sp>
        <p:nvSpPr>
          <p:cNvPr id="3" name="Text Placeholder 2"/>
          <p:cNvSpPr>
            <a:spLocks noGrp="1"/>
          </p:cNvSpPr>
          <p:nvPr>
            <p:ph type="body" idx="1"/>
          </p:nvPr>
        </p:nvSpPr>
        <p:spPr/>
        <p:txBody>
          <a:bodyPr/>
          <a:lstStyle/>
          <a:p>
            <a:r>
              <a:rPr lang="en-US" dirty="0"/>
              <a:t>To query documents based on the AND condition, you need to use $and keyword.</a:t>
            </a:r>
          </a:p>
          <a:p>
            <a:r>
              <a:rPr lang="en-US" dirty="0"/>
              <a:t>Syntax: </a:t>
            </a:r>
            <a:r>
              <a:rPr lang="en-US" dirty="0" err="1"/>
              <a:t>db.mycol.find</a:t>
            </a:r>
            <a:r>
              <a:rPr lang="en-US" dirty="0"/>
              <a:t>({ $and: [ {&lt;key1&gt;:&lt;value1&gt;}, { &lt;key2&gt;:&lt;value2&gt;} ] })</a:t>
            </a:r>
          </a:p>
          <a:p>
            <a:r>
              <a:rPr lang="en-US" dirty="0"/>
              <a:t>Example</a:t>
            </a:r>
          </a:p>
        </p:txBody>
      </p:sp>
      <p:sp>
        <p:nvSpPr>
          <p:cNvPr id="4" name="Rectangle 3"/>
          <p:cNvSpPr/>
          <p:nvPr/>
        </p:nvSpPr>
        <p:spPr>
          <a:xfrm>
            <a:off x="104775" y="3053090"/>
            <a:ext cx="7724775" cy="3108543"/>
          </a:xfrm>
          <a:prstGeom prst="rect">
            <a:avLst/>
          </a:prstGeom>
        </p:spPr>
        <p:txBody>
          <a:bodyPr wrap="square">
            <a:spAutoFit/>
          </a:bodyPr>
          <a:lstStyle/>
          <a:p>
            <a:r>
              <a:rPr lang="en-US" dirty="0" err="1"/>
              <a:t>db.school.find</a:t>
            </a:r>
            <a:r>
              <a:rPr lang="en-US" dirty="0"/>
              <a:t>({$and:[{"title":"</a:t>
            </a:r>
            <a:r>
              <a:rPr lang="en-US" dirty="0" err="1"/>
              <a:t>MongoDB</a:t>
            </a:r>
            <a:r>
              <a:rPr lang="en-US" dirty="0"/>
              <a:t> Overview"},{"</a:t>
            </a:r>
            <a:r>
              <a:rPr lang="en-US" dirty="0" err="1"/>
              <a:t>by":"tutorials</a:t>
            </a:r>
            <a:r>
              <a:rPr lang="en-US" dirty="0"/>
              <a:t> point"}]}).pretty()</a:t>
            </a:r>
          </a:p>
          <a:p>
            <a:endParaRPr lang="en-US" dirty="0"/>
          </a:p>
          <a:p>
            <a:r>
              <a:rPr lang="en-US" dirty="0"/>
              <a:t>Example:</a:t>
            </a:r>
          </a:p>
          <a:p>
            <a:r>
              <a:rPr lang="en-US" dirty="0"/>
              <a:t>[</a:t>
            </a:r>
          </a:p>
          <a:p>
            <a:r>
              <a:rPr lang="en-US" dirty="0"/>
              <a:t>  {</a:t>
            </a:r>
          </a:p>
          <a:p>
            <a:r>
              <a:rPr lang="en-US" dirty="0"/>
              <a:t>    _id: </a:t>
            </a:r>
            <a:r>
              <a:rPr lang="en-US" dirty="0" err="1"/>
              <a:t>ObjectId</a:t>
            </a:r>
            <a:r>
              <a:rPr lang="en-US" dirty="0"/>
              <a:t>("636a01e1afc8cee715fe5b6b"),</a:t>
            </a:r>
          </a:p>
          <a:p>
            <a:r>
              <a:rPr lang="en-US" dirty="0"/>
              <a:t>    title: '</a:t>
            </a:r>
            <a:r>
              <a:rPr lang="en-US" dirty="0" err="1"/>
              <a:t>MongoDB</a:t>
            </a:r>
            <a:r>
              <a:rPr lang="en-US" dirty="0"/>
              <a:t> Overview',</a:t>
            </a:r>
          </a:p>
          <a:p>
            <a:r>
              <a:rPr lang="en-US" dirty="0"/>
              <a:t>    description: '</a:t>
            </a:r>
            <a:r>
              <a:rPr lang="en-US" dirty="0" err="1"/>
              <a:t>MongoDB</a:t>
            </a:r>
            <a:r>
              <a:rPr lang="en-US" dirty="0"/>
              <a:t> is no SQL database',</a:t>
            </a:r>
          </a:p>
          <a:p>
            <a:r>
              <a:rPr lang="en-US" dirty="0"/>
              <a:t>    by: 'tutorials point',</a:t>
            </a:r>
          </a:p>
          <a:p>
            <a:r>
              <a:rPr lang="en-US" dirty="0"/>
              <a:t>    url: 'http://www.tutorialspoint.com',</a:t>
            </a:r>
          </a:p>
          <a:p>
            <a:r>
              <a:rPr lang="en-US" dirty="0"/>
              <a:t>    tags: [ '</a:t>
            </a:r>
            <a:r>
              <a:rPr lang="en-US" dirty="0" err="1"/>
              <a:t>mongodb</a:t>
            </a:r>
            <a:r>
              <a:rPr lang="en-US" dirty="0"/>
              <a:t>', 'database', '</a:t>
            </a:r>
            <a:r>
              <a:rPr lang="en-US" dirty="0" err="1"/>
              <a:t>NoSQL</a:t>
            </a:r>
            <a:r>
              <a:rPr lang="en-US" dirty="0"/>
              <a:t>' ],</a:t>
            </a:r>
          </a:p>
          <a:p>
            <a:r>
              <a:rPr lang="en-US" dirty="0"/>
              <a:t>    likes: 100</a:t>
            </a:r>
          </a:p>
          <a:p>
            <a:r>
              <a:rPr lang="en-US" dirty="0"/>
              <a:t>  }</a:t>
            </a:r>
          </a:p>
          <a:p>
            <a:r>
              <a:rPr lang="en-US" dirty="0"/>
              <a:t>]</a:t>
            </a:r>
          </a:p>
        </p:txBody>
      </p:sp>
      <p:sp>
        <p:nvSpPr>
          <p:cNvPr id="5" name="Rectangle 4"/>
          <p:cNvSpPr/>
          <p:nvPr/>
        </p:nvSpPr>
        <p:spPr>
          <a:xfrm>
            <a:off x="5943600" y="3905251"/>
            <a:ext cx="3200399" cy="1600438"/>
          </a:xfrm>
          <a:prstGeom prst="rect">
            <a:avLst/>
          </a:prstGeom>
        </p:spPr>
        <p:txBody>
          <a:bodyPr wrap="square">
            <a:spAutoFit/>
          </a:bodyPr>
          <a:lstStyle/>
          <a:p>
            <a:r>
              <a:rPr lang="en-US" dirty="0"/>
              <a:t>For the given example, equivalent where clause will be </a:t>
            </a:r>
            <a:r>
              <a:rPr lang="en-US" b="1" dirty="0"/>
              <a:t>' where by = 'tutorials point' AND title = '</a:t>
            </a:r>
            <a:r>
              <a:rPr lang="en-US" b="1" dirty="0" err="1"/>
              <a:t>MongoDB</a:t>
            </a:r>
            <a:r>
              <a:rPr lang="en-US" b="1" dirty="0"/>
              <a:t> Overview' '</a:t>
            </a:r>
            <a:r>
              <a:rPr lang="en-US" dirty="0"/>
              <a:t>. </a:t>
            </a:r>
          </a:p>
          <a:p>
            <a:endParaRPr lang="en-US" dirty="0"/>
          </a:p>
          <a:p>
            <a:r>
              <a:rPr lang="en-US" dirty="0"/>
              <a:t>You can pass any number of key, value pairs in find clause.</a:t>
            </a:r>
          </a:p>
        </p:txBody>
      </p:sp>
    </p:spTree>
    <p:extLst>
      <p:ext uri="{BB962C8B-B14F-4D97-AF65-F5344CB8AC3E}">
        <p14:creationId xmlns:p14="http://schemas.microsoft.com/office/powerpoint/2010/main" val="1869465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269517"/>
            <a:ext cx="8520600" cy="763500"/>
          </a:xfrm>
        </p:spPr>
        <p:txBody>
          <a:bodyPr/>
          <a:lstStyle/>
          <a:p>
            <a:pPr algn="ctr"/>
            <a:r>
              <a:rPr lang="en-US" dirty="0"/>
              <a:t>OR in </a:t>
            </a:r>
            <a:r>
              <a:rPr lang="en-US" dirty="0" err="1"/>
              <a:t>MongoDB</a:t>
            </a:r>
            <a:endParaRPr lang="en-US" dirty="0"/>
          </a:p>
        </p:txBody>
      </p:sp>
      <p:sp>
        <p:nvSpPr>
          <p:cNvPr id="3" name="Text Placeholder 2"/>
          <p:cNvSpPr>
            <a:spLocks noGrp="1"/>
          </p:cNvSpPr>
          <p:nvPr>
            <p:ph type="body" idx="1"/>
          </p:nvPr>
        </p:nvSpPr>
        <p:spPr>
          <a:xfrm>
            <a:off x="283125" y="841308"/>
            <a:ext cx="8718000" cy="4555200"/>
          </a:xfrm>
        </p:spPr>
        <p:txBody>
          <a:bodyPr/>
          <a:lstStyle/>
          <a:p>
            <a:r>
              <a:rPr lang="en-US" dirty="0"/>
              <a:t>To query documents based on the OR condition, you need to use $or keyword.</a:t>
            </a:r>
          </a:p>
          <a:p>
            <a:r>
              <a:rPr lang="en-US" dirty="0"/>
              <a:t>Syntax: </a:t>
            </a:r>
            <a:r>
              <a:rPr lang="en-US" dirty="0" err="1"/>
              <a:t>db.mycol.find</a:t>
            </a:r>
            <a:r>
              <a:rPr lang="en-US" dirty="0"/>
              <a:t>({$or: [{key1: value1}, {key2:value2}]}).pretty()</a:t>
            </a:r>
          </a:p>
        </p:txBody>
      </p:sp>
      <p:sp>
        <p:nvSpPr>
          <p:cNvPr id="4" name="Rectangle 3"/>
          <p:cNvSpPr/>
          <p:nvPr/>
        </p:nvSpPr>
        <p:spPr>
          <a:xfrm>
            <a:off x="819149" y="1757957"/>
            <a:ext cx="6600825" cy="4778231"/>
          </a:xfrm>
          <a:prstGeom prst="rect">
            <a:avLst/>
          </a:prstGeom>
        </p:spPr>
        <p:txBody>
          <a:bodyPr wrap="square">
            <a:spAutoFit/>
          </a:bodyPr>
          <a:lstStyle/>
          <a:p>
            <a:r>
              <a:rPr lang="en-US" sz="1050" b="1" dirty="0"/>
              <a:t>school&gt; </a:t>
            </a:r>
            <a:r>
              <a:rPr lang="en-US" sz="1050" b="1" dirty="0" err="1"/>
              <a:t>db.school.find</a:t>
            </a:r>
            <a:r>
              <a:rPr lang="en-US" sz="1050" b="1" dirty="0"/>
              <a:t>({$or:[{"</a:t>
            </a:r>
            <a:r>
              <a:rPr lang="en-US" sz="1050" b="1" dirty="0" err="1"/>
              <a:t>by":"tutorials</a:t>
            </a:r>
            <a:r>
              <a:rPr lang="en-US" sz="1050" b="1" dirty="0"/>
              <a:t> point"},{"title": "</a:t>
            </a:r>
            <a:r>
              <a:rPr lang="en-US" sz="1050" b="1" dirty="0" err="1"/>
              <a:t>MongoDB</a:t>
            </a:r>
            <a:r>
              <a:rPr lang="en-US" sz="1050" b="1" dirty="0"/>
              <a:t> Overview"}]}).pretty()</a:t>
            </a:r>
          </a:p>
          <a:p>
            <a:r>
              <a:rPr lang="en-US" sz="1050" dirty="0"/>
              <a:t>[</a:t>
            </a:r>
          </a:p>
          <a:p>
            <a:r>
              <a:rPr lang="en-US" sz="1050" dirty="0"/>
              <a:t>  {</a:t>
            </a:r>
          </a:p>
          <a:p>
            <a:r>
              <a:rPr lang="en-US" sz="1050" dirty="0"/>
              <a:t>    _id: </a:t>
            </a:r>
            <a:r>
              <a:rPr lang="en-US" sz="1050" dirty="0" err="1"/>
              <a:t>ObjectId</a:t>
            </a:r>
            <a:r>
              <a:rPr lang="en-US" sz="1050" dirty="0"/>
              <a:t>("636a01e1afc8cee715fe5b6b"),</a:t>
            </a:r>
          </a:p>
          <a:p>
            <a:r>
              <a:rPr lang="en-US" sz="1050" dirty="0"/>
              <a:t>    title: '</a:t>
            </a:r>
            <a:r>
              <a:rPr lang="en-US" sz="1050" dirty="0" err="1"/>
              <a:t>MongoDB</a:t>
            </a:r>
            <a:r>
              <a:rPr lang="en-US" sz="1050" dirty="0"/>
              <a:t> Overview',</a:t>
            </a:r>
          </a:p>
          <a:p>
            <a:r>
              <a:rPr lang="en-US" sz="1050" dirty="0"/>
              <a:t>    description: '</a:t>
            </a:r>
            <a:r>
              <a:rPr lang="en-US" sz="1050" dirty="0" err="1"/>
              <a:t>MongoDB</a:t>
            </a:r>
            <a:r>
              <a:rPr lang="en-US" sz="1050" dirty="0"/>
              <a:t> is no SQL database',</a:t>
            </a:r>
          </a:p>
          <a:p>
            <a:r>
              <a:rPr lang="en-US" sz="1050" dirty="0"/>
              <a:t>    by: 'tutorials point',</a:t>
            </a:r>
          </a:p>
          <a:p>
            <a:r>
              <a:rPr lang="en-US" sz="1050" dirty="0"/>
              <a:t>    url: 'http://www.tutorialspoint.com',</a:t>
            </a:r>
          </a:p>
          <a:p>
            <a:r>
              <a:rPr lang="en-US" sz="1050" dirty="0"/>
              <a:t>    tags: [ '</a:t>
            </a:r>
            <a:r>
              <a:rPr lang="en-US" sz="1050" dirty="0" err="1"/>
              <a:t>mongodb</a:t>
            </a:r>
            <a:r>
              <a:rPr lang="en-US" sz="1050" dirty="0"/>
              <a:t>', 'database', '</a:t>
            </a:r>
            <a:r>
              <a:rPr lang="en-US" sz="1050" dirty="0" err="1"/>
              <a:t>NoSQL</a:t>
            </a:r>
            <a:r>
              <a:rPr lang="en-US" sz="1050" dirty="0"/>
              <a:t>' ],</a:t>
            </a:r>
          </a:p>
          <a:p>
            <a:r>
              <a:rPr lang="en-US" sz="1050" dirty="0"/>
              <a:t>    likes: 100</a:t>
            </a:r>
          </a:p>
          <a:p>
            <a:r>
              <a:rPr lang="en-US" sz="1050" dirty="0"/>
              <a:t>  },</a:t>
            </a:r>
          </a:p>
          <a:p>
            <a:r>
              <a:rPr lang="en-US" sz="1050" dirty="0"/>
              <a:t>  {</a:t>
            </a:r>
          </a:p>
          <a:p>
            <a:r>
              <a:rPr lang="en-US" sz="1050" dirty="0"/>
              <a:t>    _id: </a:t>
            </a:r>
            <a:r>
              <a:rPr lang="en-US" sz="1050" dirty="0" err="1"/>
              <a:t>ObjectId</a:t>
            </a:r>
            <a:r>
              <a:rPr lang="en-US" sz="1050" dirty="0"/>
              <a:t>("636a01e1afc8cee715fe5b6c"),</a:t>
            </a:r>
          </a:p>
          <a:p>
            <a:r>
              <a:rPr lang="en-US" sz="1050" dirty="0"/>
              <a:t>    title: '</a:t>
            </a:r>
            <a:r>
              <a:rPr lang="en-US" sz="1050" dirty="0" err="1"/>
              <a:t>NoSQL</a:t>
            </a:r>
            <a:r>
              <a:rPr lang="en-US" sz="1050" dirty="0"/>
              <a:t> Database',</a:t>
            </a:r>
          </a:p>
          <a:p>
            <a:r>
              <a:rPr lang="en-US" sz="1050" dirty="0"/>
              <a:t>    description: "</a:t>
            </a:r>
            <a:r>
              <a:rPr lang="en-US" sz="1050" dirty="0" err="1"/>
              <a:t>NoSQL</a:t>
            </a:r>
            <a:r>
              <a:rPr lang="en-US" sz="1050" dirty="0"/>
              <a:t> database doesn't have tables",</a:t>
            </a:r>
          </a:p>
          <a:p>
            <a:r>
              <a:rPr lang="en-US" sz="1050" dirty="0"/>
              <a:t>    by: 'tutorials point',</a:t>
            </a:r>
          </a:p>
          <a:p>
            <a:r>
              <a:rPr lang="en-US" sz="1050" dirty="0"/>
              <a:t>    url: 'http://www.tutorialspoint.com',</a:t>
            </a:r>
          </a:p>
          <a:p>
            <a:r>
              <a:rPr lang="en-US" sz="1050" dirty="0"/>
              <a:t>    tags: [ '</a:t>
            </a:r>
            <a:r>
              <a:rPr lang="en-US" sz="1050" dirty="0" err="1"/>
              <a:t>mongodb</a:t>
            </a:r>
            <a:r>
              <a:rPr lang="en-US" sz="1050" dirty="0"/>
              <a:t>', 'database', '</a:t>
            </a:r>
            <a:r>
              <a:rPr lang="en-US" sz="1050" dirty="0" err="1"/>
              <a:t>NoSQL</a:t>
            </a:r>
            <a:r>
              <a:rPr lang="en-US" sz="1050" dirty="0"/>
              <a:t>' ],</a:t>
            </a:r>
          </a:p>
          <a:p>
            <a:r>
              <a:rPr lang="en-US" sz="1050" dirty="0"/>
              <a:t>    likes: 20,</a:t>
            </a:r>
          </a:p>
          <a:p>
            <a:r>
              <a:rPr lang="en-US" sz="1050" dirty="0"/>
              <a:t>    comments: [</a:t>
            </a:r>
          </a:p>
          <a:p>
            <a:r>
              <a:rPr lang="en-US" sz="1050" dirty="0"/>
              <a:t>      {</a:t>
            </a:r>
          </a:p>
          <a:p>
            <a:r>
              <a:rPr lang="en-US" sz="1050" dirty="0"/>
              <a:t>        user: 'user1',</a:t>
            </a:r>
          </a:p>
          <a:p>
            <a:r>
              <a:rPr lang="en-US" sz="1050" dirty="0"/>
              <a:t>        message: 'My first comment',</a:t>
            </a:r>
          </a:p>
          <a:p>
            <a:r>
              <a:rPr lang="en-US" sz="1050" dirty="0"/>
              <a:t>        </a:t>
            </a:r>
            <a:r>
              <a:rPr lang="en-US" sz="1050" dirty="0" err="1"/>
              <a:t>dateCreated</a:t>
            </a:r>
            <a:r>
              <a:rPr lang="en-US" sz="1050" dirty="0"/>
              <a:t>: </a:t>
            </a:r>
            <a:r>
              <a:rPr lang="en-US" sz="1050" dirty="0" err="1"/>
              <a:t>ISODate</a:t>
            </a:r>
            <a:r>
              <a:rPr lang="en-US" sz="1050" dirty="0"/>
              <a:t>("2013-12-09T21:05:00.000Z"),</a:t>
            </a:r>
          </a:p>
          <a:p>
            <a:r>
              <a:rPr lang="en-US" sz="1050" dirty="0"/>
              <a:t>        like: 0</a:t>
            </a:r>
          </a:p>
          <a:p>
            <a:r>
              <a:rPr lang="en-US" sz="1050" dirty="0"/>
              <a:t>      }</a:t>
            </a:r>
          </a:p>
          <a:p>
            <a:r>
              <a:rPr lang="en-US" sz="1050" dirty="0"/>
              <a:t>    ]</a:t>
            </a:r>
          </a:p>
          <a:p>
            <a:r>
              <a:rPr lang="en-US" sz="1050" dirty="0"/>
              <a:t>  }</a:t>
            </a:r>
          </a:p>
          <a:p>
            <a:r>
              <a:rPr lang="en-US" sz="1050" dirty="0"/>
              <a:t>]</a:t>
            </a:r>
          </a:p>
        </p:txBody>
      </p:sp>
    </p:spTree>
    <p:extLst>
      <p:ext uri="{BB962C8B-B14F-4D97-AF65-F5344CB8AC3E}">
        <p14:creationId xmlns:p14="http://schemas.microsoft.com/office/powerpoint/2010/main" val="26629760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288567"/>
            <a:ext cx="8520600" cy="763500"/>
          </a:xfrm>
        </p:spPr>
        <p:txBody>
          <a:bodyPr/>
          <a:lstStyle/>
          <a:p>
            <a:r>
              <a:rPr lang="en-US" b="0" dirty="0"/>
              <a:t>Using AND </a:t>
            </a:r>
            <a:r>
              <a:rPr lang="en-US" b="0" dirty="0" err="1"/>
              <a:t>and</a:t>
            </a:r>
            <a:r>
              <a:rPr lang="en-US" b="0" dirty="0"/>
              <a:t> OR Together</a:t>
            </a:r>
            <a:endParaRPr lang="en-US" dirty="0"/>
          </a:p>
        </p:txBody>
      </p:sp>
      <p:sp>
        <p:nvSpPr>
          <p:cNvPr id="3" name="Text Placeholder 2"/>
          <p:cNvSpPr>
            <a:spLocks noGrp="1"/>
          </p:cNvSpPr>
          <p:nvPr>
            <p:ph type="body" idx="1"/>
          </p:nvPr>
        </p:nvSpPr>
        <p:spPr>
          <a:xfrm>
            <a:off x="311700" y="876300"/>
            <a:ext cx="8520600" cy="5215533"/>
          </a:xfrm>
        </p:spPr>
        <p:txBody>
          <a:bodyPr/>
          <a:lstStyle/>
          <a:p>
            <a:r>
              <a:rPr lang="en-US" sz="1400" dirty="0"/>
              <a:t>The following example will show the documents that have likes greater than 10 and whose title is either '</a:t>
            </a:r>
            <a:r>
              <a:rPr lang="en-US" sz="1400" dirty="0" err="1"/>
              <a:t>MongoDB</a:t>
            </a:r>
            <a:r>
              <a:rPr lang="en-US" sz="1400" dirty="0"/>
              <a:t> Overview' or by is 'tutorials point'. Equivalent SQL where clause is </a:t>
            </a:r>
            <a:r>
              <a:rPr lang="en-US" sz="1400" b="1" dirty="0"/>
              <a:t>'where likes&gt;10 AND (by = 'tutorials point' OR title = '</a:t>
            </a:r>
            <a:r>
              <a:rPr lang="en-US" sz="1400" b="1" dirty="0" err="1"/>
              <a:t>MongoDB</a:t>
            </a:r>
            <a:r>
              <a:rPr lang="en-US" sz="1400" b="1" dirty="0"/>
              <a:t> Overview')‘</a:t>
            </a:r>
          </a:p>
          <a:p>
            <a:r>
              <a:rPr lang="en-US" sz="1400" dirty="0"/>
              <a:t>Example: </a:t>
            </a:r>
            <a:r>
              <a:rPr lang="en-US" sz="1400" dirty="0" err="1"/>
              <a:t>db.school.find</a:t>
            </a:r>
            <a:r>
              <a:rPr lang="en-US" sz="1400" dirty="0"/>
              <a:t>({$or:[{"</a:t>
            </a:r>
            <a:r>
              <a:rPr lang="en-US" sz="1400" dirty="0" err="1"/>
              <a:t>by":"tutorials</a:t>
            </a:r>
            <a:r>
              <a:rPr lang="en-US" sz="1400" dirty="0"/>
              <a:t> point"},{"title": "</a:t>
            </a:r>
            <a:r>
              <a:rPr lang="en-US" sz="1400" dirty="0" err="1"/>
              <a:t>MongoDB</a:t>
            </a:r>
            <a:r>
              <a:rPr lang="en-US" sz="1400" dirty="0"/>
              <a:t> Overview"}]}).pretty()</a:t>
            </a:r>
          </a:p>
          <a:p>
            <a:endParaRPr lang="en-US" sz="1400" dirty="0"/>
          </a:p>
        </p:txBody>
      </p:sp>
      <p:sp>
        <p:nvSpPr>
          <p:cNvPr id="5" name="Rectangle 4"/>
          <p:cNvSpPr/>
          <p:nvPr/>
        </p:nvSpPr>
        <p:spPr>
          <a:xfrm>
            <a:off x="4495800" y="2005638"/>
            <a:ext cx="6858000" cy="4832092"/>
          </a:xfrm>
          <a:prstGeom prst="rect">
            <a:avLst/>
          </a:prstGeom>
        </p:spPr>
        <p:txBody>
          <a:bodyPr wrap="square">
            <a:spAutoFit/>
          </a:bodyPr>
          <a:lstStyle/>
          <a:p>
            <a:r>
              <a:rPr lang="en-US" sz="1100" dirty="0"/>
              <a:t>[</a:t>
            </a:r>
          </a:p>
          <a:p>
            <a:r>
              <a:rPr lang="en-US" sz="1100" dirty="0"/>
              <a:t>  {</a:t>
            </a:r>
          </a:p>
          <a:p>
            <a:r>
              <a:rPr lang="en-US" sz="1100" dirty="0"/>
              <a:t>    _id: </a:t>
            </a:r>
            <a:r>
              <a:rPr lang="en-US" sz="1100" dirty="0" err="1"/>
              <a:t>ObjectId</a:t>
            </a:r>
            <a:r>
              <a:rPr lang="en-US" sz="1100" dirty="0"/>
              <a:t>("636a01e1afc8cee715fe5b6b"),</a:t>
            </a:r>
          </a:p>
          <a:p>
            <a:r>
              <a:rPr lang="en-US" sz="1100" dirty="0"/>
              <a:t>    title: '</a:t>
            </a:r>
            <a:r>
              <a:rPr lang="en-US" sz="1100" dirty="0" err="1"/>
              <a:t>MongoDB</a:t>
            </a:r>
            <a:r>
              <a:rPr lang="en-US" sz="1100" dirty="0"/>
              <a:t> Overview',</a:t>
            </a:r>
          </a:p>
          <a:p>
            <a:r>
              <a:rPr lang="en-US" sz="1100" dirty="0"/>
              <a:t>    description: '</a:t>
            </a:r>
            <a:r>
              <a:rPr lang="en-US" sz="1100" dirty="0" err="1"/>
              <a:t>MongoDB</a:t>
            </a:r>
            <a:r>
              <a:rPr lang="en-US" sz="1100" dirty="0"/>
              <a:t> is no SQL database',</a:t>
            </a:r>
          </a:p>
          <a:p>
            <a:r>
              <a:rPr lang="en-US" sz="1100" dirty="0"/>
              <a:t>    by: 'tutorials point',</a:t>
            </a:r>
          </a:p>
          <a:p>
            <a:r>
              <a:rPr lang="en-US" sz="1100" dirty="0"/>
              <a:t>    url: 'http://www.tutorialspoint.com',</a:t>
            </a:r>
          </a:p>
          <a:p>
            <a:r>
              <a:rPr lang="en-US" sz="1100" dirty="0"/>
              <a:t>    tags: [ '</a:t>
            </a:r>
            <a:r>
              <a:rPr lang="en-US" sz="1100" dirty="0" err="1"/>
              <a:t>mongodb</a:t>
            </a:r>
            <a:r>
              <a:rPr lang="en-US" sz="1100" dirty="0"/>
              <a:t>', 'database', '</a:t>
            </a:r>
            <a:r>
              <a:rPr lang="en-US" sz="1100" dirty="0" err="1"/>
              <a:t>NoSQL</a:t>
            </a:r>
            <a:r>
              <a:rPr lang="en-US" sz="1100" dirty="0"/>
              <a:t>' ],</a:t>
            </a:r>
          </a:p>
          <a:p>
            <a:r>
              <a:rPr lang="en-US" sz="1100" dirty="0"/>
              <a:t>    likes: 100</a:t>
            </a:r>
          </a:p>
          <a:p>
            <a:r>
              <a:rPr lang="en-US" sz="1100" dirty="0"/>
              <a:t>  },</a:t>
            </a:r>
          </a:p>
          <a:p>
            <a:r>
              <a:rPr lang="en-US" sz="1100" dirty="0"/>
              <a:t>  {</a:t>
            </a:r>
          </a:p>
          <a:p>
            <a:r>
              <a:rPr lang="en-US" sz="1100" dirty="0"/>
              <a:t>    _id: </a:t>
            </a:r>
            <a:r>
              <a:rPr lang="en-US" sz="1100" dirty="0" err="1"/>
              <a:t>ObjectId</a:t>
            </a:r>
            <a:r>
              <a:rPr lang="en-US" sz="1100" dirty="0"/>
              <a:t>("636a01e1afc8cee715fe5b6c"),</a:t>
            </a:r>
          </a:p>
          <a:p>
            <a:r>
              <a:rPr lang="en-US" sz="1100" dirty="0"/>
              <a:t>    title: '</a:t>
            </a:r>
            <a:r>
              <a:rPr lang="en-US" sz="1100" dirty="0" err="1"/>
              <a:t>NoSQL</a:t>
            </a:r>
            <a:r>
              <a:rPr lang="en-US" sz="1100" dirty="0"/>
              <a:t> Database',</a:t>
            </a:r>
          </a:p>
          <a:p>
            <a:r>
              <a:rPr lang="en-US" sz="1100" dirty="0"/>
              <a:t>    description: "</a:t>
            </a:r>
            <a:r>
              <a:rPr lang="en-US" sz="1100" dirty="0" err="1"/>
              <a:t>NoSQL</a:t>
            </a:r>
            <a:r>
              <a:rPr lang="en-US" sz="1100" dirty="0"/>
              <a:t> database doesn't have tables",</a:t>
            </a:r>
          </a:p>
          <a:p>
            <a:r>
              <a:rPr lang="en-US" sz="1100" dirty="0"/>
              <a:t>    by: 'tutorials point',</a:t>
            </a:r>
          </a:p>
          <a:p>
            <a:r>
              <a:rPr lang="en-US" sz="1100" dirty="0"/>
              <a:t>    url: 'http://www.tutorialspoint.com',</a:t>
            </a:r>
          </a:p>
          <a:p>
            <a:r>
              <a:rPr lang="en-US" sz="1100" dirty="0"/>
              <a:t>    tags: [ '</a:t>
            </a:r>
            <a:r>
              <a:rPr lang="en-US" sz="1100" dirty="0" err="1"/>
              <a:t>mongodb</a:t>
            </a:r>
            <a:r>
              <a:rPr lang="en-US" sz="1100" dirty="0"/>
              <a:t>', 'database', '</a:t>
            </a:r>
            <a:r>
              <a:rPr lang="en-US" sz="1100" dirty="0" err="1"/>
              <a:t>NoSQL</a:t>
            </a:r>
            <a:r>
              <a:rPr lang="en-US" sz="1100" dirty="0"/>
              <a:t>' ],</a:t>
            </a:r>
          </a:p>
          <a:p>
            <a:r>
              <a:rPr lang="en-US" sz="1100" dirty="0"/>
              <a:t>    likes: 20,</a:t>
            </a:r>
          </a:p>
          <a:p>
            <a:r>
              <a:rPr lang="en-US" sz="1100" dirty="0"/>
              <a:t>    comments: [</a:t>
            </a:r>
          </a:p>
          <a:p>
            <a:r>
              <a:rPr lang="en-US" sz="1100" dirty="0"/>
              <a:t>      {</a:t>
            </a:r>
          </a:p>
          <a:p>
            <a:r>
              <a:rPr lang="en-US" sz="1100" dirty="0"/>
              <a:t>        user: 'user1',</a:t>
            </a:r>
          </a:p>
          <a:p>
            <a:r>
              <a:rPr lang="en-US" sz="1100" dirty="0"/>
              <a:t>        message: 'My first comment',</a:t>
            </a:r>
          </a:p>
          <a:p>
            <a:r>
              <a:rPr lang="en-US" sz="1100" dirty="0"/>
              <a:t>        </a:t>
            </a:r>
            <a:r>
              <a:rPr lang="en-US" sz="1100" dirty="0" err="1"/>
              <a:t>dateCreated</a:t>
            </a:r>
            <a:r>
              <a:rPr lang="en-US" sz="1100" dirty="0"/>
              <a:t>: </a:t>
            </a:r>
            <a:r>
              <a:rPr lang="en-US" sz="1100" dirty="0" err="1"/>
              <a:t>ISODate</a:t>
            </a:r>
            <a:r>
              <a:rPr lang="en-US" sz="1100" dirty="0"/>
              <a:t>("2013-12-09T21:05:00.000Z"),</a:t>
            </a:r>
          </a:p>
          <a:p>
            <a:r>
              <a:rPr lang="en-US" sz="1100" dirty="0"/>
              <a:t>        like: 0</a:t>
            </a:r>
          </a:p>
          <a:p>
            <a:r>
              <a:rPr lang="en-US" sz="1100" dirty="0"/>
              <a:t>      }</a:t>
            </a:r>
          </a:p>
          <a:p>
            <a:r>
              <a:rPr lang="en-US" sz="1100" dirty="0"/>
              <a:t>    ]</a:t>
            </a:r>
          </a:p>
          <a:p>
            <a:r>
              <a:rPr lang="en-US" sz="1100" dirty="0"/>
              <a:t>  }</a:t>
            </a:r>
          </a:p>
        </p:txBody>
      </p:sp>
    </p:spTree>
    <p:extLst>
      <p:ext uri="{BB962C8B-B14F-4D97-AF65-F5344CB8AC3E}">
        <p14:creationId xmlns:p14="http://schemas.microsoft.com/office/powerpoint/2010/main" val="3914566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0750" y="269517"/>
            <a:ext cx="8520600" cy="763500"/>
          </a:xfrm>
        </p:spPr>
        <p:txBody>
          <a:bodyPr/>
          <a:lstStyle/>
          <a:p>
            <a:r>
              <a:rPr lang="en-US" b="0" dirty="0"/>
              <a:t>NOR in </a:t>
            </a:r>
            <a:r>
              <a:rPr lang="en-US" b="0" dirty="0" err="1"/>
              <a:t>MongoDB</a:t>
            </a:r>
            <a:endParaRPr lang="en-US" dirty="0"/>
          </a:p>
        </p:txBody>
      </p:sp>
      <p:sp>
        <p:nvSpPr>
          <p:cNvPr id="3" name="Text Placeholder 2"/>
          <p:cNvSpPr>
            <a:spLocks noGrp="1"/>
          </p:cNvSpPr>
          <p:nvPr>
            <p:ph type="body" idx="1"/>
          </p:nvPr>
        </p:nvSpPr>
        <p:spPr>
          <a:xfrm>
            <a:off x="292650" y="850833"/>
            <a:ext cx="8520600" cy="4555200"/>
          </a:xfrm>
        </p:spPr>
        <p:txBody>
          <a:bodyPr/>
          <a:lstStyle/>
          <a:p>
            <a:r>
              <a:rPr lang="en-US" sz="1600" dirty="0">
                <a:latin typeface="Book Antiqua" pitchFamily="18" charset="0"/>
              </a:rPr>
              <a:t>To query documents based on the NOR condition, you need to use $nor keyword.</a:t>
            </a:r>
          </a:p>
          <a:p>
            <a:r>
              <a:rPr lang="en-US" sz="1600" dirty="0">
                <a:latin typeface="Book Antiqua" pitchFamily="18" charset="0"/>
              </a:rPr>
              <a:t>Syntax: </a:t>
            </a:r>
            <a:r>
              <a:rPr lang="en-US" sz="1600" dirty="0" err="1">
                <a:latin typeface="Book Antiqua" pitchFamily="18" charset="0"/>
              </a:rPr>
              <a:t>db.COLLECTION_NAME.find</a:t>
            </a:r>
            <a:r>
              <a:rPr lang="en-US" sz="1600" dirty="0">
                <a:latin typeface="Book Antiqua" pitchFamily="18" charset="0"/>
              </a:rPr>
              <a:t>({$nor: [{key1: value1}, {key2:value2}]})</a:t>
            </a:r>
          </a:p>
          <a:p>
            <a:endParaRPr lang="en-US" sz="1600" dirty="0">
              <a:latin typeface="Book Antiqua" pitchFamily="18" charset="0"/>
            </a:endParaRPr>
          </a:p>
          <a:p>
            <a:r>
              <a:rPr lang="en-US" sz="1600" dirty="0">
                <a:latin typeface="Book Antiqua" pitchFamily="18" charset="0"/>
              </a:rPr>
              <a:t>Example: school&gt; </a:t>
            </a:r>
            <a:r>
              <a:rPr lang="en-US" sz="1600" dirty="0" err="1">
                <a:latin typeface="Book Antiqua" pitchFamily="18" charset="0"/>
              </a:rPr>
              <a:t>db.school.find</a:t>
            </a:r>
            <a:r>
              <a:rPr lang="en-US" sz="1600" dirty="0">
                <a:latin typeface="Book Antiqua" pitchFamily="18" charset="0"/>
              </a:rPr>
              <a:t>({$nor:[{"title": "</a:t>
            </a:r>
            <a:r>
              <a:rPr lang="en-US" sz="1600" dirty="0" err="1">
                <a:latin typeface="Book Antiqua" pitchFamily="18" charset="0"/>
              </a:rPr>
              <a:t>MongoDB</a:t>
            </a:r>
            <a:r>
              <a:rPr lang="en-US" sz="1600" dirty="0">
                <a:latin typeface="Book Antiqua" pitchFamily="18" charset="0"/>
              </a:rPr>
              <a:t> Overview"},{"likes": "100"}]}).pretty()</a:t>
            </a:r>
          </a:p>
          <a:p>
            <a:endParaRPr lang="en-US" sz="1600" dirty="0">
              <a:latin typeface="Book Antiqua" pitchFamily="18" charset="0"/>
            </a:endParaRPr>
          </a:p>
        </p:txBody>
      </p:sp>
      <p:sp>
        <p:nvSpPr>
          <p:cNvPr id="4" name="Rectangle 3"/>
          <p:cNvSpPr/>
          <p:nvPr/>
        </p:nvSpPr>
        <p:spPr>
          <a:xfrm>
            <a:off x="2276475" y="2438907"/>
            <a:ext cx="6705600" cy="3477875"/>
          </a:xfrm>
          <a:prstGeom prst="rect">
            <a:avLst/>
          </a:prstGeom>
        </p:spPr>
        <p:txBody>
          <a:bodyPr wrap="square">
            <a:spAutoFit/>
          </a:bodyPr>
          <a:lstStyle/>
          <a:p>
            <a:r>
              <a:rPr lang="en-US" sz="1100" dirty="0"/>
              <a:t>[</a:t>
            </a:r>
          </a:p>
          <a:p>
            <a:r>
              <a:rPr lang="en-US" sz="1100" dirty="0"/>
              <a:t>  { _id: </a:t>
            </a:r>
            <a:r>
              <a:rPr lang="en-US" sz="1100" dirty="0" err="1"/>
              <a:t>ObjectId</a:t>
            </a:r>
            <a:r>
              <a:rPr lang="en-US" sz="1100" dirty="0"/>
              <a:t>("636352ba13298072e044bc60"), </a:t>
            </a:r>
            <a:r>
              <a:rPr lang="en-US" sz="1100" dirty="0" err="1"/>
              <a:t>rollno</a:t>
            </a:r>
            <a:r>
              <a:rPr lang="en-US" sz="1100" dirty="0"/>
              <a:t>: '25900' },</a:t>
            </a:r>
          </a:p>
          <a:p>
            <a:r>
              <a:rPr lang="en-US" sz="1100" dirty="0"/>
              <a:t>  {</a:t>
            </a:r>
          </a:p>
          <a:p>
            <a:r>
              <a:rPr lang="en-US" sz="1100" dirty="0"/>
              <a:t>    _id: </a:t>
            </a:r>
            <a:r>
              <a:rPr lang="en-US" sz="1100" dirty="0" err="1"/>
              <a:t>ObjectId</a:t>
            </a:r>
            <a:r>
              <a:rPr lang="en-US" sz="1100" dirty="0"/>
              <a:t>("636a01e1afc8cee715fe5b6c"),</a:t>
            </a:r>
          </a:p>
          <a:p>
            <a:r>
              <a:rPr lang="en-US" sz="1100" dirty="0"/>
              <a:t>    title: '</a:t>
            </a:r>
            <a:r>
              <a:rPr lang="en-US" sz="1100" dirty="0" err="1"/>
              <a:t>NoSQL</a:t>
            </a:r>
            <a:r>
              <a:rPr lang="en-US" sz="1100" dirty="0"/>
              <a:t> Database',</a:t>
            </a:r>
          </a:p>
          <a:p>
            <a:r>
              <a:rPr lang="en-US" sz="1100" dirty="0"/>
              <a:t>    description: "</a:t>
            </a:r>
            <a:r>
              <a:rPr lang="en-US" sz="1100" dirty="0" err="1"/>
              <a:t>NoSQL</a:t>
            </a:r>
            <a:r>
              <a:rPr lang="en-US" sz="1100" dirty="0"/>
              <a:t> database doesn't have tables",</a:t>
            </a:r>
          </a:p>
          <a:p>
            <a:r>
              <a:rPr lang="en-US" sz="1100" dirty="0"/>
              <a:t>    by: 'tutorials point',</a:t>
            </a:r>
          </a:p>
          <a:p>
            <a:r>
              <a:rPr lang="en-US" sz="1100" dirty="0"/>
              <a:t>    url: 'http://www.tutorialspoint.com',</a:t>
            </a:r>
          </a:p>
          <a:p>
            <a:r>
              <a:rPr lang="en-US" sz="1100" dirty="0"/>
              <a:t>    tags: [ '</a:t>
            </a:r>
            <a:r>
              <a:rPr lang="en-US" sz="1100" dirty="0" err="1"/>
              <a:t>mongodb</a:t>
            </a:r>
            <a:r>
              <a:rPr lang="en-US" sz="1100" dirty="0"/>
              <a:t>', 'database', '</a:t>
            </a:r>
            <a:r>
              <a:rPr lang="en-US" sz="1100" dirty="0" err="1"/>
              <a:t>NoSQL</a:t>
            </a:r>
            <a:r>
              <a:rPr lang="en-US" sz="1100" dirty="0"/>
              <a:t>' ],</a:t>
            </a:r>
          </a:p>
          <a:p>
            <a:r>
              <a:rPr lang="en-US" sz="1100" dirty="0"/>
              <a:t>    likes: 20,</a:t>
            </a:r>
          </a:p>
          <a:p>
            <a:r>
              <a:rPr lang="en-US" sz="1100" dirty="0"/>
              <a:t>    comments: [</a:t>
            </a:r>
          </a:p>
          <a:p>
            <a:r>
              <a:rPr lang="en-US" sz="1100" dirty="0"/>
              <a:t>      {</a:t>
            </a:r>
          </a:p>
          <a:p>
            <a:r>
              <a:rPr lang="en-US" sz="1100" dirty="0"/>
              <a:t>        user: 'user1',</a:t>
            </a:r>
          </a:p>
          <a:p>
            <a:r>
              <a:rPr lang="en-US" sz="1100" dirty="0"/>
              <a:t>        message: 'My first comment',</a:t>
            </a:r>
          </a:p>
          <a:p>
            <a:r>
              <a:rPr lang="en-US" sz="1100" dirty="0"/>
              <a:t>        </a:t>
            </a:r>
            <a:r>
              <a:rPr lang="en-US" sz="1100" dirty="0" err="1"/>
              <a:t>dateCreated</a:t>
            </a:r>
            <a:r>
              <a:rPr lang="en-US" sz="1100" dirty="0"/>
              <a:t>: </a:t>
            </a:r>
            <a:r>
              <a:rPr lang="en-US" sz="1100" dirty="0" err="1"/>
              <a:t>ISODate</a:t>
            </a:r>
            <a:r>
              <a:rPr lang="en-US" sz="1100" dirty="0"/>
              <a:t>("2013-12-09T21:05:00.000Z"),</a:t>
            </a:r>
          </a:p>
          <a:p>
            <a:r>
              <a:rPr lang="en-US" sz="1100" dirty="0"/>
              <a:t>        like: 0</a:t>
            </a:r>
          </a:p>
          <a:p>
            <a:r>
              <a:rPr lang="en-US" sz="1100" dirty="0"/>
              <a:t>      }</a:t>
            </a:r>
          </a:p>
          <a:p>
            <a:r>
              <a:rPr lang="en-US" sz="1100" dirty="0"/>
              <a:t>    ]</a:t>
            </a:r>
          </a:p>
          <a:p>
            <a:r>
              <a:rPr lang="en-US" sz="1100" dirty="0"/>
              <a:t>  }</a:t>
            </a:r>
          </a:p>
          <a:p>
            <a:r>
              <a:rPr lang="en-US" sz="1100" dirty="0"/>
              <a:t>]</a:t>
            </a:r>
          </a:p>
        </p:txBody>
      </p:sp>
    </p:spTree>
    <p:extLst>
      <p:ext uri="{BB962C8B-B14F-4D97-AF65-F5344CB8AC3E}">
        <p14:creationId xmlns:p14="http://schemas.microsoft.com/office/powerpoint/2010/main" val="567804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307617"/>
            <a:ext cx="8520600" cy="763500"/>
          </a:xfrm>
        </p:spPr>
        <p:txBody>
          <a:bodyPr/>
          <a:lstStyle/>
          <a:p>
            <a:r>
              <a:rPr lang="en-US" b="0" dirty="0"/>
              <a:t>NOT in </a:t>
            </a:r>
            <a:r>
              <a:rPr lang="en-US" b="0" dirty="0" err="1"/>
              <a:t>MongoDB</a:t>
            </a:r>
            <a:endParaRPr lang="en-US" dirty="0"/>
          </a:p>
        </p:txBody>
      </p:sp>
      <p:sp>
        <p:nvSpPr>
          <p:cNvPr id="3" name="Text Placeholder 2"/>
          <p:cNvSpPr>
            <a:spLocks noGrp="1"/>
          </p:cNvSpPr>
          <p:nvPr>
            <p:ph type="body" idx="1"/>
          </p:nvPr>
        </p:nvSpPr>
        <p:spPr>
          <a:xfrm>
            <a:off x="242399" y="907983"/>
            <a:ext cx="8520600" cy="4555200"/>
          </a:xfrm>
        </p:spPr>
        <p:txBody>
          <a:bodyPr/>
          <a:lstStyle/>
          <a:p>
            <a:r>
              <a:rPr lang="en-US" sz="1800" dirty="0">
                <a:latin typeface="Book Antiqua" pitchFamily="18" charset="0"/>
              </a:rPr>
              <a:t>Syntax: &gt;</a:t>
            </a:r>
            <a:r>
              <a:rPr lang="en-US" sz="1800" dirty="0" err="1">
                <a:latin typeface="Book Antiqua" pitchFamily="18" charset="0"/>
              </a:rPr>
              <a:t>db.COLLECTION_NAME.find</a:t>
            </a:r>
            <a:r>
              <a:rPr lang="en-US" sz="1800" dirty="0">
                <a:latin typeface="Book Antiqua" pitchFamily="18" charset="0"/>
              </a:rPr>
              <a:t> ({ key: { $not: </a:t>
            </a:r>
            <a:r>
              <a:rPr lang="en-US" sz="1800">
                <a:latin typeface="Book Antiqua" pitchFamily="18" charset="0"/>
              </a:rPr>
              <a:t>{ value } </a:t>
            </a:r>
            <a:r>
              <a:rPr lang="en-US" sz="1800" dirty="0">
                <a:latin typeface="Book Antiqua" pitchFamily="18" charset="0"/>
              </a:rPr>
              <a:t>} })</a:t>
            </a:r>
          </a:p>
          <a:p>
            <a:r>
              <a:rPr lang="en-US" sz="1800" dirty="0">
                <a:latin typeface="Book Antiqua" pitchFamily="18" charset="0"/>
              </a:rPr>
              <a:t>Example: </a:t>
            </a:r>
            <a:r>
              <a:rPr lang="en-US" sz="1800" dirty="0" err="1">
                <a:latin typeface="Book Antiqua" pitchFamily="18" charset="0"/>
              </a:rPr>
              <a:t>db.school.find</a:t>
            </a:r>
            <a:r>
              <a:rPr lang="en-US" sz="1800" dirty="0">
                <a:latin typeface="Book Antiqua" pitchFamily="18" charset="0"/>
              </a:rPr>
              <a:t>({ "likes":{$not: { $</a:t>
            </a:r>
            <a:r>
              <a:rPr lang="en-US" sz="1800" dirty="0" err="1">
                <a:latin typeface="Book Antiqua" pitchFamily="18" charset="0"/>
              </a:rPr>
              <a:t>gt</a:t>
            </a:r>
            <a:r>
              <a:rPr lang="en-US" sz="1800" dirty="0">
                <a:latin typeface="Book Antiqua" pitchFamily="18" charset="0"/>
              </a:rPr>
              <a:t>: 20 }}}).pretty()</a:t>
            </a:r>
          </a:p>
          <a:p>
            <a:endParaRPr lang="en-US" sz="1800" dirty="0">
              <a:latin typeface="Book Antiqua" pitchFamily="18" charset="0"/>
            </a:endParaRPr>
          </a:p>
        </p:txBody>
      </p:sp>
      <p:sp>
        <p:nvSpPr>
          <p:cNvPr id="4" name="Rectangle 3"/>
          <p:cNvSpPr/>
          <p:nvPr/>
        </p:nvSpPr>
        <p:spPr>
          <a:xfrm>
            <a:off x="3257548" y="2235786"/>
            <a:ext cx="5362575" cy="4401205"/>
          </a:xfrm>
          <a:prstGeom prst="rect">
            <a:avLst/>
          </a:prstGeom>
        </p:spPr>
        <p:txBody>
          <a:bodyPr wrap="square">
            <a:spAutoFit/>
          </a:bodyPr>
          <a:lstStyle/>
          <a:p>
            <a:r>
              <a:rPr lang="en-US" dirty="0"/>
              <a:t>[</a:t>
            </a:r>
          </a:p>
          <a:p>
            <a:r>
              <a:rPr lang="en-US" dirty="0"/>
              <a:t>  { _id: </a:t>
            </a:r>
            <a:r>
              <a:rPr lang="en-US" dirty="0" err="1"/>
              <a:t>ObjectId</a:t>
            </a:r>
            <a:r>
              <a:rPr lang="en-US" dirty="0"/>
              <a:t>("636352ba13298072e044bc60"), </a:t>
            </a:r>
            <a:r>
              <a:rPr lang="en-US" dirty="0" err="1"/>
              <a:t>rollno</a:t>
            </a:r>
            <a:r>
              <a:rPr lang="en-US" dirty="0"/>
              <a:t>: '25900' },</a:t>
            </a:r>
          </a:p>
          <a:p>
            <a:r>
              <a:rPr lang="en-US" dirty="0"/>
              <a:t>  {</a:t>
            </a:r>
          </a:p>
          <a:p>
            <a:r>
              <a:rPr lang="en-US" dirty="0"/>
              <a:t>    _id: </a:t>
            </a:r>
            <a:r>
              <a:rPr lang="en-US" dirty="0" err="1"/>
              <a:t>ObjectId</a:t>
            </a:r>
            <a:r>
              <a:rPr lang="en-US" dirty="0"/>
              <a:t>("636a01e1afc8cee715fe5b6c"),</a:t>
            </a:r>
          </a:p>
          <a:p>
            <a:r>
              <a:rPr lang="en-US" dirty="0"/>
              <a:t>    title: '</a:t>
            </a:r>
            <a:r>
              <a:rPr lang="en-US" dirty="0" err="1"/>
              <a:t>NoSQL</a:t>
            </a:r>
            <a:r>
              <a:rPr lang="en-US" dirty="0"/>
              <a:t> Database',</a:t>
            </a:r>
          </a:p>
          <a:p>
            <a:r>
              <a:rPr lang="en-US" dirty="0"/>
              <a:t>    description: "</a:t>
            </a:r>
            <a:r>
              <a:rPr lang="en-US" dirty="0" err="1"/>
              <a:t>NoSQL</a:t>
            </a:r>
            <a:r>
              <a:rPr lang="en-US" dirty="0"/>
              <a:t> database doesn't have tables",</a:t>
            </a:r>
          </a:p>
          <a:p>
            <a:r>
              <a:rPr lang="en-US" dirty="0"/>
              <a:t>    by: 'tutorials point',</a:t>
            </a:r>
          </a:p>
          <a:p>
            <a:r>
              <a:rPr lang="en-US" dirty="0"/>
              <a:t>    url: 'http://www.tutorialspoint.com',</a:t>
            </a:r>
          </a:p>
          <a:p>
            <a:r>
              <a:rPr lang="en-US" dirty="0"/>
              <a:t>    tags: [ '</a:t>
            </a:r>
            <a:r>
              <a:rPr lang="en-US" dirty="0" err="1"/>
              <a:t>mongodb</a:t>
            </a:r>
            <a:r>
              <a:rPr lang="en-US" dirty="0"/>
              <a:t>', 'database', '</a:t>
            </a:r>
            <a:r>
              <a:rPr lang="en-US" dirty="0" err="1"/>
              <a:t>NoSQL</a:t>
            </a:r>
            <a:r>
              <a:rPr lang="en-US" dirty="0"/>
              <a:t>' ],</a:t>
            </a:r>
          </a:p>
          <a:p>
            <a:r>
              <a:rPr lang="en-US" dirty="0"/>
              <a:t>    likes: 20,</a:t>
            </a:r>
          </a:p>
          <a:p>
            <a:r>
              <a:rPr lang="en-US" dirty="0"/>
              <a:t>    comments: [</a:t>
            </a:r>
          </a:p>
          <a:p>
            <a:r>
              <a:rPr lang="en-US" dirty="0"/>
              <a:t>      {</a:t>
            </a:r>
          </a:p>
          <a:p>
            <a:r>
              <a:rPr lang="en-US" dirty="0"/>
              <a:t>        user: 'user1',</a:t>
            </a:r>
          </a:p>
          <a:p>
            <a:r>
              <a:rPr lang="en-US" dirty="0"/>
              <a:t>        message: 'My first comment',</a:t>
            </a:r>
          </a:p>
          <a:p>
            <a:r>
              <a:rPr lang="en-US" dirty="0"/>
              <a:t>        </a:t>
            </a:r>
            <a:r>
              <a:rPr lang="en-US" dirty="0" err="1"/>
              <a:t>dateCreated</a:t>
            </a:r>
            <a:r>
              <a:rPr lang="en-US" dirty="0"/>
              <a:t>: </a:t>
            </a:r>
            <a:r>
              <a:rPr lang="en-US" dirty="0" err="1"/>
              <a:t>ISODate</a:t>
            </a:r>
            <a:r>
              <a:rPr lang="en-US" dirty="0"/>
              <a:t>("2013-12-09T21:05:00.000Z"),</a:t>
            </a:r>
          </a:p>
          <a:p>
            <a:r>
              <a:rPr lang="en-US" dirty="0"/>
              <a:t>        like: 0</a:t>
            </a:r>
          </a:p>
          <a:p>
            <a:r>
              <a:rPr lang="en-US" dirty="0"/>
              <a:t>      }</a:t>
            </a:r>
          </a:p>
          <a:p>
            <a:r>
              <a:rPr lang="en-US" dirty="0"/>
              <a:t>    ]</a:t>
            </a:r>
          </a:p>
          <a:p>
            <a:r>
              <a:rPr lang="en-US" dirty="0"/>
              <a:t>  }</a:t>
            </a:r>
          </a:p>
          <a:p>
            <a:r>
              <a:rPr lang="en-US" dirty="0"/>
              <a:t>]</a:t>
            </a:r>
          </a:p>
        </p:txBody>
      </p:sp>
    </p:spTree>
    <p:extLst>
      <p:ext uri="{BB962C8B-B14F-4D97-AF65-F5344CB8AC3E}">
        <p14:creationId xmlns:p14="http://schemas.microsoft.com/office/powerpoint/2010/main" val="2995803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175" y="336192"/>
            <a:ext cx="8520600" cy="763500"/>
          </a:xfrm>
        </p:spPr>
        <p:txBody>
          <a:bodyPr/>
          <a:lstStyle/>
          <a:p>
            <a:r>
              <a:rPr lang="en-US" b="0" dirty="0" err="1"/>
              <a:t>MongoDB</a:t>
            </a:r>
            <a:r>
              <a:rPr lang="en-US" b="0" dirty="0"/>
              <a:t> Update() Method</a:t>
            </a:r>
            <a:endParaRPr lang="en-US" dirty="0"/>
          </a:p>
        </p:txBody>
      </p:sp>
      <p:sp>
        <p:nvSpPr>
          <p:cNvPr id="3" name="Text Placeholder 2"/>
          <p:cNvSpPr>
            <a:spLocks noGrp="1"/>
          </p:cNvSpPr>
          <p:nvPr>
            <p:ph type="body" idx="1"/>
          </p:nvPr>
        </p:nvSpPr>
        <p:spPr>
          <a:xfrm>
            <a:off x="302175" y="860358"/>
            <a:ext cx="8520600" cy="4555200"/>
          </a:xfrm>
        </p:spPr>
        <p:txBody>
          <a:bodyPr/>
          <a:lstStyle/>
          <a:p>
            <a:r>
              <a:rPr lang="en-US" sz="1800" dirty="0">
                <a:latin typeface="Book Antiqua" pitchFamily="18" charset="0"/>
              </a:rPr>
              <a:t>The update() method updates the values in the existing document. By default, </a:t>
            </a:r>
            <a:r>
              <a:rPr lang="en-US" sz="1800" dirty="0" err="1">
                <a:latin typeface="Book Antiqua" pitchFamily="18" charset="0"/>
              </a:rPr>
              <a:t>MongoDB</a:t>
            </a:r>
            <a:r>
              <a:rPr lang="en-US" sz="1800" dirty="0">
                <a:latin typeface="Book Antiqua" pitchFamily="18" charset="0"/>
              </a:rPr>
              <a:t> will update only a single document. </a:t>
            </a:r>
          </a:p>
          <a:p>
            <a:r>
              <a:rPr lang="en-US" sz="1800" dirty="0">
                <a:latin typeface="Book Antiqua" pitchFamily="18" charset="0"/>
              </a:rPr>
              <a:t>Syntax: </a:t>
            </a:r>
            <a:r>
              <a:rPr lang="en-US" sz="1800" dirty="0" err="1">
                <a:latin typeface="Book Antiqua" pitchFamily="18" charset="0"/>
              </a:rPr>
              <a:t>db.COLLECTION_NAME.update</a:t>
            </a:r>
            <a:r>
              <a:rPr lang="en-US" sz="1800" dirty="0">
                <a:latin typeface="Book Antiqua" pitchFamily="18" charset="0"/>
              </a:rPr>
              <a:t>(SELECTION_CRITERIA, UPDATED_DATA)</a:t>
            </a:r>
          </a:p>
          <a:p>
            <a:r>
              <a:rPr lang="en-US" sz="1800" dirty="0">
                <a:latin typeface="Book Antiqua" pitchFamily="18" charset="0"/>
              </a:rPr>
              <a:t>Example: </a:t>
            </a:r>
            <a:r>
              <a:rPr lang="en-US" sz="1800" dirty="0" err="1">
                <a:latin typeface="Book Antiqua" pitchFamily="18" charset="0"/>
              </a:rPr>
              <a:t>db.school.update</a:t>
            </a:r>
            <a:r>
              <a:rPr lang="en-US" sz="1800" dirty="0">
                <a:latin typeface="Book Antiqua" pitchFamily="18" charset="0"/>
              </a:rPr>
              <a:t>({'title':'</a:t>
            </a:r>
            <a:r>
              <a:rPr lang="en-US" sz="1800" dirty="0" err="1">
                <a:latin typeface="Book Antiqua" pitchFamily="18" charset="0"/>
              </a:rPr>
              <a:t>MongoDB</a:t>
            </a:r>
            <a:r>
              <a:rPr lang="en-US" sz="1800" dirty="0">
                <a:latin typeface="Book Antiqua" pitchFamily="18" charset="0"/>
              </a:rPr>
              <a:t> Overview'},{$set:{'</a:t>
            </a:r>
            <a:r>
              <a:rPr lang="en-US" sz="1800" dirty="0" err="1">
                <a:latin typeface="Book Antiqua" pitchFamily="18" charset="0"/>
              </a:rPr>
              <a:t>title':'New</a:t>
            </a:r>
            <a:r>
              <a:rPr lang="en-US" sz="1800" dirty="0">
                <a:latin typeface="Book Antiqua" pitchFamily="18" charset="0"/>
              </a:rPr>
              <a:t> </a:t>
            </a:r>
            <a:r>
              <a:rPr lang="en-US" sz="1800" dirty="0" err="1">
                <a:latin typeface="Book Antiqua" pitchFamily="18" charset="0"/>
              </a:rPr>
              <a:t>MongoDB</a:t>
            </a:r>
            <a:r>
              <a:rPr lang="en-US" sz="1800" dirty="0">
                <a:latin typeface="Book Antiqua" pitchFamily="18" charset="0"/>
              </a:rPr>
              <a:t> Tutorial'}})</a:t>
            </a:r>
          </a:p>
          <a:p>
            <a:endParaRPr lang="en-US" sz="1800" dirty="0">
              <a:latin typeface="Book Antiqua" pitchFamily="18" charset="0"/>
            </a:endParaRPr>
          </a:p>
          <a:p>
            <a:endParaRPr lang="en-US" sz="1800" dirty="0">
              <a:latin typeface="Book Antiqua" pitchFamily="18" charset="0"/>
            </a:endParaRPr>
          </a:p>
          <a:p>
            <a:endParaRPr lang="en-US" sz="1800" dirty="0">
              <a:latin typeface="Book Antiqua" pitchFamily="18" charset="0"/>
            </a:endParaRPr>
          </a:p>
          <a:p>
            <a:endParaRPr lang="en-US" sz="1800" dirty="0">
              <a:latin typeface="Book Antiqua" pitchFamily="18" charset="0"/>
            </a:endParaRPr>
          </a:p>
          <a:p>
            <a:endParaRPr lang="en-US" sz="1800" dirty="0">
              <a:latin typeface="Book Antiqua" pitchFamily="18" charset="0"/>
            </a:endParaRPr>
          </a:p>
          <a:p>
            <a:endParaRPr lang="en-US" sz="1800" dirty="0">
              <a:latin typeface="Book Antiqua" pitchFamily="18" charset="0"/>
            </a:endParaRPr>
          </a:p>
          <a:p>
            <a:endParaRPr lang="en-US" sz="1800" dirty="0">
              <a:latin typeface="Book Antiqua" pitchFamily="18" charset="0"/>
            </a:endParaRPr>
          </a:p>
          <a:p>
            <a:r>
              <a:rPr lang="en-US" sz="1800" dirty="0">
                <a:latin typeface="Book Antiqua" pitchFamily="18" charset="0"/>
              </a:rPr>
              <a:t>To update multiple documents, you need to set a parameter 'multi' to true.</a:t>
            </a:r>
          </a:p>
          <a:p>
            <a:r>
              <a:rPr lang="en-US" sz="1800" dirty="0" err="1">
                <a:latin typeface="Book Antiqua" pitchFamily="18" charset="0"/>
              </a:rPr>
              <a:t>db.school.update</a:t>
            </a:r>
            <a:r>
              <a:rPr lang="en-US" sz="1800" dirty="0">
                <a:latin typeface="Book Antiqua" pitchFamily="18" charset="0"/>
              </a:rPr>
              <a:t>({'title':'</a:t>
            </a:r>
            <a:r>
              <a:rPr lang="en-US" sz="1800" dirty="0" err="1">
                <a:latin typeface="Book Antiqua" pitchFamily="18" charset="0"/>
              </a:rPr>
              <a:t>MongoDB</a:t>
            </a:r>
            <a:r>
              <a:rPr lang="en-US" sz="1800" dirty="0">
                <a:latin typeface="Book Antiqua" pitchFamily="18" charset="0"/>
              </a:rPr>
              <a:t> Overview'},{$set:{'</a:t>
            </a:r>
            <a:r>
              <a:rPr lang="en-US" sz="1800" dirty="0" err="1">
                <a:latin typeface="Book Antiqua" pitchFamily="18" charset="0"/>
              </a:rPr>
              <a:t>title':'New</a:t>
            </a:r>
            <a:r>
              <a:rPr lang="en-US" sz="1800" dirty="0">
                <a:latin typeface="Book Antiqua" pitchFamily="18" charset="0"/>
              </a:rPr>
              <a:t> </a:t>
            </a:r>
            <a:r>
              <a:rPr lang="en-US" sz="1800" dirty="0" err="1">
                <a:latin typeface="Book Antiqua" pitchFamily="18" charset="0"/>
              </a:rPr>
              <a:t>MongoDB</a:t>
            </a:r>
            <a:r>
              <a:rPr lang="en-US" sz="1800" dirty="0">
                <a:latin typeface="Book Antiqua" pitchFamily="18" charset="0"/>
              </a:rPr>
              <a:t> Tutorial'}},{</a:t>
            </a:r>
            <a:r>
              <a:rPr lang="en-US" sz="1800" dirty="0" err="1">
                <a:latin typeface="Book Antiqua" pitchFamily="18" charset="0"/>
              </a:rPr>
              <a:t>multi:true</a:t>
            </a:r>
            <a:r>
              <a:rPr lang="en-US" sz="1800" dirty="0">
                <a:latin typeface="Book Antiqua" pitchFamily="18" charset="0"/>
              </a:rPr>
              <a:t>})</a:t>
            </a:r>
          </a:p>
        </p:txBody>
      </p:sp>
      <p:sp>
        <p:nvSpPr>
          <p:cNvPr id="4" name="Rectangle 3"/>
          <p:cNvSpPr/>
          <p:nvPr/>
        </p:nvSpPr>
        <p:spPr>
          <a:xfrm>
            <a:off x="1466850" y="2680038"/>
            <a:ext cx="8096250" cy="1446550"/>
          </a:xfrm>
          <a:prstGeom prst="rect">
            <a:avLst/>
          </a:prstGeom>
        </p:spPr>
        <p:txBody>
          <a:bodyPr wrap="square">
            <a:spAutoFit/>
          </a:bodyPr>
          <a:lstStyle/>
          <a:p>
            <a:r>
              <a:rPr lang="en-US" sz="1100" dirty="0" err="1"/>
              <a:t>DeprecationWarning</a:t>
            </a:r>
            <a:r>
              <a:rPr lang="en-US" sz="1100" dirty="0"/>
              <a:t>: </a:t>
            </a:r>
            <a:r>
              <a:rPr lang="en-US" sz="1100" dirty="0" err="1"/>
              <a:t>Collection.update</a:t>
            </a:r>
            <a:r>
              <a:rPr lang="en-US" sz="1100" dirty="0"/>
              <a:t>() is deprecated. Use </a:t>
            </a:r>
            <a:r>
              <a:rPr lang="en-US" sz="1100" dirty="0" err="1"/>
              <a:t>updateOne</a:t>
            </a:r>
            <a:r>
              <a:rPr lang="en-US" sz="1100" dirty="0"/>
              <a:t>, </a:t>
            </a:r>
            <a:r>
              <a:rPr lang="en-US" sz="1100" dirty="0" err="1"/>
              <a:t>updateMany</a:t>
            </a:r>
            <a:r>
              <a:rPr lang="en-US" sz="1100" dirty="0"/>
              <a:t>, or </a:t>
            </a:r>
            <a:r>
              <a:rPr lang="en-US" sz="1100" dirty="0" err="1"/>
              <a:t>bulkWrite</a:t>
            </a:r>
            <a:r>
              <a:rPr lang="en-US" sz="1100" dirty="0"/>
              <a:t>.</a:t>
            </a:r>
          </a:p>
          <a:p>
            <a:r>
              <a:rPr lang="en-US" sz="1100" dirty="0"/>
              <a:t>{</a:t>
            </a:r>
          </a:p>
          <a:p>
            <a:r>
              <a:rPr lang="en-US" sz="1100" dirty="0"/>
              <a:t>  acknowledged: true,</a:t>
            </a:r>
          </a:p>
          <a:p>
            <a:r>
              <a:rPr lang="en-US" sz="1100" dirty="0"/>
              <a:t>  </a:t>
            </a:r>
            <a:r>
              <a:rPr lang="en-US" sz="1100" dirty="0" err="1"/>
              <a:t>insertedId</a:t>
            </a:r>
            <a:r>
              <a:rPr lang="en-US" sz="1100" dirty="0"/>
              <a:t>: null,</a:t>
            </a:r>
          </a:p>
          <a:p>
            <a:r>
              <a:rPr lang="en-US" sz="1100" dirty="0"/>
              <a:t>  </a:t>
            </a:r>
            <a:r>
              <a:rPr lang="en-US" sz="1100" dirty="0" err="1"/>
              <a:t>matchedCount</a:t>
            </a:r>
            <a:r>
              <a:rPr lang="en-US" sz="1100" dirty="0"/>
              <a:t>: 1,</a:t>
            </a:r>
          </a:p>
          <a:p>
            <a:r>
              <a:rPr lang="en-US" sz="1100" dirty="0"/>
              <a:t>  </a:t>
            </a:r>
            <a:r>
              <a:rPr lang="en-US" sz="1100" dirty="0" err="1"/>
              <a:t>modifiedCount</a:t>
            </a:r>
            <a:r>
              <a:rPr lang="en-US" sz="1100" dirty="0"/>
              <a:t>: 1,</a:t>
            </a:r>
          </a:p>
          <a:p>
            <a:r>
              <a:rPr lang="en-US" sz="1100" dirty="0"/>
              <a:t>  </a:t>
            </a:r>
            <a:r>
              <a:rPr lang="en-US" sz="1100" dirty="0" err="1"/>
              <a:t>upsertedCount</a:t>
            </a:r>
            <a:r>
              <a:rPr lang="en-US" sz="1100" dirty="0"/>
              <a:t>: 0</a:t>
            </a:r>
          </a:p>
          <a:p>
            <a:r>
              <a:rPr lang="en-US" sz="1100" dirty="0"/>
              <a:t>}</a:t>
            </a:r>
          </a:p>
        </p:txBody>
      </p:sp>
    </p:spTree>
    <p:extLst>
      <p:ext uri="{BB962C8B-B14F-4D97-AF65-F5344CB8AC3E}">
        <p14:creationId xmlns:p14="http://schemas.microsoft.com/office/powerpoint/2010/main" val="17010397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err="1"/>
              <a:t>MongoDB</a:t>
            </a:r>
            <a:r>
              <a:rPr lang="en-US" b="0" dirty="0"/>
              <a:t> Save() Method</a:t>
            </a:r>
            <a:endParaRPr lang="en-US" dirty="0"/>
          </a:p>
        </p:txBody>
      </p:sp>
      <p:sp>
        <p:nvSpPr>
          <p:cNvPr id="3" name="Text Placeholder 2"/>
          <p:cNvSpPr>
            <a:spLocks noGrp="1"/>
          </p:cNvSpPr>
          <p:nvPr>
            <p:ph type="body" idx="1"/>
          </p:nvPr>
        </p:nvSpPr>
        <p:spPr/>
        <p:txBody>
          <a:bodyPr/>
          <a:lstStyle/>
          <a:p>
            <a:r>
              <a:rPr lang="en-US" dirty="0">
                <a:latin typeface="Book Antiqua" pitchFamily="18" charset="0"/>
              </a:rPr>
              <a:t>The </a:t>
            </a:r>
            <a:r>
              <a:rPr lang="en-US" b="1" dirty="0">
                <a:latin typeface="Book Antiqua" pitchFamily="18" charset="0"/>
              </a:rPr>
              <a:t>save()</a:t>
            </a:r>
            <a:r>
              <a:rPr lang="en-US" dirty="0">
                <a:latin typeface="Book Antiqua" pitchFamily="18" charset="0"/>
              </a:rPr>
              <a:t> method replaces the existing document with the new document passed in the save() method.</a:t>
            </a:r>
          </a:p>
          <a:p>
            <a:r>
              <a:rPr lang="en-US" dirty="0">
                <a:latin typeface="Book Antiqua" pitchFamily="18" charset="0"/>
              </a:rPr>
              <a:t>Syntax: </a:t>
            </a:r>
            <a:r>
              <a:rPr lang="en-US" dirty="0" err="1">
                <a:latin typeface="Book Antiqua" pitchFamily="18" charset="0"/>
              </a:rPr>
              <a:t>db.COLLECTION_NAME.save</a:t>
            </a:r>
            <a:r>
              <a:rPr lang="en-US" dirty="0">
                <a:latin typeface="Book Antiqua" pitchFamily="18" charset="0"/>
              </a:rPr>
              <a:t>({_</a:t>
            </a:r>
            <a:r>
              <a:rPr lang="en-US" dirty="0" err="1">
                <a:latin typeface="Book Antiqua" pitchFamily="18" charset="0"/>
              </a:rPr>
              <a:t>id:ObjectId</a:t>
            </a:r>
            <a:r>
              <a:rPr lang="en-US" dirty="0">
                <a:latin typeface="Book Antiqua" pitchFamily="18" charset="0"/>
              </a:rPr>
              <a:t>(),NEW_DATA})</a:t>
            </a:r>
          </a:p>
        </p:txBody>
      </p:sp>
    </p:spTree>
    <p:extLst>
      <p:ext uri="{BB962C8B-B14F-4D97-AF65-F5344CB8AC3E}">
        <p14:creationId xmlns:p14="http://schemas.microsoft.com/office/powerpoint/2010/main" val="5647880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err="1"/>
              <a:t>MongoDB</a:t>
            </a:r>
            <a:r>
              <a:rPr lang="en-US" b="0" dirty="0"/>
              <a:t> </a:t>
            </a:r>
            <a:r>
              <a:rPr lang="en-US" b="0" dirty="0" err="1"/>
              <a:t>findOneAndUpdate</a:t>
            </a:r>
            <a:r>
              <a:rPr lang="en-US" b="0" dirty="0"/>
              <a:t>() method</a:t>
            </a:r>
            <a:endParaRPr lang="en-US" dirty="0"/>
          </a:p>
        </p:txBody>
      </p:sp>
      <p:sp>
        <p:nvSpPr>
          <p:cNvPr id="3" name="Text Placeholder 2"/>
          <p:cNvSpPr>
            <a:spLocks noGrp="1"/>
          </p:cNvSpPr>
          <p:nvPr>
            <p:ph type="body" idx="1"/>
          </p:nvPr>
        </p:nvSpPr>
        <p:spPr/>
        <p:txBody>
          <a:bodyPr/>
          <a:lstStyle/>
          <a:p>
            <a:r>
              <a:rPr lang="en-US" sz="1600" dirty="0">
                <a:latin typeface="Book Antiqua" pitchFamily="18" charset="0"/>
              </a:rPr>
              <a:t>To update the values in the existing document</a:t>
            </a:r>
          </a:p>
          <a:p>
            <a:r>
              <a:rPr lang="en-US" sz="1600" dirty="0">
                <a:latin typeface="Book Antiqua" pitchFamily="18" charset="0"/>
              </a:rPr>
              <a:t>Syntax: </a:t>
            </a:r>
            <a:r>
              <a:rPr lang="en-US" sz="1600" dirty="0" err="1">
                <a:latin typeface="Book Antiqua" pitchFamily="18" charset="0"/>
              </a:rPr>
              <a:t>db.COLLECTION_NAME.findOneAndUpdate</a:t>
            </a:r>
            <a:r>
              <a:rPr lang="en-US" sz="1600" dirty="0">
                <a:latin typeface="Book Antiqua" pitchFamily="18" charset="0"/>
              </a:rPr>
              <a:t>(SELECTIOIN_CRITERIA, UPDATED_DATA)</a:t>
            </a:r>
          </a:p>
          <a:p>
            <a:endParaRPr lang="en-US" sz="1600" dirty="0">
              <a:latin typeface="Book Antiqua" pitchFamily="18" charset="0"/>
            </a:endParaRPr>
          </a:p>
          <a:p>
            <a:r>
              <a:rPr lang="en-US" sz="1600" dirty="0">
                <a:latin typeface="Book Antiqua" pitchFamily="18" charset="0"/>
              </a:rPr>
              <a:t>Example: </a:t>
            </a:r>
            <a:r>
              <a:rPr lang="en-US" sz="1600" dirty="0" err="1">
                <a:latin typeface="Book Antiqua" pitchFamily="18" charset="0"/>
              </a:rPr>
              <a:t>db.school.findOneAndUpdate</a:t>
            </a:r>
            <a:r>
              <a:rPr lang="en-US" sz="1600" dirty="0">
                <a:latin typeface="Book Antiqua" pitchFamily="18" charset="0"/>
              </a:rPr>
              <a:t>({</a:t>
            </a:r>
            <a:r>
              <a:rPr lang="en-US" sz="1600" dirty="0" err="1">
                <a:latin typeface="Book Antiqua" pitchFamily="18" charset="0"/>
              </a:rPr>
              <a:t>title:'New</a:t>
            </a:r>
            <a:r>
              <a:rPr lang="en-US" sz="1600" dirty="0">
                <a:latin typeface="Book Antiqua" pitchFamily="18" charset="0"/>
              </a:rPr>
              <a:t> </a:t>
            </a:r>
            <a:r>
              <a:rPr lang="en-US" sz="1600" dirty="0" err="1">
                <a:latin typeface="Book Antiqua" pitchFamily="18" charset="0"/>
              </a:rPr>
              <a:t>MongoDB</a:t>
            </a:r>
            <a:r>
              <a:rPr lang="en-US" sz="1600" dirty="0">
                <a:latin typeface="Book Antiqua" pitchFamily="18" charset="0"/>
              </a:rPr>
              <a:t> Tutorial'},{$set:{likes:'30',by:'Christ university' }})</a:t>
            </a:r>
          </a:p>
        </p:txBody>
      </p:sp>
      <p:sp>
        <p:nvSpPr>
          <p:cNvPr id="4" name="Rectangle 3"/>
          <p:cNvSpPr/>
          <p:nvPr/>
        </p:nvSpPr>
        <p:spPr>
          <a:xfrm>
            <a:off x="2352675" y="3289638"/>
            <a:ext cx="4572000" cy="1615827"/>
          </a:xfrm>
          <a:prstGeom prst="rect">
            <a:avLst/>
          </a:prstGeom>
        </p:spPr>
        <p:txBody>
          <a:bodyPr>
            <a:spAutoFit/>
          </a:bodyPr>
          <a:lstStyle/>
          <a:p>
            <a:r>
              <a:rPr lang="en-US" sz="1100" dirty="0"/>
              <a:t>{</a:t>
            </a:r>
          </a:p>
          <a:p>
            <a:r>
              <a:rPr lang="en-US" sz="1100" dirty="0"/>
              <a:t>  _id: </a:t>
            </a:r>
            <a:r>
              <a:rPr lang="en-US" sz="1100" dirty="0" err="1"/>
              <a:t>ObjectId</a:t>
            </a:r>
            <a:r>
              <a:rPr lang="en-US" sz="1100" dirty="0"/>
              <a:t>("636a01e1afc8cee715fe5b6b"),</a:t>
            </a:r>
          </a:p>
          <a:p>
            <a:r>
              <a:rPr lang="en-US" sz="1100" dirty="0"/>
              <a:t>  title: 'New </a:t>
            </a:r>
            <a:r>
              <a:rPr lang="en-US" sz="1100" dirty="0" err="1"/>
              <a:t>MongoDB</a:t>
            </a:r>
            <a:r>
              <a:rPr lang="en-US" sz="1100" dirty="0"/>
              <a:t> Tutorial',</a:t>
            </a:r>
          </a:p>
          <a:p>
            <a:r>
              <a:rPr lang="en-US" sz="1100" dirty="0"/>
              <a:t>  description: '</a:t>
            </a:r>
            <a:r>
              <a:rPr lang="en-US" sz="1100" dirty="0" err="1"/>
              <a:t>MongoDB</a:t>
            </a:r>
            <a:r>
              <a:rPr lang="en-US" sz="1100" dirty="0"/>
              <a:t> is no SQL database',</a:t>
            </a:r>
          </a:p>
          <a:p>
            <a:r>
              <a:rPr lang="en-US" sz="1100" dirty="0"/>
              <a:t>  by: 'Christ university',</a:t>
            </a:r>
          </a:p>
          <a:p>
            <a:r>
              <a:rPr lang="en-US" sz="1100" dirty="0"/>
              <a:t>  url: 'http://www.tutorialspoint.com',</a:t>
            </a:r>
          </a:p>
          <a:p>
            <a:r>
              <a:rPr lang="en-US" sz="1100" dirty="0"/>
              <a:t>  tags: [ '</a:t>
            </a:r>
            <a:r>
              <a:rPr lang="en-US" sz="1100" dirty="0" err="1"/>
              <a:t>mongodb</a:t>
            </a:r>
            <a:r>
              <a:rPr lang="en-US" sz="1100" dirty="0"/>
              <a:t>', 'database', '</a:t>
            </a:r>
            <a:r>
              <a:rPr lang="en-US" sz="1100" dirty="0" err="1"/>
              <a:t>NoSQL</a:t>
            </a:r>
            <a:r>
              <a:rPr lang="en-US" sz="1100" dirty="0"/>
              <a:t>' ],</a:t>
            </a:r>
          </a:p>
          <a:p>
            <a:r>
              <a:rPr lang="en-US" sz="1100" dirty="0"/>
              <a:t>  likes: '30'</a:t>
            </a:r>
          </a:p>
          <a:p>
            <a:r>
              <a:rPr lang="en-US" sz="1100" dirty="0"/>
              <a:t>}</a:t>
            </a:r>
          </a:p>
        </p:txBody>
      </p:sp>
    </p:spTree>
    <p:extLst>
      <p:ext uri="{BB962C8B-B14F-4D97-AF65-F5344CB8AC3E}">
        <p14:creationId xmlns:p14="http://schemas.microsoft.com/office/powerpoint/2010/main" val="6978253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err="1"/>
              <a:t>MongoDB</a:t>
            </a:r>
            <a:r>
              <a:rPr lang="en-US" b="0" dirty="0"/>
              <a:t> </a:t>
            </a:r>
            <a:r>
              <a:rPr lang="en-US" b="0" dirty="0" err="1"/>
              <a:t>updateOne</a:t>
            </a:r>
            <a:r>
              <a:rPr lang="en-US" b="0" dirty="0"/>
              <a:t>() method</a:t>
            </a:r>
            <a:endParaRPr lang="en-US" dirty="0"/>
          </a:p>
        </p:txBody>
      </p:sp>
      <p:sp>
        <p:nvSpPr>
          <p:cNvPr id="3" name="Text Placeholder 2"/>
          <p:cNvSpPr>
            <a:spLocks noGrp="1"/>
          </p:cNvSpPr>
          <p:nvPr>
            <p:ph type="body" idx="1"/>
          </p:nvPr>
        </p:nvSpPr>
        <p:spPr/>
        <p:txBody>
          <a:bodyPr/>
          <a:lstStyle/>
          <a:p>
            <a:r>
              <a:rPr lang="en-US" dirty="0">
                <a:latin typeface="Book Antiqua" pitchFamily="18" charset="0"/>
              </a:rPr>
              <a:t>Syntax: </a:t>
            </a:r>
            <a:r>
              <a:rPr lang="en-US" dirty="0" err="1">
                <a:latin typeface="Book Antiqua" pitchFamily="18" charset="0"/>
              </a:rPr>
              <a:t>db.COLLECTION_NAME.updateOne</a:t>
            </a:r>
            <a:r>
              <a:rPr lang="en-US" dirty="0">
                <a:latin typeface="Book Antiqua" pitchFamily="18" charset="0"/>
              </a:rPr>
              <a:t>(&lt;filter&gt;, &lt;update&gt;)</a:t>
            </a:r>
          </a:p>
          <a:p>
            <a:endParaRPr lang="en-US" dirty="0">
              <a:latin typeface="Book Antiqua" pitchFamily="18" charset="0"/>
            </a:endParaRPr>
          </a:p>
          <a:p>
            <a:r>
              <a:rPr lang="en-US" dirty="0">
                <a:latin typeface="Book Antiqua" pitchFamily="18" charset="0"/>
              </a:rPr>
              <a:t>Example: </a:t>
            </a:r>
            <a:r>
              <a:rPr lang="en-US" dirty="0" err="1">
                <a:latin typeface="Book Antiqua" pitchFamily="18" charset="0"/>
              </a:rPr>
              <a:t>db.school.updateOne</a:t>
            </a:r>
            <a:r>
              <a:rPr lang="en-US" dirty="0">
                <a:latin typeface="Book Antiqua" pitchFamily="18" charset="0"/>
              </a:rPr>
              <a:t>({title: 'New </a:t>
            </a:r>
            <a:r>
              <a:rPr lang="en-US" dirty="0" err="1">
                <a:latin typeface="Book Antiqua" pitchFamily="18" charset="0"/>
              </a:rPr>
              <a:t>MongoDB</a:t>
            </a:r>
            <a:r>
              <a:rPr lang="en-US" dirty="0">
                <a:latin typeface="Book Antiqua" pitchFamily="18" charset="0"/>
              </a:rPr>
              <a:t> Tutorial'},{ $set: { likes: '40',description: '</a:t>
            </a:r>
            <a:r>
              <a:rPr lang="en-US" dirty="0" err="1">
                <a:latin typeface="Book Antiqua" pitchFamily="18" charset="0"/>
              </a:rPr>
              <a:t>MongoDB</a:t>
            </a:r>
            <a:r>
              <a:rPr lang="en-US" dirty="0">
                <a:latin typeface="Book Antiqua" pitchFamily="18" charset="0"/>
              </a:rPr>
              <a:t> is a NOSQL'}})</a:t>
            </a:r>
          </a:p>
        </p:txBody>
      </p:sp>
      <p:sp>
        <p:nvSpPr>
          <p:cNvPr id="4" name="Rectangle 3"/>
          <p:cNvSpPr/>
          <p:nvPr/>
        </p:nvSpPr>
        <p:spPr>
          <a:xfrm>
            <a:off x="3209925" y="4238506"/>
            <a:ext cx="4572000" cy="2031325"/>
          </a:xfrm>
          <a:prstGeom prst="rect">
            <a:avLst/>
          </a:prstGeom>
        </p:spPr>
        <p:txBody>
          <a:bodyPr>
            <a:spAutoFit/>
          </a:bodyPr>
          <a:lstStyle/>
          <a:p>
            <a:r>
              <a:rPr lang="en-US" dirty="0"/>
              <a:t>Output:</a:t>
            </a:r>
          </a:p>
          <a:p>
            <a:endParaRPr lang="en-US" dirty="0"/>
          </a:p>
          <a:p>
            <a:r>
              <a:rPr lang="en-US" dirty="0"/>
              <a:t>{</a:t>
            </a:r>
          </a:p>
          <a:p>
            <a:r>
              <a:rPr lang="en-US" dirty="0"/>
              <a:t>  acknowledged: true,</a:t>
            </a:r>
          </a:p>
          <a:p>
            <a:r>
              <a:rPr lang="en-US" dirty="0"/>
              <a:t>  </a:t>
            </a:r>
            <a:r>
              <a:rPr lang="en-US" dirty="0" err="1"/>
              <a:t>insertedId</a:t>
            </a:r>
            <a:r>
              <a:rPr lang="en-US" dirty="0"/>
              <a:t>: null,</a:t>
            </a:r>
          </a:p>
          <a:p>
            <a:r>
              <a:rPr lang="en-US" dirty="0"/>
              <a:t>  </a:t>
            </a:r>
            <a:r>
              <a:rPr lang="en-US" dirty="0" err="1"/>
              <a:t>matchedCount</a:t>
            </a:r>
            <a:r>
              <a:rPr lang="en-US" dirty="0"/>
              <a:t>: 1,</a:t>
            </a:r>
          </a:p>
          <a:p>
            <a:r>
              <a:rPr lang="en-US" dirty="0"/>
              <a:t>  </a:t>
            </a:r>
            <a:r>
              <a:rPr lang="en-US" dirty="0" err="1"/>
              <a:t>modifiedCount</a:t>
            </a:r>
            <a:r>
              <a:rPr lang="en-US" dirty="0"/>
              <a:t>: 1,</a:t>
            </a:r>
          </a:p>
          <a:p>
            <a:r>
              <a:rPr lang="en-US" dirty="0"/>
              <a:t>  </a:t>
            </a:r>
            <a:r>
              <a:rPr lang="en-US" dirty="0" err="1"/>
              <a:t>upsertedCount</a:t>
            </a:r>
            <a:r>
              <a:rPr lang="en-US" dirty="0"/>
              <a:t>: 0</a:t>
            </a:r>
          </a:p>
          <a:p>
            <a:r>
              <a:rPr lang="en-US" dirty="0"/>
              <a:t>}</a:t>
            </a:r>
          </a:p>
        </p:txBody>
      </p:sp>
    </p:spTree>
    <p:extLst>
      <p:ext uri="{BB962C8B-B14F-4D97-AF65-F5344CB8AC3E}">
        <p14:creationId xmlns:p14="http://schemas.microsoft.com/office/powerpoint/2010/main" val="4283121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err="1"/>
              <a:t>MongoDB</a:t>
            </a:r>
            <a:r>
              <a:rPr lang="en-US" b="0" dirty="0"/>
              <a:t> </a:t>
            </a:r>
            <a:r>
              <a:rPr lang="en-US" b="0" dirty="0" err="1"/>
              <a:t>updateMany</a:t>
            </a:r>
            <a:r>
              <a:rPr lang="en-US" b="0" dirty="0"/>
              <a:t>() method</a:t>
            </a:r>
            <a:endParaRPr lang="en-US" dirty="0"/>
          </a:p>
        </p:txBody>
      </p:sp>
      <p:sp>
        <p:nvSpPr>
          <p:cNvPr id="3" name="Text Placeholder 2"/>
          <p:cNvSpPr>
            <a:spLocks noGrp="1"/>
          </p:cNvSpPr>
          <p:nvPr>
            <p:ph type="body" idx="1"/>
          </p:nvPr>
        </p:nvSpPr>
        <p:spPr/>
        <p:txBody>
          <a:bodyPr/>
          <a:lstStyle/>
          <a:p>
            <a:r>
              <a:rPr lang="en-US" sz="2000" dirty="0">
                <a:latin typeface="Book Antiqua" pitchFamily="18" charset="0"/>
              </a:rPr>
              <a:t>Syntax: </a:t>
            </a:r>
            <a:r>
              <a:rPr lang="en-US" sz="2000" dirty="0" err="1">
                <a:latin typeface="Book Antiqua" pitchFamily="18" charset="0"/>
              </a:rPr>
              <a:t>db.COLLECTION_NAME.update</a:t>
            </a:r>
            <a:r>
              <a:rPr lang="en-US" sz="2000" dirty="0">
                <a:latin typeface="Book Antiqua" pitchFamily="18" charset="0"/>
              </a:rPr>
              <a:t>(&lt;filter&gt;, &lt;update&gt;)</a:t>
            </a:r>
          </a:p>
          <a:p>
            <a:endParaRPr lang="en-US" sz="2000" dirty="0">
              <a:latin typeface="Book Antiqua" pitchFamily="18" charset="0"/>
            </a:endParaRPr>
          </a:p>
          <a:p>
            <a:r>
              <a:rPr lang="en-US" sz="2000" dirty="0">
                <a:latin typeface="Book Antiqua" pitchFamily="18" charset="0"/>
              </a:rPr>
              <a:t>Example: </a:t>
            </a:r>
            <a:r>
              <a:rPr lang="en-US" sz="2000" dirty="0" err="1">
                <a:latin typeface="Book Antiqua" pitchFamily="18" charset="0"/>
              </a:rPr>
              <a:t>db.school.updateMany</a:t>
            </a:r>
            <a:r>
              <a:rPr lang="en-US" sz="2000" dirty="0">
                <a:latin typeface="Book Antiqua" pitchFamily="18" charset="0"/>
              </a:rPr>
              <a:t>({likes:{ $</a:t>
            </a:r>
            <a:r>
              <a:rPr lang="en-US" sz="2000" dirty="0" err="1">
                <a:latin typeface="Book Antiqua" pitchFamily="18" charset="0"/>
              </a:rPr>
              <a:t>gt</a:t>
            </a:r>
            <a:r>
              <a:rPr lang="en-US" sz="2000" dirty="0">
                <a:latin typeface="Book Antiqua" pitchFamily="18" charset="0"/>
              </a:rPr>
              <a:t>: "25" }},{ $set: { likes: '00'}})</a:t>
            </a:r>
          </a:p>
        </p:txBody>
      </p:sp>
      <p:sp>
        <p:nvSpPr>
          <p:cNvPr id="4" name="Rectangle 3"/>
          <p:cNvSpPr/>
          <p:nvPr/>
        </p:nvSpPr>
        <p:spPr>
          <a:xfrm>
            <a:off x="2647950" y="2876431"/>
            <a:ext cx="4572000" cy="1600438"/>
          </a:xfrm>
          <a:prstGeom prst="rect">
            <a:avLst/>
          </a:prstGeom>
        </p:spPr>
        <p:txBody>
          <a:bodyPr>
            <a:spAutoFit/>
          </a:bodyPr>
          <a:lstStyle/>
          <a:p>
            <a:r>
              <a:rPr lang="en-US" dirty="0"/>
              <a:t>{</a:t>
            </a:r>
          </a:p>
          <a:p>
            <a:r>
              <a:rPr lang="en-US" dirty="0"/>
              <a:t>  acknowledged: true,</a:t>
            </a:r>
          </a:p>
          <a:p>
            <a:r>
              <a:rPr lang="en-US" dirty="0"/>
              <a:t>  </a:t>
            </a:r>
            <a:r>
              <a:rPr lang="en-US" dirty="0" err="1"/>
              <a:t>insertedId</a:t>
            </a:r>
            <a:r>
              <a:rPr lang="en-US" dirty="0"/>
              <a:t>: null,</a:t>
            </a:r>
          </a:p>
          <a:p>
            <a:r>
              <a:rPr lang="en-US" dirty="0"/>
              <a:t>  </a:t>
            </a:r>
            <a:r>
              <a:rPr lang="en-US" dirty="0" err="1"/>
              <a:t>matchedCount</a:t>
            </a:r>
            <a:r>
              <a:rPr lang="en-US" dirty="0"/>
              <a:t>: 1,</a:t>
            </a:r>
          </a:p>
          <a:p>
            <a:r>
              <a:rPr lang="en-US" dirty="0"/>
              <a:t>  </a:t>
            </a:r>
            <a:r>
              <a:rPr lang="en-US" dirty="0" err="1"/>
              <a:t>modifiedCount</a:t>
            </a:r>
            <a:r>
              <a:rPr lang="en-US" dirty="0"/>
              <a:t>: 1,</a:t>
            </a:r>
          </a:p>
          <a:p>
            <a:r>
              <a:rPr lang="en-US" dirty="0"/>
              <a:t>  </a:t>
            </a:r>
            <a:r>
              <a:rPr lang="en-US" dirty="0" err="1"/>
              <a:t>upsertedCount</a:t>
            </a:r>
            <a:r>
              <a:rPr lang="en-US" dirty="0"/>
              <a:t>: 0</a:t>
            </a:r>
          </a:p>
          <a:p>
            <a:r>
              <a:rPr lang="en-US" dirty="0"/>
              <a:t>}</a:t>
            </a:r>
          </a:p>
        </p:txBody>
      </p:sp>
    </p:spTree>
    <p:extLst>
      <p:ext uri="{BB962C8B-B14F-4D97-AF65-F5344CB8AC3E}">
        <p14:creationId xmlns:p14="http://schemas.microsoft.com/office/powerpoint/2010/main" val="22454793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err="1"/>
              <a:t>MongoDB</a:t>
            </a:r>
            <a:r>
              <a:rPr lang="en-US" b="0" dirty="0"/>
              <a:t> - Delete Document</a:t>
            </a:r>
            <a:endParaRPr lang="en-US" dirty="0"/>
          </a:p>
        </p:txBody>
      </p:sp>
      <p:sp>
        <p:nvSpPr>
          <p:cNvPr id="3" name="Text Placeholder 2"/>
          <p:cNvSpPr>
            <a:spLocks noGrp="1"/>
          </p:cNvSpPr>
          <p:nvPr>
            <p:ph type="body" idx="1"/>
          </p:nvPr>
        </p:nvSpPr>
        <p:spPr/>
        <p:txBody>
          <a:bodyPr/>
          <a:lstStyle/>
          <a:p>
            <a:r>
              <a:rPr lang="en-US" sz="1600" dirty="0">
                <a:latin typeface="Book Antiqua" pitchFamily="18" charset="0"/>
              </a:rPr>
              <a:t>The remove() Method - to remove a document from the collection. remove() method accepts two parameters. One is deletion criteria and second is </a:t>
            </a:r>
            <a:r>
              <a:rPr lang="en-US" sz="1600" dirty="0" err="1">
                <a:latin typeface="Book Antiqua" pitchFamily="18" charset="0"/>
              </a:rPr>
              <a:t>justOne</a:t>
            </a:r>
            <a:r>
              <a:rPr lang="en-US" sz="1600" dirty="0">
                <a:latin typeface="Book Antiqua" pitchFamily="18" charset="0"/>
              </a:rPr>
              <a:t> flag. </a:t>
            </a:r>
            <a:r>
              <a:rPr lang="en-US" sz="1600" b="1" dirty="0">
                <a:latin typeface="Book Antiqua" pitchFamily="18" charset="0"/>
              </a:rPr>
              <a:t>deletion criteria</a:t>
            </a:r>
            <a:r>
              <a:rPr lang="en-US" sz="1600" dirty="0">
                <a:latin typeface="Book Antiqua" pitchFamily="18" charset="0"/>
              </a:rPr>
              <a:t> − (Optional) deletion criteria according to documents will be removed. </a:t>
            </a:r>
            <a:r>
              <a:rPr lang="en-US" sz="1600" b="1" dirty="0" err="1">
                <a:latin typeface="Book Antiqua" pitchFamily="18" charset="0"/>
              </a:rPr>
              <a:t>justOne</a:t>
            </a:r>
            <a:r>
              <a:rPr lang="en-US" sz="1600" dirty="0">
                <a:latin typeface="Book Antiqua" pitchFamily="18" charset="0"/>
              </a:rPr>
              <a:t> − (Optional) if set to true or 1, then remove only one document.</a:t>
            </a:r>
          </a:p>
          <a:p>
            <a:r>
              <a:rPr lang="en-US" sz="1600" dirty="0">
                <a:latin typeface="Book Antiqua" pitchFamily="18" charset="0"/>
              </a:rPr>
              <a:t>Syntax: </a:t>
            </a:r>
            <a:r>
              <a:rPr lang="en-US" sz="1600" dirty="0" err="1">
                <a:latin typeface="Book Antiqua" pitchFamily="18" charset="0"/>
              </a:rPr>
              <a:t>db.COLLECTION_NAME.remove</a:t>
            </a:r>
            <a:r>
              <a:rPr lang="en-US" sz="1600" dirty="0">
                <a:latin typeface="Book Antiqua" pitchFamily="18" charset="0"/>
              </a:rPr>
              <a:t>(DELLETION_CRITTERIA)</a:t>
            </a:r>
          </a:p>
          <a:p>
            <a:r>
              <a:rPr lang="en-US" sz="1600" dirty="0">
                <a:latin typeface="Book Antiqua" pitchFamily="18" charset="0"/>
              </a:rPr>
              <a:t>Example: </a:t>
            </a:r>
            <a:r>
              <a:rPr lang="en-US" sz="1600" dirty="0" err="1">
                <a:latin typeface="Book Antiqua" pitchFamily="18" charset="0"/>
              </a:rPr>
              <a:t>db.school.remove</a:t>
            </a:r>
            <a:r>
              <a:rPr lang="en-US" sz="1600" dirty="0">
                <a:latin typeface="Book Antiqua" pitchFamily="18" charset="0"/>
              </a:rPr>
              <a:t>({'title':'</a:t>
            </a:r>
            <a:r>
              <a:rPr lang="en-US" sz="1600" dirty="0" err="1">
                <a:latin typeface="Book Antiqua" pitchFamily="18" charset="0"/>
              </a:rPr>
              <a:t>MongoDB</a:t>
            </a:r>
            <a:r>
              <a:rPr lang="en-US" sz="1600" dirty="0">
                <a:latin typeface="Book Antiqua" pitchFamily="18" charset="0"/>
              </a:rPr>
              <a:t> Overview'})</a:t>
            </a:r>
          </a:p>
          <a:p>
            <a:endParaRPr lang="en-US" sz="1600" dirty="0">
              <a:latin typeface="Book Antiqua" pitchFamily="18" charset="0"/>
            </a:endParaRPr>
          </a:p>
          <a:p>
            <a:r>
              <a:rPr lang="en-US" sz="1600" dirty="0">
                <a:latin typeface="Book Antiqua" pitchFamily="18" charset="0"/>
              </a:rPr>
              <a:t>Remove Only One - If there are multiple records and you want to delete only the first record, then set </a:t>
            </a:r>
            <a:r>
              <a:rPr lang="en-US" sz="1600" b="1" dirty="0" err="1">
                <a:latin typeface="Book Antiqua" pitchFamily="18" charset="0"/>
              </a:rPr>
              <a:t>justOne</a:t>
            </a:r>
            <a:r>
              <a:rPr lang="en-US" sz="1600" dirty="0">
                <a:latin typeface="Book Antiqua" pitchFamily="18" charset="0"/>
              </a:rPr>
              <a:t> parameter in </a:t>
            </a:r>
            <a:r>
              <a:rPr lang="en-US" sz="1600" b="1" dirty="0">
                <a:latin typeface="Book Antiqua" pitchFamily="18" charset="0"/>
              </a:rPr>
              <a:t>remove()</a:t>
            </a:r>
            <a:r>
              <a:rPr lang="en-US" sz="1600" dirty="0">
                <a:latin typeface="Book Antiqua" pitchFamily="18" charset="0"/>
              </a:rPr>
              <a:t> method.</a:t>
            </a:r>
          </a:p>
          <a:p>
            <a:r>
              <a:rPr lang="en-US" sz="1600" dirty="0">
                <a:latin typeface="Book Antiqua" pitchFamily="18" charset="0"/>
              </a:rPr>
              <a:t>Syntax: </a:t>
            </a:r>
            <a:r>
              <a:rPr lang="en-US" sz="1600" dirty="0" err="1">
                <a:latin typeface="Book Antiqua" pitchFamily="18" charset="0"/>
              </a:rPr>
              <a:t>db.COLLECTION_NAME.remove</a:t>
            </a:r>
            <a:r>
              <a:rPr lang="en-US" sz="1600" dirty="0">
                <a:latin typeface="Book Antiqua" pitchFamily="18" charset="0"/>
              </a:rPr>
              <a:t>(DELETION_CRITERIA,1)</a:t>
            </a:r>
          </a:p>
          <a:p>
            <a:endParaRPr lang="en-US" sz="1600" dirty="0">
              <a:latin typeface="Book Antiqua" pitchFamily="18" charset="0"/>
            </a:endParaRPr>
          </a:p>
          <a:p>
            <a:r>
              <a:rPr lang="en-US" sz="1600" dirty="0">
                <a:latin typeface="Book Antiqua" pitchFamily="18" charset="0"/>
              </a:rPr>
              <a:t>Remove All Documents - If you don't specify deletion criteria, then </a:t>
            </a:r>
            <a:r>
              <a:rPr lang="en-US" sz="1600" dirty="0" err="1">
                <a:latin typeface="Book Antiqua" pitchFamily="18" charset="0"/>
              </a:rPr>
              <a:t>MongoDB</a:t>
            </a:r>
            <a:r>
              <a:rPr lang="en-US" sz="1600" dirty="0">
                <a:latin typeface="Book Antiqua" pitchFamily="18" charset="0"/>
              </a:rPr>
              <a:t> will delete whole documents from the collection. </a:t>
            </a:r>
            <a:r>
              <a:rPr lang="en-US" sz="1600" b="1" dirty="0">
                <a:latin typeface="Book Antiqua" pitchFamily="18" charset="0"/>
              </a:rPr>
              <a:t>This is equivalent of SQL's truncate command.</a:t>
            </a:r>
          </a:p>
          <a:p>
            <a:r>
              <a:rPr lang="en-US" sz="1600" b="1" dirty="0">
                <a:latin typeface="Book Antiqua" pitchFamily="18" charset="0"/>
              </a:rPr>
              <a:t>Syntax: </a:t>
            </a:r>
            <a:r>
              <a:rPr lang="en-US" sz="1600" dirty="0" err="1">
                <a:latin typeface="Book Antiqua" pitchFamily="18" charset="0"/>
              </a:rPr>
              <a:t>db.COLLECTION_NAME.remove</a:t>
            </a:r>
            <a:r>
              <a:rPr lang="en-US" sz="1600" dirty="0">
                <a:latin typeface="Book Antiqua" pitchFamily="18" charset="0"/>
              </a:rPr>
              <a:t>()</a:t>
            </a:r>
          </a:p>
          <a:p>
            <a:endParaRPr lang="en-US" sz="1600" dirty="0">
              <a:latin typeface="Book Antiqua" pitchFamily="18" charset="0"/>
            </a:endParaRPr>
          </a:p>
          <a:p>
            <a:endParaRPr lang="en-US" sz="1600" dirty="0">
              <a:latin typeface="Book Antiqua" pitchFamily="18" charset="0"/>
            </a:endParaRPr>
          </a:p>
          <a:p>
            <a:endParaRPr lang="en-US" sz="1600" dirty="0">
              <a:latin typeface="Book Antiqua" pitchFamily="18" charset="0"/>
            </a:endParaRPr>
          </a:p>
        </p:txBody>
      </p:sp>
    </p:spTree>
    <p:extLst>
      <p:ext uri="{BB962C8B-B14F-4D97-AF65-F5344CB8AC3E}">
        <p14:creationId xmlns:p14="http://schemas.microsoft.com/office/powerpoint/2010/main" val="5362416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err="1"/>
              <a:t>MongoDB</a:t>
            </a:r>
            <a:r>
              <a:rPr lang="en-US" b="0" dirty="0"/>
              <a:t> - Projection</a:t>
            </a:r>
            <a:endParaRPr lang="en-US" dirty="0"/>
          </a:p>
        </p:txBody>
      </p:sp>
      <p:sp>
        <p:nvSpPr>
          <p:cNvPr id="3" name="Text Placeholder 2"/>
          <p:cNvSpPr>
            <a:spLocks noGrp="1"/>
          </p:cNvSpPr>
          <p:nvPr>
            <p:ph type="body" idx="1"/>
          </p:nvPr>
        </p:nvSpPr>
        <p:spPr/>
        <p:txBody>
          <a:bodyPr/>
          <a:lstStyle/>
          <a:p>
            <a:r>
              <a:rPr lang="en-US" sz="1600" dirty="0">
                <a:latin typeface="Book Antiqua" pitchFamily="18" charset="0"/>
              </a:rPr>
              <a:t>In </a:t>
            </a:r>
            <a:r>
              <a:rPr lang="en-US" sz="1600" dirty="0" err="1">
                <a:latin typeface="Book Antiqua" pitchFamily="18" charset="0"/>
              </a:rPr>
              <a:t>MongoDB</a:t>
            </a:r>
            <a:r>
              <a:rPr lang="en-US" sz="1600" dirty="0">
                <a:latin typeface="Book Antiqua" pitchFamily="18" charset="0"/>
              </a:rPr>
              <a:t>, projection means selecting only the necessary data rather than selecting whole of the data of a document. If a document has 5 fields and you need to show only 3, then select only 3 fields from them.</a:t>
            </a:r>
          </a:p>
          <a:p>
            <a:endParaRPr lang="en-US" sz="1600" dirty="0">
              <a:latin typeface="Book Antiqua" pitchFamily="18" charset="0"/>
            </a:endParaRPr>
          </a:p>
          <a:p>
            <a:r>
              <a:rPr lang="en-US" sz="1600" dirty="0">
                <a:latin typeface="Book Antiqua" pitchFamily="18" charset="0"/>
              </a:rPr>
              <a:t>The find() Method - In </a:t>
            </a:r>
            <a:r>
              <a:rPr lang="en-US" sz="1600" dirty="0" err="1">
                <a:latin typeface="Book Antiqua" pitchFamily="18" charset="0"/>
              </a:rPr>
              <a:t>MongoDB</a:t>
            </a:r>
            <a:r>
              <a:rPr lang="en-US" sz="1600" dirty="0">
                <a:latin typeface="Book Antiqua" pitchFamily="18" charset="0"/>
              </a:rPr>
              <a:t>, when you execute </a:t>
            </a:r>
            <a:r>
              <a:rPr lang="en-US" sz="1600" b="1" dirty="0">
                <a:latin typeface="Book Antiqua" pitchFamily="18" charset="0"/>
              </a:rPr>
              <a:t>find()</a:t>
            </a:r>
            <a:r>
              <a:rPr lang="en-US" sz="1600" dirty="0">
                <a:latin typeface="Book Antiqua" pitchFamily="18" charset="0"/>
              </a:rPr>
              <a:t> method, then it displays all fields of a document. To limit this, you need to set a list of fields with value 1 or 0. 1 is used to show the field while 0 is used to hide the fields.</a:t>
            </a:r>
          </a:p>
          <a:p>
            <a:endParaRPr lang="en-US" sz="1600" dirty="0">
              <a:latin typeface="Book Antiqua" pitchFamily="18" charset="0"/>
            </a:endParaRPr>
          </a:p>
          <a:p>
            <a:r>
              <a:rPr lang="en-US" sz="1600" dirty="0">
                <a:latin typeface="Book Antiqua" pitchFamily="18" charset="0"/>
              </a:rPr>
              <a:t>Syntax: </a:t>
            </a:r>
            <a:r>
              <a:rPr lang="en-US" sz="1600" dirty="0" err="1">
                <a:latin typeface="Book Antiqua" pitchFamily="18" charset="0"/>
              </a:rPr>
              <a:t>db.COLLECTION_NAME.find</a:t>
            </a:r>
            <a:r>
              <a:rPr lang="en-US" sz="1600" dirty="0">
                <a:latin typeface="Book Antiqua" pitchFamily="18" charset="0"/>
              </a:rPr>
              <a:t>({},{KEY:1})</a:t>
            </a:r>
          </a:p>
          <a:p>
            <a:r>
              <a:rPr lang="en-US" sz="1600" dirty="0">
                <a:latin typeface="Book Antiqua" pitchFamily="18" charset="0"/>
              </a:rPr>
              <a:t>Example: </a:t>
            </a:r>
            <a:r>
              <a:rPr lang="en-US" sz="1600" dirty="0" err="1">
                <a:latin typeface="Book Antiqua" pitchFamily="18" charset="0"/>
              </a:rPr>
              <a:t>db.school.find</a:t>
            </a:r>
            <a:r>
              <a:rPr lang="en-US" sz="1600" dirty="0">
                <a:latin typeface="Book Antiqua" pitchFamily="18" charset="0"/>
              </a:rPr>
              <a:t>({},{"title":1,_id:0})</a:t>
            </a:r>
          </a:p>
        </p:txBody>
      </p:sp>
      <p:sp>
        <p:nvSpPr>
          <p:cNvPr id="4" name="Rectangle 3"/>
          <p:cNvSpPr/>
          <p:nvPr/>
        </p:nvSpPr>
        <p:spPr>
          <a:xfrm>
            <a:off x="2124075" y="4358015"/>
            <a:ext cx="6267450" cy="307777"/>
          </a:xfrm>
          <a:prstGeom prst="rect">
            <a:avLst/>
          </a:prstGeom>
        </p:spPr>
        <p:txBody>
          <a:bodyPr wrap="square">
            <a:spAutoFit/>
          </a:bodyPr>
          <a:lstStyle/>
          <a:p>
            <a:r>
              <a:rPr lang="en-US" dirty="0"/>
              <a:t>[ {}, { title: 'New </a:t>
            </a:r>
            <a:r>
              <a:rPr lang="en-US" dirty="0" err="1"/>
              <a:t>MongoDB</a:t>
            </a:r>
            <a:r>
              <a:rPr lang="en-US" dirty="0"/>
              <a:t> Tutorial' }, { title: '</a:t>
            </a:r>
            <a:r>
              <a:rPr lang="en-US" dirty="0" err="1"/>
              <a:t>NoSQL</a:t>
            </a:r>
            <a:r>
              <a:rPr lang="en-US" dirty="0"/>
              <a:t> Database' } ]</a:t>
            </a:r>
          </a:p>
        </p:txBody>
      </p:sp>
      <p:sp>
        <p:nvSpPr>
          <p:cNvPr id="5" name="Rectangle 4"/>
          <p:cNvSpPr/>
          <p:nvPr/>
        </p:nvSpPr>
        <p:spPr>
          <a:xfrm>
            <a:off x="4438650" y="5526643"/>
            <a:ext cx="4572000" cy="738664"/>
          </a:xfrm>
          <a:prstGeom prst="rect">
            <a:avLst/>
          </a:prstGeom>
        </p:spPr>
        <p:txBody>
          <a:bodyPr>
            <a:spAutoFit/>
          </a:bodyPr>
          <a:lstStyle/>
          <a:p>
            <a:r>
              <a:rPr lang="en-US" dirty="0"/>
              <a:t>Please note </a:t>
            </a:r>
            <a:r>
              <a:rPr lang="en-US" b="1" dirty="0"/>
              <a:t>_id</a:t>
            </a:r>
            <a:r>
              <a:rPr lang="en-US" dirty="0"/>
              <a:t> field is always displayed while executing </a:t>
            </a:r>
            <a:r>
              <a:rPr lang="en-US" b="1" dirty="0"/>
              <a:t>find()</a:t>
            </a:r>
            <a:r>
              <a:rPr lang="en-US" dirty="0"/>
              <a:t> method, if you don't want this field, then you need to set it as 0</a:t>
            </a:r>
          </a:p>
        </p:txBody>
      </p:sp>
    </p:spTree>
    <p:extLst>
      <p:ext uri="{BB962C8B-B14F-4D97-AF65-F5344CB8AC3E}">
        <p14:creationId xmlns:p14="http://schemas.microsoft.com/office/powerpoint/2010/main" val="20996372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err="1"/>
              <a:t>MongoDB</a:t>
            </a:r>
            <a:r>
              <a:rPr lang="en-US" b="0" dirty="0"/>
              <a:t> - Limit Records</a:t>
            </a:r>
            <a:endParaRPr lang="en-US" dirty="0"/>
          </a:p>
        </p:txBody>
      </p:sp>
      <p:sp>
        <p:nvSpPr>
          <p:cNvPr id="3" name="Text Placeholder 2"/>
          <p:cNvSpPr>
            <a:spLocks noGrp="1"/>
          </p:cNvSpPr>
          <p:nvPr>
            <p:ph type="body" idx="1"/>
          </p:nvPr>
        </p:nvSpPr>
        <p:spPr/>
        <p:txBody>
          <a:bodyPr/>
          <a:lstStyle/>
          <a:p>
            <a:r>
              <a:rPr lang="en-US" sz="1800" b="1" dirty="0">
                <a:latin typeface="Book Antiqua" pitchFamily="18" charset="0"/>
              </a:rPr>
              <a:t>The Limit() Method </a:t>
            </a:r>
            <a:r>
              <a:rPr lang="en-US" sz="1800" dirty="0">
                <a:latin typeface="Book Antiqua" pitchFamily="18" charset="0"/>
              </a:rPr>
              <a:t>- To limit the records in </a:t>
            </a:r>
            <a:r>
              <a:rPr lang="en-US" sz="1800" dirty="0" err="1">
                <a:latin typeface="Book Antiqua" pitchFamily="18" charset="0"/>
              </a:rPr>
              <a:t>MongoDB</a:t>
            </a:r>
            <a:r>
              <a:rPr lang="en-US" sz="1800" dirty="0">
                <a:latin typeface="Book Antiqua" pitchFamily="18" charset="0"/>
              </a:rPr>
              <a:t>, you need to use limit() method. The method accepts one number type argument, which is the number of documents that you want to be displayed.</a:t>
            </a:r>
          </a:p>
          <a:p>
            <a:r>
              <a:rPr lang="en-US" sz="1800" dirty="0">
                <a:latin typeface="Book Antiqua" pitchFamily="18" charset="0"/>
              </a:rPr>
              <a:t>Syntax: </a:t>
            </a:r>
            <a:r>
              <a:rPr lang="en-US" sz="1800" dirty="0" err="1">
                <a:latin typeface="Book Antiqua" pitchFamily="18" charset="0"/>
              </a:rPr>
              <a:t>db.COLLECTION_NAME.find</a:t>
            </a:r>
            <a:r>
              <a:rPr lang="en-US" sz="1800" dirty="0">
                <a:latin typeface="Book Antiqua" pitchFamily="18" charset="0"/>
              </a:rPr>
              <a:t>().limit(NUMBER)</a:t>
            </a:r>
          </a:p>
          <a:p>
            <a:r>
              <a:rPr lang="en-US" sz="1800" dirty="0">
                <a:latin typeface="Book Antiqua" pitchFamily="18" charset="0"/>
              </a:rPr>
              <a:t>Example: </a:t>
            </a:r>
            <a:r>
              <a:rPr lang="en-US" sz="1800" dirty="0" err="1">
                <a:latin typeface="Book Antiqua" pitchFamily="18" charset="0"/>
              </a:rPr>
              <a:t>db.school.find</a:t>
            </a:r>
            <a:r>
              <a:rPr lang="en-US" sz="1800" dirty="0">
                <a:latin typeface="Book Antiqua" pitchFamily="18" charset="0"/>
              </a:rPr>
              <a:t>({},{"title":1,_id:0}).limit(2)</a:t>
            </a:r>
          </a:p>
          <a:p>
            <a:endParaRPr lang="en-US" sz="1800" dirty="0">
              <a:latin typeface="Book Antiqua" pitchFamily="18" charset="0"/>
            </a:endParaRPr>
          </a:p>
          <a:p>
            <a:endParaRPr lang="en-US" sz="1800" dirty="0">
              <a:latin typeface="Book Antiqua" pitchFamily="18" charset="0"/>
            </a:endParaRPr>
          </a:p>
          <a:p>
            <a:endParaRPr lang="en-US" sz="1800" dirty="0">
              <a:latin typeface="Book Antiqua" pitchFamily="18" charset="0"/>
            </a:endParaRPr>
          </a:p>
          <a:p>
            <a:r>
              <a:rPr lang="en-US" sz="1800" b="1" dirty="0" err="1">
                <a:latin typeface="Book Antiqua" pitchFamily="18" charset="0"/>
              </a:rPr>
              <a:t>MongoDB</a:t>
            </a:r>
            <a:r>
              <a:rPr lang="en-US" sz="1800" b="1" dirty="0">
                <a:latin typeface="Book Antiqua" pitchFamily="18" charset="0"/>
              </a:rPr>
              <a:t> Skip() Method </a:t>
            </a:r>
            <a:r>
              <a:rPr lang="en-US" sz="1800" dirty="0">
                <a:latin typeface="Book Antiqua" pitchFamily="18" charset="0"/>
              </a:rPr>
              <a:t>-  to skip the number of documents.</a:t>
            </a:r>
          </a:p>
          <a:p>
            <a:r>
              <a:rPr lang="en-US" sz="1800" dirty="0">
                <a:latin typeface="Book Antiqua" pitchFamily="18" charset="0"/>
              </a:rPr>
              <a:t>Syntax: </a:t>
            </a:r>
            <a:r>
              <a:rPr lang="en-US" sz="1800" dirty="0" err="1">
                <a:latin typeface="Book Antiqua" pitchFamily="18" charset="0"/>
              </a:rPr>
              <a:t>db.COLLECTION_NAME.find</a:t>
            </a:r>
            <a:r>
              <a:rPr lang="en-US" sz="1800" dirty="0">
                <a:latin typeface="Book Antiqua" pitchFamily="18" charset="0"/>
              </a:rPr>
              <a:t>().limit(NUMBER).skip(NUMBER) - will display only two documents</a:t>
            </a:r>
          </a:p>
          <a:p>
            <a:r>
              <a:rPr lang="en-US" sz="1800" dirty="0">
                <a:latin typeface="Book Antiqua" pitchFamily="18" charset="0"/>
              </a:rPr>
              <a:t>Example:  </a:t>
            </a:r>
            <a:r>
              <a:rPr lang="en-US" sz="1800" dirty="0" err="1">
                <a:latin typeface="Book Antiqua" pitchFamily="18" charset="0"/>
              </a:rPr>
              <a:t>db.school.find</a:t>
            </a:r>
            <a:r>
              <a:rPr lang="en-US" sz="1800" dirty="0">
                <a:latin typeface="Book Antiqua" pitchFamily="18" charset="0"/>
              </a:rPr>
              <a:t>({},{"title":1,_id:0}).limit(1).skip(1) - will display only the second document.</a:t>
            </a:r>
          </a:p>
          <a:p>
            <a:endParaRPr lang="en-US" sz="1800" dirty="0">
              <a:solidFill>
                <a:srgbClr val="FF0000"/>
              </a:solidFill>
              <a:latin typeface="Arial"/>
              <a:ea typeface="Arial"/>
              <a:cs typeface="Arial"/>
              <a:sym typeface="Arial"/>
            </a:endParaRPr>
          </a:p>
        </p:txBody>
      </p:sp>
      <p:sp>
        <p:nvSpPr>
          <p:cNvPr id="4" name="Rectangle 3"/>
          <p:cNvSpPr/>
          <p:nvPr/>
        </p:nvSpPr>
        <p:spPr>
          <a:xfrm>
            <a:off x="880120" y="3258205"/>
            <a:ext cx="6474849" cy="369332"/>
          </a:xfrm>
          <a:prstGeom prst="rect">
            <a:avLst/>
          </a:prstGeom>
        </p:spPr>
        <p:txBody>
          <a:bodyPr wrap="none">
            <a:spAutoFit/>
          </a:bodyPr>
          <a:lstStyle/>
          <a:p>
            <a:r>
              <a:rPr lang="en-US" sz="1800" dirty="0">
                <a:solidFill>
                  <a:srgbClr val="FF0000"/>
                </a:solidFill>
              </a:rPr>
              <a:t>[ { title: 'New </a:t>
            </a:r>
            <a:r>
              <a:rPr lang="en-US" sz="1800" dirty="0" err="1">
                <a:solidFill>
                  <a:srgbClr val="FF0000"/>
                </a:solidFill>
              </a:rPr>
              <a:t>MongoDB</a:t>
            </a:r>
            <a:r>
              <a:rPr lang="en-US" sz="1800" dirty="0">
                <a:solidFill>
                  <a:srgbClr val="FF0000"/>
                </a:solidFill>
              </a:rPr>
              <a:t> Tutorial' }, { title: '</a:t>
            </a:r>
            <a:r>
              <a:rPr lang="en-US" sz="1800" dirty="0" err="1">
                <a:solidFill>
                  <a:srgbClr val="FF0000"/>
                </a:solidFill>
              </a:rPr>
              <a:t>NoSQL</a:t>
            </a:r>
            <a:r>
              <a:rPr lang="en-US" sz="1800" dirty="0">
                <a:solidFill>
                  <a:srgbClr val="FF0000"/>
                </a:solidFill>
              </a:rPr>
              <a:t> Database' } ]</a:t>
            </a:r>
          </a:p>
        </p:txBody>
      </p:sp>
      <p:sp>
        <p:nvSpPr>
          <p:cNvPr id="5" name="Rectangle 4"/>
          <p:cNvSpPr/>
          <p:nvPr/>
        </p:nvSpPr>
        <p:spPr>
          <a:xfrm>
            <a:off x="2598850" y="5344180"/>
            <a:ext cx="3682418" cy="369332"/>
          </a:xfrm>
          <a:prstGeom prst="rect">
            <a:avLst/>
          </a:prstGeom>
        </p:spPr>
        <p:txBody>
          <a:bodyPr wrap="none">
            <a:spAutoFit/>
          </a:bodyPr>
          <a:lstStyle/>
          <a:p>
            <a:r>
              <a:rPr lang="en-US" sz="1800" dirty="0">
                <a:solidFill>
                  <a:srgbClr val="FF0000"/>
                </a:solidFill>
              </a:rPr>
              <a:t>[ { title: 'New </a:t>
            </a:r>
            <a:r>
              <a:rPr lang="en-US" sz="1800" dirty="0" err="1">
                <a:solidFill>
                  <a:srgbClr val="FF0000"/>
                </a:solidFill>
              </a:rPr>
              <a:t>MongoDB</a:t>
            </a:r>
            <a:r>
              <a:rPr lang="en-US" sz="1800" dirty="0">
                <a:solidFill>
                  <a:srgbClr val="FF0000"/>
                </a:solidFill>
              </a:rPr>
              <a:t> Tutorial' } ]</a:t>
            </a:r>
          </a:p>
        </p:txBody>
      </p:sp>
    </p:spTree>
    <p:extLst>
      <p:ext uri="{BB962C8B-B14F-4D97-AF65-F5344CB8AC3E}">
        <p14:creationId xmlns:p14="http://schemas.microsoft.com/office/powerpoint/2010/main" val="1953992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MongoDB</a:t>
            </a:r>
            <a:r>
              <a:rPr lang="en-US" dirty="0"/>
              <a:t> - Sort Records</a:t>
            </a:r>
          </a:p>
        </p:txBody>
      </p:sp>
      <p:sp>
        <p:nvSpPr>
          <p:cNvPr id="3" name="Text Placeholder 2"/>
          <p:cNvSpPr>
            <a:spLocks noGrp="1"/>
          </p:cNvSpPr>
          <p:nvPr>
            <p:ph type="body" idx="1"/>
          </p:nvPr>
        </p:nvSpPr>
        <p:spPr/>
        <p:txBody>
          <a:bodyPr/>
          <a:lstStyle/>
          <a:p>
            <a:r>
              <a:rPr lang="en-US" sz="1800" dirty="0">
                <a:latin typeface="Book Antiqua" pitchFamily="18" charset="0"/>
              </a:rPr>
              <a:t>The sort() Method - To sort documents in </a:t>
            </a:r>
            <a:r>
              <a:rPr lang="en-US" sz="1800" dirty="0" err="1">
                <a:latin typeface="Book Antiqua" pitchFamily="18" charset="0"/>
              </a:rPr>
              <a:t>MongoDB</a:t>
            </a:r>
            <a:r>
              <a:rPr lang="en-US" sz="1800" dirty="0">
                <a:latin typeface="Book Antiqua" pitchFamily="18" charset="0"/>
              </a:rPr>
              <a:t>, you need to use </a:t>
            </a:r>
            <a:r>
              <a:rPr lang="en-US" sz="1800" b="1" dirty="0">
                <a:latin typeface="Book Antiqua" pitchFamily="18" charset="0"/>
              </a:rPr>
              <a:t>sort()</a:t>
            </a:r>
            <a:r>
              <a:rPr lang="en-US" sz="1800" dirty="0">
                <a:latin typeface="Book Antiqua" pitchFamily="18" charset="0"/>
              </a:rPr>
              <a:t> method. The method accepts a document containing a list of fields along with their sorting order. To specify sorting order 1 and -1 are used. 1 is used for ascending order while -1 is used for descending order.</a:t>
            </a:r>
          </a:p>
          <a:p>
            <a:endParaRPr lang="en-US" sz="1800" dirty="0">
              <a:latin typeface="Book Antiqua" pitchFamily="18" charset="0"/>
            </a:endParaRPr>
          </a:p>
          <a:p>
            <a:r>
              <a:rPr lang="en-US" sz="1800" dirty="0">
                <a:latin typeface="Book Antiqua" pitchFamily="18" charset="0"/>
              </a:rPr>
              <a:t>Syntax: </a:t>
            </a:r>
            <a:r>
              <a:rPr lang="en-US" sz="1800" dirty="0" err="1">
                <a:latin typeface="Book Antiqua" pitchFamily="18" charset="0"/>
              </a:rPr>
              <a:t>db.COLLECTION_NAME.find</a:t>
            </a:r>
            <a:r>
              <a:rPr lang="en-US" sz="1800" dirty="0">
                <a:latin typeface="Book Antiqua" pitchFamily="18" charset="0"/>
              </a:rPr>
              <a:t>().sort({KEY:1})</a:t>
            </a:r>
          </a:p>
          <a:p>
            <a:endParaRPr lang="en-US" sz="1800" dirty="0">
              <a:latin typeface="Book Antiqua" pitchFamily="18" charset="0"/>
            </a:endParaRPr>
          </a:p>
          <a:p>
            <a:r>
              <a:rPr lang="en-US" sz="1800" dirty="0">
                <a:latin typeface="Book Antiqua" pitchFamily="18" charset="0"/>
              </a:rPr>
              <a:t>Example: </a:t>
            </a:r>
            <a:r>
              <a:rPr lang="en-US" sz="1800" dirty="0" err="1">
                <a:latin typeface="Book Antiqua" pitchFamily="18" charset="0"/>
              </a:rPr>
              <a:t>db.school.find</a:t>
            </a:r>
            <a:r>
              <a:rPr lang="en-US" sz="1800" dirty="0">
                <a:latin typeface="Book Antiqua" pitchFamily="18" charset="0"/>
              </a:rPr>
              <a:t>({},{"title":1,_id:0}).sort({"title":-1})</a:t>
            </a:r>
          </a:p>
        </p:txBody>
      </p:sp>
      <p:sp>
        <p:nvSpPr>
          <p:cNvPr id="4" name="Rectangle 3"/>
          <p:cNvSpPr/>
          <p:nvPr/>
        </p:nvSpPr>
        <p:spPr>
          <a:xfrm>
            <a:off x="1162050" y="4279672"/>
            <a:ext cx="7029449" cy="369332"/>
          </a:xfrm>
          <a:prstGeom prst="rect">
            <a:avLst/>
          </a:prstGeom>
        </p:spPr>
        <p:txBody>
          <a:bodyPr wrap="square">
            <a:spAutoFit/>
          </a:bodyPr>
          <a:lstStyle/>
          <a:p>
            <a:r>
              <a:rPr lang="en-US" sz="1800" dirty="0">
                <a:solidFill>
                  <a:srgbClr val="FF0000"/>
                </a:solidFill>
              </a:rPr>
              <a:t>[ { title: '</a:t>
            </a:r>
            <a:r>
              <a:rPr lang="en-US" sz="1800" dirty="0" err="1">
                <a:solidFill>
                  <a:srgbClr val="FF0000"/>
                </a:solidFill>
              </a:rPr>
              <a:t>NoSQL</a:t>
            </a:r>
            <a:r>
              <a:rPr lang="en-US" sz="1800" dirty="0">
                <a:solidFill>
                  <a:srgbClr val="FF0000"/>
                </a:solidFill>
              </a:rPr>
              <a:t> Database' }, { title: 'New </a:t>
            </a:r>
            <a:r>
              <a:rPr lang="en-US" sz="1800" dirty="0" err="1">
                <a:solidFill>
                  <a:srgbClr val="FF0000"/>
                </a:solidFill>
              </a:rPr>
              <a:t>MongoDB</a:t>
            </a:r>
            <a:r>
              <a:rPr lang="en-US" sz="1800" dirty="0">
                <a:solidFill>
                  <a:srgbClr val="FF0000"/>
                </a:solidFill>
              </a:rPr>
              <a:t> Tutorial' }, {} ]</a:t>
            </a:r>
          </a:p>
        </p:txBody>
      </p:sp>
    </p:spTree>
    <p:extLst>
      <p:ext uri="{BB962C8B-B14F-4D97-AF65-F5344CB8AC3E}">
        <p14:creationId xmlns:p14="http://schemas.microsoft.com/office/powerpoint/2010/main" val="38389808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250467"/>
            <a:ext cx="8520600" cy="763500"/>
          </a:xfrm>
        </p:spPr>
        <p:txBody>
          <a:bodyPr/>
          <a:lstStyle/>
          <a:p>
            <a:r>
              <a:rPr lang="en-US" dirty="0" err="1"/>
              <a:t>MongoDB</a:t>
            </a:r>
            <a:r>
              <a:rPr lang="en-US" dirty="0"/>
              <a:t> - Indexing</a:t>
            </a:r>
          </a:p>
        </p:txBody>
      </p:sp>
      <p:sp>
        <p:nvSpPr>
          <p:cNvPr id="3" name="Text Placeholder 2"/>
          <p:cNvSpPr>
            <a:spLocks noGrp="1"/>
          </p:cNvSpPr>
          <p:nvPr>
            <p:ph type="body" idx="1"/>
          </p:nvPr>
        </p:nvSpPr>
        <p:spPr>
          <a:xfrm>
            <a:off x="254549" y="803208"/>
            <a:ext cx="8765625" cy="4555200"/>
          </a:xfrm>
        </p:spPr>
        <p:txBody>
          <a:bodyPr/>
          <a:lstStyle/>
          <a:p>
            <a:r>
              <a:rPr lang="en-US" sz="1600" dirty="0">
                <a:latin typeface="Book Antiqua" pitchFamily="18" charset="0"/>
              </a:rPr>
              <a:t>Indexes support the efficient resolution of queries. Without indexes, </a:t>
            </a:r>
            <a:r>
              <a:rPr lang="en-US" sz="1600" dirty="0" err="1">
                <a:latin typeface="Book Antiqua" pitchFamily="18" charset="0"/>
              </a:rPr>
              <a:t>MongoDB</a:t>
            </a:r>
            <a:r>
              <a:rPr lang="en-US" sz="1600" dirty="0">
                <a:latin typeface="Book Antiqua" pitchFamily="18" charset="0"/>
              </a:rPr>
              <a:t> must scan every document of a collection to select those documents that match the query statement. This scan is highly inefficient and require </a:t>
            </a:r>
            <a:r>
              <a:rPr lang="en-US" sz="1600" dirty="0" err="1">
                <a:latin typeface="Book Antiqua" pitchFamily="18" charset="0"/>
              </a:rPr>
              <a:t>MongoDB</a:t>
            </a:r>
            <a:r>
              <a:rPr lang="en-US" sz="1600" dirty="0">
                <a:latin typeface="Book Antiqua" pitchFamily="18" charset="0"/>
              </a:rPr>
              <a:t> to process a large volume of data.</a:t>
            </a:r>
          </a:p>
          <a:p>
            <a:r>
              <a:rPr lang="en-US" sz="1600" dirty="0">
                <a:latin typeface="Book Antiqua" pitchFamily="18" charset="0"/>
              </a:rPr>
              <a:t>Indexes are special data structures, that store a small portion of the data set in an easy-to-traverse form. The index stores the value of a specific field or set of fields, ordered by the value of the field as specified in the index.</a:t>
            </a:r>
          </a:p>
          <a:p>
            <a:endParaRPr lang="en-US" sz="1600" dirty="0">
              <a:latin typeface="Book Antiqua" pitchFamily="18" charset="0"/>
            </a:endParaRPr>
          </a:p>
          <a:p>
            <a:r>
              <a:rPr lang="en-US" sz="1600" b="1" dirty="0" err="1">
                <a:latin typeface="Book Antiqua" pitchFamily="18" charset="0"/>
              </a:rPr>
              <a:t>db.COLLECTION_NAME.createIndex</a:t>
            </a:r>
            <a:r>
              <a:rPr lang="en-US" sz="1600" b="1" dirty="0">
                <a:latin typeface="Book Antiqua" pitchFamily="18" charset="0"/>
              </a:rPr>
              <a:t>({KEY:1}) - To create an index.</a:t>
            </a:r>
            <a:r>
              <a:rPr lang="en-US" sz="1600" dirty="0">
                <a:latin typeface="Book Antiqua" pitchFamily="18" charset="0"/>
              </a:rPr>
              <a:t> </a:t>
            </a:r>
          </a:p>
          <a:p>
            <a:r>
              <a:rPr lang="en-US" sz="1600" b="1" dirty="0">
                <a:latin typeface="Book Antiqua" pitchFamily="18" charset="0"/>
              </a:rPr>
              <a:t>Example:   </a:t>
            </a:r>
            <a:r>
              <a:rPr lang="en-US" sz="1600" b="1" dirty="0" err="1">
                <a:latin typeface="Book Antiqua" pitchFamily="18" charset="0"/>
              </a:rPr>
              <a:t>db.school.createIndex</a:t>
            </a:r>
            <a:r>
              <a:rPr lang="en-US" sz="1600" b="1" dirty="0">
                <a:latin typeface="Book Antiqua" pitchFamily="18" charset="0"/>
              </a:rPr>
              <a:t>({"title":1})</a:t>
            </a:r>
          </a:p>
          <a:p>
            <a:endParaRPr lang="en-US" sz="1600" dirty="0">
              <a:latin typeface="Book Antiqua" pitchFamily="18" charset="0"/>
            </a:endParaRPr>
          </a:p>
          <a:p>
            <a:r>
              <a:rPr lang="en-US" sz="1600" dirty="0">
                <a:latin typeface="Book Antiqua" pitchFamily="18" charset="0"/>
              </a:rPr>
              <a:t>Here key is the name of the field on which you want to create index and 1 is for ascending order. To create index in descending order you need to use -1.</a:t>
            </a:r>
          </a:p>
          <a:p>
            <a:endParaRPr lang="en-US" sz="1600" dirty="0">
              <a:latin typeface="Book Antiqua" pitchFamily="18" charset="0"/>
            </a:endParaRPr>
          </a:p>
          <a:p>
            <a:r>
              <a:rPr lang="en-US" sz="1600" b="1" dirty="0" err="1">
                <a:latin typeface="Book Antiqua" pitchFamily="18" charset="0"/>
              </a:rPr>
              <a:t>db.mycol.createIndex</a:t>
            </a:r>
            <a:r>
              <a:rPr lang="en-US" sz="1600" b="1" dirty="0">
                <a:latin typeface="Book Antiqua" pitchFamily="18" charset="0"/>
              </a:rPr>
              <a:t>({"title":1,"description":-1}) - to create index on multiple fields.</a:t>
            </a:r>
          </a:p>
          <a:p>
            <a:r>
              <a:rPr lang="en-US" sz="1600" b="1" dirty="0" err="1">
                <a:latin typeface="Book Antiqua" pitchFamily="18" charset="0"/>
              </a:rPr>
              <a:t>db.COLLECTION_NAME.dropIndex</a:t>
            </a:r>
            <a:r>
              <a:rPr lang="en-US" sz="1600" b="1" dirty="0">
                <a:latin typeface="Book Antiqua" pitchFamily="18" charset="0"/>
              </a:rPr>
              <a:t>({KEY:1}) – to drop a particular index</a:t>
            </a:r>
          </a:p>
          <a:p>
            <a:r>
              <a:rPr lang="en-US" sz="1600" b="1" dirty="0" err="1">
                <a:latin typeface="Book Antiqua" pitchFamily="18" charset="0"/>
              </a:rPr>
              <a:t>dropIndex</a:t>
            </a:r>
            <a:r>
              <a:rPr lang="en-US" sz="1600" b="1" dirty="0">
                <a:latin typeface="Book Antiqua" pitchFamily="18" charset="0"/>
              </a:rPr>
              <a:t>("</a:t>
            </a:r>
            <a:r>
              <a:rPr lang="en-US" sz="1600" b="1" dirty="0" err="1">
                <a:latin typeface="Book Antiqua" pitchFamily="18" charset="0"/>
              </a:rPr>
              <a:t>name_of_the_index</a:t>
            </a:r>
            <a:r>
              <a:rPr lang="en-US" sz="1600" b="1" dirty="0">
                <a:latin typeface="Book Antiqua" pitchFamily="18" charset="0"/>
              </a:rPr>
              <a:t>") - you can also specify the name of the index directly</a:t>
            </a:r>
          </a:p>
          <a:p>
            <a:r>
              <a:rPr lang="en-US" sz="1600" b="1" dirty="0" err="1">
                <a:latin typeface="Book Antiqua" pitchFamily="18" charset="0"/>
              </a:rPr>
              <a:t>db.COLLECTION_NAME.dropIndexes</a:t>
            </a:r>
            <a:r>
              <a:rPr lang="en-US" sz="1600" b="1" dirty="0">
                <a:latin typeface="Book Antiqua" pitchFamily="18" charset="0"/>
              </a:rPr>
              <a:t>() – to delete multiple (specified) indexes on a collection</a:t>
            </a:r>
          </a:p>
          <a:p>
            <a:r>
              <a:rPr lang="en-US" sz="1600" b="1" dirty="0" err="1">
                <a:latin typeface="Book Antiqua" pitchFamily="18" charset="0"/>
              </a:rPr>
              <a:t>db.COLLECTION_NAME.getIndexes</a:t>
            </a:r>
            <a:r>
              <a:rPr lang="en-US" sz="1600" b="1" dirty="0">
                <a:latin typeface="Book Antiqua" pitchFamily="18" charset="0"/>
              </a:rPr>
              <a:t>() - returns the description of all the indexes </a:t>
            </a:r>
            <a:r>
              <a:rPr lang="en-US" sz="1600" b="1" dirty="0" err="1">
                <a:latin typeface="Book Antiqua" pitchFamily="18" charset="0"/>
              </a:rPr>
              <a:t>int</a:t>
            </a:r>
            <a:r>
              <a:rPr lang="en-US" sz="1600" b="1" dirty="0">
                <a:latin typeface="Book Antiqua" pitchFamily="18" charset="0"/>
              </a:rPr>
              <a:t> the collection.</a:t>
            </a:r>
          </a:p>
          <a:p>
            <a:endParaRPr lang="en-US" sz="1600" dirty="0">
              <a:latin typeface="Book Antiqua" pitchFamily="18" charset="0"/>
            </a:endParaRPr>
          </a:p>
        </p:txBody>
      </p:sp>
    </p:spTree>
    <p:extLst>
      <p:ext uri="{BB962C8B-B14F-4D97-AF65-F5344CB8AC3E}">
        <p14:creationId xmlns:p14="http://schemas.microsoft.com/office/powerpoint/2010/main" val="7380985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345717"/>
            <a:ext cx="8520600" cy="763500"/>
          </a:xfrm>
        </p:spPr>
        <p:txBody>
          <a:bodyPr/>
          <a:lstStyle/>
          <a:p>
            <a:r>
              <a:rPr lang="en-US" dirty="0" err="1"/>
              <a:t>MongoDB</a:t>
            </a:r>
            <a:r>
              <a:rPr lang="en-US" dirty="0"/>
              <a:t> - Aggregation</a:t>
            </a:r>
          </a:p>
        </p:txBody>
      </p:sp>
      <p:sp>
        <p:nvSpPr>
          <p:cNvPr id="3" name="Text Placeholder 2"/>
          <p:cNvSpPr>
            <a:spLocks noGrp="1"/>
          </p:cNvSpPr>
          <p:nvPr>
            <p:ph type="body" idx="1"/>
          </p:nvPr>
        </p:nvSpPr>
        <p:spPr>
          <a:xfrm>
            <a:off x="302175" y="965133"/>
            <a:ext cx="8520600" cy="4555200"/>
          </a:xfrm>
        </p:spPr>
        <p:txBody>
          <a:bodyPr/>
          <a:lstStyle/>
          <a:p>
            <a:r>
              <a:rPr lang="en-US" sz="1800" dirty="0">
                <a:latin typeface="Book Antiqua" pitchFamily="18" charset="0"/>
              </a:rPr>
              <a:t>Aggregations operations process data records and return computed results. Aggregation operations group values from multiple documents together, and can perform a variety of operations on the grouped data to return a single result. In SQL count(*) and with group by is an equivalent of </a:t>
            </a:r>
            <a:r>
              <a:rPr lang="en-US" sz="1800" dirty="0" err="1">
                <a:latin typeface="Book Antiqua" pitchFamily="18" charset="0"/>
              </a:rPr>
              <a:t>MongoDB</a:t>
            </a:r>
            <a:r>
              <a:rPr lang="en-US" sz="1800" dirty="0">
                <a:latin typeface="Book Antiqua" pitchFamily="18" charset="0"/>
              </a:rPr>
              <a:t> aggregation.</a:t>
            </a:r>
          </a:p>
          <a:p>
            <a:endParaRPr lang="en-US" sz="1800" dirty="0">
              <a:latin typeface="Book Antiqua" pitchFamily="18" charset="0"/>
            </a:endParaRPr>
          </a:p>
          <a:p>
            <a:r>
              <a:rPr lang="en-US" sz="1800" dirty="0" err="1">
                <a:latin typeface="Book Antiqua" pitchFamily="18" charset="0"/>
              </a:rPr>
              <a:t>db.COLLECTION_NAME.aggregate</a:t>
            </a:r>
            <a:r>
              <a:rPr lang="en-US" sz="1800" dirty="0">
                <a:latin typeface="Book Antiqua" pitchFamily="18" charset="0"/>
              </a:rPr>
              <a:t>(AGGREGATE_OPERATION)</a:t>
            </a:r>
          </a:p>
          <a:p>
            <a:endParaRPr lang="en-US" sz="1800" dirty="0">
              <a:latin typeface="Book Antiqua" pitchFamily="18" charset="0"/>
            </a:endParaRPr>
          </a:p>
          <a:p>
            <a:r>
              <a:rPr lang="en-US" sz="1800" dirty="0" err="1">
                <a:latin typeface="Book Antiqua" pitchFamily="18" charset="0"/>
              </a:rPr>
              <a:t>db.mycol.aggregate</a:t>
            </a:r>
            <a:r>
              <a:rPr lang="en-US" sz="1800" dirty="0">
                <a:latin typeface="Book Antiqua" pitchFamily="18" charset="0"/>
              </a:rPr>
              <a:t>([{$group : {_id : "$</a:t>
            </a:r>
            <a:r>
              <a:rPr lang="en-US" sz="1800" dirty="0" err="1">
                <a:latin typeface="Book Antiqua" pitchFamily="18" charset="0"/>
              </a:rPr>
              <a:t>by_user</a:t>
            </a:r>
            <a:r>
              <a:rPr lang="en-US" sz="1800" dirty="0">
                <a:latin typeface="Book Antiqua" pitchFamily="18" charset="0"/>
              </a:rPr>
              <a:t>", </a:t>
            </a:r>
            <a:r>
              <a:rPr lang="en-US" sz="1800" dirty="0" err="1">
                <a:latin typeface="Book Antiqua" pitchFamily="18" charset="0"/>
              </a:rPr>
              <a:t>num_tutorial</a:t>
            </a:r>
            <a:r>
              <a:rPr lang="en-US" sz="1800" dirty="0">
                <a:latin typeface="Book Antiqua" pitchFamily="18" charset="0"/>
              </a:rPr>
              <a:t> : {$sum : 1}}}])</a:t>
            </a:r>
          </a:p>
          <a:p>
            <a:endParaRPr lang="en-US" sz="1800" dirty="0">
              <a:latin typeface="Book Antiqua" pitchFamily="18" charset="0"/>
            </a:endParaRPr>
          </a:p>
          <a:p>
            <a:endParaRPr lang="en-US" sz="1800" dirty="0">
              <a:latin typeface="Book Antiqua" pitchFamily="18" charset="0"/>
            </a:endParaRPr>
          </a:p>
          <a:p>
            <a:pPr marL="88900" indent="0">
              <a:buNone/>
            </a:pPr>
            <a:r>
              <a:rPr lang="en-US" sz="1800" b="1" dirty="0">
                <a:latin typeface="Book Antiqua" pitchFamily="18" charset="0"/>
              </a:rPr>
              <a:t>Equivalent SQL query:</a:t>
            </a:r>
          </a:p>
          <a:p>
            <a:r>
              <a:rPr lang="en-US" sz="1800" dirty="0">
                <a:latin typeface="Book Antiqua" pitchFamily="18" charset="0"/>
              </a:rPr>
              <a:t>select </a:t>
            </a:r>
            <a:r>
              <a:rPr lang="en-US" sz="1800" dirty="0" err="1">
                <a:latin typeface="Book Antiqua" pitchFamily="18" charset="0"/>
              </a:rPr>
              <a:t>by_user</a:t>
            </a:r>
            <a:r>
              <a:rPr lang="en-US" sz="1800" dirty="0">
                <a:latin typeface="Book Antiqua" pitchFamily="18" charset="0"/>
              </a:rPr>
              <a:t>, count(*) from </a:t>
            </a:r>
            <a:r>
              <a:rPr lang="en-US" sz="1800" dirty="0" err="1">
                <a:latin typeface="Book Antiqua" pitchFamily="18" charset="0"/>
              </a:rPr>
              <a:t>mycol</a:t>
            </a:r>
            <a:r>
              <a:rPr lang="en-US" sz="1800" dirty="0">
                <a:latin typeface="Book Antiqua" pitchFamily="18" charset="0"/>
              </a:rPr>
              <a:t> group by </a:t>
            </a:r>
            <a:r>
              <a:rPr lang="en-US" sz="1800" dirty="0" err="1">
                <a:latin typeface="Book Antiqua" pitchFamily="18" charset="0"/>
              </a:rPr>
              <a:t>by_user</a:t>
            </a:r>
            <a:r>
              <a:rPr lang="en-US" sz="1800" dirty="0">
                <a:latin typeface="Book Antiqua" pitchFamily="18" charset="0"/>
              </a:rPr>
              <a:t>.</a:t>
            </a:r>
          </a:p>
        </p:txBody>
      </p:sp>
    </p:spTree>
    <p:extLst>
      <p:ext uri="{BB962C8B-B14F-4D97-AF65-F5344CB8AC3E}">
        <p14:creationId xmlns:p14="http://schemas.microsoft.com/office/powerpoint/2010/main" val="10419636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364767"/>
            <a:ext cx="8520600" cy="763500"/>
          </a:xfrm>
        </p:spPr>
        <p:txBody>
          <a:bodyPr/>
          <a:lstStyle/>
          <a:p>
            <a:r>
              <a:rPr lang="en-US" dirty="0"/>
              <a:t>list of available aggregation expressions.</a:t>
            </a:r>
          </a:p>
        </p:txBody>
      </p:sp>
      <p:sp>
        <p:nvSpPr>
          <p:cNvPr id="3" name="Text Placeholder 2"/>
          <p:cNvSpPr>
            <a:spLocks noGrp="1"/>
          </p:cNvSpPr>
          <p:nvPr>
            <p:ph type="body" idx="1"/>
          </p:nvPr>
        </p:nvSpPr>
        <p:spPr/>
        <p:txBody>
          <a:bodyPr/>
          <a:lstStyle/>
          <a:p>
            <a:endParaRPr lang="en-US"/>
          </a:p>
        </p:txBody>
      </p:sp>
      <p:graphicFrame>
        <p:nvGraphicFramePr>
          <p:cNvPr id="4" name="Table 3"/>
          <p:cNvGraphicFramePr>
            <a:graphicFrameLocks noGrp="1"/>
          </p:cNvGraphicFramePr>
          <p:nvPr>
            <p:extLst>
              <p:ext uri="{D42A27DB-BD31-4B8C-83A1-F6EECF244321}">
                <p14:modId xmlns:p14="http://schemas.microsoft.com/office/powerpoint/2010/main" val="531565500"/>
              </p:ext>
            </p:extLst>
          </p:nvPr>
        </p:nvGraphicFramePr>
        <p:xfrm>
          <a:off x="209550" y="1206500"/>
          <a:ext cx="8839200" cy="8055840"/>
        </p:xfrm>
        <a:graphic>
          <a:graphicData uri="http://schemas.openxmlformats.org/drawingml/2006/table">
            <a:tbl>
              <a:tblPr firstRow="1" bandRow="1">
                <a:tableStyleId>{5C22544A-7EE6-4342-B048-85BDC9FD1C3A}</a:tableStyleId>
              </a:tblPr>
              <a:tblGrid>
                <a:gridCol w="108585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552950">
                  <a:extLst>
                    <a:ext uri="{9D8B030D-6E8A-4147-A177-3AD203B41FA5}">
                      <a16:colId xmlns:a16="http://schemas.microsoft.com/office/drawing/2014/main" val="20002"/>
                    </a:ext>
                  </a:extLst>
                </a:gridCol>
              </a:tblGrid>
              <a:tr h="263560">
                <a:tc>
                  <a:txBody>
                    <a:bodyPr/>
                    <a:lstStyle/>
                    <a:p>
                      <a:pPr algn="ctr" fontAlgn="t"/>
                      <a:r>
                        <a:rPr lang="en-US" sz="2000" dirty="0" err="1">
                          <a:effectLst/>
                        </a:rPr>
                        <a:t>pression</a:t>
                      </a:r>
                      <a:endParaRPr lang="en-US" sz="2000" dirty="0">
                        <a:effectLst/>
                      </a:endParaRPr>
                    </a:p>
                  </a:txBody>
                  <a:tcPr marL="60960" marR="60960" marT="60960" marB="60960"/>
                </a:tc>
                <a:tc>
                  <a:txBody>
                    <a:bodyPr/>
                    <a:lstStyle/>
                    <a:p>
                      <a:pPr algn="ctr" fontAlgn="t"/>
                      <a:r>
                        <a:rPr lang="en-US" sz="2000">
                          <a:effectLst/>
                        </a:rPr>
                        <a:t>Description</a:t>
                      </a:r>
                    </a:p>
                  </a:txBody>
                  <a:tcPr marL="60960" marR="60960" marT="60960" marB="60960"/>
                </a:tc>
                <a:tc>
                  <a:txBody>
                    <a:bodyPr/>
                    <a:lstStyle/>
                    <a:p>
                      <a:pPr algn="ctr" fontAlgn="t"/>
                      <a:r>
                        <a:rPr lang="en-US" sz="2000" dirty="0">
                          <a:effectLst/>
                        </a:rPr>
                        <a:t>Example</a:t>
                      </a:r>
                    </a:p>
                  </a:txBody>
                  <a:tcPr marL="60960" marR="60960" marT="60960" marB="60960"/>
                </a:tc>
                <a:extLst>
                  <a:ext uri="{0D108BD9-81ED-4DB2-BD59-A6C34878D82A}">
                    <a16:rowId xmlns:a16="http://schemas.microsoft.com/office/drawing/2014/main" val="10000"/>
                  </a:ext>
                </a:extLst>
              </a:tr>
              <a:tr h="431280">
                <a:tc>
                  <a:txBody>
                    <a:bodyPr/>
                    <a:lstStyle/>
                    <a:p>
                      <a:pPr algn="ctr" fontAlgn="ctr"/>
                      <a:r>
                        <a:rPr lang="en-US" sz="1200" dirty="0">
                          <a:effectLst/>
                        </a:rPr>
                        <a:t>$sum</a:t>
                      </a:r>
                    </a:p>
                  </a:txBody>
                  <a:tcPr marL="60960" marR="60960" marT="60960" marB="60960" anchor="ctr"/>
                </a:tc>
                <a:tc>
                  <a:txBody>
                    <a:bodyPr/>
                    <a:lstStyle/>
                    <a:p>
                      <a:pPr fontAlgn="t"/>
                      <a:r>
                        <a:rPr lang="en-US" sz="1200">
                          <a:effectLst/>
                        </a:rPr>
                        <a:t>Sums up the defined value from all documents in the collection.</a:t>
                      </a:r>
                    </a:p>
                  </a:txBody>
                  <a:tcPr marL="60960" marR="60960" marT="60960" marB="60960"/>
                </a:tc>
                <a:tc>
                  <a:txBody>
                    <a:bodyPr/>
                    <a:lstStyle/>
                    <a:p>
                      <a:pPr fontAlgn="t"/>
                      <a:r>
                        <a:rPr lang="en-US" sz="1200" dirty="0" err="1">
                          <a:effectLst/>
                        </a:rPr>
                        <a:t>db.mycol.aggregate</a:t>
                      </a:r>
                      <a:r>
                        <a:rPr lang="en-US" sz="1200" dirty="0">
                          <a:effectLst/>
                        </a:rPr>
                        <a:t>([{$group : {_id : "$</a:t>
                      </a:r>
                      <a:r>
                        <a:rPr lang="en-US" sz="1200" dirty="0" err="1">
                          <a:effectLst/>
                        </a:rPr>
                        <a:t>by_user</a:t>
                      </a:r>
                      <a:r>
                        <a:rPr lang="en-US" sz="1200" dirty="0">
                          <a:effectLst/>
                        </a:rPr>
                        <a:t>", </a:t>
                      </a:r>
                      <a:r>
                        <a:rPr lang="en-US" sz="1200" dirty="0" err="1">
                          <a:effectLst/>
                        </a:rPr>
                        <a:t>num_tutorial</a:t>
                      </a:r>
                      <a:r>
                        <a:rPr lang="en-US" sz="1200" dirty="0">
                          <a:effectLst/>
                        </a:rPr>
                        <a:t> : {$sum : "$likes"}}}])</a:t>
                      </a:r>
                    </a:p>
                  </a:txBody>
                  <a:tcPr marL="60960" marR="60960" marT="60960" marB="60960"/>
                </a:tc>
                <a:extLst>
                  <a:ext uri="{0D108BD9-81ED-4DB2-BD59-A6C34878D82A}">
                    <a16:rowId xmlns:a16="http://schemas.microsoft.com/office/drawing/2014/main" val="10001"/>
                  </a:ext>
                </a:extLst>
              </a:tr>
              <a:tr h="431280">
                <a:tc>
                  <a:txBody>
                    <a:bodyPr/>
                    <a:lstStyle/>
                    <a:p>
                      <a:pPr algn="ctr" fontAlgn="ctr"/>
                      <a:r>
                        <a:rPr lang="en-US" sz="1200">
                          <a:effectLst/>
                        </a:rPr>
                        <a:t>$avg</a:t>
                      </a:r>
                    </a:p>
                  </a:txBody>
                  <a:tcPr marL="60960" marR="60960" marT="60960" marB="60960" anchor="ctr"/>
                </a:tc>
                <a:tc>
                  <a:txBody>
                    <a:bodyPr/>
                    <a:lstStyle/>
                    <a:p>
                      <a:pPr fontAlgn="t"/>
                      <a:r>
                        <a:rPr lang="en-US" sz="1200" dirty="0">
                          <a:effectLst/>
                        </a:rPr>
                        <a:t>Calculates the average of all given values from all documents in the collection.</a:t>
                      </a:r>
                    </a:p>
                  </a:txBody>
                  <a:tcPr marL="60960" marR="60960" marT="60960" marB="60960"/>
                </a:tc>
                <a:tc>
                  <a:txBody>
                    <a:bodyPr/>
                    <a:lstStyle/>
                    <a:p>
                      <a:pPr fontAlgn="t"/>
                      <a:r>
                        <a:rPr lang="en-US" sz="1200" dirty="0" err="1">
                          <a:effectLst/>
                        </a:rPr>
                        <a:t>db.mycol.aggregate</a:t>
                      </a:r>
                      <a:r>
                        <a:rPr lang="en-US" sz="1200" dirty="0">
                          <a:effectLst/>
                        </a:rPr>
                        <a:t>([{$group : {_id : "$</a:t>
                      </a:r>
                      <a:r>
                        <a:rPr lang="en-US" sz="1200" dirty="0" err="1">
                          <a:effectLst/>
                        </a:rPr>
                        <a:t>by_user</a:t>
                      </a:r>
                      <a:r>
                        <a:rPr lang="en-US" sz="1200" dirty="0">
                          <a:effectLst/>
                        </a:rPr>
                        <a:t>", </a:t>
                      </a:r>
                      <a:r>
                        <a:rPr lang="en-US" sz="1200" dirty="0" err="1">
                          <a:effectLst/>
                        </a:rPr>
                        <a:t>num_tutorial</a:t>
                      </a:r>
                      <a:r>
                        <a:rPr lang="en-US" sz="1200" dirty="0">
                          <a:effectLst/>
                        </a:rPr>
                        <a:t> : {$</a:t>
                      </a:r>
                      <a:r>
                        <a:rPr lang="en-US" sz="1200" dirty="0" err="1">
                          <a:effectLst/>
                        </a:rPr>
                        <a:t>avg</a:t>
                      </a:r>
                      <a:r>
                        <a:rPr lang="en-US" sz="1200" dirty="0">
                          <a:effectLst/>
                        </a:rPr>
                        <a:t> : "$likes"}}}])</a:t>
                      </a:r>
                    </a:p>
                  </a:txBody>
                  <a:tcPr marL="60960" marR="60960" marT="60960" marB="60960"/>
                </a:tc>
                <a:extLst>
                  <a:ext uri="{0D108BD9-81ED-4DB2-BD59-A6C34878D82A}">
                    <a16:rowId xmlns:a16="http://schemas.microsoft.com/office/drawing/2014/main" val="10002"/>
                  </a:ext>
                </a:extLst>
              </a:tr>
              <a:tr h="431280">
                <a:tc>
                  <a:txBody>
                    <a:bodyPr/>
                    <a:lstStyle/>
                    <a:p>
                      <a:pPr algn="ctr" fontAlgn="ctr"/>
                      <a:r>
                        <a:rPr lang="en-US" sz="1200">
                          <a:effectLst/>
                        </a:rPr>
                        <a:t>$min</a:t>
                      </a:r>
                    </a:p>
                  </a:txBody>
                  <a:tcPr marL="60960" marR="60960" marT="60960" marB="60960" anchor="ctr"/>
                </a:tc>
                <a:tc>
                  <a:txBody>
                    <a:bodyPr/>
                    <a:lstStyle/>
                    <a:p>
                      <a:pPr fontAlgn="t"/>
                      <a:r>
                        <a:rPr lang="en-US" sz="1200">
                          <a:effectLst/>
                        </a:rPr>
                        <a:t>Gets the minimum of the corresponding values from all documents in the collection.</a:t>
                      </a:r>
                    </a:p>
                  </a:txBody>
                  <a:tcPr marL="60960" marR="60960" marT="60960" marB="60960"/>
                </a:tc>
                <a:tc>
                  <a:txBody>
                    <a:bodyPr/>
                    <a:lstStyle/>
                    <a:p>
                      <a:pPr fontAlgn="t"/>
                      <a:r>
                        <a:rPr lang="en-US" sz="1200" dirty="0" err="1">
                          <a:effectLst/>
                        </a:rPr>
                        <a:t>db.mycol.aggregate</a:t>
                      </a:r>
                      <a:r>
                        <a:rPr lang="en-US" sz="1200" dirty="0">
                          <a:effectLst/>
                        </a:rPr>
                        <a:t>([{$group : {_id : "$</a:t>
                      </a:r>
                      <a:r>
                        <a:rPr lang="en-US" sz="1200" dirty="0" err="1">
                          <a:effectLst/>
                        </a:rPr>
                        <a:t>by_user</a:t>
                      </a:r>
                      <a:r>
                        <a:rPr lang="en-US" sz="1200" dirty="0">
                          <a:effectLst/>
                        </a:rPr>
                        <a:t>", </a:t>
                      </a:r>
                      <a:r>
                        <a:rPr lang="en-US" sz="1200" dirty="0" err="1">
                          <a:effectLst/>
                        </a:rPr>
                        <a:t>num_tutorial</a:t>
                      </a:r>
                      <a:r>
                        <a:rPr lang="en-US" sz="1200" dirty="0">
                          <a:effectLst/>
                        </a:rPr>
                        <a:t> : {$min : "$likes"}}}])</a:t>
                      </a:r>
                    </a:p>
                  </a:txBody>
                  <a:tcPr marL="60960" marR="60960" marT="60960" marB="60960"/>
                </a:tc>
                <a:extLst>
                  <a:ext uri="{0D108BD9-81ED-4DB2-BD59-A6C34878D82A}">
                    <a16:rowId xmlns:a16="http://schemas.microsoft.com/office/drawing/2014/main" val="10003"/>
                  </a:ext>
                </a:extLst>
              </a:tr>
              <a:tr h="431280">
                <a:tc>
                  <a:txBody>
                    <a:bodyPr/>
                    <a:lstStyle/>
                    <a:p>
                      <a:pPr algn="ctr" fontAlgn="ctr"/>
                      <a:r>
                        <a:rPr lang="en-US" sz="1200">
                          <a:effectLst/>
                        </a:rPr>
                        <a:t>$max</a:t>
                      </a:r>
                    </a:p>
                  </a:txBody>
                  <a:tcPr marL="60960" marR="60960" marT="60960" marB="60960" anchor="ctr"/>
                </a:tc>
                <a:tc>
                  <a:txBody>
                    <a:bodyPr/>
                    <a:lstStyle/>
                    <a:p>
                      <a:pPr fontAlgn="t"/>
                      <a:r>
                        <a:rPr lang="en-US" sz="1200">
                          <a:effectLst/>
                        </a:rPr>
                        <a:t>Gets the maximum of the corresponding values from all documents in the collection.</a:t>
                      </a:r>
                    </a:p>
                  </a:txBody>
                  <a:tcPr marL="60960" marR="60960" marT="60960" marB="60960"/>
                </a:tc>
                <a:tc>
                  <a:txBody>
                    <a:bodyPr/>
                    <a:lstStyle/>
                    <a:p>
                      <a:pPr fontAlgn="t"/>
                      <a:r>
                        <a:rPr lang="en-US" sz="1200" dirty="0" err="1">
                          <a:effectLst/>
                        </a:rPr>
                        <a:t>db.mycol.aggregate</a:t>
                      </a:r>
                      <a:r>
                        <a:rPr lang="en-US" sz="1200" dirty="0">
                          <a:effectLst/>
                        </a:rPr>
                        <a:t>([{$group : {_id : "$</a:t>
                      </a:r>
                      <a:r>
                        <a:rPr lang="en-US" sz="1200" dirty="0" err="1">
                          <a:effectLst/>
                        </a:rPr>
                        <a:t>by_user</a:t>
                      </a:r>
                      <a:r>
                        <a:rPr lang="en-US" sz="1200" dirty="0">
                          <a:effectLst/>
                        </a:rPr>
                        <a:t>", </a:t>
                      </a:r>
                      <a:r>
                        <a:rPr lang="en-US" sz="1200" dirty="0" err="1">
                          <a:effectLst/>
                        </a:rPr>
                        <a:t>num_tutorial</a:t>
                      </a:r>
                      <a:r>
                        <a:rPr lang="en-US" sz="1200" dirty="0">
                          <a:effectLst/>
                        </a:rPr>
                        <a:t> : {$max : "$likes"}}}])</a:t>
                      </a:r>
                    </a:p>
                  </a:txBody>
                  <a:tcPr marL="60960" marR="60960" marT="60960" marB="60960"/>
                </a:tc>
                <a:extLst>
                  <a:ext uri="{0D108BD9-81ED-4DB2-BD59-A6C34878D82A}">
                    <a16:rowId xmlns:a16="http://schemas.microsoft.com/office/drawing/2014/main" val="10004"/>
                  </a:ext>
                </a:extLst>
              </a:tr>
              <a:tr h="431280">
                <a:tc>
                  <a:txBody>
                    <a:bodyPr/>
                    <a:lstStyle/>
                    <a:p>
                      <a:pPr algn="ctr" fontAlgn="ctr"/>
                      <a:r>
                        <a:rPr lang="en-US" sz="900" dirty="0">
                          <a:effectLst/>
                        </a:rPr>
                        <a:t>$push</a:t>
                      </a:r>
                    </a:p>
                  </a:txBody>
                  <a:tcPr marL="60960" marR="60960" marT="60960" marB="60960" anchor="ctr"/>
                </a:tc>
                <a:tc>
                  <a:txBody>
                    <a:bodyPr/>
                    <a:lstStyle/>
                    <a:p>
                      <a:pPr fontAlgn="t"/>
                      <a:r>
                        <a:rPr lang="en-US" sz="900" dirty="0">
                          <a:effectLst/>
                        </a:rPr>
                        <a:t>Inserts the value to an array in the resulting document.</a:t>
                      </a:r>
                    </a:p>
                  </a:txBody>
                  <a:tcPr marL="60960" marR="60960" marT="60960" marB="60960"/>
                </a:tc>
                <a:tc>
                  <a:txBody>
                    <a:bodyPr/>
                    <a:lstStyle/>
                    <a:p>
                      <a:pPr fontAlgn="t"/>
                      <a:r>
                        <a:rPr lang="en-US" sz="900" dirty="0" err="1">
                          <a:effectLst/>
                        </a:rPr>
                        <a:t>db.mycol.aggregate</a:t>
                      </a:r>
                      <a:r>
                        <a:rPr lang="en-US" sz="900" dirty="0">
                          <a:effectLst/>
                        </a:rPr>
                        <a:t>([{$group : {_id : "$</a:t>
                      </a:r>
                      <a:r>
                        <a:rPr lang="en-US" sz="900" dirty="0" err="1">
                          <a:effectLst/>
                        </a:rPr>
                        <a:t>by_user</a:t>
                      </a:r>
                      <a:r>
                        <a:rPr lang="en-US" sz="900" dirty="0">
                          <a:effectLst/>
                        </a:rPr>
                        <a:t>", </a:t>
                      </a:r>
                      <a:r>
                        <a:rPr lang="en-US" sz="900" dirty="0" err="1">
                          <a:effectLst/>
                        </a:rPr>
                        <a:t>url</a:t>
                      </a:r>
                      <a:r>
                        <a:rPr lang="en-US" sz="900" dirty="0">
                          <a:effectLst/>
                        </a:rPr>
                        <a:t> : {$push: "$</a:t>
                      </a:r>
                      <a:r>
                        <a:rPr lang="en-US" sz="900" dirty="0" err="1">
                          <a:effectLst/>
                        </a:rPr>
                        <a:t>url</a:t>
                      </a:r>
                      <a:r>
                        <a:rPr lang="en-US" sz="900" dirty="0">
                          <a:effectLst/>
                        </a:rPr>
                        <a:t>"}}}])</a:t>
                      </a:r>
                    </a:p>
                  </a:txBody>
                  <a:tcPr marL="60960" marR="60960" marT="60960" marB="60960"/>
                </a:tc>
                <a:extLst>
                  <a:ext uri="{0D108BD9-81ED-4DB2-BD59-A6C34878D82A}">
                    <a16:rowId xmlns:a16="http://schemas.microsoft.com/office/drawing/2014/main" val="10005"/>
                  </a:ext>
                </a:extLst>
              </a:tr>
              <a:tr h="431280">
                <a:tc>
                  <a:txBody>
                    <a:bodyPr/>
                    <a:lstStyle/>
                    <a:p>
                      <a:pPr algn="ctr" fontAlgn="ctr"/>
                      <a:r>
                        <a:rPr lang="en-US" sz="900">
                          <a:effectLst/>
                        </a:rPr>
                        <a:t>$addToSet</a:t>
                      </a:r>
                    </a:p>
                  </a:txBody>
                  <a:tcPr marL="60960" marR="60960" marT="60960" marB="60960" anchor="ctr"/>
                </a:tc>
                <a:tc>
                  <a:txBody>
                    <a:bodyPr/>
                    <a:lstStyle/>
                    <a:p>
                      <a:pPr fontAlgn="t"/>
                      <a:r>
                        <a:rPr lang="en-US" sz="900" dirty="0">
                          <a:effectLst/>
                        </a:rPr>
                        <a:t>Inserts the value to an array in the resulting document but does not create duplicates.</a:t>
                      </a:r>
                    </a:p>
                  </a:txBody>
                  <a:tcPr marL="60960" marR="60960" marT="60960" marB="60960"/>
                </a:tc>
                <a:tc>
                  <a:txBody>
                    <a:bodyPr/>
                    <a:lstStyle/>
                    <a:p>
                      <a:pPr fontAlgn="t"/>
                      <a:r>
                        <a:rPr lang="en-US" sz="900" dirty="0" err="1">
                          <a:effectLst/>
                        </a:rPr>
                        <a:t>db.mycol.aggregate</a:t>
                      </a:r>
                      <a:r>
                        <a:rPr lang="en-US" sz="900" dirty="0">
                          <a:effectLst/>
                        </a:rPr>
                        <a:t>([{$group : {_id : "$</a:t>
                      </a:r>
                      <a:r>
                        <a:rPr lang="en-US" sz="900" dirty="0" err="1">
                          <a:effectLst/>
                        </a:rPr>
                        <a:t>by_user</a:t>
                      </a:r>
                      <a:r>
                        <a:rPr lang="en-US" sz="900" dirty="0">
                          <a:effectLst/>
                        </a:rPr>
                        <a:t>", </a:t>
                      </a:r>
                      <a:r>
                        <a:rPr lang="en-US" sz="900" dirty="0" err="1">
                          <a:effectLst/>
                        </a:rPr>
                        <a:t>url</a:t>
                      </a:r>
                      <a:r>
                        <a:rPr lang="en-US" sz="900" dirty="0">
                          <a:effectLst/>
                        </a:rPr>
                        <a:t> : {$</a:t>
                      </a:r>
                      <a:r>
                        <a:rPr lang="en-US" sz="900" dirty="0" err="1">
                          <a:effectLst/>
                        </a:rPr>
                        <a:t>addToSet</a:t>
                      </a:r>
                      <a:r>
                        <a:rPr lang="en-US" sz="900" dirty="0">
                          <a:effectLst/>
                        </a:rPr>
                        <a:t> : "$</a:t>
                      </a:r>
                      <a:r>
                        <a:rPr lang="en-US" sz="900" dirty="0" err="1">
                          <a:effectLst/>
                        </a:rPr>
                        <a:t>url</a:t>
                      </a:r>
                      <a:r>
                        <a:rPr lang="en-US" sz="900" dirty="0">
                          <a:effectLst/>
                        </a:rPr>
                        <a:t>"}}}])</a:t>
                      </a:r>
                    </a:p>
                  </a:txBody>
                  <a:tcPr marL="60960" marR="60960" marT="60960" marB="60960"/>
                </a:tc>
                <a:extLst>
                  <a:ext uri="{0D108BD9-81ED-4DB2-BD59-A6C34878D82A}">
                    <a16:rowId xmlns:a16="http://schemas.microsoft.com/office/drawing/2014/main" val="10006"/>
                  </a:ext>
                </a:extLst>
              </a:tr>
              <a:tr h="766719">
                <a:tc>
                  <a:txBody>
                    <a:bodyPr/>
                    <a:lstStyle/>
                    <a:p>
                      <a:pPr algn="ctr" fontAlgn="ctr"/>
                      <a:r>
                        <a:rPr lang="en-US" sz="2000">
                          <a:effectLst/>
                        </a:rPr>
                        <a:t>$first</a:t>
                      </a:r>
                    </a:p>
                  </a:txBody>
                  <a:tcPr marL="60960" marR="60960" marT="60960" marB="60960" anchor="ctr"/>
                </a:tc>
                <a:tc>
                  <a:txBody>
                    <a:bodyPr/>
                    <a:lstStyle/>
                    <a:p>
                      <a:pPr fontAlgn="t"/>
                      <a:r>
                        <a:rPr lang="en-US" sz="2000" dirty="0">
                          <a:effectLst/>
                        </a:rPr>
                        <a:t>Gets the first document from the source documents according to the grouping. Typically this makes only sense together with some previously applied “$sort”-stage.</a:t>
                      </a:r>
                    </a:p>
                  </a:txBody>
                  <a:tcPr marL="60960" marR="60960" marT="60960" marB="60960"/>
                </a:tc>
                <a:tc>
                  <a:txBody>
                    <a:bodyPr/>
                    <a:lstStyle/>
                    <a:p>
                      <a:pPr fontAlgn="t"/>
                      <a:r>
                        <a:rPr lang="en-US" sz="2000" dirty="0" err="1">
                          <a:effectLst/>
                        </a:rPr>
                        <a:t>db.mycol.aggregate</a:t>
                      </a:r>
                      <a:r>
                        <a:rPr lang="en-US" sz="2000" dirty="0">
                          <a:effectLst/>
                        </a:rPr>
                        <a:t>([{$group : {_id : "$</a:t>
                      </a:r>
                      <a:r>
                        <a:rPr lang="en-US" sz="2000" dirty="0" err="1">
                          <a:effectLst/>
                        </a:rPr>
                        <a:t>by_user</a:t>
                      </a:r>
                      <a:r>
                        <a:rPr lang="en-US" sz="2000" dirty="0">
                          <a:effectLst/>
                        </a:rPr>
                        <a:t>", </a:t>
                      </a:r>
                      <a:r>
                        <a:rPr lang="en-US" sz="2000" dirty="0" err="1">
                          <a:effectLst/>
                        </a:rPr>
                        <a:t>first_url</a:t>
                      </a:r>
                      <a:r>
                        <a:rPr lang="en-US" sz="2000" dirty="0">
                          <a:effectLst/>
                        </a:rPr>
                        <a:t> : {$first : "$</a:t>
                      </a:r>
                      <a:r>
                        <a:rPr lang="en-US" sz="2000" dirty="0" err="1">
                          <a:effectLst/>
                        </a:rPr>
                        <a:t>url</a:t>
                      </a:r>
                      <a:r>
                        <a:rPr lang="en-US" sz="2000" dirty="0">
                          <a:effectLst/>
                        </a:rPr>
                        <a:t>"}}}])</a:t>
                      </a:r>
                    </a:p>
                  </a:txBody>
                  <a:tcPr marL="60960" marR="60960" marT="60960" marB="60960"/>
                </a:tc>
                <a:extLst>
                  <a:ext uri="{0D108BD9-81ED-4DB2-BD59-A6C34878D82A}">
                    <a16:rowId xmlns:a16="http://schemas.microsoft.com/office/drawing/2014/main" val="10007"/>
                  </a:ext>
                </a:extLst>
              </a:tr>
              <a:tr h="766719">
                <a:tc>
                  <a:txBody>
                    <a:bodyPr/>
                    <a:lstStyle/>
                    <a:p>
                      <a:pPr algn="ctr" fontAlgn="ctr"/>
                      <a:r>
                        <a:rPr lang="en-US" sz="2000">
                          <a:effectLst/>
                        </a:rPr>
                        <a:t>$last</a:t>
                      </a:r>
                    </a:p>
                  </a:txBody>
                  <a:tcPr marL="60960" marR="60960" marT="60960" marB="60960" anchor="ctr"/>
                </a:tc>
                <a:tc>
                  <a:txBody>
                    <a:bodyPr/>
                    <a:lstStyle/>
                    <a:p>
                      <a:pPr fontAlgn="t"/>
                      <a:r>
                        <a:rPr lang="en-US" sz="2000" dirty="0">
                          <a:effectLst/>
                        </a:rPr>
                        <a:t>Gets the last document from the source documents according to the grouping. Typically this makes only sense together with some previously applied “$sort”-stage.</a:t>
                      </a:r>
                    </a:p>
                  </a:txBody>
                  <a:tcPr marL="60960" marR="60960" marT="60960" marB="60960"/>
                </a:tc>
                <a:tc>
                  <a:txBody>
                    <a:bodyPr/>
                    <a:lstStyle/>
                    <a:p>
                      <a:pPr fontAlgn="t"/>
                      <a:r>
                        <a:rPr lang="en-US" sz="2000" dirty="0" err="1">
                          <a:effectLst/>
                        </a:rPr>
                        <a:t>db.mycol.aggregate</a:t>
                      </a:r>
                      <a:r>
                        <a:rPr lang="en-US" sz="2000" dirty="0">
                          <a:effectLst/>
                        </a:rPr>
                        <a:t>([{$group : {_id : "$</a:t>
                      </a:r>
                      <a:r>
                        <a:rPr lang="en-US" sz="2000" dirty="0" err="1">
                          <a:effectLst/>
                        </a:rPr>
                        <a:t>by_user</a:t>
                      </a:r>
                      <a:r>
                        <a:rPr lang="en-US" sz="2000" dirty="0">
                          <a:effectLst/>
                        </a:rPr>
                        <a:t>", </a:t>
                      </a:r>
                      <a:r>
                        <a:rPr lang="en-US" sz="2000" dirty="0" err="1">
                          <a:effectLst/>
                        </a:rPr>
                        <a:t>last_url</a:t>
                      </a:r>
                      <a:r>
                        <a:rPr lang="en-US" sz="2000" dirty="0">
                          <a:effectLst/>
                        </a:rPr>
                        <a:t> : {$last : "$</a:t>
                      </a:r>
                      <a:r>
                        <a:rPr lang="en-US" sz="2000" dirty="0" err="1">
                          <a:effectLst/>
                        </a:rPr>
                        <a:t>url</a:t>
                      </a:r>
                      <a:r>
                        <a:rPr lang="en-US" sz="2000" dirty="0">
                          <a:effectLst/>
                        </a:rPr>
                        <a:t>"}}}])</a:t>
                      </a:r>
                    </a:p>
                  </a:txBody>
                  <a:tcPr marL="60960" marR="60960" marT="60960" marB="6096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5561446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175" y="288567"/>
            <a:ext cx="8520600" cy="763500"/>
          </a:xfrm>
        </p:spPr>
        <p:txBody>
          <a:bodyPr/>
          <a:lstStyle/>
          <a:p>
            <a:r>
              <a:rPr lang="en-US" dirty="0" err="1"/>
              <a:t>MongoDB</a:t>
            </a:r>
            <a:r>
              <a:rPr lang="en-US" dirty="0"/>
              <a:t> - Replication</a:t>
            </a:r>
          </a:p>
        </p:txBody>
      </p:sp>
      <p:sp>
        <p:nvSpPr>
          <p:cNvPr id="3" name="Text Placeholder 2"/>
          <p:cNvSpPr>
            <a:spLocks noGrp="1"/>
          </p:cNvSpPr>
          <p:nvPr>
            <p:ph type="body" idx="1"/>
          </p:nvPr>
        </p:nvSpPr>
        <p:spPr>
          <a:xfrm>
            <a:off x="311700" y="1117533"/>
            <a:ext cx="8520600" cy="4555200"/>
          </a:xfrm>
        </p:spPr>
        <p:txBody>
          <a:bodyPr/>
          <a:lstStyle/>
          <a:p>
            <a:r>
              <a:rPr lang="en-US" sz="1800" dirty="0">
                <a:latin typeface="Book Antiqua" pitchFamily="18" charset="0"/>
              </a:rPr>
              <a:t>Replication is the process of synchronizing data across multiple servers. Replication provides redundancy and increases data availability with multiple copies of data on different database servers. Replication protects a database from the loss of a single server. Replication also allows you to recover from hardware failure and service interruptions. With additional copies of the data, you can dedicate one to disaster recovery, reporting, or backup.</a:t>
            </a:r>
          </a:p>
          <a:p>
            <a:r>
              <a:rPr lang="en-US" sz="1800" dirty="0">
                <a:latin typeface="Book Antiqua" pitchFamily="18" charset="0"/>
              </a:rPr>
              <a:t>Why Replication?</a:t>
            </a:r>
          </a:p>
          <a:p>
            <a:pPr lvl="1"/>
            <a:r>
              <a:rPr lang="en-US" dirty="0">
                <a:latin typeface="Book Antiqua" pitchFamily="18" charset="0"/>
              </a:rPr>
              <a:t>To keep your data safe</a:t>
            </a:r>
          </a:p>
          <a:p>
            <a:pPr lvl="1"/>
            <a:r>
              <a:rPr lang="en-US" dirty="0">
                <a:latin typeface="Book Antiqua" pitchFamily="18" charset="0"/>
              </a:rPr>
              <a:t>High (24*7) availability of data</a:t>
            </a:r>
          </a:p>
          <a:p>
            <a:pPr lvl="1"/>
            <a:r>
              <a:rPr lang="en-US" dirty="0">
                <a:latin typeface="Book Antiqua" pitchFamily="18" charset="0"/>
              </a:rPr>
              <a:t>Disaster recovery</a:t>
            </a:r>
          </a:p>
          <a:p>
            <a:pPr lvl="1"/>
            <a:r>
              <a:rPr lang="en-US" dirty="0">
                <a:latin typeface="Book Antiqua" pitchFamily="18" charset="0"/>
              </a:rPr>
              <a:t>No downtime for maintenance (like backups, index rebuilds, compaction)</a:t>
            </a:r>
          </a:p>
          <a:p>
            <a:pPr lvl="1"/>
            <a:r>
              <a:rPr lang="en-US" dirty="0">
                <a:latin typeface="Book Antiqua" pitchFamily="18" charset="0"/>
              </a:rPr>
              <a:t>Read scaling (extra copies to read from)</a:t>
            </a:r>
          </a:p>
          <a:p>
            <a:pPr lvl="1"/>
            <a:r>
              <a:rPr lang="en-US" dirty="0">
                <a:latin typeface="Book Antiqua" pitchFamily="18" charset="0"/>
              </a:rPr>
              <a:t>Replica set is transparent to the application</a:t>
            </a:r>
          </a:p>
          <a:p>
            <a:endParaRPr lang="en-US" sz="1800" dirty="0">
              <a:latin typeface="Book Antiqua" pitchFamily="18" charset="0"/>
            </a:endParaRPr>
          </a:p>
        </p:txBody>
      </p:sp>
    </p:spTree>
    <p:extLst>
      <p:ext uri="{BB962C8B-B14F-4D97-AF65-F5344CB8AC3E}">
        <p14:creationId xmlns:p14="http://schemas.microsoft.com/office/powerpoint/2010/main" val="29602206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650" y="383817"/>
            <a:ext cx="8520600" cy="763500"/>
          </a:xfrm>
        </p:spPr>
        <p:txBody>
          <a:bodyPr/>
          <a:lstStyle/>
          <a:p>
            <a:r>
              <a:rPr lang="en-US" dirty="0"/>
              <a:t>How Replication Works in </a:t>
            </a:r>
            <a:r>
              <a:rPr lang="en-US" dirty="0" err="1"/>
              <a:t>MongoDB</a:t>
            </a:r>
            <a:endParaRPr lang="en-US" dirty="0"/>
          </a:p>
        </p:txBody>
      </p:sp>
      <p:sp>
        <p:nvSpPr>
          <p:cNvPr id="3" name="Text Placeholder 2"/>
          <p:cNvSpPr>
            <a:spLocks noGrp="1"/>
          </p:cNvSpPr>
          <p:nvPr>
            <p:ph type="body" idx="1"/>
          </p:nvPr>
        </p:nvSpPr>
        <p:spPr>
          <a:xfrm>
            <a:off x="292650" y="1022283"/>
            <a:ext cx="8520600" cy="4555200"/>
          </a:xfrm>
        </p:spPr>
        <p:txBody>
          <a:bodyPr/>
          <a:lstStyle/>
          <a:p>
            <a:r>
              <a:rPr lang="en-US" dirty="0" err="1"/>
              <a:t>MongoDB</a:t>
            </a:r>
            <a:r>
              <a:rPr lang="en-US" dirty="0"/>
              <a:t> achieves replication by the use of replica set. A replica set is a group of </a:t>
            </a:r>
            <a:r>
              <a:rPr lang="en-US" b="1" dirty="0" err="1"/>
              <a:t>mongod</a:t>
            </a:r>
            <a:r>
              <a:rPr lang="en-US" dirty="0"/>
              <a:t> instances that host the same data set. In a replica, one node is primary node that receives all write operations. All other instances, such as </a:t>
            </a:r>
            <a:r>
              <a:rPr lang="en-US" dirty="0" err="1"/>
              <a:t>secondaries</a:t>
            </a:r>
            <a:r>
              <a:rPr lang="en-US" dirty="0"/>
              <a:t>, apply operations from the primary so that they have the same data set. Replica set can have only one primary node.</a:t>
            </a:r>
          </a:p>
          <a:p>
            <a:r>
              <a:rPr lang="en-US" dirty="0"/>
              <a:t>Replica set is a group of two or more nodes (generally minimum 3 nodes are required).</a:t>
            </a:r>
          </a:p>
          <a:p>
            <a:r>
              <a:rPr lang="en-US" dirty="0"/>
              <a:t>In a replica set, one node is primary node and remaining nodes are secondary.</a:t>
            </a:r>
          </a:p>
          <a:p>
            <a:r>
              <a:rPr lang="en-US" dirty="0"/>
              <a:t>All data replicates from primary to secondary node.</a:t>
            </a:r>
          </a:p>
          <a:p>
            <a:r>
              <a:rPr lang="en-US" dirty="0"/>
              <a:t>At the time of automatic failover or maintenance, election establishes for primary and a new primary node is elected.</a:t>
            </a:r>
          </a:p>
          <a:p>
            <a:r>
              <a:rPr lang="en-US" dirty="0"/>
              <a:t>After the recovery of failed node, it again join the replica set and works as a secondary node.</a:t>
            </a:r>
          </a:p>
          <a:p>
            <a:endParaRPr lang="en-US" dirty="0"/>
          </a:p>
        </p:txBody>
      </p:sp>
    </p:spTree>
    <p:extLst>
      <p:ext uri="{BB962C8B-B14F-4D97-AF65-F5344CB8AC3E}">
        <p14:creationId xmlns:p14="http://schemas.microsoft.com/office/powerpoint/2010/main" val="8898885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1026" name="Picture 2" descr="MongoDB Repl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5325" y="1762124"/>
            <a:ext cx="4762500" cy="38957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95250" y="2564368"/>
            <a:ext cx="2914650" cy="954107"/>
          </a:xfrm>
          <a:prstGeom prst="rect">
            <a:avLst/>
          </a:prstGeom>
        </p:spPr>
        <p:txBody>
          <a:bodyPr wrap="square">
            <a:spAutoFit/>
          </a:bodyPr>
          <a:lstStyle/>
          <a:p>
            <a:r>
              <a:rPr lang="en-US" dirty="0"/>
              <a:t>client application always interact with the primary node and the primary node then replicates the data to the secondary nodes.</a:t>
            </a:r>
          </a:p>
        </p:txBody>
      </p:sp>
      <p:sp>
        <p:nvSpPr>
          <p:cNvPr id="5" name="Rectangle 4"/>
          <p:cNvSpPr/>
          <p:nvPr/>
        </p:nvSpPr>
        <p:spPr>
          <a:xfrm>
            <a:off x="5915026" y="2109548"/>
            <a:ext cx="3105150" cy="1600438"/>
          </a:xfrm>
          <a:prstGeom prst="rect">
            <a:avLst/>
          </a:prstGeom>
        </p:spPr>
        <p:txBody>
          <a:bodyPr wrap="square">
            <a:spAutoFit/>
          </a:bodyPr>
          <a:lstStyle/>
          <a:p>
            <a:r>
              <a:rPr lang="en-US" b="1" dirty="0"/>
              <a:t>Replica Set Features</a:t>
            </a:r>
          </a:p>
          <a:p>
            <a:pPr marL="285750" indent="-285750">
              <a:buFont typeface="Arial" pitchFamily="34" charset="0"/>
              <a:buChar char="•"/>
            </a:pPr>
            <a:r>
              <a:rPr lang="en-US" dirty="0"/>
              <a:t>A cluster of N nodes</a:t>
            </a:r>
          </a:p>
          <a:p>
            <a:pPr marL="285750" indent="-285750">
              <a:buFont typeface="Arial" pitchFamily="34" charset="0"/>
              <a:buChar char="•"/>
            </a:pPr>
            <a:r>
              <a:rPr lang="en-US" dirty="0"/>
              <a:t>Any one node can be primary</a:t>
            </a:r>
          </a:p>
          <a:p>
            <a:pPr marL="285750" indent="-285750">
              <a:buFont typeface="Arial" pitchFamily="34" charset="0"/>
              <a:buChar char="•"/>
            </a:pPr>
            <a:r>
              <a:rPr lang="en-US" dirty="0"/>
              <a:t>All write operations go to primary</a:t>
            </a:r>
          </a:p>
          <a:p>
            <a:pPr marL="285750" indent="-285750">
              <a:buFont typeface="Arial" pitchFamily="34" charset="0"/>
              <a:buChar char="•"/>
            </a:pPr>
            <a:r>
              <a:rPr lang="en-US" dirty="0"/>
              <a:t>Automatic failover</a:t>
            </a:r>
          </a:p>
          <a:p>
            <a:pPr marL="285750" indent="-285750">
              <a:buFont typeface="Arial" pitchFamily="34" charset="0"/>
              <a:buChar char="•"/>
            </a:pPr>
            <a:r>
              <a:rPr lang="en-US" dirty="0"/>
              <a:t>Automatic recovery</a:t>
            </a:r>
          </a:p>
          <a:p>
            <a:pPr marL="285750" indent="-285750">
              <a:buFont typeface="Arial" pitchFamily="34" charset="0"/>
              <a:buChar char="•"/>
            </a:pPr>
            <a:r>
              <a:rPr lang="en-US" dirty="0"/>
              <a:t>Consensus election of primary</a:t>
            </a:r>
          </a:p>
        </p:txBody>
      </p:sp>
    </p:spTree>
    <p:extLst>
      <p:ext uri="{BB962C8B-B14F-4D97-AF65-F5344CB8AC3E}">
        <p14:creationId xmlns:p14="http://schemas.microsoft.com/office/powerpoint/2010/main" val="19309861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3125" y="326667"/>
            <a:ext cx="8520600" cy="763500"/>
          </a:xfrm>
        </p:spPr>
        <p:txBody>
          <a:bodyPr/>
          <a:lstStyle/>
          <a:p>
            <a:r>
              <a:rPr lang="en-US" dirty="0" err="1"/>
              <a:t>MongoDB</a:t>
            </a:r>
            <a:r>
              <a:rPr lang="en-US" dirty="0"/>
              <a:t> - </a:t>
            </a:r>
            <a:r>
              <a:rPr lang="en-US" dirty="0" err="1"/>
              <a:t>Sharding</a:t>
            </a:r>
            <a:endParaRPr lang="en-US" dirty="0"/>
          </a:p>
        </p:txBody>
      </p:sp>
      <p:sp>
        <p:nvSpPr>
          <p:cNvPr id="3" name="Text Placeholder 2"/>
          <p:cNvSpPr>
            <a:spLocks noGrp="1"/>
          </p:cNvSpPr>
          <p:nvPr>
            <p:ph type="body" idx="1"/>
          </p:nvPr>
        </p:nvSpPr>
        <p:spPr>
          <a:xfrm>
            <a:off x="283125" y="1184208"/>
            <a:ext cx="8520600" cy="4555200"/>
          </a:xfrm>
        </p:spPr>
        <p:txBody>
          <a:bodyPr/>
          <a:lstStyle/>
          <a:p>
            <a:r>
              <a:rPr lang="en-US" sz="2000" dirty="0" err="1"/>
              <a:t>Sharding</a:t>
            </a:r>
            <a:r>
              <a:rPr lang="en-US" sz="2000" dirty="0"/>
              <a:t> is the process of storing data records across multiple machines and it is </a:t>
            </a:r>
            <a:r>
              <a:rPr lang="en-US" sz="2000" dirty="0" err="1"/>
              <a:t>MongoDB's</a:t>
            </a:r>
            <a:r>
              <a:rPr lang="en-US" sz="2000" dirty="0"/>
              <a:t> approach to meeting the demands of data growth. As the size of the data increases, a single machine may not be sufficient to store the data nor provide an acceptable read and write throughput. </a:t>
            </a:r>
            <a:r>
              <a:rPr lang="en-US" sz="2000" dirty="0" err="1"/>
              <a:t>Sharding</a:t>
            </a:r>
            <a:r>
              <a:rPr lang="en-US" sz="2000" dirty="0"/>
              <a:t> solves the problem with horizontal scaling. With </a:t>
            </a:r>
            <a:r>
              <a:rPr lang="en-US" sz="2000" dirty="0" err="1"/>
              <a:t>sharding</a:t>
            </a:r>
            <a:r>
              <a:rPr lang="en-US" sz="2000" dirty="0"/>
              <a:t>, you add more machines to support data growth and the demands of read and write operations.</a:t>
            </a:r>
          </a:p>
          <a:p>
            <a:r>
              <a:rPr lang="en-US" sz="2000" dirty="0"/>
              <a:t>Why </a:t>
            </a:r>
            <a:r>
              <a:rPr lang="en-US" sz="2000" dirty="0" err="1"/>
              <a:t>Sharding</a:t>
            </a:r>
            <a:r>
              <a:rPr lang="en-US" sz="2000" dirty="0"/>
              <a:t>?</a:t>
            </a:r>
          </a:p>
          <a:p>
            <a:pPr lvl="1"/>
            <a:r>
              <a:rPr lang="en-US" sz="2000" dirty="0"/>
              <a:t>In replication, all writes go to master node</a:t>
            </a:r>
          </a:p>
          <a:p>
            <a:pPr lvl="1"/>
            <a:r>
              <a:rPr lang="en-US" sz="2000" dirty="0"/>
              <a:t>Latency sensitive queries still go to master</a:t>
            </a:r>
          </a:p>
          <a:p>
            <a:pPr lvl="1"/>
            <a:r>
              <a:rPr lang="en-US" sz="2000" dirty="0"/>
              <a:t>Single replica set has limitation of 12 nodes</a:t>
            </a:r>
          </a:p>
          <a:p>
            <a:pPr lvl="1"/>
            <a:r>
              <a:rPr lang="en-US" sz="2000" dirty="0"/>
              <a:t>Memory can't be large enough when active dataset is big</a:t>
            </a:r>
          </a:p>
          <a:p>
            <a:pPr lvl="1"/>
            <a:r>
              <a:rPr lang="en-US" sz="2000" dirty="0"/>
              <a:t>Local disk is not big enough</a:t>
            </a:r>
          </a:p>
          <a:p>
            <a:pPr lvl="1"/>
            <a:r>
              <a:rPr lang="en-US" sz="2000" dirty="0"/>
              <a:t>Vertical scaling is too expensive</a:t>
            </a:r>
          </a:p>
          <a:p>
            <a:pPr lvl="1"/>
            <a:endParaRPr lang="en-US" sz="2000" dirty="0"/>
          </a:p>
        </p:txBody>
      </p:sp>
    </p:spTree>
    <p:extLst>
      <p:ext uri="{BB962C8B-B14F-4D97-AF65-F5344CB8AC3E}">
        <p14:creationId xmlns:p14="http://schemas.microsoft.com/office/powerpoint/2010/main" val="5167023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3125" y="373735"/>
            <a:ext cx="8520600" cy="763500"/>
          </a:xfrm>
        </p:spPr>
        <p:txBody>
          <a:bodyPr/>
          <a:lstStyle/>
          <a:p>
            <a:r>
              <a:rPr lang="en-US" dirty="0" err="1"/>
              <a:t>Sharding</a:t>
            </a:r>
            <a:r>
              <a:rPr lang="en-US" dirty="0"/>
              <a:t> in </a:t>
            </a:r>
            <a:r>
              <a:rPr lang="en-US" dirty="0" err="1"/>
              <a:t>MongoDB</a:t>
            </a:r>
            <a:r>
              <a:rPr lang="en-US" dirty="0"/>
              <a:t> using </a:t>
            </a:r>
            <a:r>
              <a:rPr lang="en-US" dirty="0" err="1"/>
              <a:t>sharded</a:t>
            </a:r>
            <a:r>
              <a:rPr lang="en-US" dirty="0"/>
              <a:t> cluster.</a:t>
            </a:r>
          </a:p>
        </p:txBody>
      </p:sp>
      <p:pic>
        <p:nvPicPr>
          <p:cNvPr id="2050" name="Picture 2" descr="MongoDB Shard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66825"/>
            <a:ext cx="5715000" cy="44592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714999" y="1051510"/>
            <a:ext cx="3428999" cy="5262979"/>
          </a:xfrm>
          <a:prstGeom prst="rect">
            <a:avLst/>
          </a:prstGeom>
        </p:spPr>
        <p:txBody>
          <a:bodyPr wrap="square">
            <a:spAutoFit/>
          </a:bodyPr>
          <a:lstStyle/>
          <a:p>
            <a:r>
              <a:rPr lang="en-US" b="1" dirty="0"/>
              <a:t>Shards</a:t>
            </a:r>
            <a:r>
              <a:rPr lang="en-US" dirty="0"/>
              <a:t> − Shards are used to store data. They provide high availability and data consistency. In production environment, each shard is a separate replica set.</a:t>
            </a:r>
          </a:p>
          <a:p>
            <a:r>
              <a:rPr lang="en-US" b="1" dirty="0" err="1"/>
              <a:t>Config</a:t>
            </a:r>
            <a:r>
              <a:rPr lang="en-US" b="1" dirty="0"/>
              <a:t> Servers</a:t>
            </a:r>
            <a:r>
              <a:rPr lang="en-US" dirty="0"/>
              <a:t> − </a:t>
            </a:r>
            <a:r>
              <a:rPr lang="en-US" dirty="0" err="1"/>
              <a:t>Config</a:t>
            </a:r>
            <a:r>
              <a:rPr lang="en-US" dirty="0"/>
              <a:t> servers store the cluster's metadata. This data contains a mapping of the cluster's data set to the shards. The query router uses this metadata to target operations to specific shards. In production environment, </a:t>
            </a:r>
            <a:r>
              <a:rPr lang="en-US" dirty="0" err="1"/>
              <a:t>sharded</a:t>
            </a:r>
            <a:r>
              <a:rPr lang="en-US" dirty="0"/>
              <a:t> clusters have exactly 3 </a:t>
            </a:r>
            <a:r>
              <a:rPr lang="en-US" dirty="0" err="1"/>
              <a:t>config</a:t>
            </a:r>
            <a:r>
              <a:rPr lang="en-US" dirty="0"/>
              <a:t> servers.</a:t>
            </a:r>
          </a:p>
          <a:p>
            <a:r>
              <a:rPr lang="en-US" b="1" dirty="0"/>
              <a:t>Query Routers</a:t>
            </a:r>
            <a:r>
              <a:rPr lang="en-US" dirty="0"/>
              <a:t> − Query routers are basically mongo instances, interface with client applications and direct operations to the appropriate shard. The query router processes and targets the operations to shards and then returns results to the clients. A </a:t>
            </a:r>
            <a:r>
              <a:rPr lang="en-US" dirty="0" err="1"/>
              <a:t>sharded</a:t>
            </a:r>
            <a:r>
              <a:rPr lang="en-US" dirty="0"/>
              <a:t> cluster can contain more than one query router to divide the client request load. A client sends requests to one query router. Generally, a </a:t>
            </a:r>
            <a:r>
              <a:rPr lang="en-US" dirty="0" err="1"/>
              <a:t>sharded</a:t>
            </a:r>
            <a:r>
              <a:rPr lang="en-US" dirty="0"/>
              <a:t> cluster have many query routers.</a:t>
            </a:r>
          </a:p>
        </p:txBody>
      </p:sp>
    </p:spTree>
    <p:extLst>
      <p:ext uri="{BB962C8B-B14F-4D97-AF65-F5344CB8AC3E}">
        <p14:creationId xmlns:p14="http://schemas.microsoft.com/office/powerpoint/2010/main" val="38685918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MongoDB</a:t>
            </a:r>
            <a:r>
              <a:rPr lang="en-US" dirty="0"/>
              <a:t> - Create Backup and restore data</a:t>
            </a:r>
          </a:p>
        </p:txBody>
      </p:sp>
      <p:sp>
        <p:nvSpPr>
          <p:cNvPr id="3" name="Text Placeholder 2"/>
          <p:cNvSpPr>
            <a:spLocks noGrp="1"/>
          </p:cNvSpPr>
          <p:nvPr>
            <p:ph type="body" idx="1"/>
          </p:nvPr>
        </p:nvSpPr>
        <p:spPr/>
        <p:txBody>
          <a:bodyPr/>
          <a:lstStyle/>
          <a:p>
            <a:r>
              <a:rPr lang="en-US" dirty="0" err="1"/>
              <a:t>mongodump</a:t>
            </a:r>
            <a:r>
              <a:rPr lang="en-US" dirty="0"/>
              <a:t> - This command will dump the entire data of your server into the dump directory.</a:t>
            </a:r>
          </a:p>
          <a:p>
            <a:endParaRPr lang="en-US" dirty="0"/>
          </a:p>
          <a:p>
            <a:r>
              <a:rPr lang="en-US" dirty="0" err="1"/>
              <a:t>Mongorestore</a:t>
            </a:r>
            <a:r>
              <a:rPr lang="en-US" dirty="0"/>
              <a:t> - To restore backup data</a:t>
            </a:r>
          </a:p>
        </p:txBody>
      </p:sp>
    </p:spTree>
    <p:extLst>
      <p:ext uri="{BB962C8B-B14F-4D97-AF65-F5344CB8AC3E}">
        <p14:creationId xmlns:p14="http://schemas.microsoft.com/office/powerpoint/2010/main" val="30103726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b="0" dirty="0"/>
          </a:p>
        </p:txBody>
      </p:sp>
      <p:sp>
        <p:nvSpPr>
          <p:cNvPr id="3" name="Text Placeholder 2"/>
          <p:cNvSpPr>
            <a:spLocks noGrp="1"/>
          </p:cNvSpPr>
          <p:nvPr>
            <p:ph type="body" idx="1"/>
          </p:nvPr>
        </p:nvSpPr>
        <p:spPr/>
        <p:txBody>
          <a:bodyPr/>
          <a:lstStyle/>
          <a:p>
            <a:r>
              <a:rPr lang="en-US" dirty="0" err="1"/>
              <a:t>MongoDB</a:t>
            </a:r>
            <a:r>
              <a:rPr lang="en-US" dirty="0"/>
              <a:t> – Java</a:t>
            </a:r>
          </a:p>
          <a:p>
            <a:endParaRPr lang="en-US" dirty="0"/>
          </a:p>
          <a:p>
            <a:pPr marL="88900" indent="0">
              <a:buNone/>
            </a:pPr>
            <a:r>
              <a:rPr lang="en-US" dirty="0">
                <a:hlinkClick r:id="rId2"/>
              </a:rPr>
              <a:t>https://www.tutorialspoint.com/mongodb/mongodb_java.htm</a:t>
            </a:r>
            <a:endParaRPr lang="en-US" dirty="0"/>
          </a:p>
          <a:p>
            <a:endParaRPr lang="en-US" dirty="0"/>
          </a:p>
          <a:p>
            <a:r>
              <a:rPr lang="en-US" dirty="0" err="1"/>
              <a:t>MongoDB</a:t>
            </a:r>
            <a:r>
              <a:rPr lang="en-US" dirty="0"/>
              <a:t> – PHP</a:t>
            </a:r>
          </a:p>
          <a:p>
            <a:endParaRPr lang="en-US" dirty="0"/>
          </a:p>
          <a:p>
            <a:pPr marL="88900" indent="0">
              <a:buNone/>
            </a:pPr>
            <a:r>
              <a:rPr lang="en-US" dirty="0">
                <a:hlinkClick r:id="rId3"/>
              </a:rPr>
              <a:t>https://www.tutorialspoint.com/mongodb/mongodb_php.htm</a:t>
            </a:r>
            <a:endParaRPr lang="en-US" dirty="0"/>
          </a:p>
          <a:p>
            <a:pPr marL="88900" indent="0">
              <a:buNone/>
            </a:pPr>
            <a:endParaRPr lang="en-US" dirty="0"/>
          </a:p>
          <a:p>
            <a:endParaRPr lang="en-US" dirty="0"/>
          </a:p>
        </p:txBody>
      </p:sp>
    </p:spTree>
    <p:extLst>
      <p:ext uri="{BB962C8B-B14F-4D97-AF65-F5344CB8AC3E}">
        <p14:creationId xmlns:p14="http://schemas.microsoft.com/office/powerpoint/2010/main" val="36573561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Thank you</a:t>
            </a:r>
            <a:endParaRPr lang="en-IN" dirty="0"/>
          </a:p>
        </p:txBody>
      </p:sp>
      <p:sp>
        <p:nvSpPr>
          <p:cNvPr id="5" name="Text Placeholder 4"/>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8902992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21220</TotalTime>
  <Words>7305</Words>
  <Application>Microsoft Office PowerPoint</Application>
  <PresentationFormat>On-screen Show (4:3)</PresentationFormat>
  <Paragraphs>709</Paragraphs>
  <Slides>61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61</vt:i4>
      </vt:variant>
    </vt:vector>
  </HeadingPairs>
  <TitlesOfParts>
    <vt:vector size="68" baseType="lpstr">
      <vt:lpstr>Archivo Narrow</vt:lpstr>
      <vt:lpstr>Georgia</vt:lpstr>
      <vt:lpstr>Book Antiqua</vt:lpstr>
      <vt:lpstr>Nunito</vt:lpstr>
      <vt:lpstr>Arial</vt:lpstr>
      <vt:lpstr>Calibri</vt:lpstr>
      <vt:lpstr>Simple Light</vt:lpstr>
      <vt:lpstr>UNIT-5 NOSQL</vt:lpstr>
      <vt:lpstr>Introduction to NOSQL Systems</vt:lpstr>
      <vt:lpstr>Why NoSQL?</vt:lpstr>
      <vt:lpstr>PowerPoint Presentation</vt:lpstr>
      <vt:lpstr>History of NOSQL</vt:lpstr>
      <vt:lpstr>Features of NOSQL</vt:lpstr>
      <vt:lpstr>…..Contd</vt:lpstr>
      <vt:lpstr>Why relational databases fall short</vt:lpstr>
      <vt:lpstr>Example</vt:lpstr>
      <vt:lpstr>PowerPoint Presentation</vt:lpstr>
      <vt:lpstr>PowerPoint Presentation</vt:lpstr>
      <vt:lpstr>The CAP Theorem</vt:lpstr>
      <vt:lpstr>Relationship of RDBMS with MongoDB </vt:lpstr>
      <vt:lpstr>PowerPoint Presentation</vt:lpstr>
      <vt:lpstr>Types of NoSQL Databases</vt:lpstr>
      <vt:lpstr>PowerPoint Presentation</vt:lpstr>
      <vt:lpstr>1. Key Value Pair Based Databases</vt:lpstr>
      <vt:lpstr>2. Column-based</vt:lpstr>
      <vt:lpstr>3. Document-Oriented</vt:lpstr>
      <vt:lpstr>4. Graph-Based</vt:lpstr>
      <vt:lpstr>Advantages of MongoDB over RDBMS</vt:lpstr>
      <vt:lpstr>Why Use MongoDB?</vt:lpstr>
      <vt:lpstr>Where to Use MongoDB?</vt:lpstr>
      <vt:lpstr>Installing MongoDB</vt:lpstr>
      <vt:lpstr>PowerPoint Presentation</vt:lpstr>
      <vt:lpstr>PowerPoint Presentation</vt:lpstr>
      <vt:lpstr>Create/Drop Database</vt:lpstr>
      <vt:lpstr>Create/drop Collection</vt:lpstr>
      <vt:lpstr>PowerPoint Presentation</vt:lpstr>
      <vt:lpstr>Data types</vt:lpstr>
      <vt:lpstr>INSERT method</vt:lpstr>
      <vt:lpstr>Insertone and insertmany methods</vt:lpstr>
      <vt:lpstr>To insert multiple documents</vt:lpstr>
      <vt:lpstr>find() method</vt:lpstr>
      <vt:lpstr>PowerPoint Presentation</vt:lpstr>
      <vt:lpstr>RDBMS Where Clause Equivalents in MongoDB</vt:lpstr>
      <vt:lpstr>AND in MongoDB</vt:lpstr>
      <vt:lpstr>OR in MongoDB</vt:lpstr>
      <vt:lpstr>Using AND and OR Together</vt:lpstr>
      <vt:lpstr>NOR in MongoDB</vt:lpstr>
      <vt:lpstr>NOT in MongoDB</vt:lpstr>
      <vt:lpstr>MongoDB Update() Method</vt:lpstr>
      <vt:lpstr>MongoDB Save() Method</vt:lpstr>
      <vt:lpstr>MongoDB findOneAndUpdate() method</vt:lpstr>
      <vt:lpstr>MongoDB updateOne() method</vt:lpstr>
      <vt:lpstr>MongoDB updateMany() method</vt:lpstr>
      <vt:lpstr>MongoDB - Delete Document</vt:lpstr>
      <vt:lpstr>MongoDB - Projection</vt:lpstr>
      <vt:lpstr>MongoDB - Limit Records</vt:lpstr>
      <vt:lpstr>MongoDB - Sort Records</vt:lpstr>
      <vt:lpstr>MongoDB - Indexing</vt:lpstr>
      <vt:lpstr>MongoDB - Aggregation</vt:lpstr>
      <vt:lpstr>list of available aggregation expressions.</vt:lpstr>
      <vt:lpstr>MongoDB - Replication</vt:lpstr>
      <vt:lpstr>How Replication Works in MongoDB</vt:lpstr>
      <vt:lpstr>PowerPoint Presentation</vt:lpstr>
      <vt:lpstr>MongoDB - Sharding</vt:lpstr>
      <vt:lpstr>Sharding in MongoDB using sharded cluster.</vt:lpstr>
      <vt:lpstr>MongoDB - Create Backup and restore data</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Shravya Raghavendra</dc:creator>
  <cp:lastModifiedBy>user</cp:lastModifiedBy>
  <cp:revision>1388</cp:revision>
  <dcterms:modified xsi:type="dcterms:W3CDTF">2026-08-29T04:15:16Z</dcterms:modified>
</cp:coreProperties>
</file>