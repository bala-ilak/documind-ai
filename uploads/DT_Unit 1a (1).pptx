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Lst>
  <p:notesMasterIdLst>
    <p:notesMasterId r:id="rId90"/>
  </p:notesMasterIdLst>
  <p:sldIdLst>
    <p:sldId id="256" r:id="rId3"/>
    <p:sldId id="257" r:id="rId4"/>
    <p:sldId id="258" r:id="rId5"/>
    <p:sldId id="259" r:id="rId6"/>
    <p:sldId id="289" r:id="rId7"/>
    <p:sldId id="260" r:id="rId8"/>
    <p:sldId id="261" r:id="rId9"/>
    <p:sldId id="262" r:id="rId10"/>
    <p:sldId id="263" r:id="rId11"/>
    <p:sldId id="264" r:id="rId12"/>
    <p:sldId id="290" r:id="rId13"/>
    <p:sldId id="300" r:id="rId14"/>
    <p:sldId id="292" r:id="rId15"/>
    <p:sldId id="293" r:id="rId16"/>
    <p:sldId id="294" r:id="rId17"/>
    <p:sldId id="295" r:id="rId18"/>
    <p:sldId id="296" r:id="rId19"/>
    <p:sldId id="299" r:id="rId20"/>
    <p:sldId id="302" r:id="rId21"/>
    <p:sldId id="303" r:id="rId22"/>
    <p:sldId id="298" r:id="rId23"/>
    <p:sldId id="304" r:id="rId24"/>
    <p:sldId id="265" r:id="rId25"/>
    <p:sldId id="306" r:id="rId26"/>
    <p:sldId id="308" r:id="rId27"/>
    <p:sldId id="309" r:id="rId28"/>
    <p:sldId id="310" r:id="rId29"/>
    <p:sldId id="339" r:id="rId30"/>
    <p:sldId id="311" r:id="rId31"/>
    <p:sldId id="266" r:id="rId32"/>
    <p:sldId id="340" r:id="rId33"/>
    <p:sldId id="341" r:id="rId34"/>
    <p:sldId id="342" r:id="rId35"/>
    <p:sldId id="343" r:id="rId36"/>
    <p:sldId id="351" r:id="rId37"/>
    <p:sldId id="352" r:id="rId38"/>
    <p:sldId id="267" r:id="rId39"/>
    <p:sldId id="268" r:id="rId40"/>
    <p:sldId id="344" r:id="rId41"/>
    <p:sldId id="345" r:id="rId42"/>
    <p:sldId id="346" r:id="rId43"/>
    <p:sldId id="347" r:id="rId44"/>
    <p:sldId id="348" r:id="rId45"/>
    <p:sldId id="349" r:id="rId46"/>
    <p:sldId id="350" r:id="rId47"/>
    <p:sldId id="269" r:id="rId48"/>
    <p:sldId id="353" r:id="rId49"/>
    <p:sldId id="354" r:id="rId50"/>
    <p:sldId id="355" r:id="rId51"/>
    <p:sldId id="356" r:id="rId52"/>
    <p:sldId id="270" r:id="rId53"/>
    <p:sldId id="271" r:id="rId54"/>
    <p:sldId id="357" r:id="rId55"/>
    <p:sldId id="358" r:id="rId56"/>
    <p:sldId id="272" r:id="rId57"/>
    <p:sldId id="359" r:id="rId58"/>
    <p:sldId id="360" r:id="rId59"/>
    <p:sldId id="361" r:id="rId60"/>
    <p:sldId id="273" r:id="rId61"/>
    <p:sldId id="362" r:id="rId62"/>
    <p:sldId id="363" r:id="rId63"/>
    <p:sldId id="364" r:id="rId64"/>
    <p:sldId id="274" r:id="rId65"/>
    <p:sldId id="365" r:id="rId66"/>
    <p:sldId id="368" r:id="rId67"/>
    <p:sldId id="369" r:id="rId68"/>
    <p:sldId id="275" r:id="rId69"/>
    <p:sldId id="366" r:id="rId70"/>
    <p:sldId id="370" r:id="rId71"/>
    <p:sldId id="371" r:id="rId72"/>
    <p:sldId id="276" r:id="rId73"/>
    <p:sldId id="367" r:id="rId74"/>
    <p:sldId id="372" r:id="rId75"/>
    <p:sldId id="373" r:id="rId76"/>
    <p:sldId id="374" r:id="rId77"/>
    <p:sldId id="278" r:id="rId78"/>
    <p:sldId id="277" r:id="rId79"/>
    <p:sldId id="279" r:id="rId80"/>
    <p:sldId id="281" r:id="rId81"/>
    <p:sldId id="280" r:id="rId82"/>
    <p:sldId id="282" r:id="rId83"/>
    <p:sldId id="283" r:id="rId84"/>
    <p:sldId id="284" r:id="rId85"/>
    <p:sldId id="285" r:id="rId86"/>
    <p:sldId id="286" r:id="rId87"/>
    <p:sldId id="287" r:id="rId88"/>
    <p:sldId id="288" r:id="rId8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6600"/>
    <a:srgbClr val="0000FF"/>
    <a:srgbClr val="D60093"/>
    <a:srgbClr val="0066FF"/>
    <a:srgbClr val="6600FF"/>
    <a:srgbClr val="9933FF"/>
    <a:srgbClr val="FF505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41" autoAdjust="0"/>
  </p:normalViewPr>
  <p:slideViewPr>
    <p:cSldViewPr snapToGrid="0">
      <p:cViewPr varScale="1">
        <p:scale>
          <a:sx n="62" d="100"/>
          <a:sy n="62" d="100"/>
        </p:scale>
        <p:origin x="14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Acquire Knowledge: Record arrival times for one week. </a:t>
            </a:r>
          </a:p>
          <a:p>
            <a:r>
              <a:rPr lang="en-US" dirty="0"/>
              <a:t>Reasoning: Identify the main causes of lateness. </a:t>
            </a:r>
          </a:p>
          <a:p>
            <a:r>
              <a:rPr lang="en-US" dirty="0"/>
              <a:t>•	Judgment: Evaluate possible solutions. </a:t>
            </a:r>
          </a:p>
          <a:p>
            <a:r>
              <a:rPr lang="en-US" dirty="0"/>
              <a:t>•	Problem Solving: Design a reminder system. </a:t>
            </a:r>
          </a:p>
          <a:p>
            <a:r>
              <a:rPr lang="en-US" dirty="0"/>
              <a:t>•	Decision Making: Implement WhatsApp reminders. </a:t>
            </a:r>
          </a:p>
          <a:p>
            <a:r>
              <a:rPr lang="en-US" dirty="0"/>
              <a:t>•	Innovation: Create an automated attendance and reminder app. </a:t>
            </a:r>
          </a:p>
          <a:p>
            <a:endParaRPr lang="en-IN" dirty="0"/>
          </a:p>
        </p:txBody>
      </p:sp>
    </p:spTree>
    <p:extLst>
      <p:ext uri="{BB962C8B-B14F-4D97-AF65-F5344CB8AC3E}">
        <p14:creationId xmlns:p14="http://schemas.microsoft.com/office/powerpoint/2010/main" val="870302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Cognitive processes are the mental activities involved in acquiring, processing, storing, and using information. They allow us to perceive the world, think, learn, remember, solve problems, and make decisions.</a:t>
            </a:r>
            <a:endParaRPr lang="en-IN" dirty="0"/>
          </a:p>
        </p:txBody>
      </p:sp>
    </p:spTree>
    <p:extLst>
      <p:ext uri="{BB962C8B-B14F-4D97-AF65-F5344CB8AC3E}">
        <p14:creationId xmlns:p14="http://schemas.microsoft.com/office/powerpoint/2010/main" val="2330208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UPI (Unified Payments Interface)</a:t>
            </a:r>
            <a:r>
              <a:rPr lang="en-US" dirty="0"/>
              <a:t> was developed by the National Payments Corporation of India, an organization established by the Reserve Bank of India and the Indian Banks' Association. UPI was officially launched in </a:t>
            </a:r>
            <a:r>
              <a:rPr lang="en-US" b="1" dirty="0"/>
              <a:t>April 2016</a:t>
            </a:r>
            <a:r>
              <a:rPr lang="en-US" dirty="0"/>
              <a:t> by then RBI Governor Raghuram Rajan. Nandan Nilekani – played an important advisory role and helped shape the vision for a simple digital payments ecosystem.</a:t>
            </a:r>
          </a:p>
          <a:p>
            <a:r>
              <a:rPr lang="en-US" b="1" dirty="0"/>
              <a:t>ONDC (Open Network for Digital Commerce)</a:t>
            </a:r>
            <a:r>
              <a:rPr lang="en-US" dirty="0"/>
              <a:t> is an initiative by the Government of India that aims to create an </a:t>
            </a:r>
            <a:r>
              <a:rPr lang="en-US" b="1" dirty="0"/>
              <a:t>open, interoperable network for digital commerce</a:t>
            </a:r>
            <a:r>
              <a:rPr lang="en-US" dirty="0"/>
              <a:t>, similar to how UPI created an open network for digital payments. Open Network for Digital Commerce was launched by the Department for Promotion of Industry and Internal Trade under the Ministry of Commerce and Industry.</a:t>
            </a:r>
          </a:p>
          <a:p>
            <a:r>
              <a:rPr lang="en-US" b="1" dirty="0"/>
              <a:t>Aadhaar: </a:t>
            </a:r>
            <a:r>
              <a:rPr lang="en-US" dirty="0"/>
              <a:t>Unique Identification Authority of India issues </a:t>
            </a:r>
            <a:r>
              <a:rPr lang="en-US" b="1" dirty="0"/>
              <a:t>Aadhaar</a:t>
            </a:r>
            <a:r>
              <a:rPr lang="en-US" dirty="0"/>
              <a:t>, a 12-digit unique identification number provided to residents of India.</a:t>
            </a:r>
          </a:p>
          <a:p>
            <a:endParaRPr lang="en-US" dirty="0"/>
          </a:p>
          <a:p>
            <a:endParaRPr lang="en-IN" dirty="0"/>
          </a:p>
        </p:txBody>
      </p:sp>
    </p:spTree>
    <p:extLst>
      <p:ext uri="{BB962C8B-B14F-4D97-AF65-F5344CB8AC3E}">
        <p14:creationId xmlns:p14="http://schemas.microsoft.com/office/powerpoint/2010/main" val="317860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Cognitive refers to the mental processes involved in acquiring, understanding, storing, and using knowledge and information.</a:t>
            </a:r>
            <a:endParaRPr lang="en-IN" dirty="0"/>
          </a:p>
        </p:txBody>
      </p:sp>
    </p:spTree>
    <p:extLst>
      <p:ext uri="{BB962C8B-B14F-4D97-AF65-F5344CB8AC3E}">
        <p14:creationId xmlns:p14="http://schemas.microsoft.com/office/powerpoint/2010/main" val="7674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C51A-5B92-C5D8-635F-78B372E0B43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7BB5E906-8137-F1F0-58DA-48A6BC4A0F2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E028B6-FEA7-5EB5-8037-67FE77F1DBC5}"/>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5" name="Footer Placeholder 4">
            <a:extLst>
              <a:ext uri="{FF2B5EF4-FFF2-40B4-BE49-F238E27FC236}">
                <a16:creationId xmlns:a16="http://schemas.microsoft.com/office/drawing/2014/main" id="{991380C7-4F1F-3518-75D8-4985356917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AF1C5C-D39D-6DE3-42F3-9EA5F0CD5783}"/>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67601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F6F47-BDDD-A53F-5B8B-E1410A4D31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688E7E-B569-4DC8-3562-0B4A1C4CB7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33E35-B122-4321-634E-5592DBE4D09C}"/>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5" name="Footer Placeholder 4">
            <a:extLst>
              <a:ext uri="{FF2B5EF4-FFF2-40B4-BE49-F238E27FC236}">
                <a16:creationId xmlns:a16="http://schemas.microsoft.com/office/drawing/2014/main" id="{17ECA90B-5108-3ED7-0831-A7CF975368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4A09C9-33B7-89EE-0C4D-C3CCCF8DA247}"/>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3961536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385E-F5F3-AB56-856A-81584D866073}"/>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2E264C-3224-9E41-1C47-13AFD59AA1F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728026-8573-3168-10AC-396FA010A04B}"/>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5" name="Footer Placeholder 4">
            <a:extLst>
              <a:ext uri="{FF2B5EF4-FFF2-40B4-BE49-F238E27FC236}">
                <a16:creationId xmlns:a16="http://schemas.microsoft.com/office/drawing/2014/main" id="{66E07FFA-499E-B11B-8468-454CA354F2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581F37-5A9F-7B45-ABF1-C02252A2842E}"/>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818829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367C0-9104-B0E6-F002-E80A0F7B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B1EBB6-450E-C6E0-9399-9CAE84F0E88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33AB60-2E6C-8A93-3EE9-C82D7625A39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BBF4E9-5F53-453D-6F78-5B07764600E7}"/>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6" name="Footer Placeholder 5">
            <a:extLst>
              <a:ext uri="{FF2B5EF4-FFF2-40B4-BE49-F238E27FC236}">
                <a16:creationId xmlns:a16="http://schemas.microsoft.com/office/drawing/2014/main" id="{9289F8D4-EF4A-254A-3ADB-7AE8B1623F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005869-16EB-67FB-7FA0-25920BEF4227}"/>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3665277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EB8B3-A2E8-FED5-EB63-B7347A108D41}"/>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F9E16E-6E29-BDDB-261C-E191B0C9397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FC808CB-C424-5EDB-9830-78F8937AC91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12F647-72DD-13E5-A391-98062A45002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2CCC7D2-FD54-169C-F6FF-BB133428D73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CF37FF-FF27-1483-9737-E86ABACE80D3}"/>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8" name="Footer Placeholder 7">
            <a:extLst>
              <a:ext uri="{FF2B5EF4-FFF2-40B4-BE49-F238E27FC236}">
                <a16:creationId xmlns:a16="http://schemas.microsoft.com/office/drawing/2014/main" id="{38CAE1E6-17F7-6B8A-672B-F9752CC08D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DDEFD75-208A-C324-F6D5-1B69D11E7409}"/>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31924352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A9CA-9CBA-C9E5-CC50-05B3DE0219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D1574D-7074-2726-ACB3-5DC039563560}"/>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4" name="Footer Placeholder 3">
            <a:extLst>
              <a:ext uri="{FF2B5EF4-FFF2-40B4-BE49-F238E27FC236}">
                <a16:creationId xmlns:a16="http://schemas.microsoft.com/office/drawing/2014/main" id="{BE63FD5E-6DE9-6273-DF35-682BE5188E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5871D2-F53A-1F02-D89A-6F27EC568040}"/>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27164983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CF2A0C-3E91-68B1-1AC8-E52EE4A51579}"/>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3" name="Footer Placeholder 2">
            <a:extLst>
              <a:ext uri="{FF2B5EF4-FFF2-40B4-BE49-F238E27FC236}">
                <a16:creationId xmlns:a16="http://schemas.microsoft.com/office/drawing/2014/main" id="{2B1D94B8-A84E-5E65-FD5D-60A618F397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ABD19D-0496-82A5-17B3-426FE587A7C1}"/>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4290288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1926F-8D10-C071-25C0-9629D6369EA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CE32FF-0873-C710-9ACE-CB091497815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E53EB2-E8A2-D473-9F62-E016784EAC5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0B27ABF-2360-E727-B27E-573C5DB1E8D5}"/>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6" name="Footer Placeholder 5">
            <a:extLst>
              <a:ext uri="{FF2B5EF4-FFF2-40B4-BE49-F238E27FC236}">
                <a16:creationId xmlns:a16="http://schemas.microsoft.com/office/drawing/2014/main" id="{A3AF9609-5C11-2A70-261D-65B1863052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CA7AFE-50D3-70C7-995D-3AA16C09BDD8}"/>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37025414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F11A-025D-63DC-D14C-12C4855F32E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5F0E5B-26E9-322C-DC90-CF760D50B45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E0E8825-3425-F31E-FF2C-CE4315E758E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473F9D3-4364-3119-B260-85DAE6D23075}"/>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6" name="Footer Placeholder 5">
            <a:extLst>
              <a:ext uri="{FF2B5EF4-FFF2-40B4-BE49-F238E27FC236}">
                <a16:creationId xmlns:a16="http://schemas.microsoft.com/office/drawing/2014/main" id="{857D14C7-7DF0-A078-1395-98EA0EE2F0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A80D75-725F-487E-FC05-E49050228087}"/>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3961082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38F8C-3204-13F9-0CA5-7E2C80DBE0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28AAFC-6B04-D3BC-DACC-7FEB3C17F7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73D56F-9C90-42A8-3A3D-3B2CED7035EA}"/>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5" name="Footer Placeholder 4">
            <a:extLst>
              <a:ext uri="{FF2B5EF4-FFF2-40B4-BE49-F238E27FC236}">
                <a16:creationId xmlns:a16="http://schemas.microsoft.com/office/drawing/2014/main" id="{F45D22E9-F7BF-4976-DA91-C5FD5F3589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090AF-8279-54F6-E9A9-0CA6DF02F2A4}"/>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29325416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D01DB7-91AE-FFE6-9D89-31ABA8D26C6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746986-9D91-813C-B7BD-9455CDB41AD9}"/>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B889BF-0480-6842-F687-1E9121121488}"/>
              </a:ext>
            </a:extLst>
          </p:cNvPr>
          <p:cNvSpPr>
            <a:spLocks noGrp="1"/>
          </p:cNvSpPr>
          <p:nvPr>
            <p:ph type="dt" sz="half" idx="10"/>
          </p:nvPr>
        </p:nvSpPr>
        <p:spPr/>
        <p:txBody>
          <a:bodyPr/>
          <a:lstStyle/>
          <a:p>
            <a:fld id="{EB26C9E2-B6BE-4DD7-A086-E18C2E201BAB}" type="datetimeFigureOut">
              <a:rPr lang="en-IN" smtClean="0"/>
              <a:t>12-06-2026</a:t>
            </a:fld>
            <a:endParaRPr lang="en-IN"/>
          </a:p>
        </p:txBody>
      </p:sp>
      <p:sp>
        <p:nvSpPr>
          <p:cNvPr id="5" name="Footer Placeholder 4">
            <a:extLst>
              <a:ext uri="{FF2B5EF4-FFF2-40B4-BE49-F238E27FC236}">
                <a16:creationId xmlns:a16="http://schemas.microsoft.com/office/drawing/2014/main" id="{22BEFFC3-C670-4DCC-6CED-68AA3AB9FC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21BAFC-9C2D-79E0-5DB3-DA851AA69056}"/>
              </a:ext>
            </a:extLst>
          </p:cNvPr>
          <p:cNvSpPr>
            <a:spLocks noGrp="1"/>
          </p:cNvSpPr>
          <p:nvPr>
            <p:ph type="sldNum" sz="quarter" idx="12"/>
          </p:nvPr>
        </p:nvSpPr>
        <p:spPr/>
        <p:txBody>
          <a:bodyPr/>
          <a:lstStyle/>
          <a:p>
            <a:fld id="{FD17098C-68C3-436C-94B1-AFDE370F5F97}" type="slidenum">
              <a:rPr lang="en-IN" smtClean="0"/>
              <a:t>‹#›</a:t>
            </a:fld>
            <a:endParaRPr lang="en-IN"/>
          </a:p>
        </p:txBody>
      </p:sp>
    </p:spTree>
    <p:extLst>
      <p:ext uri="{BB962C8B-B14F-4D97-AF65-F5344CB8AC3E}">
        <p14:creationId xmlns:p14="http://schemas.microsoft.com/office/powerpoint/2010/main" val="3576290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5A286A-11C7-CFF1-7A8D-891131E5E60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821FF8-3612-2CDB-6655-B354332C476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D6FF71-59AF-8B0D-332D-6DBC6A28214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B26C9E2-B6BE-4DD7-A086-E18C2E201BAB}" type="datetimeFigureOut">
              <a:rPr lang="en-IN" smtClean="0"/>
              <a:t>12-06-2026</a:t>
            </a:fld>
            <a:endParaRPr lang="en-IN"/>
          </a:p>
        </p:txBody>
      </p:sp>
      <p:sp>
        <p:nvSpPr>
          <p:cNvPr id="5" name="Footer Placeholder 4">
            <a:extLst>
              <a:ext uri="{FF2B5EF4-FFF2-40B4-BE49-F238E27FC236}">
                <a16:creationId xmlns:a16="http://schemas.microsoft.com/office/drawing/2014/main" id="{CA1E08EC-B7DF-C562-7D2A-36A59336975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CB69BE-A58E-B282-91AE-1204B5BCCB3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D17098C-68C3-436C-94B1-AFDE370F5F97}" type="slidenum">
              <a:rPr lang="en-IN" smtClean="0"/>
              <a:t>‹#›</a:t>
            </a:fld>
            <a:endParaRPr lang="en-IN"/>
          </a:p>
        </p:txBody>
      </p:sp>
    </p:spTree>
    <p:extLst>
      <p:ext uri="{BB962C8B-B14F-4D97-AF65-F5344CB8AC3E}">
        <p14:creationId xmlns:p14="http://schemas.microsoft.com/office/powerpoint/2010/main" val="88447909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tif"/><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2" Type="http://schemas.openxmlformats.org/officeDocument/2006/relationships/image" Target="../media/image18.t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1"/>
          <p:cNvSpPr txBox="1">
            <a:spLocks noGrp="1"/>
          </p:cNvSpPr>
          <p:nvPr>
            <p:ph type="ctrTitle"/>
          </p:nvPr>
        </p:nvSpPr>
        <p:spPr>
          <a:xfrm>
            <a:off x="812800" y="34925"/>
            <a:ext cx="7772400" cy="1470025"/>
          </a:xfrm>
          <a:prstGeom prst="rect">
            <a:avLst/>
          </a:prstGeom>
        </p:spPr>
        <p:txBody>
          <a:bodyPr/>
          <a:lstStyle>
            <a:lvl1pPr>
              <a:defRPr>
                <a:latin typeface="Times New Roman"/>
                <a:ea typeface="Times New Roman"/>
                <a:cs typeface="Times New Roman"/>
                <a:sym typeface="Times New Roman"/>
              </a:defRPr>
            </a:lvl1pPr>
          </a:lstStyle>
          <a:p>
            <a:r>
              <a:rPr dirty="0"/>
              <a:t>DESIGN THINKING</a:t>
            </a:r>
            <a:r>
              <a:rPr lang="en-US" dirty="0"/>
              <a:t> (ADS336)</a:t>
            </a:r>
            <a:endParaRPr dirty="0"/>
          </a:p>
        </p:txBody>
      </p:sp>
      <p:sp>
        <p:nvSpPr>
          <p:cNvPr id="95" name="Subtitle 2"/>
          <p:cNvSpPr txBox="1">
            <a:spLocks noGrp="1"/>
          </p:cNvSpPr>
          <p:nvPr>
            <p:ph type="subTitle" sz="quarter" idx="1"/>
          </p:nvPr>
        </p:nvSpPr>
        <p:spPr>
          <a:xfrm>
            <a:off x="1371600" y="4895618"/>
            <a:ext cx="6400800" cy="1752601"/>
          </a:xfrm>
          <a:prstGeom prst="rect">
            <a:avLst/>
          </a:prstGeom>
        </p:spPr>
        <p:txBody>
          <a:bodyPr>
            <a:normAutofit lnSpcReduction="10000"/>
          </a:bodyPr>
          <a:lstStyle/>
          <a:p>
            <a:pPr defTabSz="370331">
              <a:spcBef>
                <a:spcPts val="600"/>
              </a:spcBef>
              <a:defRPr sz="2592">
                <a:latin typeface="Times New Roman"/>
                <a:ea typeface="Times New Roman"/>
                <a:cs typeface="Times New Roman"/>
                <a:sym typeface="Times New Roman"/>
              </a:defRPr>
            </a:pPr>
            <a:r>
              <a:rPr lang="en-US" dirty="0">
                <a:solidFill>
                  <a:schemeClr val="tx1"/>
                </a:solidFill>
              </a:rPr>
              <a:t>UNIT-1a</a:t>
            </a:r>
            <a:endParaRPr dirty="0">
              <a:solidFill>
                <a:schemeClr val="tx1"/>
              </a:solidFill>
            </a:endParaRPr>
          </a:p>
          <a:p>
            <a:pPr defTabSz="370331">
              <a:spcBef>
                <a:spcPts val="600"/>
              </a:spcBef>
              <a:defRPr sz="2592">
                <a:latin typeface="Times New Roman"/>
                <a:ea typeface="Times New Roman"/>
                <a:cs typeface="Times New Roman"/>
                <a:sym typeface="Times New Roman"/>
              </a:defRPr>
            </a:pPr>
            <a:endParaRPr dirty="0">
              <a:solidFill>
                <a:schemeClr val="tx1"/>
              </a:solidFill>
            </a:endParaRPr>
          </a:p>
          <a:p>
            <a:pPr defTabSz="370331">
              <a:spcBef>
                <a:spcPts val="600"/>
              </a:spcBef>
              <a:defRPr sz="2592">
                <a:latin typeface="Times New Roman"/>
                <a:ea typeface="Times New Roman"/>
                <a:cs typeface="Times New Roman"/>
                <a:sym typeface="Times New Roman"/>
              </a:defRPr>
            </a:pPr>
            <a:r>
              <a:rPr dirty="0">
                <a:solidFill>
                  <a:schemeClr val="tx1"/>
                </a:solidFill>
              </a:rPr>
              <a:t>Reference: Idris </a:t>
            </a:r>
            <a:r>
              <a:rPr dirty="0" err="1">
                <a:solidFill>
                  <a:schemeClr val="tx1"/>
                </a:solidFill>
              </a:rPr>
              <a:t>Mootee</a:t>
            </a:r>
            <a:r>
              <a:rPr dirty="0">
                <a:solidFill>
                  <a:schemeClr val="tx1"/>
                </a:solidFill>
              </a:rPr>
              <a:t>, Design Thinking for Strategic Innovation</a:t>
            </a:r>
          </a:p>
        </p:txBody>
      </p:sp>
      <p:pic>
        <p:nvPicPr>
          <p:cNvPr id="96" name="Screenshot 2026-05-31 at 11.15.26 PM.png" descr="Screenshot 2026-05-31 at 11.15.26 PM.png"/>
          <p:cNvPicPr>
            <a:picLocks noChangeAspect="1"/>
          </p:cNvPicPr>
          <p:nvPr/>
        </p:nvPicPr>
        <p:blipFill>
          <a:blip r:embed="rId2"/>
          <a:stretch>
            <a:fillRect/>
          </a:stretch>
        </p:blipFill>
        <p:spPr>
          <a:xfrm>
            <a:off x="1860550" y="1360137"/>
            <a:ext cx="5676900" cy="2946401"/>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he Team"/>
          <p:cNvSpPr txBox="1">
            <a:spLocks noGrp="1"/>
          </p:cNvSpPr>
          <p:nvPr>
            <p:ph type="title"/>
          </p:nvPr>
        </p:nvSpPr>
        <p:spPr>
          <a:xfrm>
            <a:off x="457200" y="-4017"/>
            <a:ext cx="8229600" cy="1143001"/>
          </a:xfrm>
          <a:prstGeom prst="rect">
            <a:avLst/>
          </a:prstGeom>
        </p:spPr>
        <p:txBody>
          <a:bodyPr/>
          <a:lstStyle>
            <a:lvl1pPr>
              <a:defRPr>
                <a:latin typeface="Times New Roman"/>
                <a:ea typeface="Times New Roman"/>
                <a:cs typeface="Times New Roman"/>
                <a:sym typeface="Times New Roman"/>
              </a:defRPr>
            </a:lvl1pPr>
          </a:lstStyle>
          <a:p>
            <a:r>
              <a:t>The Team</a:t>
            </a:r>
          </a:p>
        </p:txBody>
      </p:sp>
      <p:pic>
        <p:nvPicPr>
          <p:cNvPr id="99" name="Screenshot 2026-05-31 at 11.09.10 PM.png" descr="Screenshot 2026-05-31 at 11.09.10 PM.png"/>
          <p:cNvPicPr>
            <a:picLocks noChangeAspect="1"/>
          </p:cNvPicPr>
          <p:nvPr/>
        </p:nvPicPr>
        <p:blipFill>
          <a:blip r:embed="rId2"/>
          <a:stretch>
            <a:fillRect/>
          </a:stretch>
        </p:blipFill>
        <p:spPr>
          <a:xfrm>
            <a:off x="527027" y="4143711"/>
            <a:ext cx="1677351" cy="2547824"/>
          </a:xfrm>
          <a:prstGeom prst="rect">
            <a:avLst/>
          </a:prstGeom>
          <a:ln w="12700">
            <a:miter lim="400000"/>
          </a:ln>
        </p:spPr>
      </p:pic>
      <p:pic>
        <p:nvPicPr>
          <p:cNvPr id="100" name="Screenshot 2026-05-31 at 11.09.38 PM.png" descr="Screenshot 2026-05-31 at 11.09.38 PM.png"/>
          <p:cNvPicPr>
            <a:picLocks noChangeAspect="1"/>
          </p:cNvPicPr>
          <p:nvPr/>
        </p:nvPicPr>
        <p:blipFill>
          <a:blip r:embed="rId3"/>
          <a:stretch>
            <a:fillRect/>
          </a:stretch>
        </p:blipFill>
        <p:spPr>
          <a:xfrm>
            <a:off x="2370692" y="989584"/>
            <a:ext cx="1657621" cy="2810287"/>
          </a:xfrm>
          <a:prstGeom prst="rect">
            <a:avLst/>
          </a:prstGeom>
          <a:ln w="12700">
            <a:miter lim="400000"/>
          </a:ln>
        </p:spPr>
      </p:pic>
      <p:pic>
        <p:nvPicPr>
          <p:cNvPr id="101" name="Screenshot 2026-05-31 at 11.10.13 PM.png" descr="Screenshot 2026-05-31 at 11.10.13 PM.png"/>
          <p:cNvPicPr>
            <a:picLocks noChangeAspect="1"/>
          </p:cNvPicPr>
          <p:nvPr/>
        </p:nvPicPr>
        <p:blipFill>
          <a:blip r:embed="rId4"/>
          <a:stretch>
            <a:fillRect/>
          </a:stretch>
        </p:blipFill>
        <p:spPr>
          <a:xfrm>
            <a:off x="2866428" y="4143440"/>
            <a:ext cx="1705572" cy="2547823"/>
          </a:xfrm>
          <a:prstGeom prst="rect">
            <a:avLst/>
          </a:prstGeom>
          <a:ln w="12700">
            <a:miter lim="400000"/>
          </a:ln>
        </p:spPr>
      </p:pic>
      <p:pic>
        <p:nvPicPr>
          <p:cNvPr id="102" name="Screenshot 2026-05-31 at 11.10.51 PM.png" descr="Screenshot 2026-05-31 at 11.10.51 PM.png"/>
          <p:cNvPicPr>
            <a:picLocks noChangeAspect="1"/>
          </p:cNvPicPr>
          <p:nvPr/>
        </p:nvPicPr>
        <p:blipFill>
          <a:blip r:embed="rId5"/>
          <a:stretch>
            <a:fillRect/>
          </a:stretch>
        </p:blipFill>
        <p:spPr>
          <a:xfrm>
            <a:off x="6521634" y="989585"/>
            <a:ext cx="1955978" cy="2810286"/>
          </a:xfrm>
          <a:prstGeom prst="rect">
            <a:avLst/>
          </a:prstGeom>
          <a:ln w="12700">
            <a:miter lim="400000"/>
          </a:ln>
        </p:spPr>
      </p:pic>
      <p:pic>
        <p:nvPicPr>
          <p:cNvPr id="103" name="Screenshot 2026-05-31 at 11.11.27 PM.png" descr="Screenshot 2026-05-31 at 11.11.27 PM.png"/>
          <p:cNvPicPr>
            <a:picLocks noChangeAspect="1"/>
          </p:cNvPicPr>
          <p:nvPr/>
        </p:nvPicPr>
        <p:blipFill>
          <a:blip r:embed="rId6"/>
          <a:stretch>
            <a:fillRect/>
          </a:stretch>
        </p:blipFill>
        <p:spPr>
          <a:xfrm>
            <a:off x="413824" y="989584"/>
            <a:ext cx="1790554" cy="2810287"/>
          </a:xfrm>
          <a:prstGeom prst="rect">
            <a:avLst/>
          </a:prstGeom>
          <a:ln w="12700">
            <a:miter lim="400000"/>
          </a:ln>
        </p:spPr>
      </p:pic>
      <p:pic>
        <p:nvPicPr>
          <p:cNvPr id="104" name="Screenshot 2026-05-31 at 11.11.43 PM.png" descr="Screenshot 2026-05-31 at 11.11.43 PM.png"/>
          <p:cNvPicPr>
            <a:picLocks noChangeAspect="1"/>
          </p:cNvPicPr>
          <p:nvPr/>
        </p:nvPicPr>
        <p:blipFill>
          <a:blip r:embed="rId7"/>
          <a:stretch>
            <a:fillRect/>
          </a:stretch>
        </p:blipFill>
        <p:spPr>
          <a:xfrm>
            <a:off x="4314153" y="989584"/>
            <a:ext cx="1998293" cy="2810286"/>
          </a:xfrm>
          <a:prstGeom prst="rect">
            <a:avLst/>
          </a:prstGeom>
          <a:ln w="12700">
            <a:miter lim="400000"/>
          </a:ln>
        </p:spPr>
      </p:pic>
      <p:pic>
        <p:nvPicPr>
          <p:cNvPr id="105" name="Screenshot 2026-05-31 at 11.12.11 PM.png" descr="Screenshot 2026-05-31 at 11.12.11 PM.png"/>
          <p:cNvPicPr>
            <a:picLocks noChangeAspect="1"/>
          </p:cNvPicPr>
          <p:nvPr/>
        </p:nvPicPr>
        <p:blipFill>
          <a:blip r:embed="rId8"/>
          <a:stretch>
            <a:fillRect/>
          </a:stretch>
        </p:blipFill>
        <p:spPr>
          <a:xfrm>
            <a:off x="4994800" y="4045849"/>
            <a:ext cx="1790554" cy="2548095"/>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Course Description</a:t>
            </a:r>
          </a:p>
        </p:txBody>
      </p:sp>
      <p:sp>
        <p:nvSpPr>
          <p:cNvPr id="108" name="Content Placeholder 2"/>
          <p:cNvSpPr txBox="1">
            <a:spLocks noGrp="1"/>
          </p:cNvSpPr>
          <p:nvPr>
            <p:ph type="body" idx="1"/>
          </p:nvPr>
        </p:nvSpPr>
        <p:spPr>
          <a:xfrm>
            <a:off x="457200" y="1600200"/>
            <a:ext cx="8229600" cy="4525963"/>
          </a:xfrm>
          <a:prstGeom prst="rect">
            <a:avLst/>
          </a:prstGeom>
        </p:spPr>
        <p:txBody>
          <a:bodyPr/>
          <a:lstStyle/>
          <a:p>
            <a:pPr marL="150795" indent="-150795" algn="just" defTabSz="429768">
              <a:spcBef>
                <a:spcPts val="1100"/>
              </a:spcBef>
              <a:buFontTx/>
              <a:defRPr sz="2068">
                <a:latin typeface="Times New Roman"/>
                <a:ea typeface="Times New Roman"/>
                <a:cs typeface="Times New Roman"/>
                <a:sym typeface="Times New Roman"/>
              </a:defRPr>
            </a:pPr>
            <a:r>
              <a:t>This course introduces learners to the principles and practices of Design Thinking as a human-centered approach to innovation and problem-solving. </a:t>
            </a:r>
          </a:p>
          <a:p>
            <a:pPr marL="150795" indent="-150795" algn="just" defTabSz="429768">
              <a:spcBef>
                <a:spcPts val="1100"/>
              </a:spcBef>
              <a:buFontTx/>
              <a:defRPr sz="2068">
                <a:latin typeface="Times New Roman"/>
                <a:ea typeface="Times New Roman"/>
                <a:cs typeface="Times New Roman"/>
                <a:sym typeface="Times New Roman"/>
              </a:defRPr>
            </a:pPr>
            <a:r>
              <a:t>It explores thinking processes, empathy-driven research, ideation techniques, prototyping, testing, and iterative design methods. </a:t>
            </a:r>
          </a:p>
          <a:p>
            <a:pPr marL="150795" indent="-150795" algn="just" defTabSz="429768">
              <a:spcBef>
                <a:spcPts val="1100"/>
              </a:spcBef>
              <a:buFontTx/>
              <a:defRPr sz="2068">
                <a:latin typeface="Times New Roman"/>
                <a:ea typeface="Times New Roman"/>
                <a:cs typeface="Times New Roman"/>
                <a:sym typeface="Times New Roman"/>
              </a:defRPr>
            </a:pPr>
            <a:r>
              <a:t>Students will learn to identify user needs, define real-world problems, generate creative solutions, and develop prototypes using various design tools and techniques. </a:t>
            </a:r>
          </a:p>
          <a:p>
            <a:pPr marL="150795" indent="-150795" algn="just" defTabSz="429768">
              <a:spcBef>
                <a:spcPts val="1100"/>
              </a:spcBef>
              <a:buFontTx/>
              <a:defRPr sz="2068">
                <a:latin typeface="Times New Roman"/>
                <a:ea typeface="Times New Roman"/>
                <a:cs typeface="Times New Roman"/>
                <a:sym typeface="Times New Roman"/>
              </a:defRPr>
            </a:pPr>
            <a:r>
              <a:t>Emphasis is placed on employability skills, creativity, collaboration, and human values through hands-on activities and practical applications. </a:t>
            </a:r>
          </a:p>
          <a:p>
            <a:pPr marL="150795" indent="-150795" algn="just" defTabSz="429768">
              <a:spcBef>
                <a:spcPts val="1100"/>
              </a:spcBef>
              <a:buFontTx/>
              <a:defRPr sz="2068">
                <a:latin typeface="Times New Roman"/>
                <a:ea typeface="Times New Roman"/>
                <a:cs typeface="Times New Roman"/>
                <a:sym typeface="Times New Roman"/>
              </a:defRPr>
            </a:pPr>
            <a:r>
              <a:t>By the end of the course, learners will be equipped to apply design thinking methodologies effectively in academic, professional, and social contexts.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Course Outcomes</a:t>
            </a:r>
          </a:p>
        </p:txBody>
      </p:sp>
      <p:sp>
        <p:nvSpPr>
          <p:cNvPr id="111" name="Content Placeholder 2"/>
          <p:cNvSpPr txBox="1">
            <a:spLocks noGrp="1"/>
          </p:cNvSpPr>
          <p:nvPr>
            <p:ph type="body" idx="1"/>
          </p:nvPr>
        </p:nvSpPr>
        <p:spPr>
          <a:xfrm>
            <a:off x="457200" y="1600200"/>
            <a:ext cx="8229600" cy="4525963"/>
          </a:xfrm>
          <a:prstGeom prst="rect">
            <a:avLst/>
          </a:prstGeom>
        </p:spPr>
        <p:txBody>
          <a:bodyPr/>
          <a:lstStyle/>
          <a:p>
            <a:pPr marL="0" indent="0">
              <a:spcBef>
                <a:spcPts val="1200"/>
              </a:spcBef>
              <a:buSzTx/>
              <a:buFontTx/>
              <a:buNone/>
              <a:defRPr sz="2200" i="1">
                <a:latin typeface="Times Roman"/>
                <a:ea typeface="Times Roman"/>
                <a:cs typeface="Times Roman"/>
                <a:sym typeface="Times Roman"/>
              </a:defRPr>
            </a:pPr>
            <a:r>
              <a:t>CO1: Understand the design thinking process and its importance in problem- solving. </a:t>
            </a:r>
            <a:endParaRPr i="0"/>
          </a:p>
          <a:p>
            <a:pPr marL="0" indent="0">
              <a:spcBef>
                <a:spcPts val="1200"/>
              </a:spcBef>
              <a:buSzTx/>
              <a:buFontTx/>
              <a:buNone/>
              <a:defRPr sz="2200" i="1">
                <a:latin typeface="Times Roman"/>
                <a:ea typeface="Times Roman"/>
                <a:cs typeface="Times Roman"/>
                <a:sym typeface="Times Roman"/>
              </a:defRPr>
            </a:pPr>
            <a:r>
              <a:t>CO2: Apply empathy techniques to understand user needs and define design problems. </a:t>
            </a:r>
            <a:endParaRPr i="0"/>
          </a:p>
          <a:p>
            <a:pPr marL="0" indent="0">
              <a:spcBef>
                <a:spcPts val="1200"/>
              </a:spcBef>
              <a:buSzTx/>
              <a:buFontTx/>
              <a:buNone/>
              <a:defRPr sz="2200" i="1">
                <a:latin typeface="Times Roman"/>
                <a:ea typeface="Times Roman"/>
                <a:cs typeface="Times Roman"/>
                <a:sym typeface="Times Roman"/>
              </a:defRPr>
            </a:pPr>
            <a:r>
              <a:t>CO3: Generate creative ideas using ideation techniques and create basic prototypes. </a:t>
            </a:r>
            <a:endParaRPr i="0"/>
          </a:p>
          <a:p>
            <a:pPr marL="0" indent="0">
              <a:spcBef>
                <a:spcPts val="1200"/>
              </a:spcBef>
              <a:buSzTx/>
              <a:buFontTx/>
              <a:buNone/>
              <a:defRPr sz="2200" i="1">
                <a:latin typeface="Times Roman"/>
                <a:ea typeface="Times Roman"/>
                <a:cs typeface="Times Roman"/>
                <a:sym typeface="Times Roman"/>
              </a:defRPr>
            </a:pPr>
            <a:r>
              <a:t>CO4: Create prototypes and refine designs through iterative testing and feedback. </a:t>
            </a:r>
            <a:endParaRPr i="0"/>
          </a:p>
          <a:p>
            <a:pPr marL="0" indent="0">
              <a:spcBef>
                <a:spcPts val="1200"/>
              </a:spcBef>
              <a:buSzTx/>
              <a:buFontTx/>
              <a:buNone/>
              <a:defRPr sz="2200" i="1">
                <a:latin typeface="Times Roman"/>
                <a:ea typeface="Times Roman"/>
                <a:cs typeface="Times Roman"/>
                <a:sym typeface="Times Roman"/>
              </a:defRPr>
            </a:pPr>
            <a:r>
              <a:t>CO5: Use advanced design thinking tools to solve real-world problems and prototype solutions.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176C1F-FF07-2D83-6D49-FFE69970E0FA}"/>
              </a:ext>
            </a:extLst>
          </p:cNvPr>
          <p:cNvSpPr>
            <a:spLocks noGrp="1"/>
          </p:cNvSpPr>
          <p:nvPr>
            <p:ph type="body" idx="1"/>
          </p:nvPr>
        </p:nvSpPr>
        <p:spPr>
          <a:xfrm>
            <a:off x="457200" y="390418"/>
            <a:ext cx="8229600" cy="5735745"/>
          </a:xfrm>
        </p:spPr>
        <p:txBody>
          <a:bodyPr>
            <a:normAutofit/>
          </a:bodyPr>
          <a:lstStyle/>
          <a:p>
            <a:pPr marL="0" indent="0">
              <a:buNone/>
            </a:pPr>
            <a:r>
              <a:rPr lang="en-IN" sz="2200" b="1" i="0" u="none" strike="noStrike" baseline="0" dirty="0">
                <a:solidFill>
                  <a:srgbClr val="000000"/>
                </a:solidFill>
                <a:latin typeface="Times New Roman" panose="02020603050405020304" pitchFamily="18" charset="0"/>
                <a:cs typeface="Times New Roman" panose="02020603050405020304" pitchFamily="18" charset="0"/>
              </a:rPr>
              <a:t>Text books: </a:t>
            </a:r>
            <a:endParaRPr lang="en-IN" sz="2200" b="0" i="0" u="none" strike="noStrike" baseline="0" dirty="0">
              <a:solidFill>
                <a:srgbClr val="000000"/>
              </a:solidFill>
              <a:latin typeface="Times New Roman" panose="02020603050405020304" pitchFamily="18" charset="0"/>
              <a:cs typeface="Times New Roman" panose="02020603050405020304" pitchFamily="18" charset="0"/>
            </a:endParaRPr>
          </a:p>
          <a:p>
            <a:pPr marL="457200" indent="-457200">
              <a:buFont typeface="+mj-lt"/>
              <a:buAutoNum type="arabicParenR"/>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T1: Idris </a:t>
            </a:r>
            <a:r>
              <a:rPr lang="en-US" sz="2200" b="0" i="0" u="none" strike="noStrike" baseline="0" dirty="0" err="1">
                <a:solidFill>
                  <a:srgbClr val="000000"/>
                </a:solidFill>
                <a:latin typeface="Times New Roman" panose="02020603050405020304" pitchFamily="18" charset="0"/>
                <a:cs typeface="Times New Roman" panose="02020603050405020304" pitchFamily="18" charset="0"/>
              </a:rPr>
              <a:t>Mootee</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Design Thinking for Strategic Innovation, First Edition, Adams Media, 2014. </a:t>
            </a:r>
          </a:p>
          <a:p>
            <a:pPr marL="457200" indent="-457200">
              <a:buFont typeface="+mj-lt"/>
              <a:buAutoNum type="arabicParenR"/>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T2: David Lee, Design Thinking in the Classroom, Ulysses press, 2018. </a:t>
            </a:r>
          </a:p>
          <a:p>
            <a:pPr marL="0" indent="0">
              <a:buNone/>
            </a:pPr>
            <a:r>
              <a:rPr lang="en-IN" sz="2200" b="1" i="0" u="none" strike="noStrike" baseline="0" dirty="0">
                <a:solidFill>
                  <a:srgbClr val="000000"/>
                </a:solidFill>
                <a:latin typeface="Times New Roman" panose="02020603050405020304" pitchFamily="18" charset="0"/>
                <a:cs typeface="Times New Roman" panose="02020603050405020304" pitchFamily="18" charset="0"/>
              </a:rPr>
              <a:t>Reference Books: </a:t>
            </a:r>
          </a:p>
          <a:p>
            <a:pPr marL="0" indent="0" algn="l">
              <a:buNone/>
            </a:pPr>
            <a:endParaRPr lang="en-IN" sz="2200" b="0" i="0" u="none" strike="noStrike" baseline="0" dirty="0">
              <a:solidFill>
                <a:srgbClr val="000000"/>
              </a:solidFill>
              <a:latin typeface="Times New Roman" panose="02020603050405020304" pitchFamily="18" charset="0"/>
              <a:cs typeface="Times New Roman" panose="02020603050405020304" pitchFamily="18" charset="0"/>
            </a:endParaRPr>
          </a:p>
          <a:p>
            <a:pPr marL="457200" indent="-457200">
              <a:buFont typeface="+mj-lt"/>
              <a:buAutoNum type="arabicParenR"/>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Idris </a:t>
            </a:r>
            <a:r>
              <a:rPr lang="en-US" sz="2200" b="0" i="0" u="none" strike="noStrike" baseline="0" dirty="0" err="1">
                <a:solidFill>
                  <a:srgbClr val="000000"/>
                </a:solidFill>
                <a:latin typeface="Times New Roman" panose="02020603050405020304" pitchFamily="18" charset="0"/>
                <a:cs typeface="Times New Roman" panose="02020603050405020304" pitchFamily="18" charset="0"/>
              </a:rPr>
              <a:t>Mootee</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Design Thinking for Strategic Innovation, 1/e, Adams Media, 2014. </a:t>
            </a:r>
          </a:p>
          <a:p>
            <a:pPr marL="457200" indent="-457200">
              <a:buFont typeface="+mj-lt"/>
              <a:buAutoNum type="arabicParenR"/>
            </a:pPr>
            <a:r>
              <a:rPr lang="en-US" sz="2200" b="0" i="0" u="none" strike="noStrike" baseline="0" dirty="0" err="1">
                <a:solidFill>
                  <a:srgbClr val="000000"/>
                </a:solidFill>
                <a:latin typeface="Times New Roman" panose="02020603050405020304" pitchFamily="18" charset="0"/>
                <a:cs typeface="Times New Roman" panose="02020603050405020304" pitchFamily="18" charset="0"/>
              </a:rPr>
              <a:t>Shrrutin</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N Shetty, Design the Future, 1/e, Norton Press, 2018. </a:t>
            </a:r>
          </a:p>
          <a:p>
            <a:pPr marL="457200" indent="-457200">
              <a:buFont typeface="+mj-lt"/>
              <a:buAutoNum type="arabicParenR"/>
            </a:pPr>
            <a:r>
              <a:rPr lang="en-US" sz="2200" b="0" i="0" u="none" strike="noStrike" baseline="0" dirty="0">
                <a:solidFill>
                  <a:srgbClr val="000000"/>
                </a:solidFill>
                <a:latin typeface="Times New Roman" panose="02020603050405020304" pitchFamily="18" charset="0"/>
                <a:cs typeface="Times New Roman" panose="02020603050405020304" pitchFamily="18" charset="0"/>
              </a:rPr>
              <a:t>William </a:t>
            </a:r>
            <a:r>
              <a:rPr lang="en-US" sz="2200" b="0" i="0" u="none" strike="noStrike" baseline="0" dirty="0" err="1">
                <a:solidFill>
                  <a:srgbClr val="000000"/>
                </a:solidFill>
                <a:latin typeface="Times New Roman" panose="02020603050405020304" pitchFamily="18" charset="0"/>
                <a:cs typeface="Times New Roman" panose="02020603050405020304" pitchFamily="18" charset="0"/>
              </a:rPr>
              <a:t>lidwell</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200" b="0" i="0" u="none" strike="noStrike" baseline="0" dirty="0" err="1">
                <a:solidFill>
                  <a:srgbClr val="000000"/>
                </a:solidFill>
                <a:latin typeface="Times New Roman" panose="02020603050405020304" pitchFamily="18" charset="0"/>
                <a:cs typeface="Times New Roman" panose="02020603050405020304" pitchFamily="18" charset="0"/>
              </a:rPr>
              <a:t>Kritinaholden</a:t>
            </a:r>
            <a:r>
              <a:rPr lang="en-US" sz="2200" b="0" i="0" u="none" strike="noStrike" baseline="0" dirty="0">
                <a:solidFill>
                  <a:srgbClr val="000000"/>
                </a:solidFill>
                <a:latin typeface="Times New Roman" panose="02020603050405020304" pitchFamily="18" charset="0"/>
                <a:cs typeface="Times New Roman" panose="02020603050405020304" pitchFamily="18" charset="0"/>
              </a:rPr>
              <a:t>, &amp;Jill butter, Universal principles of design, 2/e, Rockport Publishers, 2010. </a:t>
            </a:r>
          </a:p>
          <a:p>
            <a:pPr marL="457200" indent="-457200">
              <a:buFont typeface="+mj-lt"/>
              <a:buAutoNum type="arabicParenR"/>
            </a:pPr>
            <a:r>
              <a:rPr lang="en-US" sz="2200" i="0" u="none" strike="noStrike" baseline="0" dirty="0" err="1">
                <a:solidFill>
                  <a:srgbClr val="000000"/>
                </a:solidFill>
                <a:latin typeface="Times New Roman" panose="02020603050405020304" pitchFamily="18" charset="0"/>
                <a:cs typeface="Times New Roman" panose="02020603050405020304" pitchFamily="18" charset="0"/>
              </a:rPr>
              <a:t>Chesbrough.H</a:t>
            </a:r>
            <a:r>
              <a:rPr lang="en-US" sz="2200" i="0" u="none" strike="noStrike" baseline="0" dirty="0">
                <a:solidFill>
                  <a:srgbClr val="000000"/>
                </a:solidFill>
                <a:latin typeface="Times New Roman" panose="02020603050405020304" pitchFamily="18" charset="0"/>
                <a:cs typeface="Times New Roman" panose="02020603050405020304" pitchFamily="18" charset="0"/>
              </a:rPr>
              <a:t>, The era of open innovation, 2003. </a:t>
            </a:r>
          </a:p>
          <a:p>
            <a:endParaRPr lang="en-IN" sz="2000" dirty="0"/>
          </a:p>
        </p:txBody>
      </p:sp>
    </p:spTree>
    <p:extLst>
      <p:ext uri="{BB962C8B-B14F-4D97-AF65-F5344CB8AC3E}">
        <p14:creationId xmlns:p14="http://schemas.microsoft.com/office/powerpoint/2010/main" val="116540989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
          <p:cNvSpPr txBox="1">
            <a:spLocks noGrp="1"/>
          </p:cNvSpPr>
          <p:nvPr>
            <p:ph type="title"/>
          </p:nvPr>
        </p:nvSpPr>
        <p:spPr>
          <a:xfrm>
            <a:off x="457200" y="174661"/>
            <a:ext cx="8229600" cy="741632"/>
          </a:xfrm>
          <a:prstGeom prst="rect">
            <a:avLst/>
          </a:prstGeom>
        </p:spPr>
        <p:txBody>
          <a:bodyPr>
            <a:normAutofit fontScale="90000"/>
          </a:bodyPr>
          <a:lstStyle>
            <a:lvl1pPr>
              <a:defRPr>
                <a:latin typeface="Times New Roman"/>
                <a:ea typeface="Times New Roman"/>
                <a:cs typeface="Times New Roman"/>
                <a:sym typeface="Times New Roman"/>
              </a:defRPr>
            </a:lvl1pPr>
          </a:lstStyle>
          <a:p>
            <a:r>
              <a:rPr dirty="0"/>
              <a:t>Topics</a:t>
            </a:r>
          </a:p>
        </p:txBody>
      </p:sp>
      <p:pic>
        <p:nvPicPr>
          <p:cNvPr id="115" name="Screenshot 2026-05-31 at 10.52.54 PM.png" descr="Screenshot 2026-05-31 at 10.52.54 PM.png"/>
          <p:cNvPicPr>
            <a:picLocks noChangeAspect="1"/>
          </p:cNvPicPr>
          <p:nvPr/>
        </p:nvPicPr>
        <p:blipFill>
          <a:blip r:embed="rId2"/>
          <a:stretch>
            <a:fillRect/>
          </a:stretch>
        </p:blipFill>
        <p:spPr>
          <a:xfrm>
            <a:off x="721978" y="844373"/>
            <a:ext cx="7579540" cy="4393838"/>
          </a:xfrm>
          <a:prstGeom prst="rect">
            <a:avLst/>
          </a:prstGeom>
          <a:ln w="12700">
            <a:miter lim="400000"/>
          </a:ln>
        </p:spPr>
      </p:pic>
      <p:pic>
        <p:nvPicPr>
          <p:cNvPr id="116" name="Screenshot 2026-05-31 at 10.53.37 PM.png" descr="Screenshot 2026-05-31 at 10.53.37 PM.png"/>
          <p:cNvPicPr>
            <a:picLocks noChangeAspect="1"/>
          </p:cNvPicPr>
          <p:nvPr/>
        </p:nvPicPr>
        <p:blipFill>
          <a:blip r:embed="rId3"/>
          <a:stretch>
            <a:fillRect/>
          </a:stretch>
        </p:blipFill>
        <p:spPr>
          <a:xfrm>
            <a:off x="721978" y="5228980"/>
            <a:ext cx="7579540" cy="1357885"/>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itle 1"/>
          <p:cNvSpPr txBox="1">
            <a:spLocks noGrp="1"/>
          </p:cNvSpPr>
          <p:nvPr>
            <p:ph type="title"/>
          </p:nvPr>
        </p:nvSpPr>
        <p:spPr>
          <a:xfrm>
            <a:off x="457200" y="274638"/>
            <a:ext cx="8229600" cy="824697"/>
          </a:xfrm>
          <a:prstGeom prst="rect">
            <a:avLst/>
          </a:prstGeom>
        </p:spPr>
        <p:txBody>
          <a:bodyPr/>
          <a:lstStyle>
            <a:lvl1pPr>
              <a:defRPr>
                <a:latin typeface="Times New Roman"/>
                <a:ea typeface="Times New Roman"/>
                <a:cs typeface="Times New Roman"/>
                <a:sym typeface="Times New Roman"/>
              </a:defRPr>
            </a:lvl1pPr>
          </a:lstStyle>
          <a:p>
            <a:r>
              <a:rPr dirty="0"/>
              <a:t>CIA Components </a:t>
            </a:r>
          </a:p>
        </p:txBody>
      </p:sp>
      <p:sp>
        <p:nvSpPr>
          <p:cNvPr id="119" name="Content Placeholder 2"/>
          <p:cNvSpPr txBox="1">
            <a:spLocks noGrp="1"/>
          </p:cNvSpPr>
          <p:nvPr>
            <p:ph type="body" idx="1"/>
          </p:nvPr>
        </p:nvSpPr>
        <p:spPr>
          <a:xfrm>
            <a:off x="559942" y="1302250"/>
            <a:ext cx="8229600" cy="4525963"/>
          </a:xfrm>
          <a:prstGeom prst="rect">
            <a:avLst/>
          </a:prstGeom>
        </p:spPr>
        <p:txBody>
          <a:bodyPr/>
          <a:lstStyle/>
          <a:p>
            <a:pPr marL="0" indent="0">
              <a:spcBef>
                <a:spcPts val="1200"/>
              </a:spcBef>
              <a:buSzTx/>
              <a:buFontTx/>
              <a:buNone/>
              <a:defRPr sz="2200">
                <a:latin typeface="Times New Roman"/>
                <a:ea typeface="Times New Roman"/>
                <a:cs typeface="Times New Roman"/>
                <a:sym typeface="Times New Roman"/>
              </a:defRPr>
            </a:pPr>
            <a:r>
              <a:rPr dirty="0"/>
              <a:t> </a:t>
            </a:r>
            <a:r>
              <a:rPr lang="en-US" dirty="0">
                <a:solidFill>
                  <a:srgbClr val="0000FF"/>
                </a:solidFill>
              </a:rPr>
              <a:t>I) </a:t>
            </a:r>
            <a:r>
              <a:rPr sz="2400" b="1" dirty="0">
                <a:solidFill>
                  <a:srgbClr val="0000FF"/>
                </a:solidFill>
              </a:rPr>
              <a:t>CIA 1</a:t>
            </a:r>
            <a:r>
              <a:rPr b="1" dirty="0"/>
              <a:t> </a:t>
            </a:r>
            <a:endParaRPr lang="en-US" b="1" dirty="0"/>
          </a:p>
          <a:p>
            <a:pPr marL="898071" lvl="1" indent="-457200">
              <a:spcBef>
                <a:spcPts val="1200"/>
              </a:spcBef>
              <a:buSzTx/>
              <a:buFont typeface="+mj-lt"/>
              <a:buAutoNum type="alphaLcParenR"/>
              <a:defRPr sz="2200">
                <a:latin typeface="Times New Roman"/>
                <a:ea typeface="Times New Roman"/>
                <a:cs typeface="Times New Roman"/>
                <a:sym typeface="Times New Roman"/>
              </a:defRPr>
            </a:pPr>
            <a:r>
              <a:rPr dirty="0"/>
              <a:t>Component 1: Seminar Presentation </a:t>
            </a:r>
            <a:endParaRPr sz="1200" dirty="0">
              <a:latin typeface="Times Roman"/>
              <a:ea typeface="Times Roman"/>
              <a:cs typeface="Times Roman"/>
              <a:sym typeface="Times Roman"/>
            </a:endParaRPr>
          </a:p>
          <a:p>
            <a:pPr marL="898071" lvl="1" indent="-457200">
              <a:spcBef>
                <a:spcPts val="1200"/>
              </a:spcBef>
              <a:buSzTx/>
              <a:buFont typeface="+mj-lt"/>
              <a:buAutoNum type="alphaLcParenR"/>
              <a:defRPr sz="2200">
                <a:latin typeface="Times New Roman"/>
                <a:ea typeface="Times New Roman"/>
                <a:cs typeface="Times New Roman"/>
                <a:sym typeface="Times New Roman"/>
              </a:defRPr>
            </a:pPr>
            <a:r>
              <a:rPr dirty="0"/>
              <a:t>Component  2: Faculty Interview and Problem Identification </a:t>
            </a:r>
            <a:endParaRPr sz="1200" dirty="0">
              <a:latin typeface="Times Roman"/>
              <a:ea typeface="Times Roman"/>
              <a:cs typeface="Times Roman"/>
              <a:sym typeface="Times Roman"/>
            </a:endParaRPr>
          </a:p>
          <a:p>
            <a:pPr marL="0" indent="0">
              <a:spcBef>
                <a:spcPts val="1200"/>
              </a:spcBef>
              <a:buSzTx/>
              <a:buFontTx/>
              <a:buNone/>
              <a:defRPr sz="2200">
                <a:latin typeface="Times New Roman"/>
                <a:ea typeface="Times New Roman"/>
                <a:cs typeface="Times New Roman"/>
                <a:sym typeface="Times New Roman"/>
              </a:defRPr>
            </a:pPr>
            <a:endParaRPr lang="en-US" sz="1200" dirty="0">
              <a:latin typeface="Times Roman"/>
              <a:ea typeface="Times Roman"/>
              <a:cs typeface="Times Roman"/>
              <a:sym typeface="Times Roman"/>
            </a:endParaRPr>
          </a:p>
          <a:p>
            <a:pPr marL="0" indent="0">
              <a:spcBef>
                <a:spcPts val="1200"/>
              </a:spcBef>
              <a:buSzTx/>
              <a:buFontTx/>
              <a:buNone/>
              <a:defRPr sz="2200">
                <a:latin typeface="Times New Roman"/>
                <a:ea typeface="Times New Roman"/>
                <a:cs typeface="Times New Roman"/>
                <a:sym typeface="Times New Roman"/>
              </a:defRPr>
            </a:pPr>
            <a:r>
              <a:rPr lang="en-IN" sz="2200" b="1" dirty="0">
                <a:solidFill>
                  <a:srgbClr val="C00000"/>
                </a:solidFill>
                <a:latin typeface="Times New Roman"/>
                <a:cs typeface="Times New Roman"/>
                <a:sym typeface="Times Roman"/>
              </a:rPr>
              <a:t>II) CIA 2 (MSE)</a:t>
            </a:r>
            <a:endParaRPr sz="2200" b="1" dirty="0">
              <a:solidFill>
                <a:srgbClr val="C00000"/>
              </a:solidFill>
              <a:latin typeface="Times New Roman"/>
              <a:cs typeface="Times New Roman"/>
              <a:sym typeface="Times Roman"/>
            </a:endParaRPr>
          </a:p>
          <a:p>
            <a:pPr marL="0" indent="0">
              <a:spcBef>
                <a:spcPts val="1200"/>
              </a:spcBef>
              <a:buSzTx/>
              <a:buFontTx/>
              <a:buNone/>
              <a:defRPr sz="2200">
                <a:latin typeface="Times New Roman"/>
                <a:ea typeface="Times New Roman"/>
                <a:cs typeface="Times New Roman"/>
                <a:sym typeface="Times New Roman"/>
              </a:defRPr>
            </a:pPr>
            <a:r>
              <a:rPr dirty="0"/>
              <a:t> </a:t>
            </a:r>
            <a:endParaRPr lang="en-US" dirty="0"/>
          </a:p>
          <a:p>
            <a:pPr marL="0" indent="0">
              <a:spcBef>
                <a:spcPts val="1200"/>
              </a:spcBef>
              <a:buSzTx/>
              <a:buFontTx/>
              <a:buNone/>
              <a:defRPr sz="2200">
                <a:latin typeface="Times New Roman"/>
                <a:ea typeface="Times New Roman"/>
                <a:cs typeface="Times New Roman"/>
                <a:sym typeface="Times New Roman"/>
              </a:defRPr>
            </a:pPr>
            <a:r>
              <a:rPr lang="en-US" sz="2400" b="1" dirty="0">
                <a:solidFill>
                  <a:srgbClr val="CC0099"/>
                </a:solidFill>
              </a:rPr>
              <a:t>III) </a:t>
            </a:r>
            <a:r>
              <a:rPr sz="2400" b="1" dirty="0">
                <a:solidFill>
                  <a:srgbClr val="CC0099"/>
                </a:solidFill>
              </a:rPr>
              <a:t>CIA 3</a:t>
            </a:r>
            <a:r>
              <a:rPr b="1" dirty="0">
                <a:solidFill>
                  <a:srgbClr val="CC0099"/>
                </a:solidFill>
              </a:rPr>
              <a:t> </a:t>
            </a:r>
            <a:endParaRPr lang="en-US" b="1" dirty="0">
              <a:solidFill>
                <a:srgbClr val="CC0099"/>
              </a:solidFill>
            </a:endParaRPr>
          </a:p>
          <a:p>
            <a:pPr marL="898071" lvl="1" indent="-457200">
              <a:spcBef>
                <a:spcPts val="1200"/>
              </a:spcBef>
              <a:buSzTx/>
              <a:buFont typeface="+mj-lt"/>
              <a:buAutoNum type="alphaLcParenR"/>
              <a:defRPr sz="2200">
                <a:latin typeface="Times New Roman"/>
                <a:ea typeface="Times New Roman"/>
                <a:cs typeface="Times New Roman"/>
                <a:sym typeface="Times New Roman"/>
              </a:defRPr>
            </a:pPr>
            <a:r>
              <a:rPr dirty="0"/>
              <a:t>Component 1: AI-Integrated Prototype/Model Development </a:t>
            </a:r>
            <a:endParaRPr sz="1200" dirty="0">
              <a:latin typeface="Times Roman"/>
              <a:ea typeface="Times Roman"/>
              <a:cs typeface="Times Roman"/>
              <a:sym typeface="Times Roman"/>
            </a:endParaRPr>
          </a:p>
          <a:p>
            <a:pPr marL="898071" lvl="1" indent="-457200">
              <a:spcBef>
                <a:spcPts val="1200"/>
              </a:spcBef>
              <a:buSzTx/>
              <a:buFont typeface="+mj-lt"/>
              <a:buAutoNum type="alphaLcParenR"/>
              <a:defRPr sz="2200">
                <a:latin typeface="Times New Roman"/>
                <a:ea typeface="Times New Roman"/>
                <a:cs typeface="Times New Roman"/>
                <a:sym typeface="Times New Roman"/>
              </a:defRPr>
            </a:pPr>
            <a:r>
              <a:rPr dirty="0"/>
              <a:t>Component 2: Project Report and Validation </a:t>
            </a:r>
            <a:endParaRPr sz="1200" dirty="0">
              <a:latin typeface="Times Roman"/>
              <a:ea typeface="Times Roman"/>
              <a:cs typeface="Times Roman"/>
              <a:sym typeface="Times Roman"/>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itle 1"/>
          <p:cNvSpPr txBox="1">
            <a:spLocks noGrp="1"/>
          </p:cNvSpPr>
          <p:nvPr>
            <p:ph type="title"/>
          </p:nvPr>
        </p:nvSpPr>
        <p:spPr>
          <a:xfrm>
            <a:off x="457200" y="147594"/>
            <a:ext cx="8229600" cy="701407"/>
          </a:xfrm>
          <a:prstGeom prst="rect">
            <a:avLst/>
          </a:prstGeom>
        </p:spPr>
        <p:txBody>
          <a:bodyPr>
            <a:normAutofit fontScale="90000"/>
          </a:bodyPr>
          <a:lstStyle>
            <a:lvl1pPr>
              <a:defRPr>
                <a:latin typeface="Times New Roman"/>
                <a:ea typeface="Times New Roman"/>
                <a:cs typeface="Times New Roman"/>
                <a:sym typeface="Times New Roman"/>
              </a:defRPr>
            </a:lvl1pPr>
          </a:lstStyle>
          <a:p>
            <a:r>
              <a:rPr dirty="0"/>
              <a:t>UNIT 1</a:t>
            </a:r>
          </a:p>
        </p:txBody>
      </p:sp>
      <p:sp>
        <p:nvSpPr>
          <p:cNvPr id="122" name="Content Placeholder 2"/>
          <p:cNvSpPr txBox="1">
            <a:spLocks noGrp="1"/>
          </p:cNvSpPr>
          <p:nvPr>
            <p:ph type="body" idx="1"/>
          </p:nvPr>
        </p:nvSpPr>
        <p:spPr>
          <a:xfrm>
            <a:off x="457200" y="976045"/>
            <a:ext cx="8229600" cy="5383657"/>
          </a:xfrm>
          <a:prstGeom prst="rect">
            <a:avLst/>
          </a:prstGeom>
        </p:spPr>
        <p:txBody>
          <a:bodyPr>
            <a:normAutofit/>
          </a:bodyPr>
          <a:lstStyle/>
          <a:p>
            <a:pPr marL="0" indent="0" defTabSz="310895">
              <a:spcBef>
                <a:spcPts val="800"/>
              </a:spcBef>
              <a:buSzTx/>
              <a:buFontTx/>
              <a:buNone/>
              <a:defRPr sz="1836">
                <a:latin typeface="Times New Roman"/>
                <a:ea typeface="Times New Roman"/>
                <a:cs typeface="Times New Roman"/>
                <a:sym typeface="Times New Roman"/>
              </a:defRPr>
            </a:pPr>
            <a:r>
              <a:rPr b="1" dirty="0">
                <a:solidFill>
                  <a:srgbClr val="C00000"/>
                </a:solidFill>
              </a:rPr>
              <a:t>1</a:t>
            </a:r>
            <a:r>
              <a:rPr sz="2000" b="1" dirty="0">
                <a:solidFill>
                  <a:srgbClr val="C00000"/>
                </a:solidFill>
              </a:rPr>
              <a:t>. Understanding thinking process : </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a. Types and methods to change human thinking.</a:t>
            </a:r>
          </a:p>
          <a:p>
            <a:pPr marL="0" indent="0" defTabSz="310895">
              <a:spcBef>
                <a:spcPts val="800"/>
              </a:spcBef>
              <a:buSzTx/>
              <a:buFontTx/>
              <a:buNone/>
              <a:defRPr sz="1836">
                <a:latin typeface="Times New Roman"/>
                <a:ea typeface="Times New Roman"/>
                <a:cs typeface="Times New Roman"/>
                <a:sym typeface="Times New Roman"/>
              </a:defRPr>
            </a:pPr>
            <a:r>
              <a:rPr sz="2000" dirty="0"/>
              <a:t>2. Design Thinking: </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a. Definition</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b. Origin</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c. Importance</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d. Difference between design and design thinking. </a:t>
            </a:r>
          </a:p>
          <a:p>
            <a:pPr marL="0" indent="0" defTabSz="310895">
              <a:spcBef>
                <a:spcPts val="800"/>
              </a:spcBef>
              <a:buSzTx/>
              <a:buFontTx/>
              <a:buNone/>
              <a:defRPr sz="1836">
                <a:latin typeface="Times New Roman"/>
                <a:ea typeface="Times New Roman"/>
                <a:cs typeface="Times New Roman"/>
                <a:sym typeface="Times New Roman"/>
              </a:defRPr>
            </a:pPr>
            <a:r>
              <a:rPr sz="2000" dirty="0"/>
              <a:t>3. Problem-solving and the need for design thinking. </a:t>
            </a:r>
          </a:p>
          <a:p>
            <a:pPr marL="0" indent="0" defTabSz="310895">
              <a:spcBef>
                <a:spcPts val="800"/>
              </a:spcBef>
              <a:buSzTx/>
              <a:buFontTx/>
              <a:buNone/>
              <a:defRPr sz="1836">
                <a:latin typeface="Times New Roman"/>
                <a:ea typeface="Times New Roman"/>
                <a:cs typeface="Times New Roman"/>
                <a:sym typeface="Times New Roman"/>
              </a:defRPr>
            </a:pPr>
            <a:r>
              <a:rPr sz="2000" dirty="0"/>
              <a:t>4. Design thinking:</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 a. Approach</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b. Process </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c. Models</a:t>
            </a:r>
          </a:p>
          <a:p>
            <a:pPr marL="0" lvl="1" indent="155447" defTabSz="310895">
              <a:spcBef>
                <a:spcPts val="800"/>
              </a:spcBef>
              <a:buSzTx/>
              <a:buFontTx/>
              <a:buNone/>
              <a:defRPr sz="1836">
                <a:latin typeface="Times New Roman"/>
                <a:ea typeface="Times New Roman"/>
                <a:cs typeface="Times New Roman"/>
                <a:sym typeface="Times New Roman"/>
              </a:defRPr>
            </a:pPr>
            <a:r>
              <a:rPr sz="2000" dirty="0"/>
              <a:t>d. Tools.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Where are we?</a:t>
            </a:r>
          </a:p>
        </p:txBody>
      </p:sp>
      <p:sp>
        <p:nvSpPr>
          <p:cNvPr id="125" name="Content Placeholder 2"/>
          <p:cNvSpPr txBox="1">
            <a:spLocks noGrp="1"/>
          </p:cNvSpPr>
          <p:nvPr>
            <p:ph type="body" idx="1"/>
          </p:nvPr>
        </p:nvSpPr>
        <p:spPr>
          <a:xfrm>
            <a:off x="457200" y="1288222"/>
            <a:ext cx="8229600" cy="4837941"/>
          </a:xfrm>
          <a:prstGeom prst="rect">
            <a:avLst/>
          </a:prstGeom>
        </p:spPr>
        <p:txBody>
          <a:bodyPr/>
          <a:lstStyle>
            <a:lvl1pPr marL="0" indent="0">
              <a:spcBef>
                <a:spcPts val="1200"/>
              </a:spcBef>
              <a:buSzTx/>
              <a:buFontTx/>
              <a:buNone/>
              <a:defRPr sz="2700">
                <a:latin typeface="Times New Roman"/>
                <a:ea typeface="Times New Roman"/>
                <a:cs typeface="Times New Roman"/>
                <a:sym typeface="Times New Roman"/>
              </a:defRPr>
            </a:lvl1pPr>
            <a:lvl2pPr marL="0" indent="228600">
              <a:spcBef>
                <a:spcPts val="1200"/>
              </a:spcBef>
              <a:buSzTx/>
              <a:buFontTx/>
              <a:buNone/>
              <a:defRPr sz="2700">
                <a:latin typeface="Times New Roman"/>
                <a:ea typeface="Times New Roman"/>
                <a:cs typeface="Times New Roman"/>
                <a:sym typeface="Times New Roman"/>
              </a:defRPr>
            </a:lvl2pPr>
          </a:lstStyle>
          <a:p>
            <a:r>
              <a:rPr dirty="0">
                <a:solidFill>
                  <a:srgbClr val="C00000"/>
                </a:solidFill>
              </a:rPr>
              <a:t>1. Understanding thinking process : </a:t>
            </a:r>
          </a:p>
          <a:p>
            <a:pPr lvl="1"/>
            <a:r>
              <a:rPr dirty="0"/>
              <a:t>a. Types and methods to change human thinking.</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itle 1"/>
          <p:cNvSpPr txBox="1">
            <a:spLocks noGrp="1"/>
          </p:cNvSpPr>
          <p:nvPr>
            <p:ph type="title"/>
          </p:nvPr>
        </p:nvSpPr>
        <p:spPr>
          <a:xfrm>
            <a:off x="457200" y="171917"/>
            <a:ext cx="8229600" cy="773306"/>
          </a:xfrm>
          <a:prstGeom prst="rect">
            <a:avLst/>
          </a:prstGeom>
        </p:spPr>
        <p:txBody>
          <a:bodyPr/>
          <a:lstStyle>
            <a:lvl1pPr>
              <a:defRPr>
                <a:latin typeface="Times New Roman"/>
                <a:ea typeface="Times New Roman"/>
                <a:cs typeface="Times New Roman"/>
                <a:sym typeface="Times New Roman"/>
              </a:defRPr>
            </a:lvl1pPr>
          </a:lstStyle>
          <a:p>
            <a:pPr marL="571500" indent="-571500">
              <a:buFont typeface="Wingdings" panose="05000000000000000000" pitchFamily="2" charset="2"/>
              <a:buChar char="v"/>
            </a:pPr>
            <a:r>
              <a:rPr dirty="0">
                <a:solidFill>
                  <a:srgbClr val="FF0066"/>
                </a:solidFill>
              </a:rPr>
              <a:t>What is Thinking?</a:t>
            </a:r>
          </a:p>
        </p:txBody>
      </p:sp>
      <p:pic>
        <p:nvPicPr>
          <p:cNvPr id="128" name="Screenshot 2026-05-31 at 11.00.03 PM.png" descr="Screenshot 2026-05-31 at 11.00.03 PM.png"/>
          <p:cNvPicPr>
            <a:picLocks noChangeAspect="1"/>
          </p:cNvPicPr>
          <p:nvPr/>
        </p:nvPicPr>
        <p:blipFill>
          <a:blip r:embed="rId2"/>
          <a:stretch>
            <a:fillRect/>
          </a:stretch>
        </p:blipFill>
        <p:spPr>
          <a:xfrm>
            <a:off x="806521" y="1078611"/>
            <a:ext cx="7530957" cy="4777659"/>
          </a:xfrm>
          <a:prstGeom prst="rect">
            <a:avLst/>
          </a:prstGeom>
          <a:ln w="12700">
            <a:miter lim="400000"/>
          </a:ln>
        </p:spPr>
      </p:pic>
      <p:sp>
        <p:nvSpPr>
          <p:cNvPr id="4" name="TextBox 3">
            <a:extLst>
              <a:ext uri="{FF2B5EF4-FFF2-40B4-BE49-F238E27FC236}">
                <a16:creationId xmlns:a16="http://schemas.microsoft.com/office/drawing/2014/main" id="{C32DC785-F5EE-536E-E503-25BFC0CAD592}"/>
              </a:ext>
            </a:extLst>
          </p:cNvPr>
          <p:cNvSpPr txBox="1"/>
          <p:nvPr/>
        </p:nvSpPr>
        <p:spPr>
          <a:xfrm>
            <a:off x="554805" y="5856270"/>
            <a:ext cx="8131996"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IN" sz="2000" b="1" i="1"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Calibri"/>
                <a:sym typeface="Calibri"/>
              </a:rPr>
              <a:t>Fig: Major functions of critical thinking and cognitive processing</a:t>
            </a:r>
            <a:endParaRPr lang="en-IN" sz="2000" b="1" i="1"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F950A0-FC61-6061-1965-7936B3389208}"/>
              </a:ext>
            </a:extLst>
          </p:cNvPr>
          <p:cNvSpPr>
            <a:spLocks noGrp="1"/>
          </p:cNvSpPr>
          <p:nvPr>
            <p:ph type="body" idx="1"/>
          </p:nvPr>
        </p:nvSpPr>
        <p:spPr>
          <a:xfrm>
            <a:off x="408398" y="308226"/>
            <a:ext cx="8327204" cy="6195316"/>
          </a:xfrm>
        </p:spPr>
        <p:txBody>
          <a:bodyPr>
            <a:noAutofit/>
          </a:bodyPr>
          <a:lstStyle/>
          <a:p>
            <a:pPr algn="just">
              <a:buFont typeface="Wingdings" panose="05000000000000000000" pitchFamily="2" charset="2"/>
              <a:buChar char="ü"/>
            </a:pPr>
            <a:r>
              <a:rPr lang="en-IN" sz="2200" kern="0" dirty="0">
                <a:effectLst/>
                <a:latin typeface="Times New Roman" panose="02020603050405020304" pitchFamily="18" charset="0"/>
                <a:ea typeface="Times New Roman" panose="02020603050405020304" pitchFamily="18" charset="0"/>
              </a:rPr>
              <a:t>The above fig shows </a:t>
            </a:r>
            <a:r>
              <a:rPr lang="en-IN" sz="2200" dirty="0">
                <a:latin typeface="Times New Roman" panose="02020603050405020304" pitchFamily="18" charset="0"/>
                <a:cs typeface="Times New Roman" panose="02020603050405020304" pitchFamily="18" charset="0"/>
              </a:rPr>
              <a:t>how people move from learning information to creating innovative solutions.</a:t>
            </a:r>
            <a:r>
              <a:rPr lang="en-US" sz="2200" dirty="0">
                <a:latin typeface="Times New Roman" panose="02020603050405020304" pitchFamily="18" charset="0"/>
                <a:cs typeface="Times New Roman" panose="02020603050405020304" pitchFamily="18" charset="0"/>
              </a:rPr>
              <a:t> It also shows how knowledge is transformed into reasoning, judgment, problem-solving, decision-making, and ultimately innovation. </a:t>
            </a:r>
          </a:p>
          <a:p>
            <a:pPr algn="just">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Innovation is usually the outcome of a structured thinking process rather than a sudden idea.</a:t>
            </a:r>
          </a:p>
          <a:p>
            <a:pPr marL="0" indent="0">
              <a:buNone/>
            </a:pPr>
            <a:endParaRPr lang="en-IN" sz="2200" dirty="0">
              <a:latin typeface="Times New Roman" panose="02020603050405020304" pitchFamily="18" charset="0"/>
              <a:cs typeface="Times New Roman" panose="02020603050405020304" pitchFamily="18" charset="0"/>
            </a:endParaRPr>
          </a:p>
          <a:p>
            <a:pPr>
              <a:lnSpc>
                <a:spcPct val="107000"/>
              </a:lnSpc>
              <a:spcBef>
                <a:spcPts val="0"/>
              </a:spcBef>
              <a:buNone/>
            </a:pPr>
            <a:r>
              <a:rPr lang="en-IN" sz="2200" b="1" kern="0" dirty="0">
                <a:effectLst/>
                <a:latin typeface="Times New Roman" panose="02020603050405020304" pitchFamily="18" charset="0"/>
                <a:ea typeface="Times New Roman" panose="02020603050405020304" pitchFamily="18" charset="0"/>
                <a:cs typeface="Times New Roman" panose="02020603050405020304" pitchFamily="18" charset="0"/>
              </a:rPr>
              <a:t>1. Acquire Knowledge</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Ø"/>
            </a:pPr>
            <a:r>
              <a:rPr lang="en-IN" sz="2200" kern="0" dirty="0">
                <a:effectLst/>
                <a:latin typeface="Times New Roman" panose="02020603050405020304" pitchFamily="18" charset="0"/>
                <a:ea typeface="Times New Roman" panose="02020603050405020304" pitchFamily="18" charset="0"/>
                <a:cs typeface="Times New Roman" panose="02020603050405020304" pitchFamily="18" charset="0"/>
              </a:rPr>
              <a:t>Gathering information and understanding concepts.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2200" b="1" kern="0" dirty="0">
                <a:effectLst/>
                <a:latin typeface="Times New Roman" panose="02020603050405020304" pitchFamily="18" charset="0"/>
                <a:ea typeface="Times New Roman" panose="02020603050405020304" pitchFamily="18" charset="0"/>
                <a:cs typeface="Times New Roman" panose="02020603050405020304" pitchFamily="18" charset="0"/>
              </a:rPr>
              <a:t>What happens here?</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2200" kern="0" dirty="0">
                <a:effectLst/>
                <a:latin typeface="Times New Roman" panose="02020603050405020304" pitchFamily="18" charset="0"/>
                <a:ea typeface="Times New Roman" panose="02020603050405020304" pitchFamily="18" charset="0"/>
                <a:cs typeface="Times New Roman" panose="02020603050405020304" pitchFamily="18" charset="0"/>
              </a:rPr>
              <a:t>Reading books, articles, and research papers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2200" kern="0" dirty="0">
                <a:effectLst/>
                <a:latin typeface="Times New Roman" panose="02020603050405020304" pitchFamily="18" charset="0"/>
                <a:ea typeface="Times New Roman" panose="02020603050405020304" pitchFamily="18" charset="0"/>
                <a:cs typeface="Times New Roman" panose="02020603050405020304" pitchFamily="18" charset="0"/>
              </a:rPr>
              <a:t>Attending lectures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2200" kern="0" dirty="0">
                <a:effectLst/>
                <a:latin typeface="Times New Roman" panose="02020603050405020304" pitchFamily="18" charset="0"/>
                <a:ea typeface="Times New Roman" panose="02020603050405020304" pitchFamily="18" charset="0"/>
                <a:cs typeface="Times New Roman" panose="02020603050405020304" pitchFamily="18" charset="0"/>
              </a:rPr>
              <a:t>Observing and collecting facts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2200" kern="0" dirty="0">
                <a:effectLst/>
                <a:latin typeface="Times New Roman" panose="02020603050405020304" pitchFamily="18" charset="0"/>
                <a:ea typeface="Times New Roman" panose="02020603050405020304" pitchFamily="18" charset="0"/>
                <a:cs typeface="Times New Roman" panose="02020603050405020304" pitchFamily="18" charset="0"/>
              </a:rPr>
              <a:t>Learning theories and principles </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22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2200" kern="0" dirty="0">
                <a:effectLst/>
                <a:latin typeface="Times New Roman" panose="02020603050405020304" pitchFamily="18" charset="0"/>
                <a:ea typeface="Times New Roman" panose="02020603050405020304" pitchFamily="18" charset="0"/>
                <a:cs typeface="Times New Roman" panose="02020603050405020304" pitchFamily="18" charset="0"/>
              </a:rPr>
              <a:t> 1) A student learns the fundamentals of Artificial Intelligence and Machine Learning.</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672765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B293D5-F647-B7C6-71A9-05D464012CE5}"/>
              </a:ext>
            </a:extLst>
          </p:cNvPr>
          <p:cNvSpPr>
            <a:spLocks noGrp="1"/>
          </p:cNvSpPr>
          <p:nvPr>
            <p:ph type="body" idx="1"/>
          </p:nvPr>
        </p:nvSpPr>
        <p:spPr>
          <a:xfrm>
            <a:off x="457200" y="626724"/>
            <a:ext cx="8229600" cy="5499439"/>
          </a:xfrm>
        </p:spPr>
        <p:txBody>
          <a:bodyPr>
            <a:normAutofit/>
          </a:bodyPr>
          <a:lstStyle/>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2. Engage in Reasoning</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Wingdings" panose="05000000000000000000" pitchFamily="2" charset="2"/>
              <a:buChar char="Ø"/>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Using logic to draw conclusions from the information acquired.</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What happens here?</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buClrTx/>
              <a:buSzPts val="1000"/>
              <a:buFont typeface="Symbol" panose="05050102010706020507" pitchFamily="18" charset="2"/>
              <a:buChar char=""/>
              <a:tabLst>
                <a:tab pos="457200" algn="l"/>
              </a:tabLst>
              <a:defRPr/>
            </a:pPr>
            <a:r>
              <a:rPr kumimoji="0" lang="en-IN" sz="2400" b="0" i="0" u="none" strike="noStrike" kern="0" cap="none" spc="0" normalizeH="0" baseline="0" noProof="0" dirty="0" err="1">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Analyzing</a:t>
            </a: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evidence </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buClrTx/>
              <a:buSzPts val="1000"/>
              <a:buFont typeface="Symbol" panose="05050102010706020507" pitchFamily="18" charset="2"/>
              <a:buChar char=""/>
              <a:tabLst>
                <a:tab pos="457200" algn="l"/>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Identifying patterns </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buClrTx/>
              <a:buSzPts val="1000"/>
              <a:buFont typeface="Symbol" panose="05050102010706020507" pitchFamily="18" charset="2"/>
              <a:buChar char=""/>
              <a:tabLst>
                <a:tab pos="457200" algn="l"/>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Making inferences </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buClrTx/>
              <a:buSzPts val="1000"/>
              <a:buFont typeface="Symbol" panose="05050102010706020507" pitchFamily="18" charset="2"/>
              <a:buChar char=""/>
              <a:tabLst>
                <a:tab pos="457200" algn="l"/>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Connecting ideas logically </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Example:</a:t>
            </a: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1)After learning about machine learning algorithms, a student reasons which algorithm might work best for a particular dataset.</a:t>
            </a:r>
          </a:p>
          <a:p>
            <a:endParaRPr lang="en-IN" dirty="0"/>
          </a:p>
        </p:txBody>
      </p:sp>
    </p:spTree>
    <p:extLst>
      <p:ext uri="{BB962C8B-B14F-4D97-AF65-F5344CB8AC3E}">
        <p14:creationId xmlns:p14="http://schemas.microsoft.com/office/powerpoint/2010/main" val="253016846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6E3574-C73F-7853-DE97-AD8A36B80AD7}"/>
              </a:ext>
            </a:extLst>
          </p:cNvPr>
          <p:cNvSpPr>
            <a:spLocks noGrp="1"/>
          </p:cNvSpPr>
          <p:nvPr>
            <p:ph type="body" idx="1"/>
          </p:nvPr>
        </p:nvSpPr>
        <p:spPr>
          <a:xfrm>
            <a:off x="457200" y="513708"/>
            <a:ext cx="8229600" cy="5612455"/>
          </a:xfrm>
        </p:spPr>
        <p:txBody>
          <a:bodyPr>
            <a:normAutofit lnSpcReduction="10000"/>
          </a:bodyPr>
          <a:lstStyle/>
          <a:p>
            <a:pPr>
              <a:lnSpc>
                <a:spcPct val="107000"/>
              </a:lnSpc>
              <a:spcAft>
                <a:spcPts val="800"/>
              </a:spcAft>
              <a:buNone/>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3. Make Judgments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Evaluating alternatives and assessing their strengths and weaknesses.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What happens here?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Comparing options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Assessing credibility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Identifying advantages and disadvantages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Critically evaluating evidence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Comparing Decision Trees, Random Forests, and Neural Networks to determine which is most suitable for a project.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9462140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253EA8-938B-9644-E073-6E38122F5799}"/>
              </a:ext>
            </a:extLst>
          </p:cNvPr>
          <p:cNvSpPr>
            <a:spLocks noGrp="1"/>
          </p:cNvSpPr>
          <p:nvPr>
            <p:ph type="body" idx="1"/>
          </p:nvPr>
        </p:nvSpPr>
        <p:spPr>
          <a:xfrm>
            <a:off x="457200" y="688370"/>
            <a:ext cx="8229600" cy="5437794"/>
          </a:xfrm>
        </p:spPr>
        <p:txBody>
          <a:bodyPr>
            <a:normAutofit/>
          </a:bodyPr>
          <a:lstStyle/>
          <a:p>
            <a:pPr>
              <a:lnSpc>
                <a:spcPct val="107000"/>
              </a:lnSpc>
              <a:spcAft>
                <a:spcPts val="800"/>
              </a:spcAft>
              <a:buNone/>
            </a:pPr>
            <a:r>
              <a:rPr lang="en-IN" sz="2600" b="1" kern="0" dirty="0">
                <a:effectLst/>
                <a:latin typeface="Times New Roman" panose="02020603050405020304" pitchFamily="18" charset="0"/>
                <a:ea typeface="Times New Roman" panose="02020603050405020304" pitchFamily="18" charset="0"/>
                <a:cs typeface="Times New Roman" panose="02020603050405020304" pitchFamily="18" charset="0"/>
              </a:rPr>
              <a:t>4. Solve Problems</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Finding effective solutions to challenges.</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600" b="1" kern="0" dirty="0">
                <a:effectLst/>
                <a:latin typeface="Times New Roman" panose="02020603050405020304" pitchFamily="18" charset="0"/>
                <a:ea typeface="Times New Roman" panose="02020603050405020304" pitchFamily="18" charset="0"/>
                <a:cs typeface="Times New Roman" panose="02020603050405020304" pitchFamily="18" charset="0"/>
              </a:rPr>
              <a:t>What happens here?</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Defining the problem </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Generating possible solutions </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Testing alternatives </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600" kern="0" dirty="0">
                <a:effectLst/>
                <a:latin typeface="Times New Roman" panose="02020603050405020304" pitchFamily="18" charset="0"/>
                <a:ea typeface="Times New Roman" panose="02020603050405020304" pitchFamily="18" charset="0"/>
                <a:cs typeface="Times New Roman" panose="02020603050405020304" pitchFamily="18" charset="0"/>
              </a:rPr>
              <a:t>Implementing the best solution </a:t>
            </a: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1) Developing a model to predict student performance using historical academic data.</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6079009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549233-746E-D92E-E0A1-F8D5D5E32650}"/>
              </a:ext>
            </a:extLst>
          </p:cNvPr>
          <p:cNvSpPr>
            <a:spLocks noGrp="1"/>
          </p:cNvSpPr>
          <p:nvPr>
            <p:ph type="body" idx="1"/>
          </p:nvPr>
        </p:nvSpPr>
        <p:spPr>
          <a:xfrm>
            <a:off x="457200" y="493160"/>
            <a:ext cx="8229600" cy="5633003"/>
          </a:xfrm>
        </p:spPr>
        <p:txBody>
          <a:bodyPr>
            <a:normAutofit fontScale="92500" lnSpcReduction="10000"/>
          </a:bodyPr>
          <a:lstStyle/>
          <a:p>
            <a:pPr>
              <a:lnSpc>
                <a:spcPct val="107000"/>
              </a:lnSpc>
              <a:spcAft>
                <a:spcPts val="800"/>
              </a:spcAft>
              <a:buNone/>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5. Make Decisions</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Choosing the most appropriate course of action.</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What happens here?</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Selecting among alternatives </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Considering risks and benefits </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Prioritizing objectives </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Taking action </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1) Choosing to deploy a Random Forest model because it provides the best balance of accuracy and interpretability.</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9884814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41607B-DD37-8E3A-4F0D-F29698A5216C}"/>
              </a:ext>
            </a:extLst>
          </p:cNvPr>
          <p:cNvSpPr>
            <a:spLocks noGrp="1"/>
          </p:cNvSpPr>
          <p:nvPr>
            <p:ph type="body" idx="1"/>
          </p:nvPr>
        </p:nvSpPr>
        <p:spPr>
          <a:xfrm>
            <a:off x="457200" y="441790"/>
            <a:ext cx="8229600" cy="5684374"/>
          </a:xfrm>
        </p:spPr>
        <p:txBody>
          <a:bodyPr>
            <a:normAutofit/>
          </a:bodyPr>
          <a:lstStyle/>
          <a:p>
            <a:pPr>
              <a:lnSpc>
                <a:spcPct val="107000"/>
              </a:lnSpc>
              <a:spcAft>
                <a:spcPts val="800"/>
              </a:spcAft>
              <a:buNone/>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6. Foster Innovation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Font typeface="Wingdings" panose="05000000000000000000" pitchFamily="2" charset="2"/>
              <a:buChar char="Ø"/>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Creating new ideas, methods, or solutions.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What happens here?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Thinking creatively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Combining existing knowledge in new ways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Designing novel approaches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Developing original products or services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1) Creating a new AI-based healthcare application that detects diseases from medical images.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0931346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49C87A-90E5-1A59-C7B5-22DD66DE4C9B}"/>
              </a:ext>
            </a:extLst>
          </p:cNvPr>
          <p:cNvSpPr>
            <a:spLocks noGrp="1"/>
          </p:cNvSpPr>
          <p:nvPr>
            <p:ph type="body" idx="1"/>
          </p:nvPr>
        </p:nvSpPr>
        <p:spPr>
          <a:xfrm>
            <a:off x="457200" y="1171254"/>
            <a:ext cx="8229600" cy="4954909"/>
          </a:xfrm>
        </p:spPr>
        <p:txBody>
          <a:bodyPr>
            <a:normAutofit fontScale="92500" lnSpcReduction="20000"/>
          </a:bodyPr>
          <a:lstStyle/>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Acquire Knowledge</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Engage in Reasoning</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Make Judgments</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Solve Problems</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Make Decisions</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Foster Innovation</a:t>
            </a:r>
            <a:endParaRPr lang="en-IN" sz="40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5" name="Title 4">
            <a:extLst>
              <a:ext uri="{FF2B5EF4-FFF2-40B4-BE49-F238E27FC236}">
                <a16:creationId xmlns:a16="http://schemas.microsoft.com/office/drawing/2014/main" id="{37E17199-350C-B2DD-A7A9-8DAB08F03838}"/>
              </a:ext>
            </a:extLst>
          </p:cNvPr>
          <p:cNvSpPr>
            <a:spLocks noGrp="1"/>
          </p:cNvSpPr>
          <p:nvPr>
            <p:ph type="title"/>
          </p:nvPr>
        </p:nvSpPr>
        <p:spPr>
          <a:xfrm>
            <a:off x="457200" y="274638"/>
            <a:ext cx="8229600" cy="567843"/>
          </a:xfrm>
        </p:spPr>
        <p:txBody>
          <a:bodyPr>
            <a:noAutofit/>
          </a:bodyPr>
          <a:lstStyle/>
          <a:p>
            <a:r>
              <a:rPr lang="en-US" sz="3200" dirty="0">
                <a:latin typeface="Times New Roman" panose="02020603050405020304" pitchFamily="18" charset="0"/>
                <a:cs typeface="Times New Roman" panose="02020603050405020304" pitchFamily="18" charset="0"/>
              </a:rPr>
              <a:t>Over all Flow</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701795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682D0-2D63-115C-C776-433B7F425F96}"/>
              </a:ext>
            </a:extLst>
          </p:cNvPr>
          <p:cNvSpPr>
            <a:spLocks noGrp="1"/>
          </p:cNvSpPr>
          <p:nvPr>
            <p:ph type="title"/>
          </p:nvPr>
        </p:nvSpPr>
        <p:spPr>
          <a:xfrm>
            <a:off x="344184" y="223268"/>
            <a:ext cx="8229600" cy="629488"/>
          </a:xfrm>
        </p:spPr>
        <p:txBody>
          <a:bodyPr>
            <a:normAutofit/>
          </a:bodyPr>
          <a:lstStyle/>
          <a:p>
            <a:pPr algn="l"/>
            <a:r>
              <a:rPr lang="en-US" sz="2400" b="1" i="1" dirty="0">
                <a:latin typeface="Times New Roman" panose="02020603050405020304" pitchFamily="18" charset="0"/>
                <a:cs typeface="Times New Roman" panose="02020603050405020304" pitchFamily="18" charset="0"/>
              </a:rPr>
              <a:t>Case 2: </a:t>
            </a:r>
            <a:r>
              <a:rPr lang="en-IN" sz="2400" b="1" i="1" dirty="0">
                <a:latin typeface="Times New Roman" panose="02020603050405020304" pitchFamily="18" charset="0"/>
                <a:cs typeface="Times New Roman" panose="02020603050405020304" pitchFamily="18" charset="0"/>
              </a:rPr>
              <a:t>S</a:t>
            </a:r>
            <a:r>
              <a:rPr lang="en-IN" sz="2400" b="1" i="1" kern="0" dirty="0">
                <a:effectLst/>
                <a:latin typeface="Times New Roman" panose="02020603050405020304" pitchFamily="18" charset="0"/>
                <a:ea typeface="Times New Roman" panose="02020603050405020304" pitchFamily="18" charset="0"/>
                <a:cs typeface="Times New Roman" panose="02020603050405020304" pitchFamily="18" charset="0"/>
              </a:rPr>
              <a:t>imple real-life example using buying a mobile phone</a:t>
            </a:r>
            <a:endParaRPr lang="en-IN" sz="2400" b="1" i="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A936C67-D6DA-54E3-F0FE-205288612D92}"/>
              </a:ext>
            </a:extLst>
          </p:cNvPr>
          <p:cNvSpPr>
            <a:spLocks noGrp="1"/>
          </p:cNvSpPr>
          <p:nvPr>
            <p:ph type="body" idx="1"/>
          </p:nvPr>
        </p:nvSpPr>
        <p:spPr>
          <a:xfrm>
            <a:off x="457200" y="1027416"/>
            <a:ext cx="8229600" cy="5404206"/>
          </a:xfrm>
        </p:spPr>
        <p:txBody>
          <a:bodyPr>
            <a:normAutofit fontScale="55000" lnSpcReduction="20000"/>
          </a:bodyPr>
          <a:lstStyle/>
          <a:p>
            <a:pPr>
              <a:lnSpc>
                <a:spcPct val="107000"/>
              </a:lnSpc>
              <a:spcAft>
                <a:spcPts val="800"/>
              </a:spcAft>
              <a:buNone/>
            </a:pPr>
            <a:r>
              <a:rPr lang="en-IN" sz="4200" b="1" kern="0" dirty="0">
                <a:effectLst/>
                <a:latin typeface="Times New Roman" panose="02020603050405020304" pitchFamily="18" charset="0"/>
                <a:ea typeface="Times New Roman" panose="02020603050405020304" pitchFamily="18" charset="0"/>
                <a:cs typeface="Times New Roman" panose="02020603050405020304" pitchFamily="18" charset="0"/>
              </a:rPr>
              <a:t>1. Acquire Knowledge</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You gather information about different phones.</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Read reviews </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Check specifications </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Compare prices </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42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 You learn about Samsung, OnePlus, and iPhone models.</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4200" b="1" kern="0" dirty="0">
                <a:effectLst/>
                <a:latin typeface="Times New Roman" panose="02020603050405020304" pitchFamily="18" charset="0"/>
                <a:ea typeface="Times New Roman" panose="02020603050405020304" pitchFamily="18" charset="0"/>
                <a:cs typeface="Times New Roman" panose="02020603050405020304" pitchFamily="18" charset="0"/>
              </a:rPr>
              <a:t>2. Engage in Reasoning</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You </a:t>
            </a:r>
            <a:r>
              <a:rPr lang="en-IN" sz="42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 the information.</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42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I need a good camera. </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My budget is ₹30,000. </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Bef>
                <a:spcPts val="0"/>
              </a:spcBef>
              <a:buSzPts val="1000"/>
              <a:buFont typeface="Symbol" panose="05050102010706020507" pitchFamily="18" charset="2"/>
              <a:buChar char=""/>
              <a:tabLst>
                <a:tab pos="457200" algn="l"/>
              </a:tabLst>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I need long battery life. </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4200" kern="0" dirty="0">
                <a:effectLst/>
                <a:latin typeface="Times New Roman" panose="02020603050405020304" pitchFamily="18" charset="0"/>
                <a:ea typeface="Times New Roman" panose="02020603050405020304" pitchFamily="18" charset="0"/>
                <a:cs typeface="Times New Roman" panose="02020603050405020304" pitchFamily="18" charset="0"/>
              </a:rPr>
              <a:t>So, an expensive iPhone may not fit my budget.</a:t>
            </a:r>
            <a:endParaRPr lang="en-IN" sz="42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7784866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A31E35-1DB2-1338-981E-CB6D6ABD791F}"/>
              </a:ext>
            </a:extLst>
          </p:cNvPr>
          <p:cNvSpPr>
            <a:spLocks noGrp="1"/>
          </p:cNvSpPr>
          <p:nvPr>
            <p:ph type="body" idx="1"/>
          </p:nvPr>
        </p:nvSpPr>
        <p:spPr>
          <a:xfrm>
            <a:off x="457200" y="678094"/>
            <a:ext cx="8229600" cy="5448069"/>
          </a:xfrm>
        </p:spPr>
        <p:txBody>
          <a:bodyPr>
            <a:normAutofit fontScale="92500" lnSpcReduction="20000"/>
          </a:bodyPr>
          <a:lstStyle/>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3. Make Judgments</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You evaluate the available options.</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Example:</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ts val="1000"/>
              <a:buFont typeface="Symbol" panose="05050102010706020507" pitchFamily="18" charset="2"/>
              <a:buChar char=""/>
              <a:tabLst>
                <a:tab pos="457200" algn="l"/>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Phone A: Excellent camera, expensive </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ts val="1000"/>
              <a:buFont typeface="Symbol" panose="05050102010706020507" pitchFamily="18" charset="2"/>
              <a:buChar char=""/>
              <a:tabLst>
                <a:tab pos="457200" algn="l"/>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Phone B: Good camera, affordable </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ts val="1000"/>
              <a:buFont typeface="Symbol" panose="05050102010706020507" pitchFamily="18" charset="2"/>
              <a:buChar char=""/>
              <a:tabLst>
                <a:tab pos="457200" algn="l"/>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Phone C: Affordable, poor battery </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0000"/>
              </a:lnSpc>
              <a:spcBef>
                <a:spcPts val="700"/>
              </a:spcBef>
              <a:spcAft>
                <a:spcPts val="0"/>
              </a:spcAft>
              <a:buClrTx/>
              <a:buSzPct val="100000"/>
              <a:buFont typeface="Arial"/>
              <a:buNone/>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You judge that Phone B offers the best balance</a:t>
            </a:r>
          </a:p>
          <a:p>
            <a:pPr marL="342900" marR="0" lvl="0" indent="-342900" algn="l" defTabSz="457200" rtl="0" eaLnBrk="1" fontAlgn="auto" latinLnBrk="0" hangingPunct="1">
              <a:lnSpc>
                <a:spcPct val="100000"/>
              </a:lnSpc>
              <a:spcBef>
                <a:spcPts val="700"/>
              </a:spcBef>
              <a:spcAft>
                <a:spcPts val="0"/>
              </a:spcAft>
              <a:buClrTx/>
              <a:buSzPct val="100000"/>
              <a:buFont typeface="Arial"/>
              <a:buNone/>
              <a:tabLst/>
              <a:defRPr/>
            </a:pPr>
            <a:endPar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4. Solve Problems</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You address your challenge.</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Problem:</a:t>
            </a: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Need a phone with good performance within ₹30,000.</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700"/>
              </a:spcBef>
              <a:spcAft>
                <a:spcPts val="80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Solution:</a:t>
            </a: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Select a phone that satisfies your requirements without exceeding the budget.</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endParaRPr lang="en-IN" dirty="0"/>
          </a:p>
        </p:txBody>
      </p:sp>
    </p:spTree>
    <p:extLst>
      <p:ext uri="{BB962C8B-B14F-4D97-AF65-F5344CB8AC3E}">
        <p14:creationId xmlns:p14="http://schemas.microsoft.com/office/powerpoint/2010/main" val="414460560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67783D-5A4B-390A-BBAB-86E7A7F69E4B}"/>
              </a:ext>
            </a:extLst>
          </p:cNvPr>
          <p:cNvSpPr>
            <a:spLocks noGrp="1"/>
          </p:cNvSpPr>
          <p:nvPr>
            <p:ph type="body" idx="1"/>
          </p:nvPr>
        </p:nvSpPr>
        <p:spPr>
          <a:xfrm>
            <a:off x="529119" y="1004299"/>
            <a:ext cx="8229600" cy="4728681"/>
          </a:xfrm>
        </p:spPr>
        <p:txBody>
          <a:bodyPr>
            <a:normAutofit fontScale="70000" lnSpcReduction="20000"/>
          </a:bodyPr>
          <a:lstStyle/>
          <a:p>
            <a:pPr>
              <a:lnSpc>
                <a:spcPct val="107000"/>
              </a:lnSpc>
              <a:spcAft>
                <a:spcPts val="800"/>
              </a:spcAft>
              <a:buNone/>
            </a:pPr>
            <a:r>
              <a:rPr lang="en-IN" sz="3400" b="1" kern="0" dirty="0">
                <a:effectLst/>
                <a:latin typeface="Times New Roman" panose="02020603050405020304" pitchFamily="18" charset="0"/>
                <a:ea typeface="Times New Roman" panose="02020603050405020304" pitchFamily="18" charset="0"/>
                <a:cs typeface="Times New Roman" panose="02020603050405020304" pitchFamily="18" charset="0"/>
              </a:rPr>
              <a:t>5. Make Decisions</a:t>
            </a:r>
            <a:endParaRPr lang="en-IN" sz="3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3400" kern="0" dirty="0">
                <a:effectLst/>
                <a:latin typeface="Times New Roman" panose="02020603050405020304" pitchFamily="18" charset="0"/>
                <a:ea typeface="Times New Roman" panose="02020603050405020304" pitchFamily="18" charset="0"/>
                <a:cs typeface="Times New Roman" panose="02020603050405020304" pitchFamily="18" charset="0"/>
              </a:rPr>
              <a:t>You choose one option.</a:t>
            </a:r>
            <a:endParaRPr lang="en-IN" sz="3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34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3400" kern="0" dirty="0">
                <a:effectLst/>
                <a:latin typeface="Times New Roman" panose="02020603050405020304" pitchFamily="18" charset="0"/>
                <a:ea typeface="Times New Roman" panose="02020603050405020304" pitchFamily="18" charset="0"/>
                <a:cs typeface="Times New Roman" panose="02020603050405020304" pitchFamily="18" charset="0"/>
              </a:rPr>
              <a:t> Buy Phone B.</a:t>
            </a:r>
          </a:p>
          <a:p>
            <a:pPr>
              <a:lnSpc>
                <a:spcPct val="107000"/>
              </a:lnSpc>
              <a:spcAft>
                <a:spcPts val="800"/>
              </a:spcAft>
              <a:buNone/>
            </a:pPr>
            <a:endParaRPr lang="en-IN" sz="3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3400" b="1" kern="0" dirty="0">
                <a:effectLst/>
                <a:latin typeface="Times New Roman" panose="02020603050405020304" pitchFamily="18" charset="0"/>
                <a:ea typeface="Times New Roman" panose="02020603050405020304" pitchFamily="18" charset="0"/>
                <a:cs typeface="Times New Roman" panose="02020603050405020304" pitchFamily="18" charset="0"/>
              </a:rPr>
              <a:t>6. Foster Innovation</a:t>
            </a:r>
            <a:endParaRPr lang="en-IN" sz="3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3400" kern="0" dirty="0">
                <a:effectLst/>
                <a:latin typeface="Times New Roman" panose="02020603050405020304" pitchFamily="18" charset="0"/>
                <a:ea typeface="Times New Roman" panose="02020603050405020304" pitchFamily="18" charset="0"/>
                <a:cs typeface="Times New Roman" panose="02020603050405020304" pitchFamily="18" charset="0"/>
              </a:rPr>
              <a:t>You think of a new or better idea.</a:t>
            </a:r>
            <a:endParaRPr lang="en-IN" sz="3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34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3400" kern="0" dirty="0">
                <a:effectLst/>
                <a:latin typeface="Times New Roman" panose="02020603050405020304" pitchFamily="18" charset="0"/>
                <a:ea typeface="Times New Roman" panose="02020603050405020304" pitchFamily="18" charset="0"/>
                <a:cs typeface="Times New Roman" panose="02020603050405020304" pitchFamily="18" charset="0"/>
              </a:rPr>
              <a:t> Instead of buying immediately, you use a price-tracking app to monitor discounts and save money.</a:t>
            </a:r>
            <a:endParaRPr lang="en-IN" sz="3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8641011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13B3E5-E641-EDAD-1974-83D31031AA91}"/>
              </a:ext>
            </a:extLst>
          </p:cNvPr>
          <p:cNvSpPr>
            <a:spLocks noGrp="1"/>
          </p:cNvSpPr>
          <p:nvPr>
            <p:ph type="body" idx="1"/>
          </p:nvPr>
        </p:nvSpPr>
        <p:spPr>
          <a:xfrm>
            <a:off x="570216" y="1035120"/>
            <a:ext cx="8229600" cy="4525963"/>
          </a:xfrm>
        </p:spPr>
        <p:txBody>
          <a:bodyPr>
            <a:normAutofit fontScale="77500" lnSpcReduction="20000"/>
          </a:bodyPr>
          <a:lstStyle/>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Acquire Knowledge</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Learn about sensors, IoT, and agriculture.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Engage in Reasoning</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IN" sz="32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how soil moisture affects crops.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Make Judgments</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Evaluate different sensor technologies.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Solve Problems</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Design a system that minimizes water wastage.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Make Decisions</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Select the most cost-effective solution.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Foster Innovation</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Develop an AI-enabled irrigation system that predicts watering needs automatically.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AB0DB70E-09F3-5D4B-DC66-A60029ADDBD4}"/>
              </a:ext>
            </a:extLst>
          </p:cNvPr>
          <p:cNvSpPr txBox="1"/>
          <p:nvPr/>
        </p:nvSpPr>
        <p:spPr>
          <a:xfrm>
            <a:off x="395554" y="302071"/>
            <a:ext cx="7731304"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Calibri"/>
              </a:rPr>
              <a:t>Case  3: Design a smart irrigation system</a:t>
            </a:r>
            <a:endParaRPr lang="en-IN" sz="2800" dirty="0"/>
          </a:p>
        </p:txBody>
      </p:sp>
    </p:spTree>
    <p:extLst>
      <p:ext uri="{BB962C8B-B14F-4D97-AF65-F5344CB8AC3E}">
        <p14:creationId xmlns:p14="http://schemas.microsoft.com/office/powerpoint/2010/main" val="16734481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4B03-A80D-719D-525D-BB0C1FF818EE}"/>
              </a:ext>
            </a:extLst>
          </p:cNvPr>
          <p:cNvSpPr>
            <a:spLocks noGrp="1"/>
          </p:cNvSpPr>
          <p:nvPr>
            <p:ph type="title"/>
          </p:nvPr>
        </p:nvSpPr>
        <p:spPr>
          <a:xfrm>
            <a:off x="457200" y="274639"/>
            <a:ext cx="8229600" cy="619214"/>
          </a:xfrm>
        </p:spPr>
        <p:txBody>
          <a:bodyPr>
            <a:normAutofit fontScale="90000"/>
          </a:bodyPr>
          <a:lstStyle/>
          <a:p>
            <a:pPr algn="l"/>
            <a:r>
              <a:rPr lang="en-US" sz="2400" b="1" i="1" dirty="0">
                <a:latin typeface="Times New Roman" panose="02020603050405020304" pitchFamily="18" charset="0"/>
                <a:cs typeface="Times New Roman" panose="02020603050405020304" pitchFamily="18" charset="0"/>
              </a:rPr>
              <a:t>Analyze the</a:t>
            </a:r>
            <a:r>
              <a:rPr kumimoji="0" lang="en-IN" sz="2400" b="1" i="1"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major functions of critical thinking and cognitive processing</a:t>
            </a:r>
            <a:r>
              <a:rPr lang="en-US" sz="2400" b="1" i="1" dirty="0">
                <a:latin typeface="Times New Roman" panose="02020603050405020304" pitchFamily="18" charset="0"/>
                <a:cs typeface="Times New Roman" panose="02020603050405020304" pitchFamily="18" charset="0"/>
              </a:rPr>
              <a:t>  </a:t>
            </a:r>
            <a:endParaRPr lang="en-IN" sz="2400" b="1" i="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C08B478-01F6-A7A3-2CF1-6EC1DA4668D2}"/>
              </a:ext>
            </a:extLst>
          </p:cNvPr>
          <p:cNvSpPr>
            <a:spLocks noGrp="1"/>
          </p:cNvSpPr>
          <p:nvPr>
            <p:ph type="body" idx="1"/>
          </p:nvPr>
        </p:nvSpPr>
        <p:spPr>
          <a:xfrm>
            <a:off x="457200" y="1376738"/>
            <a:ext cx="8229600" cy="4749426"/>
          </a:xfrm>
        </p:spPr>
        <p:txBody>
          <a:bodyPr>
            <a:normAutofit/>
          </a:bodyPr>
          <a:lstStyle/>
          <a:p>
            <a:pPr marL="0" indent="0">
              <a:buNone/>
            </a:pPr>
            <a:r>
              <a:rPr lang="en-IN" sz="2400" b="1" kern="0" dirty="0">
                <a:effectLst/>
                <a:latin typeface="Times New Roman" panose="02020603050405020304" pitchFamily="18" charset="0"/>
                <a:ea typeface="Times New Roman" panose="02020603050405020304" pitchFamily="18" charset="0"/>
              </a:rPr>
              <a:t>Problem:</a:t>
            </a:r>
            <a:r>
              <a:rPr lang="en-IN" sz="2400" kern="0" dirty="0">
                <a:effectLst/>
                <a:latin typeface="Times New Roman" panose="02020603050405020304" pitchFamily="18" charset="0"/>
                <a:ea typeface="Times New Roman" panose="02020603050405020304" pitchFamily="18" charset="0"/>
              </a:rPr>
              <a:t> Students are frequently late to class</a:t>
            </a:r>
          </a:p>
          <a:p>
            <a:pPr marL="0" lvl="0" indent="0">
              <a:lnSpc>
                <a:spcPct val="107000"/>
              </a:lnSpc>
              <a:spcAft>
                <a:spcPts val="800"/>
              </a:spcAft>
              <a:buSzPts val="1000"/>
              <a:buNone/>
              <a:tabLst>
                <a:tab pos="457200" algn="l"/>
              </a:tabLst>
            </a:pPr>
            <a:endPar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nSpc>
                <a:spcPct val="107000"/>
              </a:lnSpc>
              <a:spcAft>
                <a:spcPts val="800"/>
              </a:spcAft>
              <a:buSzPts val="1000"/>
              <a:buNone/>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Acquire Knowledge: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buNone/>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Reasoning: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buNone/>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Judgment: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buNone/>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Problem Solving: ?</a:t>
            </a:r>
          </a:p>
          <a:p>
            <a:pPr marL="0" lvl="0" indent="0">
              <a:lnSpc>
                <a:spcPct val="107000"/>
              </a:lnSpc>
              <a:spcAft>
                <a:spcPts val="800"/>
              </a:spcAft>
              <a:buSzPts val="1000"/>
              <a:buNone/>
              <a:tabLst>
                <a:tab pos="457200" algn="l"/>
              </a:tabLs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Decision Making: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IN" sz="2400" kern="0" dirty="0">
                <a:effectLst/>
                <a:latin typeface="Times New Roman" panose="02020603050405020304" pitchFamily="18" charset="0"/>
                <a:ea typeface="Times New Roman" panose="02020603050405020304" pitchFamily="18" charset="0"/>
              </a:rPr>
              <a:t>Innovation: ?</a:t>
            </a:r>
            <a:endParaRPr lang="en-IN" sz="2400" dirty="0"/>
          </a:p>
        </p:txBody>
      </p:sp>
    </p:spTree>
    <p:extLst>
      <p:ext uri="{BB962C8B-B14F-4D97-AF65-F5344CB8AC3E}">
        <p14:creationId xmlns:p14="http://schemas.microsoft.com/office/powerpoint/2010/main" val="16818922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pPr marL="571500" indent="-571500">
              <a:buFont typeface="Wingdings" panose="05000000000000000000" pitchFamily="2" charset="2"/>
              <a:buChar char="v"/>
            </a:pPr>
            <a:r>
              <a:rPr dirty="0">
                <a:solidFill>
                  <a:srgbClr val="FF0066"/>
                </a:solidFill>
              </a:rPr>
              <a:t>Importance of Thinking</a:t>
            </a:r>
          </a:p>
        </p:txBody>
      </p:sp>
      <p:pic>
        <p:nvPicPr>
          <p:cNvPr id="131" name="Screenshot 2026-05-31 at 11.05.13 PM.png" descr="Screenshot 2026-05-31 at 11.05.13 PM.png"/>
          <p:cNvPicPr>
            <a:picLocks noChangeAspect="1"/>
          </p:cNvPicPr>
          <p:nvPr/>
        </p:nvPicPr>
        <p:blipFill>
          <a:blip r:embed="rId2"/>
          <a:stretch>
            <a:fillRect/>
          </a:stretch>
        </p:blipFill>
        <p:spPr>
          <a:xfrm>
            <a:off x="-1" y="1311183"/>
            <a:ext cx="9144001" cy="5048519"/>
          </a:xfrm>
          <a:prstGeom prst="rect">
            <a:avLst/>
          </a:prstGeom>
          <a:ln w="12700">
            <a:miter lim="400000"/>
          </a:ln>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F2EC74-1629-C746-5938-760328883B2B}"/>
              </a:ext>
            </a:extLst>
          </p:cNvPr>
          <p:cNvSpPr>
            <a:spLocks noGrp="1"/>
          </p:cNvSpPr>
          <p:nvPr>
            <p:ph type="body" idx="1"/>
          </p:nvPr>
        </p:nvSpPr>
        <p:spPr>
          <a:xfrm>
            <a:off x="457200" y="678094"/>
            <a:ext cx="8229600" cy="5448069"/>
          </a:xfrm>
        </p:spPr>
        <p:txBody>
          <a:bodyPr>
            <a:normAutofit/>
          </a:bodyPr>
          <a:lstStyle/>
          <a:p>
            <a:pPr marL="342900" marR="0" lvl="0" indent="-342900" algn="just" defTabSz="457200" rtl="0" eaLnBrk="1" fontAlgn="auto" latinLnBrk="0" hangingPunct="1">
              <a:lnSpc>
                <a:spcPct val="107000"/>
              </a:lnSpc>
              <a:spcBef>
                <a:spcPts val="0"/>
              </a:spcBef>
              <a:spcAft>
                <a:spcPts val="0"/>
              </a:spcAft>
              <a:buClrTx/>
              <a:buSzPct val="100000"/>
              <a:buFont typeface="Wingdings" panose="05000000000000000000" pitchFamily="2" charset="2"/>
              <a:buChar char="Ø"/>
              <a:tabLst/>
              <a:defRPr/>
            </a:pPr>
            <a:r>
              <a:rPr kumimoji="0" lang="en-IN" sz="200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The above diagram uses </a:t>
            </a:r>
            <a:r>
              <a:rPr kumimoji="0" lang="en-IN" sz="2000" i="0" u="none" strike="noStrike" kern="0" cap="none" spc="0" normalizeH="0" baseline="0" noProof="0" dirty="0">
                <a:ln>
                  <a:noFill/>
                </a:ln>
                <a:solidFill>
                  <a:srgbClr val="0070C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five keys </a:t>
            </a:r>
            <a:r>
              <a:rPr kumimoji="0" lang="en-IN" sz="200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to show that </a:t>
            </a:r>
            <a:r>
              <a:rPr kumimoji="0" lang="en-IN" sz="2000" i="0" u="none" strike="noStrike" kern="0" cap="none" spc="0" normalizeH="0" baseline="0" noProof="0" dirty="0">
                <a:ln>
                  <a:noFill/>
                </a:ln>
                <a:solidFill>
                  <a:srgbClr val="7030A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thinking</a:t>
            </a:r>
            <a:r>
              <a:rPr kumimoji="0" lang="en-IN" sz="200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is the key that </a:t>
            </a:r>
            <a:r>
              <a:rPr kumimoji="0" lang="en-IN" sz="2000" i="0" u="none" strike="noStrike" kern="0" cap="none" spc="0" normalizeH="0" baseline="0" noProof="0" dirty="0">
                <a:ln>
                  <a:noFill/>
                </a:ln>
                <a:solidFill>
                  <a:srgbClr val="7030A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unlocks</a:t>
            </a:r>
            <a:r>
              <a:rPr kumimoji="0" lang="en-IN" sz="200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learning, problem-solving, decision-making, innovation, and personal growth.</a:t>
            </a:r>
            <a:endParaRPr kumimoji="0" lang="en-IN" sz="200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just" defTabSz="457200" rtl="0" eaLnBrk="1" fontAlgn="auto" latinLnBrk="0" hangingPunct="1">
              <a:lnSpc>
                <a:spcPct val="107000"/>
              </a:lnSpc>
              <a:spcBef>
                <a:spcPts val="0"/>
              </a:spcBef>
              <a:spcAft>
                <a:spcPts val="0"/>
              </a:spcAft>
              <a:buClrTx/>
              <a:buSzPct val="100000"/>
              <a:buFont typeface="Wingdings" panose="05000000000000000000" pitchFamily="2" charset="2"/>
              <a:buChar char="Ø"/>
              <a:tabLst/>
              <a:defRPr/>
            </a:pPr>
            <a:r>
              <a:rPr kumimoji="0" lang="en-IN" sz="200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Central Idea: Thinking</a:t>
            </a:r>
            <a:endParaRPr kumimoji="0" lang="en-IN" sz="200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just" defTabSz="457200" rtl="0" eaLnBrk="1" fontAlgn="auto" latinLnBrk="0" hangingPunct="1">
              <a:lnSpc>
                <a:spcPct val="107000"/>
              </a:lnSpc>
              <a:spcBef>
                <a:spcPts val="0"/>
              </a:spcBef>
              <a:spcAft>
                <a:spcPts val="0"/>
              </a:spcAft>
              <a:buClrTx/>
              <a:buSzPct val="100000"/>
              <a:buFont typeface="Wingdings" panose="05000000000000000000" pitchFamily="2" charset="2"/>
              <a:buChar char="Ø"/>
              <a:tabLst/>
              <a:defRPr/>
            </a:pPr>
            <a:r>
              <a:rPr kumimoji="0" lang="en-IN" sz="200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Thinking is the mental process of </a:t>
            </a:r>
            <a:r>
              <a:rPr kumimoji="0" lang="en-IN" sz="2000" i="0" u="none" strike="noStrike" kern="0" cap="none" spc="0" normalizeH="0" baseline="0" noProof="0" dirty="0" err="1">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analyzing</a:t>
            </a:r>
            <a:r>
              <a:rPr kumimoji="0" lang="en-IN" sz="200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information, making connections, evaluating options, and generating ideas. It is the foundation of many important life skills.</a:t>
            </a:r>
          </a:p>
          <a:p>
            <a:pPr marL="342900" marR="0" lvl="0" indent="-342900" algn="l" defTabSz="457200" rtl="0" eaLnBrk="1" fontAlgn="auto" latinLnBrk="0" hangingPunct="1">
              <a:lnSpc>
                <a:spcPct val="107000"/>
              </a:lnSpc>
              <a:spcBef>
                <a:spcPts val="0"/>
              </a:spcBef>
              <a:spcAft>
                <a:spcPts val="0"/>
              </a:spcAft>
              <a:buClrTx/>
              <a:buSzPct val="100000"/>
              <a:buFont typeface="Wingdings" panose="05000000000000000000" pitchFamily="2" charset="2"/>
              <a:buChar char="Ø"/>
              <a:tabLst/>
              <a:defRPr/>
            </a:pPr>
            <a:endParaRPr kumimoji="0" lang="en-IN" sz="20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1. Learning</a:t>
            </a:r>
            <a:endParaRPr kumimoji="0" lang="en-IN" sz="24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0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"Encourages exploration and understanding."</a:t>
            </a:r>
            <a:endParaRPr kumimoji="0" lang="en-IN" sz="20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0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Thinking helps us:</a:t>
            </a:r>
            <a:endParaRPr kumimoji="0" lang="en-IN" sz="20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0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Understand new concepts </a:t>
            </a:r>
            <a:endParaRPr kumimoji="0" lang="en-IN" sz="20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0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Ask questions </a:t>
            </a:r>
            <a:endParaRPr kumimoji="0" lang="en-IN" sz="20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0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Connect new knowledge with existing knowledge </a:t>
            </a:r>
            <a:endParaRPr kumimoji="0" lang="en-IN" sz="20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0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Example:</a:t>
            </a:r>
            <a:r>
              <a:rPr kumimoji="0" lang="en-IN" sz="20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When learning AI, students think about how algorithms work rather than just memorizing definitions.</a:t>
            </a:r>
            <a:endParaRPr kumimoji="0" lang="en-IN" sz="20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endParaRPr lang="en-IN" dirty="0"/>
          </a:p>
        </p:txBody>
      </p:sp>
    </p:spTree>
    <p:extLst>
      <p:ext uri="{BB962C8B-B14F-4D97-AF65-F5344CB8AC3E}">
        <p14:creationId xmlns:p14="http://schemas.microsoft.com/office/powerpoint/2010/main" val="80102218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99774D-AAC5-3014-3F3E-408AD0C0BF77}"/>
              </a:ext>
            </a:extLst>
          </p:cNvPr>
          <p:cNvSpPr>
            <a:spLocks noGrp="1"/>
          </p:cNvSpPr>
          <p:nvPr>
            <p:ph type="body" idx="1"/>
          </p:nvPr>
        </p:nvSpPr>
        <p:spPr>
          <a:xfrm>
            <a:off x="457200" y="421240"/>
            <a:ext cx="8229600" cy="6000109"/>
          </a:xfrm>
        </p:spPr>
        <p:txBody>
          <a:bodyPr>
            <a:normAutofit fontScale="77500" lnSpcReduction="20000"/>
          </a:bodyPr>
          <a:lstStyle/>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31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2. Problem Solving</a:t>
            </a:r>
            <a:endParaRPr kumimoji="0" lang="en-IN" sz="31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8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"Enhances the ability to tackle challenges effectively."</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Thinking helps us:</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Identify problems </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800" b="0" i="0" u="none" strike="noStrike" kern="0" cap="none" spc="0" normalizeH="0" baseline="0" noProof="0" dirty="0" err="1">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Analyze</a:t>
            </a: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causes </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Find suitable solutions </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8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Example:</a:t>
            </a: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If a computer is not connecting to Wi-Fi, thinking helps identify whether the issue is with the router, password, or network settings.</a:t>
            </a: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31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3. Decision Making</a:t>
            </a:r>
            <a:endParaRPr kumimoji="0" lang="en-IN" sz="31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8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"Leads to more favourable outcomes through thoughtful consideration."</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Thinking helps us:</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Compare alternatives </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Weigh advantages and disadvantages </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lvl="1" indent="-342900">
              <a:lnSpc>
                <a:spcPct val="107000"/>
              </a:lnSpc>
              <a:spcBef>
                <a:spcPts val="0"/>
              </a:spcBef>
              <a:buFont typeface="Symbol" panose="05050102010706020507" pitchFamily="18" charset="2"/>
              <a:buChar char=""/>
              <a:tabLst>
                <a:tab pos="457200" algn="l"/>
              </a:tabLst>
              <a:defRPr/>
            </a:pP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Select the best option </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pPr marL="342900" marR="0" lvl="0" indent="-342900" algn="l" defTabSz="457200" rtl="0" eaLnBrk="1" fontAlgn="auto" latinLnBrk="0" hangingPunct="1">
              <a:lnSpc>
                <a:spcPct val="107000"/>
              </a:lnSpc>
              <a:spcBef>
                <a:spcPts val="0"/>
              </a:spcBef>
              <a:spcAft>
                <a:spcPts val="0"/>
              </a:spcAft>
              <a:buClrTx/>
              <a:buSzPct val="100000"/>
              <a:buFont typeface="Arial"/>
              <a:buNone/>
              <a:tabLst/>
              <a:defRPr/>
            </a:pPr>
            <a:r>
              <a:rPr kumimoji="0" lang="en-IN" sz="2800" b="1"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Example:</a:t>
            </a:r>
            <a:r>
              <a:rPr kumimoji="0" lang="en-IN" sz="28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sym typeface="Calibri"/>
              </a:rPr>
              <a:t> Choosing between higher studies and a job offer after evaluating career goals, costs, and opportunities.</a:t>
            </a:r>
            <a:endParaRPr kumimoji="0" lang="en-IN" sz="2800" b="0" i="0" u="none" strike="noStrike" kern="1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Calibri"/>
            </a:endParaRPr>
          </a:p>
          <a:p>
            <a:endParaRPr lang="en-IN" dirty="0"/>
          </a:p>
        </p:txBody>
      </p:sp>
    </p:spTree>
    <p:extLst>
      <p:ext uri="{BB962C8B-B14F-4D97-AF65-F5344CB8AC3E}">
        <p14:creationId xmlns:p14="http://schemas.microsoft.com/office/powerpoint/2010/main" val="102112749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B29072-EF1F-64E9-066E-77EF40CC8A2D}"/>
              </a:ext>
            </a:extLst>
          </p:cNvPr>
          <p:cNvSpPr>
            <a:spLocks noGrp="1"/>
          </p:cNvSpPr>
          <p:nvPr>
            <p:ph type="body" idx="1"/>
          </p:nvPr>
        </p:nvSpPr>
        <p:spPr>
          <a:xfrm>
            <a:off x="580490" y="305658"/>
            <a:ext cx="8229600" cy="6095144"/>
          </a:xfrm>
        </p:spPr>
        <p:txBody>
          <a:bodyPr>
            <a:normAutofit fontScale="25000" lnSpcReduction="20000"/>
          </a:bodyPr>
          <a:lstStyle/>
          <a:p>
            <a:pPr>
              <a:lnSpc>
                <a:spcPct val="107000"/>
              </a:lnSpc>
              <a:spcBef>
                <a:spcPts val="0"/>
              </a:spcBef>
              <a:buNone/>
            </a:pPr>
            <a:r>
              <a:rPr lang="en-IN" sz="9600" b="1" kern="0" dirty="0">
                <a:effectLst/>
                <a:latin typeface="Times New Roman" panose="02020603050405020304" pitchFamily="18" charset="0"/>
                <a:ea typeface="Times New Roman" panose="02020603050405020304" pitchFamily="18" charset="0"/>
                <a:cs typeface="Times New Roman" panose="02020603050405020304" pitchFamily="18" charset="0"/>
              </a:rPr>
              <a:t>4. Innovation</a:t>
            </a:r>
            <a:endParaRPr lang="en-IN" sz="9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8800" b="1" kern="0" dirty="0">
                <a:effectLst/>
                <a:latin typeface="Times New Roman" panose="02020603050405020304" pitchFamily="18" charset="0"/>
                <a:ea typeface="Times New Roman" panose="02020603050405020304" pitchFamily="18" charset="0"/>
                <a:cs typeface="Times New Roman" panose="02020603050405020304" pitchFamily="18" charset="0"/>
              </a:rPr>
              <a:t>"Fosters the development of new ideas and solutions."</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Thinking helps us:</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Bef>
                <a:spcPts val="0"/>
              </a:spcBef>
              <a:buSzPct val="90000"/>
              <a:buFont typeface="Symbol" panose="05050102010706020507" pitchFamily="18" charset="2"/>
              <a:buChar char=""/>
              <a:tabLst>
                <a:tab pos="457200" algn="l"/>
              </a:tabLst>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Generate creative ideas </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Bef>
                <a:spcPts val="0"/>
              </a:spcBef>
              <a:buSzPct val="90000"/>
              <a:buFont typeface="Symbol" panose="05050102010706020507" pitchFamily="18" charset="2"/>
              <a:buChar char=""/>
              <a:tabLst>
                <a:tab pos="457200" algn="l"/>
              </a:tabLst>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Improve existing systems </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Bef>
                <a:spcPts val="0"/>
              </a:spcBef>
              <a:buSzPct val="90000"/>
              <a:buFont typeface="Symbol" panose="05050102010706020507" pitchFamily="18" charset="2"/>
              <a:buChar char=""/>
              <a:tabLst>
                <a:tab pos="457200" algn="l"/>
              </a:tabLst>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Develop new products and technologies </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88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 Creating a smart attendance system using facial recognition instead of manual attendance.</a:t>
            </a:r>
          </a:p>
          <a:p>
            <a:pPr>
              <a:lnSpc>
                <a:spcPct val="107000"/>
              </a:lnSpc>
              <a:spcBef>
                <a:spcPts val="0"/>
              </a:spcBef>
              <a:buNone/>
            </a:pP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9600" b="1" kern="0" dirty="0">
                <a:effectLst/>
                <a:latin typeface="Times New Roman" panose="02020603050405020304" pitchFamily="18" charset="0"/>
                <a:ea typeface="Times New Roman" panose="02020603050405020304" pitchFamily="18" charset="0"/>
                <a:cs typeface="Times New Roman" panose="02020603050405020304" pitchFamily="18" charset="0"/>
              </a:rPr>
              <a:t>5. Personal Growth</a:t>
            </a:r>
            <a:endParaRPr lang="en-IN" sz="9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8800" b="1" kern="0" dirty="0">
                <a:effectLst/>
                <a:latin typeface="Times New Roman" panose="02020603050405020304" pitchFamily="18" charset="0"/>
                <a:ea typeface="Times New Roman" panose="02020603050405020304" pitchFamily="18" charset="0"/>
                <a:cs typeface="Times New Roman" panose="02020603050405020304" pitchFamily="18" charset="0"/>
              </a:rPr>
              <a:t>"Helps individuals evolve and adapt in a changing world."</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Thinking helps us:</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Bef>
                <a:spcPts val="0"/>
              </a:spcBef>
              <a:buSzPct val="90000"/>
              <a:buFont typeface="Symbol" panose="05050102010706020507" pitchFamily="18" charset="2"/>
              <a:buChar char=""/>
              <a:tabLst>
                <a:tab pos="457200" algn="l"/>
              </a:tabLst>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Learn from mistakes </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Bef>
                <a:spcPts val="0"/>
              </a:spcBef>
              <a:buSzPct val="90000"/>
              <a:buFont typeface="Symbol" panose="05050102010706020507" pitchFamily="18" charset="2"/>
              <a:buChar char=""/>
              <a:tabLst>
                <a:tab pos="457200" algn="l"/>
              </a:tabLst>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Improve skills </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Bef>
                <a:spcPts val="0"/>
              </a:spcBef>
              <a:buSzPct val="90000"/>
              <a:buFont typeface="Symbol" panose="05050102010706020507" pitchFamily="18" charset="2"/>
              <a:buChar char=""/>
              <a:tabLst>
                <a:tab pos="457200" algn="l"/>
              </a:tabLst>
            </a:pP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Adapt to new situations </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buNone/>
            </a:pPr>
            <a:r>
              <a:rPr lang="en-IN" sz="88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IN" sz="8800" kern="0" dirty="0">
                <a:effectLst/>
                <a:latin typeface="Times New Roman" panose="02020603050405020304" pitchFamily="18" charset="0"/>
                <a:ea typeface="Times New Roman" panose="02020603050405020304" pitchFamily="18" charset="0"/>
                <a:cs typeface="Times New Roman" panose="02020603050405020304" pitchFamily="18" charset="0"/>
              </a:rPr>
              <a:t> After receiving feedback on a presentation, a student reflects on weaknesses and improves communication skills.</a:t>
            </a:r>
            <a:endParaRPr lang="en-IN" sz="8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0"/>
              </a:spcBef>
              <a:buNone/>
            </a:pP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Bef>
                <a:spcPts val="0"/>
              </a:spcBef>
              <a:buNone/>
            </a:pPr>
            <a:b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580926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C767A98-25FA-B914-8D03-276723E8F9C3}"/>
              </a:ext>
            </a:extLst>
          </p:cNvPr>
          <p:cNvSpPr>
            <a:spLocks noGrp="1"/>
          </p:cNvSpPr>
          <p:nvPr>
            <p:ph type="body" idx="1"/>
          </p:nvPr>
        </p:nvSpPr>
        <p:spPr>
          <a:xfrm>
            <a:off x="457200" y="565079"/>
            <a:ext cx="8229600" cy="5352836"/>
          </a:xfrm>
        </p:spPr>
        <p:txBody>
          <a:bodyPr>
            <a:normAutofit fontScale="77500" lnSpcReduction="20000"/>
          </a:bodyPr>
          <a:lstStyle/>
          <a:p>
            <a:pPr>
              <a:lnSpc>
                <a:spcPct val="107000"/>
              </a:lnSpc>
              <a:spcAft>
                <a:spcPts val="800"/>
              </a:spcAft>
              <a:buNone/>
            </a:pPr>
            <a:r>
              <a:rPr lang="en-IN" sz="4400" b="1" kern="0" dirty="0">
                <a:effectLst/>
                <a:latin typeface="Times New Roman" panose="02020603050405020304" pitchFamily="18" charset="0"/>
                <a:ea typeface="Times New Roman" panose="02020603050405020304" pitchFamily="18" charset="0"/>
                <a:cs typeface="Times New Roman" panose="02020603050405020304" pitchFamily="18" charset="0"/>
              </a:rPr>
              <a:t>Classroom Example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Imagine </a:t>
            </a:r>
            <a:r>
              <a:rPr lang="en-IN" sz="3200" b="1" kern="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 student preparing for an exam</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Learning</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Studies the subject.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Problem Solving</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Finds ways to understand difficult topics.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Decision Making</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Chooses a study schedule.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Innovation</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Creates mind maps or flashcards for revision.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Personal Growth</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 → Becomes more disciplined and confident.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All of these are possible because the student </a:t>
            </a: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thinks</a:t>
            </a:r>
            <a:r>
              <a:rPr lang="en-IN" sz="3200" kern="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07000"/>
              </a:lnSpc>
              <a:spcAft>
                <a:spcPts val="800"/>
              </a:spcAft>
              <a:buNone/>
            </a:pP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2336558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C617455-709D-4E87-6544-92408F03AC7F}"/>
              </a:ext>
            </a:extLst>
          </p:cNvPr>
          <p:cNvSpPr>
            <a:spLocks noGrp="1"/>
          </p:cNvSpPr>
          <p:nvPr>
            <p:ph idx="1"/>
          </p:nvPr>
        </p:nvSpPr>
        <p:spPr>
          <a:xfrm>
            <a:off x="628650" y="208052"/>
            <a:ext cx="7886700" cy="6441896"/>
          </a:xfrm>
        </p:spPr>
        <p:txBody>
          <a:bodyPr>
            <a:normAutofit fontScale="92500" lnSpcReduction="10000"/>
          </a:bodyPr>
          <a:lstStyle/>
          <a:p>
            <a:pPr>
              <a:buNone/>
            </a:pPr>
            <a:r>
              <a:rPr lang="en-US" sz="2400" b="1" dirty="0">
                <a:latin typeface="Times New Roman" panose="02020603050405020304" pitchFamily="18" charset="0"/>
                <a:cs typeface="Times New Roman" panose="02020603050405020304" pitchFamily="18" charset="0"/>
              </a:rPr>
              <a:t>Mind Maps</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mind map</a:t>
            </a:r>
            <a:r>
              <a:rPr lang="en-US" sz="2400" dirty="0">
                <a:latin typeface="Times New Roman" panose="02020603050405020304" pitchFamily="18" charset="0"/>
                <a:cs typeface="Times New Roman" panose="02020603050405020304" pitchFamily="18" charset="0"/>
              </a:rPr>
              <a:t> is a </a:t>
            </a:r>
            <a:r>
              <a:rPr lang="en-US" sz="2400" dirty="0">
                <a:solidFill>
                  <a:srgbClr val="0070C0"/>
                </a:solidFill>
                <a:latin typeface="Times New Roman" panose="02020603050405020304" pitchFamily="18" charset="0"/>
                <a:cs typeface="Times New Roman" panose="02020603050405020304" pitchFamily="18" charset="0"/>
              </a:rPr>
              <a:t>visual diagram that organizes information around a central topic</a:t>
            </a:r>
            <a:r>
              <a:rPr lang="en-US" sz="2400" dirty="0">
                <a:latin typeface="Times New Roman" panose="02020603050405020304" pitchFamily="18" charset="0"/>
                <a:cs typeface="Times New Roman" panose="02020603050405020304" pitchFamily="18" charset="0"/>
              </a:rPr>
              <a:t>. It uses branches to connect related ideas, making it easier to understand relationships between concepts.</a:t>
            </a: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Flash Card</a:t>
            </a:r>
            <a:r>
              <a:rPr lang="en-US" sz="2400" dirty="0">
                <a:latin typeface="Times New Roman" panose="02020603050405020304" pitchFamily="18" charset="0"/>
                <a:cs typeface="Times New Roman" panose="02020603050405020304" pitchFamily="18" charset="0"/>
              </a:rPr>
              <a:t>: A flashcard is a study card with a question, term, or concept on one side and the answer or explanation on the other side.</a:t>
            </a:r>
          </a:p>
          <a:p>
            <a:pPr marL="0" indent="0">
              <a:buNone/>
            </a:pPr>
            <a:endParaRPr lang="en-IN" dirty="0"/>
          </a:p>
        </p:txBody>
      </p:sp>
      <p:pic>
        <p:nvPicPr>
          <p:cNvPr id="1026" name="Picture 2" descr="Classification of Data Structure">
            <a:extLst>
              <a:ext uri="{FF2B5EF4-FFF2-40B4-BE49-F238E27FC236}">
                <a16:creationId xmlns:a16="http://schemas.microsoft.com/office/drawing/2014/main" id="{C3FAE856-2501-15CD-8C94-63C97CBC4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609" y="1665591"/>
            <a:ext cx="7191910" cy="3789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0496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B75192-F1B0-F3C2-8988-4A4B9C4B05A2}"/>
              </a:ext>
            </a:extLst>
          </p:cNvPr>
          <p:cNvSpPr>
            <a:spLocks noGrp="1"/>
          </p:cNvSpPr>
          <p:nvPr>
            <p:ph type="body" idx="1"/>
          </p:nvPr>
        </p:nvSpPr>
        <p:spPr>
          <a:xfrm>
            <a:off x="457200" y="821933"/>
            <a:ext cx="8229600" cy="5075433"/>
          </a:xfrm>
        </p:spPr>
        <p:txBody>
          <a:bodyPr>
            <a:normAutofit fontScale="85000" lnSpcReduction="20000"/>
          </a:bodyPr>
          <a:lstStyle/>
          <a:p>
            <a:pPr>
              <a:lnSpc>
                <a:spcPct val="107000"/>
              </a:lnSpc>
              <a:spcAft>
                <a:spcPts val="800"/>
              </a:spcAft>
              <a:buNone/>
            </a:pPr>
            <a:r>
              <a:rPr lang="en-IN" sz="2800" b="1" kern="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Thinking</a:t>
            </a: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is like a </a:t>
            </a:r>
            <a:r>
              <a:rPr lang="en-IN" sz="2800" b="1" kern="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master key</a:t>
            </a: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It unlocks: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Aft>
                <a:spcPts val="800"/>
              </a:spcAft>
              <a:buSzPct val="90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Better learning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Aft>
                <a:spcPts val="800"/>
              </a:spcAft>
              <a:buSzPct val="90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Effective problem-solving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Aft>
                <a:spcPts val="800"/>
              </a:spcAft>
              <a:buSzPct val="90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Wise decision-making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Aft>
                <a:spcPts val="800"/>
              </a:spcAft>
              <a:buSzPct val="90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Creativity and innovation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lvl="1" indent="-342900">
              <a:lnSpc>
                <a:spcPct val="107000"/>
              </a:lnSpc>
              <a:spcAft>
                <a:spcPts val="800"/>
              </a:spcAft>
              <a:buSzPct val="90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Continuous personal growth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Font typeface="Wingdings" panose="05000000000000000000" pitchFamily="2" charset="2"/>
              <a:buChar char="Ø"/>
            </a:pPr>
            <a:endParaRPr lang="en-IN" sz="2800" i="1"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Aft>
                <a:spcPts val="800"/>
              </a:spcAft>
              <a:buFont typeface="Wingdings" panose="05000000000000000000" pitchFamily="2" charset="2"/>
              <a:buChar char="Ø"/>
            </a:pPr>
            <a:r>
              <a:rPr lang="en-IN" sz="3100" b="1" i="1" kern="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Without thinking, knowledge remains information; with thinking, knowledge becomes understanding, action, and progress</a:t>
            </a:r>
            <a:r>
              <a:rPr lang="en-IN" sz="2800" kern="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800"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8960173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pPr marL="571500" indent="-571500">
              <a:buFont typeface="Wingdings" panose="05000000000000000000" pitchFamily="2" charset="2"/>
              <a:buChar char="v"/>
            </a:pPr>
            <a:r>
              <a:rPr dirty="0">
                <a:solidFill>
                  <a:srgbClr val="FF0066"/>
                </a:solidFill>
              </a:rPr>
              <a:t>How Humans Think</a:t>
            </a:r>
          </a:p>
        </p:txBody>
      </p:sp>
      <p:sp>
        <p:nvSpPr>
          <p:cNvPr id="134" name="Content Placeholder 2"/>
          <p:cNvSpPr txBox="1">
            <a:spLocks noGrp="1"/>
          </p:cNvSpPr>
          <p:nvPr>
            <p:ph type="body" sz="half" idx="1"/>
          </p:nvPr>
        </p:nvSpPr>
        <p:spPr>
          <a:xfrm>
            <a:off x="457200" y="1600200"/>
            <a:ext cx="3527877" cy="4525963"/>
          </a:xfrm>
          <a:prstGeom prst="rect">
            <a:avLst/>
          </a:prstGeom>
        </p:spPr>
        <p:txBody>
          <a:bodyPr/>
          <a:lstStyle/>
          <a:p>
            <a:pPr>
              <a:defRPr>
                <a:latin typeface="Times New Roman"/>
                <a:ea typeface="Times New Roman"/>
                <a:cs typeface="Times New Roman"/>
                <a:sym typeface="Times New Roman"/>
              </a:defRPr>
            </a:pPr>
            <a:r>
              <a:rPr dirty="0"/>
              <a:t>Observation</a:t>
            </a:r>
          </a:p>
          <a:p>
            <a:pPr>
              <a:defRPr>
                <a:latin typeface="Times New Roman"/>
                <a:ea typeface="Times New Roman"/>
                <a:cs typeface="Times New Roman"/>
                <a:sym typeface="Times New Roman"/>
              </a:defRPr>
            </a:pPr>
            <a:r>
              <a:rPr dirty="0"/>
              <a:t>Interpretation</a:t>
            </a:r>
          </a:p>
          <a:p>
            <a:pPr>
              <a:defRPr>
                <a:latin typeface="Times New Roman"/>
                <a:ea typeface="Times New Roman"/>
                <a:cs typeface="Times New Roman"/>
                <a:sym typeface="Times New Roman"/>
              </a:defRPr>
            </a:pPr>
            <a:r>
              <a:rPr dirty="0"/>
              <a:t>Analysis</a:t>
            </a:r>
          </a:p>
          <a:p>
            <a:pPr>
              <a:defRPr>
                <a:latin typeface="Times New Roman"/>
                <a:ea typeface="Times New Roman"/>
                <a:cs typeface="Times New Roman"/>
                <a:sym typeface="Times New Roman"/>
              </a:defRPr>
            </a:pPr>
            <a:r>
              <a:rPr dirty="0"/>
              <a:t>Evaluation</a:t>
            </a:r>
          </a:p>
          <a:p>
            <a:pPr>
              <a:defRPr>
                <a:latin typeface="Times New Roman"/>
                <a:ea typeface="Times New Roman"/>
                <a:cs typeface="Times New Roman"/>
                <a:sym typeface="Times New Roman"/>
              </a:defRPr>
            </a:pPr>
            <a:r>
              <a:rPr dirty="0"/>
              <a:t>Decision Making</a:t>
            </a:r>
          </a:p>
        </p:txBody>
      </p:sp>
      <p:sp>
        <p:nvSpPr>
          <p:cNvPr id="135" name="Content Placeholder 2"/>
          <p:cNvSpPr txBox="1"/>
          <p:nvPr/>
        </p:nvSpPr>
        <p:spPr>
          <a:xfrm>
            <a:off x="4470400" y="1600200"/>
            <a:ext cx="3527877"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lnSpcReduction="10000"/>
          </a:bodyPr>
          <a:lstStyle/>
          <a:p>
            <a:pPr defTabSz="310895">
              <a:spcBef>
                <a:spcPts val="500"/>
              </a:spcBef>
              <a:defRPr sz="1496" b="1">
                <a:latin typeface="Times New Roman"/>
                <a:ea typeface="Times New Roman"/>
                <a:cs typeface="Times New Roman"/>
                <a:sym typeface="Times New Roman"/>
              </a:defRPr>
            </a:pPr>
            <a:r>
              <a:rPr dirty="0"/>
              <a:t>Activity:</a:t>
            </a:r>
          </a:p>
          <a:p>
            <a:pPr defTabSz="310895">
              <a:defRPr sz="1496" b="1">
                <a:latin typeface="Times New Roman"/>
                <a:ea typeface="Times New Roman"/>
                <a:cs typeface="Times New Roman"/>
                <a:sym typeface="Times New Roman"/>
              </a:defRPr>
            </a:pPr>
            <a:r>
              <a:rPr dirty="0"/>
              <a:t>The Stroop Effect (System 1 vs. System 2)</a:t>
            </a:r>
          </a:p>
          <a:p>
            <a:pPr defTabSz="310895">
              <a:defRPr sz="1496">
                <a:latin typeface="Times New Roman"/>
                <a:ea typeface="Times New Roman"/>
                <a:cs typeface="Times New Roman"/>
                <a:sym typeface="Times New Roman"/>
              </a:defRPr>
            </a:pPr>
            <a:r>
              <a:rPr dirty="0"/>
              <a:t>This activity perfectly demonstrates the conflict between fast, automatic thinking and slow, deliberate reasoning.</a:t>
            </a:r>
          </a:p>
          <a:p>
            <a:pPr marL="310895" indent="-215900" defTabSz="310895">
              <a:spcBef>
                <a:spcPts val="800"/>
              </a:spcBef>
              <a:buSzPct val="100000"/>
              <a:buFont typeface="Helvetica Neue"/>
              <a:buChar char="•"/>
              <a:defRPr sz="1496">
                <a:latin typeface="Times New Roman"/>
                <a:ea typeface="Times New Roman"/>
                <a:cs typeface="Times New Roman"/>
                <a:sym typeface="Times New Roman"/>
              </a:defRPr>
            </a:pPr>
            <a:r>
              <a:rPr b="1" dirty="0"/>
              <a:t>The Setup</a:t>
            </a:r>
            <a:r>
              <a:rPr dirty="0"/>
              <a:t>: Write a list of color words on the board, but print them in different colored ink (e.g., write the word </a:t>
            </a:r>
            <a:r>
              <a:rPr b="1" dirty="0"/>
              <a:t>"BLUE"</a:t>
            </a:r>
            <a:r>
              <a:rPr dirty="0"/>
              <a:t> using </a:t>
            </a:r>
            <a:r>
              <a:rPr b="1" dirty="0"/>
              <a:t>red</a:t>
            </a:r>
            <a:r>
              <a:rPr dirty="0"/>
              <a:t> marker).</a:t>
            </a:r>
          </a:p>
          <a:p>
            <a:pPr marL="310895" indent="-215900" defTabSz="310895">
              <a:spcBef>
                <a:spcPts val="800"/>
              </a:spcBef>
              <a:buSzPct val="100000"/>
              <a:buFont typeface="Helvetica Neue"/>
              <a:buChar char="•"/>
              <a:defRPr sz="1496">
                <a:latin typeface="Times New Roman"/>
                <a:ea typeface="Times New Roman"/>
                <a:cs typeface="Times New Roman"/>
                <a:sym typeface="Times New Roman"/>
              </a:defRPr>
            </a:pPr>
            <a:r>
              <a:rPr b="1" dirty="0"/>
              <a:t>The Task</a:t>
            </a:r>
            <a:r>
              <a:rPr dirty="0"/>
              <a:t>: Have students pair up. One student must go down the list and say the </a:t>
            </a:r>
            <a:r>
              <a:rPr i="1" dirty="0"/>
              <a:t>ink color</a:t>
            </a:r>
            <a:r>
              <a:rPr dirty="0"/>
              <a:t> out loud as fast as possible, while their partner times them.</a:t>
            </a:r>
          </a:p>
          <a:p>
            <a:pPr marL="310895" indent="-215900" defTabSz="310895">
              <a:spcBef>
                <a:spcPts val="800"/>
              </a:spcBef>
              <a:buSzPct val="100000"/>
              <a:buFont typeface="Helvetica Neue"/>
              <a:buChar char="•"/>
              <a:defRPr sz="1496">
                <a:latin typeface="Times New Roman"/>
                <a:ea typeface="Times New Roman"/>
                <a:cs typeface="Times New Roman"/>
                <a:sym typeface="Times New Roman"/>
              </a:defRPr>
            </a:pPr>
            <a:r>
              <a:rPr b="1" dirty="0"/>
              <a:t>The Takeaway</a:t>
            </a:r>
            <a:r>
              <a:rPr dirty="0"/>
              <a:t>: Students will struggle and slow down because System 1 automatically reads the word, forcing System 2 to step in, override the error, and name the color instead.</a:t>
            </a:r>
          </a:p>
          <a:p>
            <a:pPr defTabSz="310895">
              <a:spcBef>
                <a:spcPts val="500"/>
              </a:spcBef>
              <a:defRPr sz="1496">
                <a:latin typeface="Times New Roman"/>
                <a:ea typeface="Times New Roman"/>
                <a:cs typeface="Times New Roman"/>
                <a:sym typeface="Times New Roman"/>
              </a:defRPr>
            </a:pPr>
            <a:r>
              <a:rPr dirty="0"/>
              <a:t> </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8E67EB-CB6D-1C8E-0B9D-DB10D6871E31}"/>
              </a:ext>
            </a:extLst>
          </p:cNvPr>
          <p:cNvSpPr>
            <a:spLocks noGrp="1"/>
          </p:cNvSpPr>
          <p:nvPr>
            <p:ph type="title"/>
          </p:nvPr>
        </p:nvSpPr>
        <p:spPr>
          <a:xfrm>
            <a:off x="279329" y="211014"/>
            <a:ext cx="7886700" cy="374614"/>
          </a:xfrm>
        </p:spPr>
        <p:txBody>
          <a:bodyPr>
            <a:normAutofit fontScale="90000"/>
          </a:bodyPr>
          <a:lstStyle/>
          <a:p>
            <a:r>
              <a:rPr lang="en-US" sz="2800" dirty="0">
                <a:latin typeface="Times New Roman" panose="02020603050405020304" pitchFamily="18" charset="0"/>
                <a:cs typeface="Times New Roman" panose="02020603050405020304" pitchFamily="18" charset="0"/>
              </a:rPr>
              <a:t>How humans think (continuation…)</a:t>
            </a:r>
            <a:endParaRPr lang="en-IN" sz="28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C617455-709D-4E87-6544-92408F03AC7F}"/>
              </a:ext>
            </a:extLst>
          </p:cNvPr>
          <p:cNvSpPr>
            <a:spLocks noGrp="1"/>
          </p:cNvSpPr>
          <p:nvPr>
            <p:ph idx="1"/>
          </p:nvPr>
        </p:nvSpPr>
        <p:spPr>
          <a:xfrm>
            <a:off x="423166" y="585628"/>
            <a:ext cx="8566721" cy="5917914"/>
          </a:xfrm>
        </p:spPr>
        <p:txBody>
          <a:bodyPr>
            <a:normAutofit lnSpcReduction="10000"/>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stages describe a common process of human thinking, where information is received, understood, examined, judged, and then used to make choices.</a:t>
            </a:r>
          </a:p>
          <a:p>
            <a:pPr>
              <a:spcBef>
                <a:spcPts val="0"/>
              </a:spcBef>
              <a:buNone/>
            </a:pPr>
            <a:r>
              <a:rPr lang="en-US" sz="2400" b="1" dirty="0">
                <a:latin typeface="Times New Roman" panose="02020603050405020304" pitchFamily="18" charset="0"/>
                <a:cs typeface="Times New Roman" panose="02020603050405020304" pitchFamily="18" charset="0"/>
              </a:rPr>
              <a:t>1. Observation</a:t>
            </a:r>
          </a:p>
          <a:p>
            <a:pPr>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Observation is the </a:t>
            </a:r>
            <a:r>
              <a:rPr lang="en-US" sz="2400" dirty="0">
                <a:solidFill>
                  <a:srgbClr val="00B050"/>
                </a:solidFill>
                <a:latin typeface="Times New Roman" panose="02020603050405020304" pitchFamily="18" charset="0"/>
                <a:cs typeface="Times New Roman" panose="02020603050405020304" pitchFamily="18" charset="0"/>
              </a:rPr>
              <a:t>process of gathering information through our senses</a:t>
            </a:r>
            <a:r>
              <a:rPr lang="en-US" sz="2400" dirty="0">
                <a:latin typeface="Times New Roman" panose="02020603050405020304" pitchFamily="18" charset="0"/>
                <a:cs typeface="Times New Roman" panose="02020603050405020304" pitchFamily="18" charset="0"/>
              </a:rPr>
              <a:t> (seeing, hearing, reading, touching, etc.).</a:t>
            </a:r>
          </a:p>
          <a:p>
            <a:pPr>
              <a:spcBef>
                <a:spcPts val="0"/>
              </a:spcBef>
              <a:buNone/>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student notices that several classmates are absent from class.</a:t>
            </a:r>
          </a:p>
          <a:p>
            <a:pPr>
              <a:spcBef>
                <a:spcPts val="0"/>
              </a:spcBef>
              <a:buNone/>
            </a:pPr>
            <a:r>
              <a:rPr lang="en-US" sz="2400" b="1" dirty="0">
                <a:latin typeface="Times New Roman" panose="02020603050405020304" pitchFamily="18" charset="0"/>
                <a:cs typeface="Times New Roman" panose="02020603050405020304" pitchFamily="18" charset="0"/>
              </a:rPr>
              <a:t>Key Question:</a:t>
            </a:r>
            <a:endParaRPr lang="en-US" sz="2400" dirty="0">
              <a:latin typeface="Times New Roman" panose="02020603050405020304" pitchFamily="18" charset="0"/>
              <a:cs typeface="Times New Roman" panose="02020603050405020304" pitchFamily="18" charset="0"/>
            </a:endParaRPr>
          </a:p>
          <a:p>
            <a:pPr>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happening?</a:t>
            </a:r>
          </a:p>
          <a:p>
            <a:pPr>
              <a:spcBef>
                <a:spcPts val="0"/>
              </a:spcBef>
              <a:buNone/>
            </a:pPr>
            <a:endParaRPr lang="en-US" sz="2400" b="1" dirty="0">
              <a:latin typeface="Times New Roman" panose="02020603050405020304" pitchFamily="18" charset="0"/>
              <a:cs typeface="Times New Roman" panose="02020603050405020304" pitchFamily="18" charset="0"/>
            </a:endParaRPr>
          </a:p>
          <a:p>
            <a:pPr>
              <a:spcBef>
                <a:spcPts val="0"/>
              </a:spcBef>
              <a:buNone/>
            </a:pPr>
            <a:r>
              <a:rPr lang="en-US" sz="2400" b="1" dirty="0">
                <a:latin typeface="Times New Roman" panose="02020603050405020304" pitchFamily="18" charset="0"/>
                <a:cs typeface="Times New Roman" panose="02020603050405020304" pitchFamily="18" charset="0"/>
              </a:rPr>
              <a:t>2. Interpretation</a:t>
            </a:r>
          </a:p>
          <a:p>
            <a:pPr>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Interpretation involves </a:t>
            </a:r>
            <a:r>
              <a:rPr lang="en-US" sz="2400" dirty="0">
                <a:solidFill>
                  <a:srgbClr val="00B050"/>
                </a:solidFill>
                <a:latin typeface="Times New Roman" panose="02020603050405020304" pitchFamily="18" charset="0"/>
                <a:cs typeface="Times New Roman" panose="02020603050405020304" pitchFamily="18" charset="0"/>
              </a:rPr>
              <a:t>assigning meaning to what has been observed.</a:t>
            </a:r>
          </a:p>
          <a:p>
            <a:pPr>
              <a:spcBef>
                <a:spcPts val="0"/>
              </a:spcBef>
              <a:buNone/>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student learns that many classmates are absent because they are preparing for an upcoming placement test.</a:t>
            </a:r>
          </a:p>
          <a:p>
            <a:pPr>
              <a:spcBef>
                <a:spcPts val="0"/>
              </a:spcBef>
              <a:buNone/>
            </a:pPr>
            <a:r>
              <a:rPr lang="en-US" sz="2400" b="1" dirty="0">
                <a:latin typeface="Times New Roman" panose="02020603050405020304" pitchFamily="18" charset="0"/>
                <a:cs typeface="Times New Roman" panose="02020603050405020304" pitchFamily="18" charset="0"/>
              </a:rPr>
              <a:t>Key Question:</a:t>
            </a:r>
            <a:endParaRPr lang="en-US" sz="2400" dirty="0">
              <a:latin typeface="Times New Roman" panose="02020603050405020304" pitchFamily="18" charset="0"/>
              <a:cs typeface="Times New Roman" panose="02020603050405020304" pitchFamily="18" charset="0"/>
            </a:endParaRPr>
          </a:p>
          <a:p>
            <a:pPr>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does this information mean?</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994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C617455-709D-4E87-6544-92408F03AC7F}"/>
              </a:ext>
            </a:extLst>
          </p:cNvPr>
          <p:cNvSpPr>
            <a:spLocks noGrp="1"/>
          </p:cNvSpPr>
          <p:nvPr>
            <p:ph idx="1"/>
          </p:nvPr>
        </p:nvSpPr>
        <p:spPr>
          <a:xfrm>
            <a:off x="410965" y="380144"/>
            <a:ext cx="8568647" cy="6113123"/>
          </a:xfrm>
        </p:spPr>
        <p:txBody>
          <a:bodyPr>
            <a:normAutofit fontScale="92500" lnSpcReduction="10000"/>
          </a:bodyPr>
          <a:lstStyle/>
          <a:p>
            <a:pPr>
              <a:spcBef>
                <a:spcPts val="0"/>
              </a:spcBef>
              <a:buNone/>
            </a:pPr>
            <a:r>
              <a:rPr lang="en-US" sz="2500" b="1" dirty="0">
                <a:latin typeface="Times New Roman" panose="02020603050405020304" pitchFamily="18" charset="0"/>
                <a:cs typeface="Times New Roman" panose="02020603050405020304" pitchFamily="18" charset="0"/>
              </a:rPr>
              <a:t>3. Analysis</a:t>
            </a:r>
          </a:p>
          <a:p>
            <a:pPr>
              <a:spcBef>
                <a:spcPts val="0"/>
              </a:spcBef>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Analysis is the process of </a:t>
            </a:r>
            <a:r>
              <a:rPr lang="en-US" sz="2500" dirty="0">
                <a:solidFill>
                  <a:srgbClr val="00B050"/>
                </a:solidFill>
                <a:latin typeface="Times New Roman" panose="02020603050405020304" pitchFamily="18" charset="0"/>
                <a:cs typeface="Times New Roman" panose="02020603050405020304" pitchFamily="18" charset="0"/>
              </a:rPr>
              <a:t>breaking information into parts </a:t>
            </a:r>
            <a:r>
              <a:rPr lang="en-US" sz="2500" dirty="0">
                <a:latin typeface="Times New Roman" panose="02020603050405020304" pitchFamily="18" charset="0"/>
                <a:cs typeface="Times New Roman" panose="02020603050405020304" pitchFamily="18" charset="0"/>
              </a:rPr>
              <a:t>and </a:t>
            </a:r>
            <a:r>
              <a:rPr lang="en-US" sz="2500" dirty="0">
                <a:solidFill>
                  <a:srgbClr val="00B050"/>
                </a:solidFill>
                <a:latin typeface="Times New Roman" panose="02020603050405020304" pitchFamily="18" charset="0"/>
                <a:cs typeface="Times New Roman" panose="02020603050405020304" pitchFamily="18" charset="0"/>
              </a:rPr>
              <a:t>examining relationships, causes, and patterns</a:t>
            </a:r>
            <a:r>
              <a:rPr lang="en-US" sz="2500" dirty="0">
                <a:latin typeface="Times New Roman" panose="02020603050405020304" pitchFamily="18" charset="0"/>
                <a:cs typeface="Times New Roman" panose="02020603050405020304" pitchFamily="18" charset="0"/>
              </a:rPr>
              <a:t>.</a:t>
            </a:r>
          </a:p>
          <a:p>
            <a:pPr>
              <a:spcBef>
                <a:spcPts val="0"/>
              </a:spcBef>
              <a:buNone/>
            </a:pPr>
            <a:r>
              <a:rPr lang="en-US" sz="2500" b="1" dirty="0">
                <a:latin typeface="Times New Roman" panose="02020603050405020304" pitchFamily="18" charset="0"/>
                <a:cs typeface="Times New Roman" panose="02020603050405020304" pitchFamily="18" charset="0"/>
              </a:rPr>
              <a:t>Example:</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The student analyzes:</a:t>
            </a:r>
          </a:p>
          <a:p>
            <a:pPr lvl="1">
              <a:spcBef>
                <a:spcPts val="0"/>
              </a:spcBef>
            </a:pPr>
            <a:r>
              <a:rPr lang="en-US" sz="2600" dirty="0">
                <a:latin typeface="Times New Roman" panose="02020603050405020304" pitchFamily="18" charset="0"/>
                <a:cs typeface="Times New Roman" panose="02020603050405020304" pitchFamily="18" charset="0"/>
              </a:rPr>
              <a:t>When is the placement test? </a:t>
            </a:r>
          </a:p>
          <a:p>
            <a:pPr lvl="1">
              <a:spcBef>
                <a:spcPts val="0"/>
              </a:spcBef>
            </a:pPr>
            <a:r>
              <a:rPr lang="en-US" sz="2600" dirty="0">
                <a:latin typeface="Times New Roman" panose="02020603050405020304" pitchFamily="18" charset="0"/>
                <a:cs typeface="Times New Roman" panose="02020603050405020304" pitchFamily="18" charset="0"/>
              </a:rPr>
              <a:t>How important is it? </a:t>
            </a:r>
          </a:p>
          <a:p>
            <a:pPr lvl="1">
              <a:spcBef>
                <a:spcPts val="0"/>
              </a:spcBef>
            </a:pPr>
            <a:r>
              <a:rPr lang="en-US" sz="2600" dirty="0">
                <a:latin typeface="Times New Roman" panose="02020603050405020304" pitchFamily="18" charset="0"/>
                <a:cs typeface="Times New Roman" panose="02020603050405020304" pitchFamily="18" charset="0"/>
              </a:rPr>
              <a:t>How much preparation is required? </a:t>
            </a:r>
          </a:p>
          <a:p>
            <a:pPr lvl="1">
              <a:spcBef>
                <a:spcPts val="0"/>
              </a:spcBef>
            </a:pPr>
            <a:r>
              <a:rPr lang="en-US" sz="2600" dirty="0">
                <a:latin typeface="Times New Roman" panose="02020603050405020304" pitchFamily="18" charset="0"/>
                <a:cs typeface="Times New Roman" panose="02020603050405020304" pitchFamily="18" charset="0"/>
              </a:rPr>
              <a:t>What topics are being covered? </a:t>
            </a:r>
          </a:p>
          <a:p>
            <a:pPr>
              <a:spcBef>
                <a:spcPts val="0"/>
              </a:spcBef>
              <a:buNone/>
            </a:pPr>
            <a:r>
              <a:rPr lang="en-US" sz="2500" b="1" dirty="0">
                <a:latin typeface="Times New Roman" panose="02020603050405020304" pitchFamily="18" charset="0"/>
                <a:cs typeface="Times New Roman" panose="02020603050405020304" pitchFamily="18" charset="0"/>
              </a:rPr>
              <a:t>Key Question:</a:t>
            </a:r>
            <a:endParaRPr lang="en-US" sz="2500" dirty="0">
              <a:latin typeface="Times New Roman" panose="02020603050405020304" pitchFamily="18" charset="0"/>
              <a:cs typeface="Times New Roman" panose="02020603050405020304" pitchFamily="18" charset="0"/>
            </a:endParaRPr>
          </a:p>
          <a:p>
            <a:pPr>
              <a:spcBef>
                <a:spcPts val="0"/>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Why is this happening, and what factors are involved?</a:t>
            </a:r>
          </a:p>
          <a:p>
            <a:pPr>
              <a:spcBef>
                <a:spcPts val="0"/>
              </a:spcBef>
              <a:buNone/>
            </a:pPr>
            <a:endParaRPr lang="en-US" sz="2500" b="1" dirty="0">
              <a:latin typeface="Times New Roman" panose="02020603050405020304" pitchFamily="18" charset="0"/>
              <a:cs typeface="Times New Roman" panose="02020603050405020304" pitchFamily="18" charset="0"/>
            </a:endParaRPr>
          </a:p>
          <a:p>
            <a:pPr>
              <a:spcBef>
                <a:spcPts val="0"/>
              </a:spcBef>
              <a:buNone/>
            </a:pPr>
            <a:r>
              <a:rPr lang="en-US" sz="2500" b="1" dirty="0">
                <a:latin typeface="Times New Roman" panose="02020603050405020304" pitchFamily="18" charset="0"/>
                <a:cs typeface="Times New Roman" panose="02020603050405020304" pitchFamily="18" charset="0"/>
              </a:rPr>
              <a:t>4. Evaluation</a:t>
            </a:r>
          </a:p>
          <a:p>
            <a:pPr>
              <a:spcBef>
                <a:spcPts val="0"/>
              </a:spcBef>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Evaluation means </a:t>
            </a:r>
            <a:r>
              <a:rPr lang="en-US" sz="2500" dirty="0">
                <a:solidFill>
                  <a:srgbClr val="00B050"/>
                </a:solidFill>
                <a:latin typeface="Times New Roman" panose="02020603050405020304" pitchFamily="18" charset="0"/>
                <a:cs typeface="Times New Roman" panose="02020603050405020304" pitchFamily="18" charset="0"/>
              </a:rPr>
              <a:t>judging the information, evidence, or alternatives based on specific criteria</a:t>
            </a:r>
            <a:r>
              <a:rPr lang="en-US" sz="2500" dirty="0">
                <a:latin typeface="Times New Roman" panose="02020603050405020304" pitchFamily="18" charset="0"/>
                <a:cs typeface="Times New Roman" panose="02020603050405020304" pitchFamily="18" charset="0"/>
              </a:rPr>
              <a:t>.</a:t>
            </a:r>
          </a:p>
          <a:p>
            <a:pPr>
              <a:spcBef>
                <a:spcPts val="0"/>
              </a:spcBef>
              <a:buNone/>
            </a:pPr>
            <a:r>
              <a:rPr lang="en-US" sz="2500" b="1" dirty="0">
                <a:latin typeface="Times New Roman" panose="02020603050405020304" pitchFamily="18" charset="0"/>
                <a:cs typeface="Times New Roman" panose="02020603050405020304" pitchFamily="18" charset="0"/>
              </a:rPr>
              <a:t>Example:</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The student evaluates:</a:t>
            </a:r>
          </a:p>
          <a:p>
            <a:pPr lvl="1">
              <a:spcBef>
                <a:spcPts val="0"/>
              </a:spcBef>
            </a:pPr>
            <a:r>
              <a:rPr lang="en-US" sz="2600" dirty="0">
                <a:latin typeface="Times New Roman" panose="02020603050405020304" pitchFamily="18" charset="0"/>
                <a:cs typeface="Times New Roman" panose="02020603050405020304" pitchFamily="18" charset="0"/>
              </a:rPr>
              <a:t>Is placement preparation more important than today's class? </a:t>
            </a:r>
          </a:p>
          <a:p>
            <a:pPr lvl="1">
              <a:spcBef>
                <a:spcPts val="0"/>
              </a:spcBef>
            </a:pPr>
            <a:r>
              <a:rPr lang="en-US" sz="2600" dirty="0">
                <a:latin typeface="Times New Roman" panose="02020603050405020304" pitchFamily="18" charset="0"/>
                <a:cs typeface="Times New Roman" panose="02020603050405020304" pitchFamily="18" charset="0"/>
              </a:rPr>
              <a:t>What are the advantages and disadvantages of skipping class? </a:t>
            </a:r>
          </a:p>
          <a:p>
            <a:pPr>
              <a:spcBef>
                <a:spcPts val="0"/>
              </a:spcBef>
              <a:buNone/>
            </a:pPr>
            <a:r>
              <a:rPr lang="en-US" sz="2500" b="1" dirty="0">
                <a:latin typeface="Times New Roman" panose="02020603050405020304" pitchFamily="18" charset="0"/>
                <a:cs typeface="Times New Roman" panose="02020603050405020304" pitchFamily="18" charset="0"/>
              </a:rPr>
              <a:t>Key Question:</a:t>
            </a:r>
            <a:endParaRPr lang="en-US" sz="2500" dirty="0">
              <a:latin typeface="Times New Roman" panose="02020603050405020304" pitchFamily="18" charset="0"/>
              <a:cs typeface="Times New Roman" panose="02020603050405020304" pitchFamily="18" charset="0"/>
            </a:endParaRPr>
          </a:p>
          <a:p>
            <a:pPr>
              <a:spcBef>
                <a:spcPts val="0"/>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Which option is better or more valuable?</a:t>
            </a:r>
          </a:p>
          <a:p>
            <a:endParaRPr lang="en-IN" dirty="0"/>
          </a:p>
        </p:txBody>
      </p:sp>
    </p:spTree>
    <p:extLst>
      <p:ext uri="{BB962C8B-B14F-4D97-AF65-F5344CB8AC3E}">
        <p14:creationId xmlns:p14="http://schemas.microsoft.com/office/powerpoint/2010/main" val="2490159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F9245-4A95-C7A0-E781-2E0C1E139B8B}"/>
              </a:ext>
            </a:extLst>
          </p:cNvPr>
          <p:cNvSpPr>
            <a:spLocks noGrp="1"/>
          </p:cNvSpPr>
          <p:nvPr>
            <p:ph idx="1"/>
          </p:nvPr>
        </p:nvSpPr>
        <p:spPr>
          <a:xfrm>
            <a:off x="431515" y="236306"/>
            <a:ext cx="8507002" cy="6385388"/>
          </a:xfrm>
        </p:spPr>
        <p:txBody>
          <a:bodyPr>
            <a:normAutofit/>
          </a:bodyPr>
          <a:lstStyle/>
          <a:p>
            <a:pPr>
              <a:spcBef>
                <a:spcPts val="0"/>
              </a:spcBef>
              <a:buNone/>
            </a:pPr>
            <a:r>
              <a:rPr lang="en-US" sz="2200" b="1" dirty="0">
                <a:latin typeface="Times New Roman" panose="02020603050405020304" pitchFamily="18" charset="0"/>
                <a:cs typeface="Times New Roman" panose="02020603050405020304" pitchFamily="18" charset="0"/>
              </a:rPr>
              <a:t>5. Decision Making</a:t>
            </a:r>
          </a:p>
          <a:p>
            <a:pPr>
              <a:spcBef>
                <a:spcPts val="0"/>
              </a:spcBef>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Decision making is </a:t>
            </a:r>
            <a:r>
              <a:rPr lang="en-US" sz="2200" dirty="0">
                <a:solidFill>
                  <a:srgbClr val="00B050"/>
                </a:solidFill>
                <a:latin typeface="Times New Roman" panose="02020603050405020304" pitchFamily="18" charset="0"/>
                <a:cs typeface="Times New Roman" panose="02020603050405020304" pitchFamily="18" charset="0"/>
              </a:rPr>
              <a:t>selecting a course of action based on the evaluation</a:t>
            </a:r>
            <a:r>
              <a:rPr lang="en-US" sz="2200" dirty="0">
                <a:latin typeface="Times New Roman" panose="02020603050405020304" pitchFamily="18" charset="0"/>
                <a:cs typeface="Times New Roman" panose="02020603050405020304" pitchFamily="18" charset="0"/>
              </a:rPr>
              <a:t>.</a:t>
            </a:r>
          </a:p>
          <a:p>
            <a:pPr>
              <a:spcBef>
                <a:spcPts val="0"/>
              </a:spcBef>
              <a:buNone/>
            </a:pPr>
            <a:r>
              <a:rPr lang="en-US" sz="2200" b="1" dirty="0">
                <a:latin typeface="Times New Roman" panose="02020603050405020304" pitchFamily="18" charset="0"/>
                <a:cs typeface="Times New Roman" panose="02020603050405020304" pitchFamily="18" charset="0"/>
              </a:rPr>
              <a:t>Example: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The student decides to attend the class and spend extra time preparing for the placement test later.</a:t>
            </a:r>
          </a:p>
          <a:p>
            <a:pPr>
              <a:spcBef>
                <a:spcPts val="0"/>
              </a:spcBef>
              <a:buNone/>
            </a:pPr>
            <a:r>
              <a:rPr lang="en-US" sz="2200" b="1" dirty="0">
                <a:latin typeface="Times New Roman" panose="02020603050405020304" pitchFamily="18" charset="0"/>
                <a:cs typeface="Times New Roman" panose="02020603050405020304" pitchFamily="18" charset="0"/>
              </a:rPr>
              <a:t>Key Question:</a:t>
            </a:r>
            <a:endParaRPr lang="en-US" sz="2200" dirty="0">
              <a:latin typeface="Times New Roman" panose="02020603050405020304" pitchFamily="18" charset="0"/>
              <a:cs typeface="Times New Roman" panose="02020603050405020304" pitchFamily="18" charset="0"/>
            </a:endParaRPr>
          </a:p>
          <a:p>
            <a:pPr>
              <a:spcBef>
                <a:spcPts val="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should I do?</a:t>
            </a:r>
          </a:p>
          <a:p>
            <a:pPr marL="0" indent="0">
              <a:spcBef>
                <a:spcPts val="0"/>
              </a:spcBef>
              <a:buNone/>
            </a:pPr>
            <a:endParaRPr kumimoji="0" lang="en-IN" sz="22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a:p>
            <a:pPr>
              <a:spcBef>
                <a:spcPts val="0"/>
              </a:spcBef>
              <a:buFont typeface="Wingdings" panose="05000000000000000000" pitchFamily="2" charset="2"/>
              <a:buChar char="v"/>
            </a:pPr>
            <a:r>
              <a:rPr kumimoji="0" lang="en-IN" sz="2200" b="1" i="0" u="none" strike="noStrike" kern="1200" cap="none" spc="0" normalizeH="0" baseline="0" noProof="0" dirty="0">
                <a:ln>
                  <a:noFill/>
                </a:ln>
                <a:solidFill>
                  <a:srgbClr val="7030A0"/>
                </a:solidFill>
                <a:effectLst/>
                <a:uLnTx/>
                <a:uFillTx/>
                <a:latin typeface="Times New Roman" panose="02020603050405020304" pitchFamily="18" charset="0"/>
                <a:ea typeface="+mj-ea"/>
                <a:cs typeface="Times New Roman" panose="02020603050405020304" pitchFamily="18" charset="0"/>
              </a:rPr>
              <a:t>Example: Buying a Laptop</a:t>
            </a:r>
            <a:endParaRPr lang="en-IN" sz="2200" b="1" dirty="0">
              <a:solidFill>
                <a:srgbClr val="7030A0"/>
              </a:solidFill>
              <a:latin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9E25E6FE-F3CD-0FCA-CD8A-29B306DE8DEA}"/>
              </a:ext>
            </a:extLst>
          </p:cNvPr>
          <p:cNvGraphicFramePr>
            <a:graphicFrameLocks/>
          </p:cNvGraphicFramePr>
          <p:nvPr>
            <p:extLst>
              <p:ext uri="{D42A27DB-BD31-4B8C-83A1-F6EECF244321}">
                <p14:modId xmlns:p14="http://schemas.microsoft.com/office/powerpoint/2010/main" val="3525092700"/>
              </p:ext>
            </p:extLst>
          </p:nvPr>
        </p:nvGraphicFramePr>
        <p:xfrm>
          <a:off x="462337" y="3025054"/>
          <a:ext cx="8309868" cy="3596640"/>
        </p:xfrm>
        <a:graphic>
          <a:graphicData uri="http://schemas.openxmlformats.org/drawingml/2006/table">
            <a:tbl>
              <a:tblPr/>
              <a:tblGrid>
                <a:gridCol w="2487818">
                  <a:extLst>
                    <a:ext uri="{9D8B030D-6E8A-4147-A177-3AD203B41FA5}">
                      <a16:colId xmlns:a16="http://schemas.microsoft.com/office/drawing/2014/main" val="4178886962"/>
                    </a:ext>
                  </a:extLst>
                </a:gridCol>
                <a:gridCol w="5822050">
                  <a:extLst>
                    <a:ext uri="{9D8B030D-6E8A-4147-A177-3AD203B41FA5}">
                      <a16:colId xmlns:a16="http://schemas.microsoft.com/office/drawing/2014/main" val="2071870240"/>
                    </a:ext>
                  </a:extLst>
                </a:gridCol>
              </a:tblGrid>
              <a:tr h="0">
                <a:tc>
                  <a:txBody>
                    <a:bodyPr/>
                    <a:lstStyle/>
                    <a:p>
                      <a:pPr>
                        <a:buNone/>
                      </a:pPr>
                      <a:r>
                        <a:rPr lang="en-IN" sz="2000" i="1">
                          <a:latin typeface="Times New Roman" panose="02020603050405020304" pitchFamily="18" charset="0"/>
                          <a:cs typeface="Times New Roman" panose="02020603050405020304" pitchFamily="18" charset="0"/>
                        </a:rPr>
                        <a:t>Stage</a:t>
                      </a:r>
                    </a:p>
                  </a:txBody>
                  <a:tcPr anchor="ctr">
                    <a:lnL>
                      <a:noFill/>
                    </a:lnL>
                    <a:lnR>
                      <a:noFill/>
                    </a:lnR>
                    <a:lnT>
                      <a:noFill/>
                    </a:lnT>
                    <a:lnB>
                      <a:noFill/>
                    </a:lnB>
                    <a:noFill/>
                  </a:tcPr>
                </a:tc>
                <a:tc>
                  <a:txBody>
                    <a:bodyPr/>
                    <a:lstStyle/>
                    <a:p>
                      <a:pPr>
                        <a:buNone/>
                      </a:pPr>
                      <a:r>
                        <a:rPr lang="en-IN" sz="2000" i="1" dirty="0">
                          <a:latin typeface="Times New Roman" panose="02020603050405020304" pitchFamily="18" charset="0"/>
                          <a:cs typeface="Times New Roman" panose="02020603050405020304" pitchFamily="18" charset="0"/>
                        </a:rPr>
                        <a:t>Example</a:t>
                      </a:r>
                    </a:p>
                  </a:txBody>
                  <a:tcPr anchor="ctr">
                    <a:lnL>
                      <a:noFill/>
                    </a:lnL>
                    <a:lnR>
                      <a:noFill/>
                    </a:lnR>
                    <a:lnT>
                      <a:noFill/>
                    </a:lnT>
                    <a:lnB>
                      <a:noFill/>
                    </a:lnB>
                    <a:noFill/>
                  </a:tcPr>
                </a:tc>
                <a:extLst>
                  <a:ext uri="{0D108BD9-81ED-4DB2-BD59-A6C34878D82A}">
                    <a16:rowId xmlns:a16="http://schemas.microsoft.com/office/drawing/2014/main" val="2895644047"/>
                  </a:ext>
                </a:extLst>
              </a:tr>
              <a:tr h="0">
                <a:tc>
                  <a:txBody>
                    <a:bodyPr/>
                    <a:lstStyle/>
                    <a:p>
                      <a:pPr>
                        <a:buNone/>
                      </a:pPr>
                      <a:r>
                        <a:rPr lang="en-IN" sz="2000" b="1">
                          <a:latin typeface="Times New Roman" panose="02020603050405020304" pitchFamily="18" charset="0"/>
                          <a:cs typeface="Times New Roman" panose="02020603050405020304" pitchFamily="18" charset="0"/>
                        </a:rPr>
                        <a:t>Observation</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You see three laptops with different prices and specifications.</a:t>
                      </a:r>
                    </a:p>
                  </a:txBody>
                  <a:tcPr anchor="ctr">
                    <a:lnL>
                      <a:noFill/>
                    </a:lnL>
                    <a:lnR>
                      <a:noFill/>
                    </a:lnR>
                    <a:lnT>
                      <a:noFill/>
                    </a:lnT>
                    <a:lnB>
                      <a:noFill/>
                    </a:lnB>
                    <a:noFill/>
                  </a:tcPr>
                </a:tc>
                <a:extLst>
                  <a:ext uri="{0D108BD9-81ED-4DB2-BD59-A6C34878D82A}">
                    <a16:rowId xmlns:a16="http://schemas.microsoft.com/office/drawing/2014/main" val="3108136528"/>
                  </a:ext>
                </a:extLst>
              </a:tr>
              <a:tr h="0">
                <a:tc>
                  <a:txBody>
                    <a:bodyPr/>
                    <a:lstStyle/>
                    <a:p>
                      <a:pPr>
                        <a:buNone/>
                      </a:pPr>
                      <a:r>
                        <a:rPr lang="en-IN" sz="2000" b="1">
                          <a:latin typeface="Times New Roman" panose="02020603050405020304" pitchFamily="18" charset="0"/>
                          <a:cs typeface="Times New Roman" panose="02020603050405020304" pitchFamily="18" charset="0"/>
                        </a:rPr>
                        <a:t>Interpretation</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You understand that higher specifications usually mean better performance.</a:t>
                      </a:r>
                    </a:p>
                  </a:txBody>
                  <a:tcPr anchor="ctr">
                    <a:lnL>
                      <a:noFill/>
                    </a:lnL>
                    <a:lnR>
                      <a:noFill/>
                    </a:lnR>
                    <a:lnT>
                      <a:noFill/>
                    </a:lnT>
                    <a:lnB>
                      <a:noFill/>
                    </a:lnB>
                    <a:noFill/>
                  </a:tcPr>
                </a:tc>
                <a:extLst>
                  <a:ext uri="{0D108BD9-81ED-4DB2-BD59-A6C34878D82A}">
                    <a16:rowId xmlns:a16="http://schemas.microsoft.com/office/drawing/2014/main" val="1723372081"/>
                  </a:ext>
                </a:extLst>
              </a:tr>
              <a:tr h="0">
                <a:tc>
                  <a:txBody>
                    <a:bodyPr/>
                    <a:lstStyle/>
                    <a:p>
                      <a:pPr>
                        <a:buNone/>
                      </a:pPr>
                      <a:r>
                        <a:rPr lang="en-IN" sz="2000" b="1" dirty="0">
                          <a:latin typeface="Times New Roman" panose="02020603050405020304" pitchFamily="18" charset="0"/>
                          <a:cs typeface="Times New Roman" panose="02020603050405020304" pitchFamily="18" charset="0"/>
                        </a:rPr>
                        <a:t>Analysis</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You compare RAM, processor, storage, battery life, and cost.</a:t>
                      </a:r>
                    </a:p>
                  </a:txBody>
                  <a:tcPr anchor="ctr">
                    <a:lnL>
                      <a:noFill/>
                    </a:lnL>
                    <a:lnR>
                      <a:noFill/>
                    </a:lnR>
                    <a:lnT>
                      <a:noFill/>
                    </a:lnT>
                    <a:lnB>
                      <a:noFill/>
                    </a:lnB>
                    <a:noFill/>
                  </a:tcPr>
                </a:tc>
                <a:extLst>
                  <a:ext uri="{0D108BD9-81ED-4DB2-BD59-A6C34878D82A}">
                    <a16:rowId xmlns:a16="http://schemas.microsoft.com/office/drawing/2014/main" val="952750062"/>
                  </a:ext>
                </a:extLst>
              </a:tr>
              <a:tr h="0">
                <a:tc>
                  <a:txBody>
                    <a:bodyPr/>
                    <a:lstStyle/>
                    <a:p>
                      <a:pPr>
                        <a:buNone/>
                      </a:pPr>
                      <a:r>
                        <a:rPr lang="en-IN" sz="2000" b="1">
                          <a:latin typeface="Times New Roman" panose="02020603050405020304" pitchFamily="18" charset="0"/>
                          <a:cs typeface="Times New Roman" panose="02020603050405020304" pitchFamily="18" charset="0"/>
                        </a:rPr>
                        <a:t>Evaluation</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You determine which laptop offers the best value for your needs and budget.</a:t>
                      </a:r>
                    </a:p>
                  </a:txBody>
                  <a:tcPr anchor="ctr">
                    <a:lnL>
                      <a:noFill/>
                    </a:lnL>
                    <a:lnR>
                      <a:noFill/>
                    </a:lnR>
                    <a:lnT>
                      <a:noFill/>
                    </a:lnT>
                    <a:lnB>
                      <a:noFill/>
                    </a:lnB>
                    <a:noFill/>
                  </a:tcPr>
                </a:tc>
                <a:extLst>
                  <a:ext uri="{0D108BD9-81ED-4DB2-BD59-A6C34878D82A}">
                    <a16:rowId xmlns:a16="http://schemas.microsoft.com/office/drawing/2014/main" val="985542047"/>
                  </a:ext>
                </a:extLst>
              </a:tr>
              <a:tr h="0">
                <a:tc>
                  <a:txBody>
                    <a:bodyPr/>
                    <a:lstStyle/>
                    <a:p>
                      <a:pPr>
                        <a:buNone/>
                      </a:pPr>
                      <a:r>
                        <a:rPr lang="en-IN" sz="2000" b="1" dirty="0">
                          <a:latin typeface="Times New Roman" panose="02020603050405020304" pitchFamily="18" charset="0"/>
                          <a:cs typeface="Times New Roman" panose="02020603050405020304" pitchFamily="18" charset="0"/>
                        </a:rPr>
                        <a:t>Decision Making</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dirty="0">
                          <a:latin typeface="Times New Roman" panose="02020603050405020304" pitchFamily="18" charset="0"/>
                          <a:cs typeface="Times New Roman" panose="02020603050405020304" pitchFamily="18" charset="0"/>
                        </a:rPr>
                        <a:t>You purchase the selected laptop.</a:t>
                      </a:r>
                    </a:p>
                  </a:txBody>
                  <a:tcPr anchor="ctr">
                    <a:lnL>
                      <a:noFill/>
                    </a:lnL>
                    <a:lnR>
                      <a:noFill/>
                    </a:lnR>
                    <a:lnT>
                      <a:noFill/>
                    </a:lnT>
                    <a:lnB>
                      <a:noFill/>
                    </a:lnB>
                    <a:noFill/>
                  </a:tcPr>
                </a:tc>
                <a:extLst>
                  <a:ext uri="{0D108BD9-81ED-4DB2-BD59-A6C34878D82A}">
                    <a16:rowId xmlns:a16="http://schemas.microsoft.com/office/drawing/2014/main" val="801923527"/>
                  </a:ext>
                </a:extLst>
              </a:tr>
            </a:tbl>
          </a:graphicData>
        </a:graphic>
      </p:graphicFrame>
    </p:spTree>
    <p:extLst>
      <p:ext uri="{BB962C8B-B14F-4D97-AF65-F5344CB8AC3E}">
        <p14:creationId xmlns:p14="http://schemas.microsoft.com/office/powerpoint/2010/main" val="1425646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53A7C-8F19-50DA-BBB6-BC7FB4E3F70B}"/>
              </a:ext>
            </a:extLst>
          </p:cNvPr>
          <p:cNvSpPr>
            <a:spLocks noGrp="1"/>
          </p:cNvSpPr>
          <p:nvPr>
            <p:ph type="title"/>
          </p:nvPr>
        </p:nvSpPr>
        <p:spPr>
          <a:xfrm>
            <a:off x="628650" y="365126"/>
            <a:ext cx="7886700" cy="610919"/>
          </a:xfrm>
        </p:spPr>
        <p:txBody>
          <a:bodyPr/>
          <a:lstStyle/>
          <a:p>
            <a:r>
              <a:rPr lang="en-IN" dirty="0">
                <a:latin typeface="Times New Roman" panose="02020603050405020304" pitchFamily="18" charset="0"/>
                <a:cs typeface="Times New Roman" panose="02020603050405020304" pitchFamily="18" charset="0"/>
              </a:rPr>
              <a:t>Flow of Thinking</a:t>
            </a:r>
          </a:p>
        </p:txBody>
      </p:sp>
      <p:sp>
        <p:nvSpPr>
          <p:cNvPr id="3" name="Content Placeholder 2">
            <a:extLst>
              <a:ext uri="{FF2B5EF4-FFF2-40B4-BE49-F238E27FC236}">
                <a16:creationId xmlns:a16="http://schemas.microsoft.com/office/drawing/2014/main" id="{99547331-3266-8C2F-9706-F8246F649B90}"/>
              </a:ext>
            </a:extLst>
          </p:cNvPr>
          <p:cNvSpPr>
            <a:spLocks noGrp="1"/>
          </p:cNvSpPr>
          <p:nvPr>
            <p:ph idx="1"/>
          </p:nvPr>
        </p:nvSpPr>
        <p:spPr>
          <a:xfrm>
            <a:off x="505360" y="1253330"/>
            <a:ext cx="7886700" cy="5157743"/>
          </a:xfrm>
        </p:spPr>
        <p:txBody>
          <a:bodyPr>
            <a:normAutofit/>
          </a:bodyPr>
          <a:lstStyle/>
          <a:p>
            <a:pPr marL="0" indent="0" algn="ctr">
              <a:buNone/>
            </a:pPr>
            <a:r>
              <a:rPr lang="en-IN" sz="2400" dirty="0">
                <a:latin typeface="Times New Roman" panose="02020603050405020304" pitchFamily="18" charset="0"/>
                <a:cs typeface="Times New Roman" panose="02020603050405020304" pitchFamily="18" charset="0"/>
              </a:rPr>
              <a:t>Observation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Interpretation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Analysis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Evaluation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Decision Making</a:t>
            </a:r>
          </a:p>
          <a:p>
            <a:pPr marL="0" indent="0">
              <a:buNone/>
            </a:pP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This process forms the basis of </a:t>
            </a:r>
            <a:r>
              <a:rPr lang="en-US" sz="2400" b="1" dirty="0">
                <a:latin typeface="Times New Roman" panose="02020603050405020304" pitchFamily="18" charset="0"/>
                <a:cs typeface="Times New Roman" panose="02020603050405020304" pitchFamily="18" charset="0"/>
              </a:rPr>
              <a:t>critical thinking</a:t>
            </a:r>
            <a:r>
              <a:rPr lang="en-US" sz="2400" dirty="0">
                <a:latin typeface="Times New Roman" panose="02020603050405020304" pitchFamily="18" charset="0"/>
                <a:cs typeface="Times New Roman" panose="02020603050405020304" pitchFamily="18" charset="0"/>
              </a:rPr>
              <a:t>, helping people make informed and rational decisions rather than acting only on impulse.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6394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4B7B1-73CB-DD53-DEF4-30E5714213E0}"/>
              </a:ext>
            </a:extLst>
          </p:cNvPr>
          <p:cNvSpPr>
            <a:spLocks noGrp="1"/>
          </p:cNvSpPr>
          <p:nvPr>
            <p:ph type="title"/>
          </p:nvPr>
        </p:nvSpPr>
        <p:spPr>
          <a:xfrm>
            <a:off x="515635" y="262385"/>
            <a:ext cx="7886700" cy="559548"/>
          </a:xfrm>
        </p:spPr>
        <p:txBody>
          <a:bodyPr/>
          <a:lstStyle/>
          <a:p>
            <a:r>
              <a:rPr lang="en-US" u="sng" dirty="0">
                <a:latin typeface="Times New Roman" panose="02020603050405020304" pitchFamily="18" charset="0"/>
                <a:cs typeface="Times New Roman" panose="02020603050405020304" pitchFamily="18" charset="0"/>
              </a:rPr>
              <a:t>Activity: Stroop Effect</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D6579E-0EF4-D28B-1A66-F4413ECAC1E4}"/>
              </a:ext>
            </a:extLst>
          </p:cNvPr>
          <p:cNvSpPr>
            <a:spLocks noGrp="1"/>
          </p:cNvSpPr>
          <p:nvPr>
            <p:ph idx="1"/>
          </p:nvPr>
        </p:nvSpPr>
        <p:spPr>
          <a:xfrm>
            <a:off x="628650" y="821933"/>
            <a:ext cx="7886700" cy="5355030"/>
          </a:xfrm>
        </p:spPr>
        <p:txBody>
          <a:bodyPr>
            <a:normAutofit fontScale="92500" lnSpcReduction="20000"/>
          </a:bodyPr>
          <a:lstStyle/>
          <a:p>
            <a:pPr algn="just">
              <a:lnSpc>
                <a:spcPct val="107000"/>
              </a:lnSpc>
              <a:spcBef>
                <a:spcPts val="0"/>
              </a:spcBef>
              <a:buFont typeface="Wingdings" panose="05000000000000000000" pitchFamily="2" charset="2"/>
              <a:buChar char="ü"/>
            </a:pP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Stroop Effect</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is a </a:t>
            </a:r>
            <a:r>
              <a:rPr lang="en-IN" sz="2500" kern="1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classic psychology experiment </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that </a:t>
            </a:r>
            <a:r>
              <a:rPr lang="en-IN" sz="25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demonstrates how two different cognitive processes compete with each other</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685800" lvl="1" indent="-342900">
              <a:lnSpc>
                <a:spcPct val="107000"/>
              </a:lnSpc>
              <a:spcBef>
                <a:spcPts val="0"/>
              </a:spcBef>
              <a:buSzPct val="90000"/>
              <a:buFont typeface="Symbol" panose="05050102010706020507" pitchFamily="18" charset="2"/>
              <a:buChar char=""/>
              <a:tabLst>
                <a:tab pos="457200" algn="l"/>
              </a:tabLst>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System 1 Thinking</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Fast, automatic, intuitive, and effortless. </a:t>
            </a:r>
          </a:p>
          <a:p>
            <a:pPr marL="685800" lvl="1" indent="-342900">
              <a:lnSpc>
                <a:spcPct val="107000"/>
              </a:lnSpc>
              <a:spcBef>
                <a:spcPts val="0"/>
              </a:spcBef>
              <a:buSzPct val="90000"/>
              <a:buFont typeface="Symbol" panose="05050102010706020507" pitchFamily="18" charset="2"/>
              <a:buChar char=""/>
              <a:tabLst>
                <a:tab pos="457200" algn="l"/>
              </a:tabLst>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System 2 Thinking</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Slow, deliberate, analytical, and effortful. </a:t>
            </a:r>
          </a:p>
          <a:p>
            <a:pPr>
              <a:lnSpc>
                <a:spcPct val="107000"/>
              </a:lnSpc>
              <a:spcBef>
                <a:spcPts val="0"/>
              </a:spcBef>
              <a:buNone/>
            </a:pP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How the Activity Works</a:t>
            </a: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None/>
            </a:pP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Suppose you write:</a:t>
            </a:r>
          </a:p>
          <a:p>
            <a:pPr marL="685800" lvl="1" indent="-342900">
              <a:lnSpc>
                <a:spcPct val="107000"/>
              </a:lnSpc>
              <a:spcBef>
                <a:spcPts val="0"/>
              </a:spcBef>
              <a:buSzPct val="90000"/>
              <a:buFont typeface="Symbol" panose="05050102010706020507" pitchFamily="18" charset="2"/>
              <a:buChar char=""/>
              <a:tabLst>
                <a:tab pos="4572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BLUE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(in red ink) </a:t>
            </a:r>
          </a:p>
          <a:p>
            <a:pPr marL="685800" lvl="1" indent="-342900">
              <a:lnSpc>
                <a:spcPct val="107000"/>
              </a:lnSpc>
              <a:spcBef>
                <a:spcPts val="0"/>
              </a:spcBef>
              <a:buSzPct val="90000"/>
              <a:buFont typeface="Symbol" panose="05050102010706020507" pitchFamily="18" charset="2"/>
              <a:buChar char=""/>
              <a:tabLst>
                <a:tab pos="4572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GREEN</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(in blue ink) </a:t>
            </a:r>
          </a:p>
          <a:p>
            <a:pPr marL="685800" lvl="1" indent="-342900">
              <a:lnSpc>
                <a:spcPct val="107000"/>
              </a:lnSpc>
              <a:spcBef>
                <a:spcPts val="0"/>
              </a:spcBef>
              <a:buSzPct val="90000"/>
              <a:buFont typeface="Symbol" panose="05050102010706020507" pitchFamily="18" charset="2"/>
              <a:buChar char=""/>
              <a:tabLst>
                <a:tab pos="4572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YELLOW</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(in green ink) </a:t>
            </a:r>
          </a:p>
          <a:p>
            <a:pPr>
              <a:lnSpc>
                <a:spcPct val="107000"/>
              </a:lnSpc>
              <a:spcBef>
                <a:spcPts val="0"/>
              </a:spcBef>
              <a:buNone/>
            </a:pPr>
            <a:endParaRPr lang="en-IN"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None/>
            </a:pP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Students must </a:t>
            </a: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say the ink </a:t>
            </a:r>
            <a:r>
              <a:rPr lang="en-IN" sz="2500" b="1" kern="100" dirty="0" err="1">
                <a:effectLst/>
                <a:latin typeface="Times New Roman" panose="02020603050405020304" pitchFamily="18" charset="0"/>
                <a:ea typeface="Calibri" panose="020F0502020204030204" pitchFamily="34" charset="0"/>
                <a:cs typeface="Times New Roman" panose="02020603050405020304" pitchFamily="18" charset="0"/>
              </a:rPr>
              <a:t>color</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not read the word.</a:t>
            </a:r>
          </a:p>
          <a:p>
            <a:pPr>
              <a:lnSpc>
                <a:spcPct val="107000"/>
              </a:lnSpc>
              <a:spcBef>
                <a:spcPts val="0"/>
              </a:spcBef>
              <a:buNone/>
            </a:pP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For example:</a:t>
            </a:r>
          </a:p>
          <a:p>
            <a:pPr marL="342900" lvl="0" indent="-342900">
              <a:lnSpc>
                <a:spcPct val="107000"/>
              </a:lnSpc>
              <a:spcBef>
                <a:spcPts val="0"/>
              </a:spcBef>
              <a:buSzPts val="1000"/>
              <a:buFont typeface="Symbol" panose="05050102010706020507" pitchFamily="18" charset="2"/>
              <a:buChar char=""/>
              <a:tabLst>
                <a:tab pos="457200" algn="l"/>
              </a:tabLst>
            </a:pP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If the word </a:t>
            </a: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"BLUE"</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is written in </a:t>
            </a: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red ink</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the correct answer is </a:t>
            </a:r>
            <a:r>
              <a:rPr lang="en-IN" sz="2500" b="1" kern="100" dirty="0">
                <a:effectLst/>
                <a:latin typeface="Times New Roman" panose="02020603050405020304" pitchFamily="18" charset="0"/>
                <a:ea typeface="Calibri" panose="020F0502020204030204" pitchFamily="34" charset="0"/>
                <a:cs typeface="Times New Roman" panose="02020603050405020304" pitchFamily="18" charset="0"/>
              </a:rPr>
              <a:t>"Red."</a:t>
            </a:r>
            <a:r>
              <a:rPr lang="en-IN" sz="2500" kern="1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1919584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B923B-4ECE-EEFE-C10F-800B25DE1648}"/>
              </a:ext>
            </a:extLst>
          </p:cNvPr>
          <p:cNvSpPr>
            <a:spLocks noGrp="1"/>
          </p:cNvSpPr>
          <p:nvPr>
            <p:ph idx="1"/>
          </p:nvPr>
        </p:nvSpPr>
        <p:spPr>
          <a:xfrm>
            <a:off x="318499" y="215757"/>
            <a:ext cx="8609743" cy="6267236"/>
          </a:xfrm>
        </p:spPr>
        <p:txBody>
          <a:bodyPr>
            <a:normAutofit fontScale="47500" lnSpcReduction="20000"/>
          </a:bodyPr>
          <a:lstStyle/>
          <a:p>
            <a:pPr>
              <a:lnSpc>
                <a:spcPct val="107000"/>
              </a:lnSpc>
              <a:spcBef>
                <a:spcPts val="0"/>
              </a:spcBef>
              <a:buNone/>
            </a:pPr>
            <a:r>
              <a:rPr lang="en-IN" sz="4800" b="1" kern="100" dirty="0">
                <a:effectLst/>
                <a:latin typeface="Times New Roman" panose="02020603050405020304" pitchFamily="18" charset="0"/>
                <a:ea typeface="Calibri" panose="020F0502020204030204" pitchFamily="34" charset="0"/>
                <a:cs typeface="Times New Roman" panose="02020603050405020304" pitchFamily="18" charset="0"/>
              </a:rPr>
              <a:t>Why It Is Difficult ?</a:t>
            </a:r>
            <a:endParaRPr lang="en-IN" sz="4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Font typeface="Wingdings" panose="05000000000000000000" pitchFamily="2" charset="2"/>
              <a:buChar char="ü"/>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System 1: Reading words is an </a:t>
            </a:r>
            <a:r>
              <a:rPr lang="en-IN" sz="4800" kern="1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automatic process </a:t>
            </a: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for most people. When students see the word "BLUE," their brain immediately wants to say "Blue“.</a:t>
            </a:r>
          </a:p>
          <a:p>
            <a:pPr>
              <a:lnSpc>
                <a:spcPct val="107000"/>
              </a:lnSpc>
              <a:spcBef>
                <a:spcPts val="0"/>
              </a:spcBef>
              <a:buFont typeface="Wingdings" panose="05000000000000000000" pitchFamily="2" charset="2"/>
              <a:buChar char="ü"/>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System 2: The task requires them to ignore the word and identify the ink </a:t>
            </a:r>
            <a:r>
              <a:rPr lang="en-IN" sz="4800" kern="100" dirty="0" err="1">
                <a:effectLst/>
                <a:latin typeface="Times New Roman" panose="02020603050405020304" pitchFamily="18" charset="0"/>
                <a:ea typeface="Calibri" panose="020F0502020204030204" pitchFamily="34" charset="0"/>
                <a:cs typeface="Times New Roman" panose="02020603050405020304" pitchFamily="18" charset="0"/>
              </a:rPr>
              <a:t>color</a:t>
            </a: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 This </a:t>
            </a:r>
            <a:r>
              <a:rPr lang="en-IN" sz="48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requires conscious attention and self-control</a:t>
            </a:r>
          </a:p>
          <a:p>
            <a:pPr marL="0" indent="0">
              <a:lnSpc>
                <a:spcPct val="107000"/>
              </a:lnSpc>
              <a:spcBef>
                <a:spcPts val="0"/>
              </a:spcBef>
              <a:buNone/>
            </a:pPr>
            <a:endParaRPr lang="en-IN" sz="4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None/>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Result:</a:t>
            </a:r>
          </a:p>
          <a:p>
            <a:pPr marL="685800" lvl="1" indent="-342900">
              <a:lnSpc>
                <a:spcPct val="107000"/>
              </a:lnSpc>
              <a:spcBef>
                <a:spcPts val="0"/>
              </a:spcBef>
              <a:buSzPts val="1000"/>
              <a:buFont typeface="Symbol" panose="05050102010706020507" pitchFamily="18" charset="2"/>
              <a:buChar char=""/>
              <a:tabLst>
                <a:tab pos="457200" algn="l"/>
              </a:tabLst>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Students hesitate. </a:t>
            </a:r>
          </a:p>
          <a:p>
            <a:pPr marL="685800" lvl="1" indent="-342900">
              <a:lnSpc>
                <a:spcPct val="107000"/>
              </a:lnSpc>
              <a:spcBef>
                <a:spcPts val="0"/>
              </a:spcBef>
              <a:buSzPts val="1000"/>
              <a:buFont typeface="Symbol" panose="05050102010706020507" pitchFamily="18" charset="2"/>
              <a:buChar char=""/>
              <a:tabLst>
                <a:tab pos="457200" algn="l"/>
              </a:tabLst>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They make more mistakes. </a:t>
            </a:r>
          </a:p>
          <a:p>
            <a:pPr marL="685800" lvl="1" indent="-342900">
              <a:lnSpc>
                <a:spcPct val="107000"/>
              </a:lnSpc>
              <a:spcBef>
                <a:spcPts val="0"/>
              </a:spcBef>
              <a:buSzPts val="1000"/>
              <a:buFont typeface="Symbol" panose="05050102010706020507" pitchFamily="18" charset="2"/>
              <a:buChar char=""/>
              <a:tabLst>
                <a:tab pos="457200" algn="l"/>
              </a:tabLst>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Their response time increases. </a:t>
            </a:r>
          </a:p>
          <a:p>
            <a:pPr>
              <a:lnSpc>
                <a:spcPct val="107000"/>
              </a:lnSpc>
              <a:spcBef>
                <a:spcPts val="0"/>
              </a:spcBef>
              <a:buNone/>
            </a:pPr>
            <a:endParaRPr lang="en-IN" sz="4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None/>
            </a:pPr>
            <a:r>
              <a:rPr lang="en-IN" sz="4800" b="1" kern="100" dirty="0">
                <a:effectLst/>
                <a:latin typeface="Times New Roman" panose="02020603050405020304" pitchFamily="18" charset="0"/>
                <a:ea typeface="Calibri" panose="020F0502020204030204" pitchFamily="34" charset="0"/>
                <a:cs typeface="Times New Roman" panose="02020603050405020304" pitchFamily="18" charset="0"/>
              </a:rPr>
              <a:t>Learning Outcome</a:t>
            </a:r>
            <a:endParaRPr lang="en-IN" sz="4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Bef>
                <a:spcPts val="0"/>
              </a:spcBef>
              <a:buNone/>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The activity demonstrates:</a:t>
            </a:r>
          </a:p>
          <a:p>
            <a:pPr>
              <a:lnSpc>
                <a:spcPct val="107000"/>
              </a:lnSpc>
              <a:spcBef>
                <a:spcPts val="0"/>
              </a:spcBef>
              <a:buNone/>
            </a:pPr>
            <a:endParaRPr lang="en-IN" sz="4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685800" lvl="1" indent="-342900">
              <a:lnSpc>
                <a:spcPct val="107000"/>
              </a:lnSpc>
              <a:spcBef>
                <a:spcPts val="0"/>
              </a:spcBef>
              <a:buFont typeface="+mj-lt"/>
              <a:buAutoNum type="arabicPeriod"/>
              <a:tabLst>
                <a:tab pos="457200" algn="l"/>
              </a:tabLst>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How automatic thinking can interfere with decision-making. </a:t>
            </a:r>
          </a:p>
          <a:p>
            <a:pPr marL="685800" lvl="1" indent="-342900">
              <a:lnSpc>
                <a:spcPct val="107000"/>
              </a:lnSpc>
              <a:spcBef>
                <a:spcPts val="0"/>
              </a:spcBef>
              <a:buFont typeface="+mj-lt"/>
              <a:buAutoNum type="arabicPeriod"/>
              <a:tabLst>
                <a:tab pos="457200" algn="l"/>
              </a:tabLst>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The difference between instinctive and deliberate reasoning. </a:t>
            </a:r>
          </a:p>
          <a:p>
            <a:pPr marL="685800" lvl="1" indent="-342900">
              <a:lnSpc>
                <a:spcPct val="107000"/>
              </a:lnSpc>
              <a:spcBef>
                <a:spcPts val="0"/>
              </a:spcBef>
              <a:buFont typeface="+mj-lt"/>
              <a:buAutoNum type="arabicPeriod"/>
              <a:tabLst>
                <a:tab pos="457200" algn="l"/>
              </a:tabLst>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The mental effort required to override habitual responses. </a:t>
            </a:r>
          </a:p>
          <a:p>
            <a:pPr marL="685800" lvl="1" indent="-342900">
              <a:lnSpc>
                <a:spcPct val="107000"/>
              </a:lnSpc>
              <a:spcBef>
                <a:spcPts val="0"/>
              </a:spcBef>
              <a:buFont typeface="+mj-lt"/>
              <a:buAutoNum type="arabicPeriod"/>
              <a:tabLst>
                <a:tab pos="457200" algn="l"/>
              </a:tabLst>
            </a:pPr>
            <a:r>
              <a:rPr lang="en-IN" sz="4800" kern="100" dirty="0">
                <a:effectLst/>
                <a:latin typeface="Times New Roman" panose="02020603050405020304" pitchFamily="18" charset="0"/>
                <a:ea typeface="Calibri" panose="020F0502020204030204" pitchFamily="34" charset="0"/>
                <a:cs typeface="Times New Roman" panose="02020603050405020304" pitchFamily="18" charset="0"/>
              </a:rPr>
              <a:t>Why humans sometimes make errors even when the correct answer is obvious. </a:t>
            </a:r>
          </a:p>
          <a:p>
            <a:endParaRPr lang="en-IN" dirty="0"/>
          </a:p>
        </p:txBody>
      </p:sp>
    </p:spTree>
    <p:extLst>
      <p:ext uri="{BB962C8B-B14F-4D97-AF65-F5344CB8AC3E}">
        <p14:creationId xmlns:p14="http://schemas.microsoft.com/office/powerpoint/2010/main" val="7823542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pPr marL="571500" indent="-571500">
              <a:buFont typeface="Wingdings" panose="05000000000000000000" pitchFamily="2" charset="2"/>
              <a:buChar char="v"/>
            </a:pPr>
            <a:r>
              <a:rPr dirty="0">
                <a:solidFill>
                  <a:srgbClr val="FF0066"/>
                </a:solidFill>
              </a:rPr>
              <a:t>Thinking and Innovation</a:t>
            </a:r>
          </a:p>
        </p:txBody>
      </p:sp>
      <p:sp>
        <p:nvSpPr>
          <p:cNvPr id="138" name="Content Placeholder 2"/>
          <p:cNvSpPr txBox="1">
            <a:spLocks noGrp="1"/>
          </p:cNvSpPr>
          <p:nvPr>
            <p:ph type="body" idx="1"/>
          </p:nvPr>
        </p:nvSpPr>
        <p:spPr>
          <a:xfrm>
            <a:off x="457200" y="1600200"/>
            <a:ext cx="6087472" cy="4525963"/>
          </a:xfrm>
          <a:prstGeom prst="rect">
            <a:avLst/>
          </a:prstGeom>
        </p:spPr>
        <p:txBody>
          <a:bodyPr/>
          <a:lstStyle/>
          <a:p>
            <a:pPr>
              <a:defRPr>
                <a:latin typeface="Times New Roman"/>
                <a:ea typeface="Times New Roman"/>
                <a:cs typeface="Times New Roman"/>
                <a:sym typeface="Times New Roman"/>
              </a:defRPr>
            </a:pPr>
            <a:r>
              <a:rPr dirty="0">
                <a:solidFill>
                  <a:srgbClr val="7030A0"/>
                </a:solidFill>
              </a:rPr>
              <a:t>Ideas </a:t>
            </a:r>
            <a:r>
              <a:rPr dirty="0"/>
              <a:t>emerge from thinking</a:t>
            </a:r>
          </a:p>
          <a:p>
            <a:pPr>
              <a:defRPr>
                <a:latin typeface="Times New Roman"/>
                <a:ea typeface="Times New Roman"/>
                <a:cs typeface="Times New Roman"/>
                <a:sym typeface="Times New Roman"/>
              </a:defRPr>
            </a:pPr>
            <a:r>
              <a:rPr dirty="0"/>
              <a:t>Better thinking → </a:t>
            </a:r>
            <a:r>
              <a:rPr dirty="0">
                <a:solidFill>
                  <a:srgbClr val="7030A0"/>
                </a:solidFill>
              </a:rPr>
              <a:t>better solutions</a:t>
            </a:r>
          </a:p>
          <a:p>
            <a:pPr>
              <a:defRPr>
                <a:latin typeface="Times New Roman"/>
                <a:ea typeface="Times New Roman"/>
                <a:cs typeface="Times New Roman"/>
                <a:sym typeface="Times New Roman"/>
              </a:defRPr>
            </a:pPr>
            <a:r>
              <a:rPr dirty="0"/>
              <a:t>Essential for organizations</a:t>
            </a:r>
          </a:p>
        </p:txBody>
      </p:sp>
      <p:pic>
        <p:nvPicPr>
          <p:cNvPr id="139" name="Screenshot 2026-05-31 at 11.31.49 PM.png" descr="Screenshot 2026-05-31 at 11.31.49 PM.png"/>
          <p:cNvPicPr>
            <a:picLocks noChangeAspect="1"/>
          </p:cNvPicPr>
          <p:nvPr/>
        </p:nvPicPr>
        <p:blipFill>
          <a:blip r:embed="rId3"/>
          <a:stretch>
            <a:fillRect/>
          </a:stretch>
        </p:blipFill>
        <p:spPr>
          <a:xfrm>
            <a:off x="765914" y="3473570"/>
            <a:ext cx="4691172" cy="2784329"/>
          </a:xfrm>
          <a:prstGeom prst="rect">
            <a:avLst/>
          </a:prstGeom>
          <a:ln w="12700">
            <a:miter lim="400000"/>
          </a:ln>
        </p:spPr>
      </p:pic>
      <p:pic>
        <p:nvPicPr>
          <p:cNvPr id="140" name="Screenshot 2026-05-31 at 11.33.35 PM.png" descr="Screenshot 2026-05-31 at 11.33.35 PM.png"/>
          <p:cNvPicPr>
            <a:picLocks noChangeAspect="1"/>
          </p:cNvPicPr>
          <p:nvPr/>
        </p:nvPicPr>
        <p:blipFill>
          <a:blip r:embed="rId4"/>
          <a:stretch>
            <a:fillRect/>
          </a:stretch>
        </p:blipFill>
        <p:spPr>
          <a:xfrm>
            <a:off x="6542438" y="1591354"/>
            <a:ext cx="2195770" cy="1201459"/>
          </a:xfrm>
          <a:prstGeom prst="rect">
            <a:avLst/>
          </a:prstGeom>
          <a:ln w="12700">
            <a:miter lim="400000"/>
          </a:ln>
        </p:spPr>
      </p:pic>
      <p:pic>
        <p:nvPicPr>
          <p:cNvPr id="141" name="Image" descr="Image"/>
          <p:cNvPicPr>
            <a:picLocks noChangeAspect="1"/>
          </p:cNvPicPr>
          <p:nvPr/>
        </p:nvPicPr>
        <p:blipFill>
          <a:blip r:embed="rId5"/>
          <a:stretch>
            <a:fillRect/>
          </a:stretch>
        </p:blipFill>
        <p:spPr>
          <a:xfrm>
            <a:off x="5833636" y="2975374"/>
            <a:ext cx="2935714" cy="1159485"/>
          </a:xfrm>
          <a:prstGeom prst="rect">
            <a:avLst/>
          </a:prstGeom>
          <a:ln w="12700">
            <a:miter lim="400000"/>
          </a:ln>
        </p:spPr>
      </p:pic>
      <p:pic>
        <p:nvPicPr>
          <p:cNvPr id="142" name="Screenshot 2026-05-31 at 11.34.22 PM.png" descr="Screenshot 2026-05-31 at 11.34.22 PM.png"/>
          <p:cNvPicPr>
            <a:picLocks noChangeAspect="1"/>
          </p:cNvPicPr>
          <p:nvPr/>
        </p:nvPicPr>
        <p:blipFill>
          <a:blip r:embed="rId6"/>
          <a:stretch>
            <a:fillRect/>
          </a:stretch>
        </p:blipFill>
        <p:spPr>
          <a:xfrm>
            <a:off x="6183203" y="4317420"/>
            <a:ext cx="2414380" cy="1723204"/>
          </a:xfrm>
          <a:prstGeom prst="rect">
            <a:avLst/>
          </a:prstGeom>
          <a:ln w="12700">
            <a:miter lim="400000"/>
          </a:ln>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itle 1"/>
          <p:cNvSpPr txBox="1">
            <a:spLocks noGrp="1"/>
          </p:cNvSpPr>
          <p:nvPr>
            <p:ph type="title"/>
          </p:nvPr>
        </p:nvSpPr>
        <p:spPr>
          <a:prstGeom prst="rect">
            <a:avLst/>
          </a:prstGeom>
        </p:spPr>
        <p:txBody>
          <a:bodyPr>
            <a:normAutofit fontScale="90000"/>
          </a:bodyPr>
          <a:lstStyle>
            <a:lvl1pPr defTabSz="452627">
              <a:defRPr sz="4356">
                <a:latin typeface="Times New Roman"/>
                <a:ea typeface="Times New Roman"/>
                <a:cs typeface="Times New Roman"/>
                <a:sym typeface="Times New Roman"/>
              </a:defRPr>
            </a:lvl1pPr>
          </a:lstStyle>
          <a:p>
            <a:pPr marL="571500" indent="-571500">
              <a:buFont typeface="Wingdings" panose="05000000000000000000" pitchFamily="2" charset="2"/>
              <a:buChar char="v"/>
            </a:pPr>
            <a:r>
              <a:rPr dirty="0">
                <a:solidFill>
                  <a:srgbClr val="FF0066"/>
                </a:solidFill>
              </a:rPr>
              <a:t>Characteristics of Effective Thinkers</a:t>
            </a:r>
          </a:p>
        </p:txBody>
      </p:sp>
      <p:sp>
        <p:nvSpPr>
          <p:cNvPr id="145" name="Content Placeholder 2"/>
          <p:cNvSpPr txBox="1">
            <a:spLocks noGrp="1"/>
          </p:cNvSpPr>
          <p:nvPr>
            <p:ph type="body" idx="1"/>
          </p:nvPr>
        </p:nvSpPr>
        <p:spPr>
          <a:xfrm>
            <a:off x="457200" y="1600200"/>
            <a:ext cx="8447201" cy="4525963"/>
          </a:xfrm>
          <a:prstGeom prst="rect">
            <a:avLst/>
          </a:prstGeom>
        </p:spPr>
        <p:txBody>
          <a:bodyPr/>
          <a:lstStyle>
            <a:lvl1pPr marL="342899" indent="-342899">
              <a:defRPr sz="2600">
                <a:latin typeface="Times New Roman"/>
                <a:ea typeface="Times New Roman"/>
                <a:cs typeface="Times New Roman"/>
                <a:sym typeface="Times New Roman"/>
              </a:defRPr>
            </a:lvl1pPr>
          </a:lstStyle>
          <a:p>
            <a:r>
              <a:rPr dirty="0"/>
              <a:t>Curious, Open-minded, Analytical, Creative and Reflective</a:t>
            </a:r>
          </a:p>
        </p:txBody>
      </p:sp>
      <p:pic>
        <p:nvPicPr>
          <p:cNvPr id="146" name="Image" descr="Image"/>
          <p:cNvPicPr>
            <a:picLocks noChangeAspect="1"/>
          </p:cNvPicPr>
          <p:nvPr/>
        </p:nvPicPr>
        <p:blipFill>
          <a:blip r:embed="rId2"/>
          <a:stretch>
            <a:fillRect/>
          </a:stretch>
        </p:blipFill>
        <p:spPr>
          <a:xfrm>
            <a:off x="776400" y="2094075"/>
            <a:ext cx="7808800" cy="4392451"/>
          </a:xfrm>
          <a:prstGeom prst="rect">
            <a:avLst/>
          </a:prstGeom>
          <a:ln w="12700">
            <a:miter lim="400000"/>
          </a:ln>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C617455-709D-4E87-6544-92408F03AC7F}"/>
              </a:ext>
            </a:extLst>
          </p:cNvPr>
          <p:cNvSpPr>
            <a:spLocks noGrp="1"/>
          </p:cNvSpPr>
          <p:nvPr>
            <p:ph idx="1"/>
          </p:nvPr>
        </p:nvSpPr>
        <p:spPr>
          <a:xfrm>
            <a:off x="628650" y="534256"/>
            <a:ext cx="7886700" cy="5959011"/>
          </a:xfrm>
        </p:spPr>
        <p:txBody>
          <a:bodyPr>
            <a:normAutofit fontScale="92500"/>
          </a:bodyPr>
          <a:lstStyle/>
          <a:p>
            <a:pPr algn="just">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Effective thinkers approach problems and decisions thoughtfully. They possess several important qualities that help them understand situations, solve problems, and make better decisions.</a:t>
            </a:r>
          </a:p>
          <a:p>
            <a:pPr algn="just">
              <a:buNone/>
            </a:pPr>
            <a:r>
              <a:rPr lang="en-US" sz="2500" b="1" dirty="0">
                <a:latin typeface="Times New Roman" panose="02020603050405020304" pitchFamily="18" charset="0"/>
                <a:cs typeface="Times New Roman" panose="02020603050405020304" pitchFamily="18" charset="0"/>
              </a:rPr>
              <a:t>1. </a:t>
            </a:r>
            <a:r>
              <a:rPr lang="en-US" sz="2500" b="1" dirty="0">
                <a:solidFill>
                  <a:srgbClr val="C00000"/>
                </a:solidFill>
                <a:latin typeface="Times New Roman" panose="02020603050405020304" pitchFamily="18" charset="0"/>
                <a:cs typeface="Times New Roman" panose="02020603050405020304" pitchFamily="18" charset="0"/>
              </a:rPr>
              <a:t>Curious</a:t>
            </a:r>
          </a:p>
          <a:p>
            <a:pPr algn="just">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Curious people have a strong desire to learn and understand new things. They ask questions and seek information beyond what is immediately available.</a:t>
            </a:r>
          </a:p>
          <a:p>
            <a:pPr algn="just">
              <a:buNone/>
            </a:pPr>
            <a:r>
              <a:rPr lang="en-US" sz="2500" b="1" dirty="0">
                <a:latin typeface="Times New Roman" panose="02020603050405020304" pitchFamily="18" charset="0"/>
                <a:cs typeface="Times New Roman" panose="02020603050405020304" pitchFamily="18" charset="0"/>
              </a:rPr>
              <a:t>Characteristics:</a:t>
            </a:r>
            <a:endParaRPr lang="en-US" sz="2500" dirty="0">
              <a:latin typeface="Times New Roman" panose="02020603050405020304" pitchFamily="18" charset="0"/>
              <a:cs typeface="Times New Roman" panose="02020603050405020304" pitchFamily="18" charset="0"/>
            </a:endParaRPr>
          </a:p>
          <a:p>
            <a:pPr lvl="1" algn="just"/>
            <a:r>
              <a:rPr lang="en-US" sz="2600" dirty="0">
                <a:latin typeface="Times New Roman" panose="02020603050405020304" pitchFamily="18" charset="0"/>
                <a:cs typeface="Times New Roman" panose="02020603050405020304" pitchFamily="18" charset="0"/>
              </a:rPr>
              <a:t>Ask "Why?", "How?", and "What if?" </a:t>
            </a:r>
          </a:p>
          <a:p>
            <a:pPr lvl="1" algn="just"/>
            <a:r>
              <a:rPr lang="en-US" sz="2600" dirty="0">
                <a:latin typeface="Times New Roman" panose="02020603050405020304" pitchFamily="18" charset="0"/>
                <a:cs typeface="Times New Roman" panose="02020603050405020304" pitchFamily="18" charset="0"/>
              </a:rPr>
              <a:t>Eager to learn new concepts </a:t>
            </a:r>
          </a:p>
          <a:p>
            <a:pPr lvl="1" algn="just"/>
            <a:r>
              <a:rPr lang="en-US" sz="2600" dirty="0">
                <a:latin typeface="Times New Roman" panose="02020603050405020304" pitchFamily="18" charset="0"/>
                <a:cs typeface="Times New Roman" panose="02020603050405020304" pitchFamily="18" charset="0"/>
              </a:rPr>
              <a:t>Explore different viewpoints </a:t>
            </a:r>
          </a:p>
          <a:p>
            <a:pPr algn="just">
              <a:buNone/>
            </a:pPr>
            <a:r>
              <a:rPr lang="en-US" sz="2500" b="1" dirty="0">
                <a:latin typeface="Times New Roman" panose="02020603050405020304" pitchFamily="18" charset="0"/>
                <a:cs typeface="Times New Roman" panose="02020603050405020304" pitchFamily="18" charset="0"/>
              </a:rPr>
              <a:t>Example: </a:t>
            </a:r>
            <a:r>
              <a:rPr lang="en-US" sz="2500" dirty="0">
                <a:latin typeface="Times New Roman" panose="02020603050405020304" pitchFamily="18" charset="0"/>
                <a:cs typeface="Times New Roman" panose="02020603050405020304" pitchFamily="18" charset="0"/>
              </a:rPr>
              <a:t>A student learning Artificial Intelligence asks how machine learning algorithms actually learn from data instead of simply memorizing definitions.</a:t>
            </a:r>
          </a:p>
          <a:p>
            <a:pPr algn="just">
              <a:buNone/>
            </a:pPr>
            <a:r>
              <a:rPr lang="en-US" sz="2500" b="1" dirty="0">
                <a:latin typeface="Times New Roman" panose="02020603050405020304" pitchFamily="18" charset="0"/>
                <a:cs typeface="Times New Roman" panose="02020603050405020304" pitchFamily="18" charset="0"/>
              </a:rPr>
              <a:t>Benefit: </a:t>
            </a:r>
            <a:r>
              <a:rPr lang="en-US" sz="2500" dirty="0">
                <a:latin typeface="Times New Roman" panose="02020603050405020304" pitchFamily="18" charset="0"/>
                <a:cs typeface="Times New Roman" panose="02020603050405020304" pitchFamily="18" charset="0"/>
              </a:rPr>
              <a:t>Curiosity leads to continuous learning and discovery.</a:t>
            </a:r>
          </a:p>
          <a:p>
            <a:endParaRPr lang="en-IN" dirty="0"/>
          </a:p>
        </p:txBody>
      </p:sp>
    </p:spTree>
    <p:extLst>
      <p:ext uri="{BB962C8B-B14F-4D97-AF65-F5344CB8AC3E}">
        <p14:creationId xmlns:p14="http://schemas.microsoft.com/office/powerpoint/2010/main" val="2071573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46D9B5-693B-1469-F52D-5119248AFAF9}"/>
              </a:ext>
            </a:extLst>
          </p:cNvPr>
          <p:cNvSpPr>
            <a:spLocks noGrp="1"/>
          </p:cNvSpPr>
          <p:nvPr>
            <p:ph idx="1"/>
          </p:nvPr>
        </p:nvSpPr>
        <p:spPr>
          <a:xfrm>
            <a:off x="628650" y="452063"/>
            <a:ext cx="7886700" cy="5724900"/>
          </a:xfrm>
        </p:spPr>
        <p:txBody>
          <a:bodyPr>
            <a:noAutofit/>
          </a:bodyPr>
          <a:lstStyle/>
          <a:p>
            <a:pPr>
              <a:buNone/>
            </a:pPr>
            <a:r>
              <a:rPr lang="en-US" sz="2400" b="1" dirty="0">
                <a:latin typeface="Times New Roman" panose="02020603050405020304" pitchFamily="18" charset="0"/>
                <a:cs typeface="Times New Roman" panose="02020603050405020304" pitchFamily="18" charset="0"/>
              </a:rPr>
              <a:t>2. </a:t>
            </a:r>
            <a:r>
              <a:rPr lang="en-US" sz="2400" b="1" dirty="0">
                <a:solidFill>
                  <a:srgbClr val="C00000"/>
                </a:solidFill>
                <a:latin typeface="Times New Roman" panose="02020603050405020304" pitchFamily="18" charset="0"/>
                <a:cs typeface="Times New Roman" panose="02020603050405020304" pitchFamily="18" charset="0"/>
              </a:rPr>
              <a:t>Open-Minded</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Open-minded thinkers are willing to consider different ideas, perspectives, and evidence, even when those ideas differ from their own beliefs.</a:t>
            </a:r>
          </a:p>
          <a:p>
            <a:pPr algn="just">
              <a:buNone/>
            </a:pPr>
            <a:r>
              <a:rPr lang="en-US" sz="2400" b="1" dirty="0">
                <a:latin typeface="Times New Roman" panose="02020603050405020304" pitchFamily="18" charset="0"/>
                <a:cs typeface="Times New Roman" panose="02020603050405020304" pitchFamily="18" charset="0"/>
              </a:rPr>
              <a:t>Characteristics:</a:t>
            </a:r>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Listen to others respectfully </a:t>
            </a:r>
          </a:p>
          <a:p>
            <a:pPr lvl="1" algn="just"/>
            <a:r>
              <a:rPr lang="en-US" sz="2400" dirty="0">
                <a:latin typeface="Times New Roman" panose="02020603050405020304" pitchFamily="18" charset="0"/>
                <a:cs typeface="Times New Roman" panose="02020603050405020304" pitchFamily="18" charset="0"/>
              </a:rPr>
              <a:t>Accept constructive criticism </a:t>
            </a:r>
          </a:p>
          <a:p>
            <a:pPr lvl="1" algn="just"/>
            <a:r>
              <a:rPr lang="en-US" sz="2400" dirty="0">
                <a:latin typeface="Times New Roman" panose="02020603050405020304" pitchFamily="18" charset="0"/>
                <a:cs typeface="Times New Roman" panose="02020603050405020304" pitchFamily="18" charset="0"/>
              </a:rPr>
              <a:t>Willing to change opinions when presented with strong evidence </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Example: </a:t>
            </a:r>
            <a:r>
              <a:rPr lang="en-US" sz="2400" dirty="0">
                <a:latin typeface="Times New Roman" panose="02020603050405020304" pitchFamily="18" charset="0"/>
                <a:cs typeface="Times New Roman" panose="02020603050405020304" pitchFamily="18" charset="0"/>
              </a:rPr>
              <a:t>During a group discussion, a student considers a teammate's solution even though it differs from their own approach.</a:t>
            </a:r>
          </a:p>
          <a:p>
            <a:pPr marL="0" indent="0">
              <a:buNone/>
            </a:pPr>
            <a:r>
              <a:rPr lang="en-US" sz="2400" b="1" dirty="0">
                <a:latin typeface="Times New Roman" panose="02020603050405020304" pitchFamily="18" charset="0"/>
                <a:cs typeface="Times New Roman" panose="02020603050405020304" pitchFamily="18" charset="0"/>
              </a:rPr>
              <a:t>Benefit: </a:t>
            </a:r>
            <a:r>
              <a:rPr lang="en-US" sz="2400" dirty="0">
                <a:latin typeface="Times New Roman" panose="02020603050405020304" pitchFamily="18" charset="0"/>
                <a:cs typeface="Times New Roman" panose="02020603050405020304" pitchFamily="18" charset="0"/>
              </a:rPr>
              <a:t>Helps avoid bias and improves decision-making.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31518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F5A0F-F1EE-793A-0901-B5EAF23F7F37}"/>
              </a:ext>
            </a:extLst>
          </p:cNvPr>
          <p:cNvSpPr>
            <a:spLocks noGrp="1"/>
          </p:cNvSpPr>
          <p:nvPr>
            <p:ph idx="1"/>
          </p:nvPr>
        </p:nvSpPr>
        <p:spPr>
          <a:xfrm>
            <a:off x="412893" y="633822"/>
            <a:ext cx="7886700" cy="5664235"/>
          </a:xfrm>
        </p:spPr>
        <p:txBody>
          <a:bodyPr>
            <a:normAutofit/>
          </a:bodyPr>
          <a:lstStyle/>
          <a:p>
            <a:pPr>
              <a:buNone/>
            </a:pPr>
            <a:r>
              <a:rPr lang="en-US" sz="2400" b="1" dirty="0">
                <a:latin typeface="Times New Roman" panose="02020603050405020304" pitchFamily="18" charset="0"/>
                <a:cs typeface="Times New Roman" panose="02020603050405020304" pitchFamily="18" charset="0"/>
              </a:rPr>
              <a:t>3. </a:t>
            </a:r>
            <a:r>
              <a:rPr lang="en-US" sz="2400" b="1" dirty="0">
                <a:solidFill>
                  <a:srgbClr val="C00000"/>
                </a:solidFill>
                <a:latin typeface="Times New Roman" panose="02020603050405020304" pitchFamily="18" charset="0"/>
                <a:cs typeface="Times New Roman" panose="02020603050405020304" pitchFamily="18" charset="0"/>
              </a:rPr>
              <a:t>Analytical</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Analytical thinkers </a:t>
            </a:r>
            <a:r>
              <a:rPr lang="en-US" sz="2400" dirty="0">
                <a:solidFill>
                  <a:srgbClr val="0070C0"/>
                </a:solidFill>
                <a:latin typeface="Times New Roman" panose="02020603050405020304" pitchFamily="18" charset="0"/>
                <a:cs typeface="Times New Roman" panose="02020603050405020304" pitchFamily="18" charset="0"/>
              </a:rPr>
              <a:t>examine information carefully, identify patterns, and break complex problems into smaller parts</a:t>
            </a:r>
            <a:r>
              <a:rPr lang="en-US" sz="2400" dirty="0">
                <a:latin typeface="Times New Roman" panose="02020603050405020304" pitchFamily="18" charset="0"/>
                <a:cs typeface="Times New Roman" panose="02020603050405020304" pitchFamily="18" charset="0"/>
              </a:rPr>
              <a:t>.</a:t>
            </a:r>
          </a:p>
          <a:p>
            <a:pPr algn="just">
              <a:buNone/>
            </a:pPr>
            <a:r>
              <a:rPr lang="en-US" sz="2400" b="1" dirty="0">
                <a:latin typeface="Times New Roman" panose="02020603050405020304" pitchFamily="18" charset="0"/>
                <a:cs typeface="Times New Roman" panose="02020603050405020304" pitchFamily="18" charset="0"/>
              </a:rPr>
              <a:t>Characteristics:</a:t>
            </a:r>
            <a:endParaRPr lang="en-US"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Compare alternatives </a:t>
            </a:r>
          </a:p>
          <a:p>
            <a:pPr lvl="1" algn="just"/>
            <a:r>
              <a:rPr lang="en-US" sz="2400" dirty="0">
                <a:latin typeface="Times New Roman" panose="02020603050405020304" pitchFamily="18" charset="0"/>
                <a:cs typeface="Times New Roman" panose="02020603050405020304" pitchFamily="18" charset="0"/>
              </a:rPr>
              <a:t>Identify causes and effects </a:t>
            </a:r>
          </a:p>
          <a:p>
            <a:pPr lvl="1" algn="just"/>
            <a:r>
              <a:rPr lang="en-US" sz="2400" dirty="0">
                <a:latin typeface="Times New Roman" panose="02020603050405020304" pitchFamily="18" charset="0"/>
                <a:cs typeface="Times New Roman" panose="02020603050405020304" pitchFamily="18" charset="0"/>
              </a:rPr>
              <a:t>Use logic and evidence </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Example: </a:t>
            </a:r>
            <a:r>
              <a:rPr lang="en-US" sz="2400" dirty="0">
                <a:latin typeface="Times New Roman" panose="02020603050405020304" pitchFamily="18" charset="0"/>
                <a:cs typeface="Times New Roman" panose="02020603050405020304" pitchFamily="18" charset="0"/>
              </a:rPr>
              <a:t>Before selecting an algorithm, a programmer compares time complexity, memory usage, and scalability.</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Benefit: </a:t>
            </a:r>
            <a:r>
              <a:rPr lang="en-US" sz="2400" dirty="0">
                <a:latin typeface="Times New Roman" panose="02020603050405020304" pitchFamily="18" charset="0"/>
                <a:cs typeface="Times New Roman" panose="02020603050405020304" pitchFamily="18" charset="0"/>
              </a:rPr>
              <a:t>Analytical thinking leads to accurate conclusions and effective problem solving.</a:t>
            </a:r>
          </a:p>
          <a:p>
            <a:endParaRPr lang="en-IN" dirty="0"/>
          </a:p>
        </p:txBody>
      </p:sp>
    </p:spTree>
    <p:extLst>
      <p:ext uri="{BB962C8B-B14F-4D97-AF65-F5344CB8AC3E}">
        <p14:creationId xmlns:p14="http://schemas.microsoft.com/office/powerpoint/2010/main" val="1707703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37A3E-8DF1-F428-9EBC-4D9318785617}"/>
              </a:ext>
            </a:extLst>
          </p:cNvPr>
          <p:cNvSpPr>
            <a:spLocks noGrp="1"/>
          </p:cNvSpPr>
          <p:nvPr>
            <p:ph idx="1"/>
          </p:nvPr>
        </p:nvSpPr>
        <p:spPr>
          <a:xfrm>
            <a:off x="628650" y="376477"/>
            <a:ext cx="7886700" cy="6250353"/>
          </a:xfrm>
        </p:spPr>
        <p:txBody>
          <a:bodyPr>
            <a:normAutofit fontScale="92500" lnSpcReduction="20000"/>
          </a:bodyPr>
          <a:lstStyle/>
          <a:p>
            <a:pPr>
              <a:buNone/>
            </a:pPr>
            <a:r>
              <a:rPr lang="en-US" sz="2400" b="1" dirty="0">
                <a:latin typeface="Times New Roman" panose="02020603050405020304" pitchFamily="18" charset="0"/>
                <a:cs typeface="Times New Roman" panose="02020603050405020304" pitchFamily="18" charset="0"/>
              </a:rPr>
              <a:t>4</a:t>
            </a:r>
            <a:r>
              <a:rPr lang="en-US" sz="2400" b="1" dirty="0">
                <a:solidFill>
                  <a:srgbClr val="C00000"/>
                </a:solidFill>
                <a:latin typeface="Times New Roman" panose="02020603050405020304" pitchFamily="18" charset="0"/>
                <a:cs typeface="Times New Roman" panose="02020603050405020304" pitchFamily="18" charset="0"/>
              </a:rPr>
              <a:t>. Creative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Creative thinkers generate original ideas and find innovative solutions to problems.</a:t>
            </a:r>
          </a:p>
          <a:p>
            <a:pPr>
              <a:buNone/>
            </a:pPr>
            <a:r>
              <a:rPr lang="en-US" sz="2400" b="1" dirty="0">
                <a:latin typeface="Times New Roman" panose="02020603050405020304" pitchFamily="18" charset="0"/>
                <a:cs typeface="Times New Roman" panose="02020603050405020304" pitchFamily="18" charset="0"/>
              </a:rPr>
              <a:t>Characteristics: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Think beyond conventional methods </a:t>
            </a:r>
          </a:p>
          <a:p>
            <a:pPr lvl="1"/>
            <a:r>
              <a:rPr lang="en-US" sz="2400" dirty="0">
                <a:latin typeface="Times New Roman" panose="02020603050405020304" pitchFamily="18" charset="0"/>
                <a:cs typeface="Times New Roman" panose="02020603050405020304" pitchFamily="18" charset="0"/>
              </a:rPr>
              <a:t>Explore multiple solutions </a:t>
            </a:r>
          </a:p>
          <a:p>
            <a:pPr lvl="1"/>
            <a:r>
              <a:rPr lang="en-US" sz="2400" dirty="0">
                <a:latin typeface="Times New Roman" panose="02020603050405020304" pitchFamily="18" charset="0"/>
                <a:cs typeface="Times New Roman" panose="02020603050405020304" pitchFamily="18" charset="0"/>
              </a:rPr>
              <a:t>Combine ideas in new ways </a:t>
            </a:r>
          </a:p>
          <a:p>
            <a:pPr>
              <a:buNone/>
            </a:pPr>
            <a:r>
              <a:rPr lang="en-US" sz="2400" b="1" dirty="0">
                <a:latin typeface="Times New Roman" panose="02020603050405020304" pitchFamily="18" charset="0"/>
                <a:cs typeface="Times New Roman" panose="02020603050405020304" pitchFamily="18" charset="0"/>
              </a:rPr>
              <a:t>Examples:</a:t>
            </a:r>
          </a:p>
          <a:p>
            <a:pPr>
              <a:buNone/>
            </a:pPr>
            <a:r>
              <a:rPr lang="en-US" sz="2400" b="1" i="1" dirty="0">
                <a:latin typeface="Times New Roman" panose="02020603050405020304" pitchFamily="18" charset="0"/>
                <a:cs typeface="Times New Roman" panose="02020603050405020304" pitchFamily="18" charset="0"/>
              </a:rPr>
              <a:t>1)Problem:</a:t>
            </a:r>
            <a:r>
              <a:rPr lang="en-US" sz="2400" dirty="0">
                <a:latin typeface="Times New Roman" panose="02020603050405020304" pitchFamily="18" charset="0"/>
                <a:cs typeface="Times New Roman" panose="02020603050405020304" pitchFamily="18" charset="0"/>
              </a:rPr>
              <a:t> Students often forget to switch their phones to silent mode before entering a classroom.</a:t>
            </a:r>
          </a:p>
          <a:p>
            <a:pPr>
              <a:buNone/>
            </a:pPr>
            <a:r>
              <a:rPr lang="en-US" sz="2400" b="1" i="1" dirty="0">
                <a:latin typeface="Times New Roman" panose="02020603050405020304" pitchFamily="18" charset="0"/>
                <a:cs typeface="Times New Roman" panose="02020603050405020304" pitchFamily="18" charset="0"/>
              </a:rPr>
              <a:t>Creative Solution</a:t>
            </a:r>
            <a:r>
              <a:rPr lang="en-US" sz="2400" b="1"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student develops a mobile app that automatically switches the phone to silent mode when it detects the user has entered a college campus or classroom area using GPS or Wi-Fi.</a:t>
            </a:r>
          </a:p>
          <a:p>
            <a:pPr>
              <a:buNone/>
            </a:pPr>
            <a:r>
              <a:rPr lang="en-US" sz="2400" b="1" i="1" dirty="0">
                <a:latin typeface="Times New Roman" panose="02020603050405020304" pitchFamily="18" charset="0"/>
                <a:cs typeface="Times New Roman" panose="02020603050405020304" pitchFamily="18" charset="0"/>
              </a:rPr>
              <a:t>2) Problem</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People often lose their TV remote.</a:t>
            </a:r>
          </a:p>
          <a:p>
            <a:pPr>
              <a:buNone/>
            </a:pPr>
            <a:r>
              <a:rPr lang="en-US" sz="2400" b="1" i="1" dirty="0">
                <a:latin typeface="Times New Roman" panose="02020603050405020304" pitchFamily="18" charset="0"/>
                <a:cs typeface="Times New Roman" panose="02020603050405020304" pitchFamily="18" charset="0"/>
              </a:rPr>
              <a:t>Creative Solution</a:t>
            </a:r>
            <a:r>
              <a:rPr lang="en-US" sz="2400" b="1"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person attaches a Bluetooth tracker to the remote and uses a mobile app to make the remote ring whenever it is misplaced.</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Benefit: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Creativity encourages innovation and adaptability.</a:t>
            </a:r>
          </a:p>
          <a:p>
            <a:endParaRPr lang="en-IN" dirty="0"/>
          </a:p>
        </p:txBody>
      </p:sp>
    </p:spTree>
    <p:extLst>
      <p:ext uri="{BB962C8B-B14F-4D97-AF65-F5344CB8AC3E}">
        <p14:creationId xmlns:p14="http://schemas.microsoft.com/office/powerpoint/2010/main" val="29861437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5EEA9-9D33-3BAB-9B76-48B5163307EB}"/>
              </a:ext>
            </a:extLst>
          </p:cNvPr>
          <p:cNvSpPr>
            <a:spLocks noGrp="1"/>
          </p:cNvSpPr>
          <p:nvPr>
            <p:ph idx="1"/>
          </p:nvPr>
        </p:nvSpPr>
        <p:spPr>
          <a:xfrm>
            <a:off x="628650" y="472611"/>
            <a:ext cx="7886700" cy="5704352"/>
          </a:xfrm>
        </p:spPr>
        <p:txBody>
          <a:bodyPr/>
          <a:lstStyle/>
          <a:p>
            <a:pPr>
              <a:buNone/>
            </a:pPr>
            <a:r>
              <a:rPr lang="en-US" sz="2400" b="1" dirty="0">
                <a:latin typeface="Times New Roman" panose="02020603050405020304" pitchFamily="18" charset="0"/>
                <a:cs typeface="Times New Roman" panose="02020603050405020304" pitchFamily="18" charset="0"/>
              </a:rPr>
              <a:t>5. </a:t>
            </a:r>
            <a:r>
              <a:rPr lang="en-US" sz="2400" b="1" dirty="0">
                <a:solidFill>
                  <a:srgbClr val="C00000"/>
                </a:solidFill>
                <a:latin typeface="Times New Roman" panose="02020603050405020304" pitchFamily="18" charset="0"/>
                <a:cs typeface="Times New Roman" panose="02020603050405020304" pitchFamily="18" charset="0"/>
              </a:rPr>
              <a:t>Reflective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Reflective thinkers </a:t>
            </a:r>
            <a:r>
              <a:rPr lang="en-US" sz="2400" dirty="0">
                <a:solidFill>
                  <a:srgbClr val="0070C0"/>
                </a:solidFill>
                <a:latin typeface="Times New Roman" panose="02020603050405020304" pitchFamily="18" charset="0"/>
                <a:cs typeface="Times New Roman" panose="02020603050405020304" pitchFamily="18" charset="0"/>
              </a:rPr>
              <a:t>review</a:t>
            </a:r>
            <a:r>
              <a:rPr lang="en-US" sz="2400" dirty="0">
                <a:latin typeface="Times New Roman" panose="02020603050405020304" pitchFamily="18" charset="0"/>
                <a:cs typeface="Times New Roman" panose="02020603050405020304" pitchFamily="18" charset="0"/>
              </a:rPr>
              <a:t> their experiences, decisions, and actions to learn and improve.</a:t>
            </a:r>
          </a:p>
          <a:p>
            <a:pPr>
              <a:buNone/>
            </a:pPr>
            <a:r>
              <a:rPr lang="en-US" sz="2400" b="1" dirty="0">
                <a:latin typeface="Times New Roman" panose="02020603050405020304" pitchFamily="18" charset="0"/>
                <a:cs typeface="Times New Roman" panose="02020603050405020304" pitchFamily="18" charset="0"/>
              </a:rPr>
              <a:t>Characteristics: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Evaluate past performance </a:t>
            </a:r>
          </a:p>
          <a:p>
            <a:pPr lvl="1"/>
            <a:r>
              <a:rPr lang="en-US" sz="2400" dirty="0">
                <a:latin typeface="Times New Roman" panose="02020603050405020304" pitchFamily="18" charset="0"/>
                <a:cs typeface="Times New Roman" panose="02020603050405020304" pitchFamily="18" charset="0"/>
              </a:rPr>
              <a:t>Learn from mistakes </a:t>
            </a:r>
          </a:p>
          <a:p>
            <a:pPr lvl="1"/>
            <a:r>
              <a:rPr lang="en-US" sz="2400" dirty="0">
                <a:latin typeface="Times New Roman" panose="02020603050405020304" pitchFamily="18" charset="0"/>
                <a:cs typeface="Times New Roman" panose="02020603050405020304" pitchFamily="18" charset="0"/>
              </a:rPr>
              <a:t>Seek continuous improvement </a:t>
            </a:r>
          </a:p>
          <a:p>
            <a:pPr>
              <a:buNone/>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After an exam, a student analyzes which study methods worked well and which need improvement.</a:t>
            </a:r>
          </a:p>
          <a:p>
            <a:pPr>
              <a:buNone/>
            </a:pPr>
            <a:r>
              <a:rPr lang="en-US" sz="2400" b="1" dirty="0">
                <a:latin typeface="Times New Roman" panose="02020603050405020304" pitchFamily="18" charset="0"/>
                <a:cs typeface="Times New Roman" panose="02020603050405020304" pitchFamily="18" charset="0"/>
              </a:rPr>
              <a:t>Benefit: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Reflection promotes personal growth and better future decisions.</a:t>
            </a:r>
          </a:p>
          <a:p>
            <a:endParaRPr lang="en-IN" dirty="0"/>
          </a:p>
        </p:txBody>
      </p:sp>
    </p:spTree>
    <p:extLst>
      <p:ext uri="{BB962C8B-B14F-4D97-AF65-F5344CB8AC3E}">
        <p14:creationId xmlns:p14="http://schemas.microsoft.com/office/powerpoint/2010/main" val="42540698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15">
            <a:extLst>
              <a:ext uri="{FF2B5EF4-FFF2-40B4-BE49-F238E27FC236}">
                <a16:creationId xmlns:a16="http://schemas.microsoft.com/office/drawing/2014/main" id="{4F461E46-4809-165D-A079-12C97A0562B6}"/>
              </a:ext>
            </a:extLst>
          </p:cNvPr>
          <p:cNvGraphicFramePr>
            <a:graphicFrameLocks noGrp="1"/>
          </p:cNvGraphicFramePr>
          <p:nvPr>
            <p:ph idx="1"/>
            <p:extLst>
              <p:ext uri="{D42A27DB-BD31-4B8C-83A1-F6EECF244321}">
                <p14:modId xmlns:p14="http://schemas.microsoft.com/office/powerpoint/2010/main" val="3335717961"/>
              </p:ext>
            </p:extLst>
          </p:nvPr>
        </p:nvGraphicFramePr>
        <p:xfrm>
          <a:off x="423166" y="223692"/>
          <a:ext cx="8453706" cy="4572000"/>
        </p:xfrm>
        <a:graphic>
          <a:graphicData uri="http://schemas.openxmlformats.org/drawingml/2006/table">
            <a:tbl>
              <a:tblPr/>
              <a:tblGrid>
                <a:gridCol w="2299613">
                  <a:extLst>
                    <a:ext uri="{9D8B030D-6E8A-4147-A177-3AD203B41FA5}">
                      <a16:colId xmlns:a16="http://schemas.microsoft.com/office/drawing/2014/main" val="3555204112"/>
                    </a:ext>
                  </a:extLst>
                </a:gridCol>
                <a:gridCol w="2763621">
                  <a:extLst>
                    <a:ext uri="{9D8B030D-6E8A-4147-A177-3AD203B41FA5}">
                      <a16:colId xmlns:a16="http://schemas.microsoft.com/office/drawing/2014/main" val="1969147433"/>
                    </a:ext>
                  </a:extLst>
                </a:gridCol>
                <a:gridCol w="3390472">
                  <a:extLst>
                    <a:ext uri="{9D8B030D-6E8A-4147-A177-3AD203B41FA5}">
                      <a16:colId xmlns:a16="http://schemas.microsoft.com/office/drawing/2014/main" val="1625655121"/>
                    </a:ext>
                  </a:extLst>
                </a:gridCol>
              </a:tblGrid>
              <a:tr h="0">
                <a:tc>
                  <a:txBody>
                    <a:bodyPr/>
                    <a:lstStyle/>
                    <a:p>
                      <a:pPr>
                        <a:buNone/>
                      </a:pPr>
                      <a:r>
                        <a:rPr lang="en-IN" sz="2400" i="1">
                          <a:latin typeface="Times New Roman" panose="02020603050405020304" pitchFamily="18" charset="0"/>
                          <a:cs typeface="Times New Roman" panose="02020603050405020304" pitchFamily="18" charset="0"/>
                        </a:rPr>
                        <a:t>Characteristic</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Meaning</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Example</a:t>
                      </a:r>
                    </a:p>
                  </a:txBody>
                  <a:tcPr anchor="ctr">
                    <a:lnL>
                      <a:noFill/>
                    </a:lnL>
                    <a:lnR>
                      <a:noFill/>
                    </a:lnR>
                    <a:lnT>
                      <a:noFill/>
                    </a:lnT>
                    <a:lnB>
                      <a:noFill/>
                    </a:lnB>
                    <a:noFill/>
                  </a:tcPr>
                </a:tc>
                <a:extLst>
                  <a:ext uri="{0D108BD9-81ED-4DB2-BD59-A6C34878D82A}">
                    <a16:rowId xmlns:a16="http://schemas.microsoft.com/office/drawing/2014/main" val="1667873693"/>
                  </a:ext>
                </a:extLst>
              </a:tr>
              <a:tr h="0">
                <a:tc>
                  <a:txBody>
                    <a:bodyPr/>
                    <a:lstStyle/>
                    <a:p>
                      <a:pPr>
                        <a:buNone/>
                      </a:pPr>
                      <a:r>
                        <a:rPr lang="en-IN" sz="2400" b="1">
                          <a:latin typeface="Times New Roman" panose="02020603050405020304" pitchFamily="18" charset="0"/>
                          <a:cs typeface="Times New Roman" panose="02020603050405020304" pitchFamily="18" charset="0"/>
                        </a:rPr>
                        <a:t>Curious</a:t>
                      </a:r>
                      <a:endParaRPr lang="en-IN" sz="2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Seeks knowledge and asks questions</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Exploring how AI models learn</a:t>
                      </a:r>
                    </a:p>
                  </a:txBody>
                  <a:tcPr anchor="ctr">
                    <a:lnL>
                      <a:noFill/>
                    </a:lnL>
                    <a:lnR>
                      <a:noFill/>
                    </a:lnR>
                    <a:lnT>
                      <a:noFill/>
                    </a:lnT>
                    <a:lnB>
                      <a:noFill/>
                    </a:lnB>
                    <a:noFill/>
                  </a:tcPr>
                </a:tc>
                <a:extLst>
                  <a:ext uri="{0D108BD9-81ED-4DB2-BD59-A6C34878D82A}">
                    <a16:rowId xmlns:a16="http://schemas.microsoft.com/office/drawing/2014/main" val="3680142162"/>
                  </a:ext>
                </a:extLst>
              </a:tr>
              <a:tr h="0">
                <a:tc>
                  <a:txBody>
                    <a:bodyPr/>
                    <a:lstStyle/>
                    <a:p>
                      <a:pPr>
                        <a:buNone/>
                      </a:pPr>
                      <a:r>
                        <a:rPr lang="en-IN" sz="2400" b="1">
                          <a:latin typeface="Times New Roman" panose="02020603050405020304" pitchFamily="18" charset="0"/>
                          <a:cs typeface="Times New Roman" panose="02020603050405020304" pitchFamily="18" charset="0"/>
                        </a:rPr>
                        <a:t>Open-Minded</a:t>
                      </a:r>
                      <a:endParaRPr lang="en-IN" sz="2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Considers different viewpoints</a:t>
                      </a: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Listening to alternative solutions</a:t>
                      </a:r>
                    </a:p>
                  </a:txBody>
                  <a:tcPr anchor="ctr">
                    <a:lnL>
                      <a:noFill/>
                    </a:lnL>
                    <a:lnR>
                      <a:noFill/>
                    </a:lnR>
                    <a:lnT>
                      <a:noFill/>
                    </a:lnT>
                    <a:lnB>
                      <a:noFill/>
                    </a:lnB>
                    <a:noFill/>
                  </a:tcPr>
                </a:tc>
                <a:extLst>
                  <a:ext uri="{0D108BD9-81ED-4DB2-BD59-A6C34878D82A}">
                    <a16:rowId xmlns:a16="http://schemas.microsoft.com/office/drawing/2014/main" val="1964869657"/>
                  </a:ext>
                </a:extLst>
              </a:tr>
              <a:tr h="0">
                <a:tc>
                  <a:txBody>
                    <a:bodyPr/>
                    <a:lstStyle/>
                    <a:p>
                      <a:pPr>
                        <a:buNone/>
                      </a:pPr>
                      <a:r>
                        <a:rPr lang="en-IN" sz="2400" b="1">
                          <a:latin typeface="Times New Roman" panose="02020603050405020304" pitchFamily="18" charset="0"/>
                          <a:cs typeface="Times New Roman" panose="02020603050405020304" pitchFamily="18" charset="0"/>
                        </a:rPr>
                        <a:t>Analytical</a:t>
                      </a:r>
                      <a:endParaRPr lang="en-IN" sz="2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Uses logic and evidence</a:t>
                      </a: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Comparing algorithms before selection</a:t>
                      </a:r>
                    </a:p>
                  </a:txBody>
                  <a:tcPr anchor="ctr">
                    <a:lnL>
                      <a:noFill/>
                    </a:lnL>
                    <a:lnR>
                      <a:noFill/>
                    </a:lnR>
                    <a:lnT>
                      <a:noFill/>
                    </a:lnT>
                    <a:lnB>
                      <a:noFill/>
                    </a:lnB>
                    <a:noFill/>
                  </a:tcPr>
                </a:tc>
                <a:extLst>
                  <a:ext uri="{0D108BD9-81ED-4DB2-BD59-A6C34878D82A}">
                    <a16:rowId xmlns:a16="http://schemas.microsoft.com/office/drawing/2014/main" val="4035529008"/>
                  </a:ext>
                </a:extLst>
              </a:tr>
              <a:tr h="0">
                <a:tc>
                  <a:txBody>
                    <a:bodyPr/>
                    <a:lstStyle/>
                    <a:p>
                      <a:pPr>
                        <a:buNone/>
                      </a:pPr>
                      <a:r>
                        <a:rPr lang="en-IN" sz="2400" b="1">
                          <a:latin typeface="Times New Roman" panose="02020603050405020304" pitchFamily="18" charset="0"/>
                          <a:cs typeface="Times New Roman" panose="02020603050405020304" pitchFamily="18" charset="0"/>
                        </a:rPr>
                        <a:t>Creative</a:t>
                      </a:r>
                      <a:endParaRPr lang="en-IN" sz="2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Generates new ideas and solutions</a:t>
                      </a:r>
                    </a:p>
                  </a:txBody>
                  <a:tcPr anchor="ctr">
                    <a:lnL>
                      <a:noFill/>
                    </a:lnL>
                    <a:lnR>
                      <a:noFill/>
                    </a:lnR>
                    <a:lnT>
                      <a:noFill/>
                    </a:lnT>
                    <a:lnB>
                      <a:noFill/>
                    </a:lnB>
                    <a:noFill/>
                  </a:tcPr>
                </a:tc>
                <a:tc>
                  <a:txBody>
                    <a:bodyPr/>
                    <a:lstStyle/>
                    <a:p>
                      <a:pPr>
                        <a:buNone/>
                      </a:pPr>
                      <a:r>
                        <a:rPr lang="en-US" sz="2400" dirty="0">
                          <a:latin typeface="Times New Roman" panose="02020603050405020304" pitchFamily="18" charset="0"/>
                          <a:cs typeface="Times New Roman" panose="02020603050405020304" pitchFamily="18" charset="0"/>
                        </a:rPr>
                        <a:t>Designing an innovative app feature</a:t>
                      </a:r>
                    </a:p>
                  </a:txBody>
                  <a:tcPr anchor="ctr">
                    <a:lnL>
                      <a:noFill/>
                    </a:lnL>
                    <a:lnR>
                      <a:noFill/>
                    </a:lnR>
                    <a:lnT>
                      <a:noFill/>
                    </a:lnT>
                    <a:lnB>
                      <a:noFill/>
                    </a:lnB>
                    <a:noFill/>
                  </a:tcPr>
                </a:tc>
                <a:extLst>
                  <a:ext uri="{0D108BD9-81ED-4DB2-BD59-A6C34878D82A}">
                    <a16:rowId xmlns:a16="http://schemas.microsoft.com/office/drawing/2014/main" val="3117825011"/>
                  </a:ext>
                </a:extLst>
              </a:tr>
              <a:tr h="0">
                <a:tc>
                  <a:txBody>
                    <a:bodyPr/>
                    <a:lstStyle/>
                    <a:p>
                      <a:pPr>
                        <a:buNone/>
                      </a:pPr>
                      <a:r>
                        <a:rPr lang="en-IN" sz="2400" b="1" dirty="0">
                          <a:latin typeface="Times New Roman" panose="02020603050405020304" pitchFamily="18" charset="0"/>
                          <a:cs typeface="Times New Roman" panose="02020603050405020304" pitchFamily="18" charset="0"/>
                        </a:rPr>
                        <a:t>Reflective</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Learns from experience</a:t>
                      </a:r>
                    </a:p>
                  </a:txBody>
                  <a:tcPr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Reviewing exam preparation strategies</a:t>
                      </a:r>
                    </a:p>
                  </a:txBody>
                  <a:tcPr anchor="ctr">
                    <a:lnL>
                      <a:noFill/>
                    </a:lnL>
                    <a:lnR>
                      <a:noFill/>
                    </a:lnR>
                    <a:lnT>
                      <a:noFill/>
                    </a:lnT>
                    <a:lnB>
                      <a:noFill/>
                    </a:lnB>
                    <a:noFill/>
                  </a:tcPr>
                </a:tc>
                <a:extLst>
                  <a:ext uri="{0D108BD9-81ED-4DB2-BD59-A6C34878D82A}">
                    <a16:rowId xmlns:a16="http://schemas.microsoft.com/office/drawing/2014/main" val="4292097143"/>
                  </a:ext>
                </a:extLst>
              </a:tr>
            </a:tbl>
          </a:graphicData>
        </a:graphic>
      </p:graphicFrame>
      <p:sp>
        <p:nvSpPr>
          <p:cNvPr id="18" name="TextBox 17">
            <a:extLst>
              <a:ext uri="{FF2B5EF4-FFF2-40B4-BE49-F238E27FC236}">
                <a16:creationId xmlns:a16="http://schemas.microsoft.com/office/drawing/2014/main" id="{252F016D-B8B1-81DF-4C5A-B8E59D534DC6}"/>
              </a:ext>
            </a:extLst>
          </p:cNvPr>
          <p:cNvSpPr txBox="1"/>
          <p:nvPr/>
        </p:nvSpPr>
        <p:spPr>
          <a:xfrm>
            <a:off x="521413" y="5062820"/>
            <a:ext cx="8453706" cy="1446550"/>
          </a:xfrm>
          <a:prstGeom prst="rect">
            <a:avLst/>
          </a:prstGeom>
          <a:noFill/>
        </p:spPr>
        <p:txBody>
          <a:bodyPr wrap="square">
            <a:spAutoFit/>
          </a:bodyPr>
          <a:lstStyle/>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An </a:t>
            </a:r>
            <a:r>
              <a:rPr lang="en-US" sz="2200" dirty="0">
                <a:solidFill>
                  <a:srgbClr val="7030A0"/>
                </a:solidFill>
                <a:latin typeface="Times New Roman" panose="02020603050405020304" pitchFamily="18" charset="0"/>
                <a:cs typeface="Times New Roman" panose="02020603050405020304" pitchFamily="18" charset="0"/>
              </a:rPr>
              <a:t>effective thinker combines all five qualities</a:t>
            </a:r>
            <a:r>
              <a:rPr lang="en-US" sz="2200" dirty="0">
                <a:latin typeface="Times New Roman" panose="02020603050405020304" pitchFamily="18" charset="0"/>
                <a:cs typeface="Times New Roman" panose="02020603050405020304" pitchFamily="18" charset="0"/>
              </a:rPr>
              <a:t>: they </a:t>
            </a:r>
            <a:r>
              <a:rPr lang="en-US" sz="2200" dirty="0">
                <a:solidFill>
                  <a:srgbClr val="0070C0"/>
                </a:solidFill>
                <a:latin typeface="Times New Roman" panose="02020603050405020304" pitchFamily="18" charset="0"/>
                <a:cs typeface="Times New Roman" panose="02020603050405020304" pitchFamily="18" charset="0"/>
              </a:rPr>
              <a:t>ask questions (curious), consider different perspectives (open-minded</a:t>
            </a:r>
            <a:r>
              <a:rPr lang="en-US" sz="2200" dirty="0">
                <a:latin typeface="Times New Roman" panose="02020603050405020304" pitchFamily="18" charset="0"/>
                <a:cs typeface="Times New Roman" panose="02020603050405020304" pitchFamily="18" charset="0"/>
              </a:rPr>
              <a:t>), </a:t>
            </a:r>
            <a:r>
              <a:rPr lang="en-US" sz="2200" dirty="0">
                <a:solidFill>
                  <a:srgbClr val="0070C0"/>
                </a:solidFill>
                <a:latin typeface="Times New Roman" panose="02020603050405020304" pitchFamily="18" charset="0"/>
                <a:cs typeface="Times New Roman" panose="02020603050405020304" pitchFamily="18" charset="0"/>
              </a:rPr>
              <a:t>examine evidence (analytical</a:t>
            </a:r>
            <a:r>
              <a:rPr lang="en-US" sz="2200" dirty="0">
                <a:latin typeface="Times New Roman" panose="02020603050405020304" pitchFamily="18" charset="0"/>
                <a:cs typeface="Times New Roman" panose="02020603050405020304" pitchFamily="18" charset="0"/>
              </a:rPr>
              <a:t>), </a:t>
            </a:r>
            <a:r>
              <a:rPr lang="en-US" sz="2200" dirty="0">
                <a:solidFill>
                  <a:srgbClr val="0070C0"/>
                </a:solidFill>
                <a:latin typeface="Times New Roman" panose="02020603050405020304" pitchFamily="18" charset="0"/>
                <a:cs typeface="Times New Roman" panose="02020603050405020304" pitchFamily="18" charset="0"/>
              </a:rPr>
              <a:t>generate ideas (creative</a:t>
            </a:r>
            <a:r>
              <a:rPr lang="en-US" sz="2200" dirty="0">
                <a:latin typeface="Times New Roman" panose="02020603050405020304" pitchFamily="18" charset="0"/>
                <a:cs typeface="Times New Roman" panose="02020603050405020304" pitchFamily="18" charset="0"/>
              </a:rPr>
              <a:t>), and </a:t>
            </a:r>
            <a:r>
              <a:rPr lang="en-US" sz="2200" dirty="0">
                <a:solidFill>
                  <a:srgbClr val="0070C0"/>
                </a:solidFill>
                <a:latin typeface="Times New Roman" panose="02020603050405020304" pitchFamily="18" charset="0"/>
                <a:cs typeface="Times New Roman" panose="02020603050405020304" pitchFamily="18" charset="0"/>
              </a:rPr>
              <a:t>learn from experience (reflective)</a:t>
            </a:r>
            <a:endParaRPr lang="en-IN" sz="2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2862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D7FA9-1BCE-CAA6-A49A-0466765CEBE3}"/>
              </a:ext>
            </a:extLst>
          </p:cNvPr>
          <p:cNvSpPr>
            <a:spLocks noGrp="1"/>
          </p:cNvSpPr>
          <p:nvPr>
            <p:ph type="title"/>
          </p:nvPr>
        </p:nvSpPr>
        <p:spPr>
          <a:xfrm>
            <a:off x="495086" y="298521"/>
            <a:ext cx="7886700" cy="765031"/>
          </a:xfrm>
        </p:spPr>
        <p:txBody>
          <a:bodyPr/>
          <a:lstStyle/>
          <a:p>
            <a:r>
              <a:rPr lang="en-IN" dirty="0">
                <a:latin typeface="Times New Roman" panose="02020603050405020304" pitchFamily="18" charset="0"/>
                <a:cs typeface="Times New Roman" panose="02020603050405020304" pitchFamily="18" charset="0"/>
              </a:rPr>
              <a:t>Effective Thinker Model</a:t>
            </a:r>
          </a:p>
        </p:txBody>
      </p:sp>
      <p:sp>
        <p:nvSpPr>
          <p:cNvPr id="3" name="Content Placeholder 2">
            <a:extLst>
              <a:ext uri="{FF2B5EF4-FFF2-40B4-BE49-F238E27FC236}">
                <a16:creationId xmlns:a16="http://schemas.microsoft.com/office/drawing/2014/main" id="{60E63DDE-A8FE-F849-EC95-6540027BCF73}"/>
              </a:ext>
            </a:extLst>
          </p:cNvPr>
          <p:cNvSpPr>
            <a:spLocks noGrp="1"/>
          </p:cNvSpPr>
          <p:nvPr>
            <p:ph idx="1"/>
          </p:nvPr>
        </p:nvSpPr>
        <p:spPr/>
        <p:txBody>
          <a:bodyPr>
            <a:normAutofit/>
          </a:bodyPr>
          <a:lstStyle/>
          <a:p>
            <a:pPr marL="0" indent="0" algn="ctr">
              <a:buNone/>
            </a:pPr>
            <a:r>
              <a:rPr lang="en-US" sz="2400" dirty="0">
                <a:latin typeface="Times New Roman" panose="02020603050405020304" pitchFamily="18" charset="0"/>
                <a:cs typeface="Times New Roman" panose="02020603050405020304" pitchFamily="18" charset="0"/>
              </a:rPr>
              <a:t>Curious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Open-Minded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Analytical</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Creative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Reflective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Better Understanding and Decisions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784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itle 1"/>
          <p:cNvSpPr txBox="1">
            <a:spLocks noGrp="1"/>
          </p:cNvSpPr>
          <p:nvPr>
            <p:ph type="title"/>
          </p:nvPr>
        </p:nvSpPr>
        <p:spPr>
          <a:xfrm>
            <a:off x="457200" y="274638"/>
            <a:ext cx="8229600" cy="680859"/>
          </a:xfrm>
          <a:prstGeom prst="rect">
            <a:avLst/>
          </a:prstGeom>
        </p:spPr>
        <p:txBody>
          <a:bodyPr>
            <a:normAutofit/>
          </a:bodyPr>
          <a:lstStyle>
            <a:lvl1pPr>
              <a:defRPr>
                <a:latin typeface="Times New Roman"/>
                <a:ea typeface="Times New Roman"/>
                <a:cs typeface="Times New Roman"/>
                <a:sym typeface="Times New Roman"/>
              </a:defRPr>
            </a:lvl1pPr>
          </a:lstStyle>
          <a:p>
            <a:pPr marL="571500" indent="-571500">
              <a:buFont typeface="Wingdings" panose="05000000000000000000" pitchFamily="2" charset="2"/>
              <a:buChar char="v"/>
            </a:pPr>
            <a:r>
              <a:rPr sz="3600" dirty="0">
                <a:solidFill>
                  <a:srgbClr val="FF0066"/>
                </a:solidFill>
              </a:rPr>
              <a:t>Factors Affecting Thinking</a:t>
            </a:r>
          </a:p>
        </p:txBody>
      </p:sp>
      <p:pic>
        <p:nvPicPr>
          <p:cNvPr id="149" name="Screenshot 2026-05-31 at 11.39.40 PM.png" descr="Screenshot 2026-05-31 at 11.39.40 PM.png"/>
          <p:cNvPicPr>
            <a:picLocks noChangeAspect="1"/>
          </p:cNvPicPr>
          <p:nvPr/>
        </p:nvPicPr>
        <p:blipFill>
          <a:blip r:embed="rId2"/>
          <a:stretch>
            <a:fillRect/>
          </a:stretch>
        </p:blipFill>
        <p:spPr>
          <a:xfrm>
            <a:off x="1843617" y="1303290"/>
            <a:ext cx="5456766" cy="5263977"/>
          </a:xfrm>
          <a:prstGeom prst="rect">
            <a:avLst/>
          </a:prstGeom>
          <a:ln w="12700">
            <a:miter lim="400000"/>
          </a:ln>
        </p:spPr>
      </p:pic>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31CDC09-5191-DB34-D249-9C2FD7791635}"/>
              </a:ext>
            </a:extLst>
          </p:cNvPr>
          <p:cNvSpPr>
            <a:spLocks noGrp="1"/>
          </p:cNvSpPr>
          <p:nvPr>
            <p:ph idx="1"/>
          </p:nvPr>
        </p:nvSpPr>
        <p:spPr>
          <a:xfrm>
            <a:off x="349321" y="368135"/>
            <a:ext cx="8609744" cy="6115792"/>
          </a:xfrm>
        </p:spPr>
        <p:txBody>
          <a:bodyPr>
            <a:normAutofit/>
          </a:bodyPr>
          <a:lstStyle/>
          <a:p>
            <a:pPr algn="just">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The image shows </a:t>
            </a:r>
            <a:r>
              <a:rPr lang="en-US" sz="2200" b="1" dirty="0">
                <a:latin typeface="Times New Roman" panose="02020603050405020304" pitchFamily="18" charset="0"/>
                <a:cs typeface="Times New Roman" panose="02020603050405020304" pitchFamily="18" charset="0"/>
              </a:rPr>
              <a:t>seven major factors that affect thinking</a:t>
            </a:r>
            <a:r>
              <a:rPr lang="en-US" sz="2200" dirty="0">
                <a:latin typeface="Times New Roman" panose="02020603050405020304" pitchFamily="18" charset="0"/>
                <a:cs typeface="Times New Roman" panose="02020603050405020304" pitchFamily="18" charset="0"/>
              </a:rPr>
              <a:t>. Thinking is the mental process of understanding, analyzing, reasoning, solving problems, and making decisions. Each factor can influence how effectively a person thinks.</a:t>
            </a:r>
          </a:p>
          <a:p>
            <a:pPr marR="0" lvl="0" algn="just" defTabSz="685800" rtl="0" eaLnBrk="1" fontAlgn="auto" latinLnBrk="0" hangingPunct="1">
              <a:lnSpc>
                <a:spcPct val="90000"/>
              </a:lnSpc>
              <a:spcBef>
                <a:spcPts val="750"/>
              </a:spcBef>
              <a:spcAft>
                <a:spcPts val="0"/>
              </a:spcAft>
              <a:buClrTx/>
              <a:buSzTx/>
              <a:buFont typeface="Wingdings" panose="05000000000000000000" pitchFamily="2" charset="2"/>
              <a:buChar char="ü"/>
              <a:tabLst/>
              <a:defRPr/>
            </a:pP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Thinking is influenced by a combination of </a:t>
            </a:r>
            <a:r>
              <a:rPr kumimoji="0" lang="en-US" sz="22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psychological, cognitive and biological, environmental, social and cultural, physiological and health, technological, and instructional factors</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These factors interact with one another to shape how individuals learn, reason, solve problems, and make decisions.</a:t>
            </a:r>
            <a:endParaRPr lang="en-US" sz="2200" dirty="0">
              <a:latin typeface="Times New Roman" panose="02020603050405020304" pitchFamily="18" charset="0"/>
              <a:cs typeface="Times New Roman" panose="02020603050405020304" pitchFamily="18" charset="0"/>
            </a:endParaRPr>
          </a:p>
          <a:p>
            <a:pPr>
              <a:buNone/>
            </a:pPr>
            <a:r>
              <a:rPr lang="en-US" sz="2200" b="1" dirty="0">
                <a:solidFill>
                  <a:srgbClr val="0070C0"/>
                </a:solidFill>
                <a:latin typeface="Times New Roman" panose="02020603050405020304" pitchFamily="18" charset="0"/>
                <a:cs typeface="Times New Roman" panose="02020603050405020304" pitchFamily="18" charset="0"/>
              </a:rPr>
              <a:t>1. Psychological Factors</a:t>
            </a:r>
          </a:p>
          <a:p>
            <a:pPr marL="0" indent="0">
              <a:buNone/>
            </a:pPr>
            <a:r>
              <a:rPr lang="en-US" sz="2200" dirty="0">
                <a:latin typeface="Times New Roman" panose="02020603050405020304" pitchFamily="18" charset="0"/>
                <a:cs typeface="Times New Roman" panose="02020603050405020304" pitchFamily="18" charset="0"/>
              </a:rPr>
              <a:t>These relate to a person's </a:t>
            </a:r>
            <a:r>
              <a:rPr lang="en-US" sz="2200" dirty="0">
                <a:solidFill>
                  <a:srgbClr val="00B050"/>
                </a:solidFill>
                <a:latin typeface="Times New Roman" panose="02020603050405020304" pitchFamily="18" charset="0"/>
                <a:cs typeface="Times New Roman" panose="02020603050405020304" pitchFamily="18" charset="0"/>
              </a:rPr>
              <a:t>emotions, attitudes, motivation, and personality</a:t>
            </a:r>
            <a:r>
              <a:rPr lang="en-US" sz="2200" dirty="0">
                <a:latin typeface="Times New Roman" panose="02020603050405020304" pitchFamily="18" charset="0"/>
                <a:cs typeface="Times New Roman" panose="02020603050405020304" pitchFamily="18" charset="0"/>
              </a:rPr>
              <a:t>.</a:t>
            </a:r>
          </a:p>
          <a:p>
            <a:pPr>
              <a:buNone/>
            </a:pPr>
            <a:r>
              <a:rPr lang="en-US" sz="2200" b="1" dirty="0">
                <a:latin typeface="Times New Roman" panose="02020603050405020304" pitchFamily="18" charset="0"/>
                <a:cs typeface="Times New Roman" panose="02020603050405020304" pitchFamily="18" charset="0"/>
              </a:rPr>
              <a:t>Examples:</a:t>
            </a: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Stress and anxiety can reduce concentration.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Confidence can improve decision-making.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Motivation encourages deeper thinking. </a:t>
            </a:r>
          </a:p>
          <a:p>
            <a:pPr>
              <a:buNone/>
            </a:pPr>
            <a:r>
              <a:rPr lang="en-US" sz="2200" b="1" dirty="0">
                <a:latin typeface="Times New Roman" panose="02020603050405020304" pitchFamily="18" charset="0"/>
                <a:cs typeface="Times New Roman" panose="02020603050405020304" pitchFamily="18" charset="0"/>
              </a:rPr>
              <a:t>Effect:</a:t>
            </a:r>
            <a:r>
              <a:rPr lang="en-US" sz="2200" dirty="0">
                <a:latin typeface="Times New Roman" panose="02020603050405020304" pitchFamily="18" charset="0"/>
                <a:cs typeface="Times New Roman" panose="02020603050405020304" pitchFamily="18" charset="0"/>
              </a:rPr>
              <a:t> Positive emotions improve thinking, while negative emotions may harm judgment.</a:t>
            </a:r>
          </a:p>
          <a:p>
            <a:endParaRPr lang="en-IN" dirty="0"/>
          </a:p>
        </p:txBody>
      </p:sp>
    </p:spTree>
    <p:extLst>
      <p:ext uri="{BB962C8B-B14F-4D97-AF65-F5344CB8AC3E}">
        <p14:creationId xmlns:p14="http://schemas.microsoft.com/office/powerpoint/2010/main" val="6804893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F5E034-704D-9F84-B2C8-A12535629C0A}"/>
              </a:ext>
            </a:extLst>
          </p:cNvPr>
          <p:cNvSpPr>
            <a:spLocks noGrp="1"/>
          </p:cNvSpPr>
          <p:nvPr>
            <p:ph idx="1"/>
          </p:nvPr>
        </p:nvSpPr>
        <p:spPr>
          <a:xfrm>
            <a:off x="308758" y="225630"/>
            <a:ext cx="8597736" cy="6448301"/>
          </a:xfrm>
        </p:spPr>
        <p:txBody>
          <a:bodyPr>
            <a:normAutofit lnSpcReduction="10000"/>
          </a:bodyPr>
          <a:lstStyle/>
          <a:p>
            <a:pPr>
              <a:buNone/>
            </a:pPr>
            <a:r>
              <a:rPr lang="en-US" sz="2200" b="1" dirty="0">
                <a:solidFill>
                  <a:srgbClr val="0070C0"/>
                </a:solidFill>
                <a:latin typeface="Times New Roman" panose="02020603050405020304" pitchFamily="18" charset="0"/>
                <a:cs typeface="Times New Roman" panose="02020603050405020304" pitchFamily="18" charset="0"/>
              </a:rPr>
              <a:t>2. Cognitive and Biological Factors</a:t>
            </a:r>
          </a:p>
          <a:p>
            <a:pPr>
              <a:buNone/>
            </a:pPr>
            <a:r>
              <a:rPr lang="en-US" sz="2200" dirty="0">
                <a:latin typeface="Times New Roman" panose="02020603050405020304" pitchFamily="18" charset="0"/>
                <a:cs typeface="Times New Roman" panose="02020603050405020304" pitchFamily="18" charset="0"/>
              </a:rPr>
              <a:t>These involve </a:t>
            </a:r>
            <a:r>
              <a:rPr lang="en-US" sz="2200" dirty="0">
                <a:solidFill>
                  <a:srgbClr val="00B050"/>
                </a:solidFill>
                <a:latin typeface="Times New Roman" panose="02020603050405020304" pitchFamily="18" charset="0"/>
                <a:cs typeface="Times New Roman" panose="02020603050405020304" pitchFamily="18" charset="0"/>
              </a:rPr>
              <a:t>mental abilities and biological characteristics.</a:t>
            </a:r>
          </a:p>
          <a:p>
            <a:pPr>
              <a:buNone/>
            </a:pPr>
            <a:r>
              <a:rPr lang="en-US" sz="2200" b="1" dirty="0">
                <a:latin typeface="Times New Roman" panose="02020603050405020304" pitchFamily="18" charset="0"/>
                <a:cs typeface="Times New Roman" panose="02020603050405020304" pitchFamily="18" charset="0"/>
              </a:rPr>
              <a:t>Examples:</a:t>
            </a: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Intelligence and memory capacity.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Attention span and perception.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Brain development and genetic influences. </a:t>
            </a:r>
          </a:p>
          <a:p>
            <a:pPr>
              <a:buNone/>
            </a:pPr>
            <a:r>
              <a:rPr lang="en-US" sz="2200" b="1" dirty="0">
                <a:latin typeface="Times New Roman" panose="02020603050405020304" pitchFamily="18" charset="0"/>
                <a:cs typeface="Times New Roman" panose="02020603050405020304" pitchFamily="18" charset="0"/>
              </a:rPr>
              <a:t>Effect:</a:t>
            </a:r>
            <a:r>
              <a:rPr lang="en-US" sz="2200" dirty="0">
                <a:latin typeface="Times New Roman" panose="02020603050405020304" pitchFamily="18" charset="0"/>
                <a:cs typeface="Times New Roman" panose="02020603050405020304" pitchFamily="18" charset="0"/>
              </a:rPr>
              <a:t> Strong cognitive abilities help individuals process information, reason logically, and solve problems efficiently.</a:t>
            </a:r>
          </a:p>
          <a:p>
            <a:pPr>
              <a:buNone/>
            </a:pPr>
            <a:r>
              <a:rPr lang="en-US" sz="2200" b="1" dirty="0">
                <a:solidFill>
                  <a:srgbClr val="0070C0"/>
                </a:solidFill>
                <a:latin typeface="Times New Roman" panose="02020603050405020304" pitchFamily="18" charset="0"/>
                <a:cs typeface="Times New Roman" panose="02020603050405020304" pitchFamily="18" charset="0"/>
              </a:rPr>
              <a:t>3. Environmental Factors</a:t>
            </a:r>
          </a:p>
          <a:p>
            <a:pPr>
              <a:buNone/>
            </a:pPr>
            <a:r>
              <a:rPr lang="en-US" sz="2200" dirty="0">
                <a:latin typeface="Times New Roman" panose="02020603050405020304" pitchFamily="18" charset="0"/>
                <a:cs typeface="Times New Roman" panose="02020603050405020304" pitchFamily="18" charset="0"/>
              </a:rPr>
              <a:t>The </a:t>
            </a:r>
            <a:r>
              <a:rPr lang="en-US" sz="2200" dirty="0">
                <a:solidFill>
                  <a:srgbClr val="00B050"/>
                </a:solidFill>
                <a:latin typeface="Times New Roman" panose="02020603050405020304" pitchFamily="18" charset="0"/>
                <a:cs typeface="Times New Roman" panose="02020603050405020304" pitchFamily="18" charset="0"/>
              </a:rPr>
              <a:t>surroundings</a:t>
            </a:r>
            <a:r>
              <a:rPr lang="en-US" sz="2200" dirty="0">
                <a:latin typeface="Times New Roman" panose="02020603050405020304" pitchFamily="18" charset="0"/>
                <a:cs typeface="Times New Roman" panose="02020603050405020304" pitchFamily="18" charset="0"/>
              </a:rPr>
              <a:t> in which a person lives, studies, or works influence thinking.</a:t>
            </a:r>
          </a:p>
          <a:p>
            <a:pPr>
              <a:buNone/>
            </a:pPr>
            <a:r>
              <a:rPr lang="en-US" sz="2200" b="1" dirty="0">
                <a:latin typeface="Times New Roman" panose="02020603050405020304" pitchFamily="18" charset="0"/>
                <a:cs typeface="Times New Roman" panose="02020603050405020304" pitchFamily="18" charset="0"/>
              </a:rPr>
              <a:t>Examples:</a:t>
            </a: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Noise and distractions.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Availability of learning resources.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Family and community environment. </a:t>
            </a:r>
          </a:p>
          <a:p>
            <a:pPr>
              <a:buNone/>
            </a:pPr>
            <a:r>
              <a:rPr lang="en-US" sz="2200" b="1" dirty="0">
                <a:latin typeface="Times New Roman" panose="02020603050405020304" pitchFamily="18" charset="0"/>
                <a:cs typeface="Times New Roman" panose="02020603050405020304" pitchFamily="18" charset="0"/>
              </a:rPr>
              <a:t>Effect:</a:t>
            </a:r>
            <a:r>
              <a:rPr lang="en-US" sz="2200" dirty="0">
                <a:latin typeface="Times New Roman" panose="02020603050405020304" pitchFamily="18" charset="0"/>
                <a:cs typeface="Times New Roman" panose="02020603050405020304" pitchFamily="18" charset="0"/>
              </a:rPr>
              <a:t> A supportive and stimulating environment promotes better thinking and creativity.</a:t>
            </a:r>
          </a:p>
          <a:p>
            <a:endParaRPr lang="en-IN" dirty="0"/>
          </a:p>
        </p:txBody>
      </p:sp>
    </p:spTree>
    <p:extLst>
      <p:ext uri="{BB962C8B-B14F-4D97-AF65-F5344CB8AC3E}">
        <p14:creationId xmlns:p14="http://schemas.microsoft.com/office/powerpoint/2010/main" val="42630573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998B04-D2C6-A643-F4D1-2322E1DF80F2}"/>
              </a:ext>
            </a:extLst>
          </p:cNvPr>
          <p:cNvSpPr>
            <a:spLocks noGrp="1"/>
          </p:cNvSpPr>
          <p:nvPr>
            <p:ph idx="1"/>
          </p:nvPr>
        </p:nvSpPr>
        <p:spPr>
          <a:xfrm>
            <a:off x="409698" y="240131"/>
            <a:ext cx="8324603" cy="6234545"/>
          </a:xfrm>
        </p:spPr>
        <p:txBody>
          <a:bodyPr>
            <a:normAutofit fontScale="92500" lnSpcReduction="10000"/>
          </a:bodyPr>
          <a:lstStyle/>
          <a:p>
            <a:pPr>
              <a:buNone/>
            </a:pPr>
            <a:r>
              <a:rPr lang="en-US" sz="2400" b="1" dirty="0">
                <a:solidFill>
                  <a:srgbClr val="0070C0"/>
                </a:solidFill>
                <a:latin typeface="Times New Roman" panose="02020603050405020304" pitchFamily="18" charset="0"/>
                <a:cs typeface="Times New Roman" panose="02020603050405020304" pitchFamily="18" charset="0"/>
              </a:rPr>
              <a:t>4. Social and Cultural Factors</a:t>
            </a:r>
          </a:p>
          <a:p>
            <a:pPr>
              <a:buNone/>
            </a:pPr>
            <a:r>
              <a:rPr lang="en-US" sz="2400" dirty="0">
                <a:latin typeface="Times New Roman" panose="02020603050405020304" pitchFamily="18" charset="0"/>
                <a:cs typeface="Times New Roman" panose="02020603050405020304" pitchFamily="18" charset="0"/>
              </a:rPr>
              <a:t>Society and culture shape beliefs, values, and ways of reasoning.</a:t>
            </a:r>
          </a:p>
          <a:p>
            <a:pPr>
              <a:buNone/>
            </a:pPr>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Family traditions.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Social norms and expectations.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Cultural beliefs and practices. </a:t>
            </a:r>
          </a:p>
          <a:p>
            <a:pPr>
              <a:buNone/>
            </a:pPr>
            <a:r>
              <a:rPr lang="en-US" sz="2400" b="1" dirty="0">
                <a:latin typeface="Times New Roman" panose="02020603050405020304" pitchFamily="18" charset="0"/>
                <a:cs typeface="Times New Roman" panose="02020603050405020304" pitchFamily="18" charset="0"/>
              </a:rPr>
              <a:t>Effect:</a:t>
            </a:r>
            <a:r>
              <a:rPr lang="en-US" sz="2400" dirty="0">
                <a:latin typeface="Times New Roman" panose="02020603050405020304" pitchFamily="18" charset="0"/>
                <a:cs typeface="Times New Roman" panose="02020603050405020304" pitchFamily="18" charset="0"/>
              </a:rPr>
              <a:t> They influence how people interpret information and make decisions.</a:t>
            </a:r>
          </a:p>
          <a:p>
            <a:pPr>
              <a:buNone/>
            </a:pPr>
            <a:r>
              <a:rPr lang="en-US" sz="2400" b="1" dirty="0">
                <a:solidFill>
                  <a:srgbClr val="0070C0"/>
                </a:solidFill>
                <a:latin typeface="Times New Roman" panose="02020603050405020304" pitchFamily="18" charset="0"/>
                <a:cs typeface="Times New Roman" panose="02020603050405020304" pitchFamily="18" charset="0"/>
              </a:rPr>
              <a:t>5. Physiological and Health Factors</a:t>
            </a:r>
          </a:p>
          <a:p>
            <a:pPr>
              <a:buNone/>
            </a:pPr>
            <a:r>
              <a:rPr lang="en-US" sz="2400" dirty="0">
                <a:latin typeface="Times New Roman" panose="02020603050405020304" pitchFamily="18" charset="0"/>
                <a:cs typeface="Times New Roman" panose="02020603050405020304" pitchFamily="18" charset="0"/>
              </a:rPr>
              <a:t>Physical health affects mental performance.</a:t>
            </a:r>
          </a:p>
          <a:p>
            <a:pPr>
              <a:buNone/>
            </a:pPr>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Adequate sleep.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Proper nutrition.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Exercise and overall fitness.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Illness or fatigue. </a:t>
            </a:r>
          </a:p>
          <a:p>
            <a:pPr>
              <a:buNone/>
            </a:pPr>
            <a:r>
              <a:rPr lang="en-US" sz="2400" b="1" dirty="0">
                <a:latin typeface="Times New Roman" panose="02020603050405020304" pitchFamily="18" charset="0"/>
                <a:cs typeface="Times New Roman" panose="02020603050405020304" pitchFamily="18" charset="0"/>
              </a:rPr>
              <a:t>Effect:</a:t>
            </a:r>
            <a:r>
              <a:rPr lang="en-US" sz="2400" dirty="0">
                <a:latin typeface="Times New Roman" panose="02020603050405020304" pitchFamily="18" charset="0"/>
                <a:cs typeface="Times New Roman" panose="02020603050405020304" pitchFamily="18" charset="0"/>
              </a:rPr>
              <a:t> Good health improves concentration and memory, while poor health can hinder thinking.</a:t>
            </a:r>
          </a:p>
          <a:p>
            <a:endParaRPr lang="en-IN" dirty="0"/>
          </a:p>
        </p:txBody>
      </p:sp>
    </p:spTree>
    <p:extLst>
      <p:ext uri="{BB962C8B-B14F-4D97-AF65-F5344CB8AC3E}">
        <p14:creationId xmlns:p14="http://schemas.microsoft.com/office/powerpoint/2010/main" val="1922024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C97A4-8D46-4E6B-9A17-40D632CE3D7A}"/>
              </a:ext>
            </a:extLst>
          </p:cNvPr>
          <p:cNvSpPr>
            <a:spLocks noGrp="1"/>
          </p:cNvSpPr>
          <p:nvPr>
            <p:ph idx="1"/>
          </p:nvPr>
        </p:nvSpPr>
        <p:spPr>
          <a:xfrm>
            <a:off x="356260" y="142504"/>
            <a:ext cx="8159090" cy="6388925"/>
          </a:xfrm>
        </p:spPr>
        <p:txBody>
          <a:bodyPr>
            <a:normAutofit fontScale="92500" lnSpcReduction="10000"/>
          </a:bodyPr>
          <a:lstStyle/>
          <a:p>
            <a:pPr>
              <a:buNone/>
            </a:pPr>
            <a:r>
              <a:rPr lang="en-US" sz="2400" b="1" dirty="0">
                <a:solidFill>
                  <a:srgbClr val="0070C0"/>
                </a:solidFill>
                <a:latin typeface="Times New Roman" panose="02020603050405020304" pitchFamily="18" charset="0"/>
                <a:cs typeface="Times New Roman" panose="02020603050405020304" pitchFamily="18" charset="0"/>
              </a:rPr>
              <a:t>6. Technological Factors</a:t>
            </a:r>
          </a:p>
          <a:p>
            <a:pPr>
              <a:buNone/>
            </a:pPr>
            <a:r>
              <a:rPr lang="en-US" sz="2400" dirty="0">
                <a:latin typeface="Times New Roman" panose="02020603050405020304" pitchFamily="18" charset="0"/>
                <a:cs typeface="Times New Roman" panose="02020603050405020304" pitchFamily="18" charset="0"/>
              </a:rPr>
              <a:t>Technology affects how people access and process information.</a:t>
            </a:r>
          </a:p>
          <a:p>
            <a:pPr>
              <a:buNone/>
            </a:pPr>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Internet and digital resources.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Educational software.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Social media and smartphones. </a:t>
            </a:r>
          </a:p>
          <a:p>
            <a:pPr>
              <a:buNone/>
            </a:pPr>
            <a:r>
              <a:rPr lang="en-US" sz="2400" b="1" dirty="0">
                <a:latin typeface="Times New Roman" panose="02020603050405020304" pitchFamily="18" charset="0"/>
                <a:cs typeface="Times New Roman" panose="02020603050405020304" pitchFamily="18" charset="0"/>
              </a:rPr>
              <a:t>Effect:</a:t>
            </a:r>
            <a:r>
              <a:rPr lang="en-US" sz="2400" dirty="0">
                <a:latin typeface="Times New Roman" panose="02020603050405020304" pitchFamily="18" charset="0"/>
                <a:cs typeface="Times New Roman" panose="02020603050405020304" pitchFamily="18" charset="0"/>
              </a:rPr>
              <a:t> Technology can enhance learning and problem-solving, but excessive use may reduce attention and critical thinking.</a:t>
            </a:r>
          </a:p>
          <a:p>
            <a:pPr>
              <a:buNone/>
            </a:pPr>
            <a:r>
              <a:rPr lang="en-US" sz="2400" b="1" dirty="0">
                <a:solidFill>
                  <a:srgbClr val="0070C0"/>
                </a:solidFill>
                <a:latin typeface="Times New Roman" panose="02020603050405020304" pitchFamily="18" charset="0"/>
                <a:cs typeface="Times New Roman" panose="02020603050405020304" pitchFamily="18" charset="0"/>
              </a:rPr>
              <a:t>7. Instructional Factors</a:t>
            </a:r>
          </a:p>
          <a:p>
            <a:pPr>
              <a:buNone/>
            </a:pPr>
            <a:r>
              <a:rPr lang="en-US" sz="2400" dirty="0">
                <a:latin typeface="Times New Roman" panose="02020603050405020304" pitchFamily="18" charset="0"/>
                <a:cs typeface="Times New Roman" panose="02020603050405020304" pitchFamily="18" charset="0"/>
              </a:rPr>
              <a:t>Teaching methods and educational experiences influence thinking skills.</a:t>
            </a:r>
          </a:p>
          <a:p>
            <a:pPr>
              <a:buNone/>
            </a:pPr>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Quality of instruction.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Classroom activities.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Problem-based learning.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Feedback from teachers. </a:t>
            </a:r>
          </a:p>
          <a:p>
            <a:pPr>
              <a:buNone/>
            </a:pPr>
            <a:r>
              <a:rPr lang="en-US" sz="2400" b="1" dirty="0">
                <a:latin typeface="Times New Roman" panose="02020603050405020304" pitchFamily="18" charset="0"/>
                <a:cs typeface="Times New Roman" panose="02020603050405020304" pitchFamily="18" charset="0"/>
              </a:rPr>
              <a:t>Effect:</a:t>
            </a:r>
            <a:r>
              <a:rPr lang="en-US" sz="2400" dirty="0">
                <a:latin typeface="Times New Roman" panose="02020603050405020304" pitchFamily="18" charset="0"/>
                <a:cs typeface="Times New Roman" panose="02020603050405020304" pitchFamily="18" charset="0"/>
              </a:rPr>
              <a:t> Effective teaching encourages critical thinking, creativity, and logical reasoning.</a:t>
            </a:r>
          </a:p>
          <a:p>
            <a:endParaRPr lang="en-IN" dirty="0"/>
          </a:p>
        </p:txBody>
      </p:sp>
    </p:spTree>
    <p:extLst>
      <p:ext uri="{BB962C8B-B14F-4D97-AF65-F5344CB8AC3E}">
        <p14:creationId xmlns:p14="http://schemas.microsoft.com/office/powerpoint/2010/main" val="38107261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itle 1"/>
          <p:cNvSpPr txBox="1">
            <a:spLocks noGrp="1"/>
          </p:cNvSpPr>
          <p:nvPr>
            <p:ph type="title"/>
          </p:nvPr>
        </p:nvSpPr>
        <p:spPr>
          <a:xfrm>
            <a:off x="457200" y="-220662"/>
            <a:ext cx="8229600" cy="1143001"/>
          </a:xfrm>
          <a:prstGeom prst="rect">
            <a:avLst/>
          </a:prstGeom>
        </p:spPr>
        <p:txBody>
          <a:bodyPr/>
          <a:lstStyle>
            <a:lvl1pPr>
              <a:defRPr>
                <a:latin typeface="Times New Roman"/>
                <a:ea typeface="Times New Roman"/>
                <a:cs typeface="Times New Roman"/>
                <a:sym typeface="Times New Roman"/>
              </a:defRPr>
            </a:lvl1pPr>
          </a:lstStyle>
          <a:p>
            <a:pPr marL="571500" indent="-571500">
              <a:buFont typeface="Wingdings" panose="05000000000000000000" pitchFamily="2" charset="2"/>
              <a:buChar char="v"/>
            </a:pPr>
            <a:r>
              <a:rPr dirty="0">
                <a:solidFill>
                  <a:srgbClr val="FF0066"/>
                </a:solidFill>
              </a:rPr>
              <a:t>Types of Thinking – Overview</a:t>
            </a:r>
          </a:p>
        </p:txBody>
      </p:sp>
      <p:pic>
        <p:nvPicPr>
          <p:cNvPr id="152" name="Screenshot 2026-05-31 at 11.43.59 PM.png" descr="Screenshot 2026-05-31 at 11.43.59 PM.png"/>
          <p:cNvPicPr>
            <a:picLocks noChangeAspect="1"/>
          </p:cNvPicPr>
          <p:nvPr/>
        </p:nvPicPr>
        <p:blipFill>
          <a:blip r:embed="rId2"/>
          <a:stretch>
            <a:fillRect/>
          </a:stretch>
        </p:blipFill>
        <p:spPr>
          <a:xfrm>
            <a:off x="6616106" y="3448647"/>
            <a:ext cx="2082220" cy="2188611"/>
          </a:xfrm>
          <a:prstGeom prst="rect">
            <a:avLst/>
          </a:prstGeom>
          <a:ln w="12700">
            <a:miter lim="400000"/>
          </a:ln>
        </p:spPr>
      </p:pic>
      <p:sp>
        <p:nvSpPr>
          <p:cNvPr id="153" name="Lateral Thinker : Verghese Kurien(Father of white revolution (milk))"/>
          <p:cNvSpPr txBox="1"/>
          <p:nvPr/>
        </p:nvSpPr>
        <p:spPr>
          <a:xfrm>
            <a:off x="6511267" y="5709024"/>
            <a:ext cx="2552701" cy="923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a:latin typeface="Times New Roman"/>
                <a:ea typeface="Times New Roman"/>
                <a:cs typeface="Times New Roman"/>
                <a:sym typeface="Times New Roman"/>
              </a:defRPr>
            </a:pPr>
            <a:r>
              <a:rPr b="1" dirty="0"/>
              <a:t>Lateral Thinker</a:t>
            </a:r>
            <a:r>
              <a:rPr dirty="0"/>
              <a:t> : Verghese Kurien</a:t>
            </a:r>
            <a:r>
              <a:rPr lang="en-US" dirty="0"/>
              <a:t> </a:t>
            </a:r>
            <a:r>
              <a:rPr dirty="0"/>
              <a:t>(Father of white revolution (milk)) </a:t>
            </a:r>
          </a:p>
        </p:txBody>
      </p:sp>
      <p:pic>
        <p:nvPicPr>
          <p:cNvPr id="154" name="Screenshot 2026-05-31 at 11.45.57 PM.png" descr="Screenshot 2026-05-31 at 11.45.57 PM.png"/>
          <p:cNvPicPr>
            <a:picLocks noChangeAspect="1"/>
          </p:cNvPicPr>
          <p:nvPr/>
        </p:nvPicPr>
        <p:blipFill>
          <a:blip r:embed="rId3"/>
          <a:stretch>
            <a:fillRect/>
          </a:stretch>
        </p:blipFill>
        <p:spPr>
          <a:xfrm>
            <a:off x="3787084" y="3490748"/>
            <a:ext cx="1982532" cy="2104408"/>
          </a:xfrm>
          <a:prstGeom prst="rect">
            <a:avLst/>
          </a:prstGeom>
          <a:ln w="12700">
            <a:miter lim="400000"/>
          </a:ln>
        </p:spPr>
      </p:pic>
      <p:sp>
        <p:nvSpPr>
          <p:cNvPr id="155" name="Strategic Thinker : Ratan Tata"/>
          <p:cNvSpPr txBox="1"/>
          <p:nvPr/>
        </p:nvSpPr>
        <p:spPr>
          <a:xfrm>
            <a:off x="3629651" y="5847967"/>
            <a:ext cx="2517930" cy="6151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a:latin typeface="Times New Roman"/>
                <a:ea typeface="Times New Roman"/>
                <a:cs typeface="Times New Roman"/>
                <a:sym typeface="Times New Roman"/>
              </a:defRPr>
            </a:pPr>
            <a:r>
              <a:rPr b="1"/>
              <a:t>Strategic Thinker</a:t>
            </a:r>
            <a:r>
              <a:t> : Ratan Tata</a:t>
            </a:r>
          </a:p>
        </p:txBody>
      </p:sp>
      <p:sp>
        <p:nvSpPr>
          <p:cNvPr id="156" name="Logical Thinker : Srinivasa Ramanujan"/>
          <p:cNvSpPr txBox="1"/>
          <p:nvPr/>
        </p:nvSpPr>
        <p:spPr>
          <a:xfrm>
            <a:off x="619751" y="5847967"/>
            <a:ext cx="2517930" cy="6151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a:latin typeface="Times New Roman"/>
                <a:ea typeface="Times New Roman"/>
                <a:cs typeface="Times New Roman"/>
                <a:sym typeface="Times New Roman"/>
              </a:defRPr>
            </a:pPr>
            <a:r>
              <a:rPr b="1"/>
              <a:t>Logical Thinker</a:t>
            </a:r>
            <a:r>
              <a:t> : Srinivasa Ramanujan</a:t>
            </a:r>
          </a:p>
        </p:txBody>
      </p:sp>
      <p:pic>
        <p:nvPicPr>
          <p:cNvPr id="157" name="Screenshot 2026-05-31 at 11.47.24 PM.png" descr="Screenshot 2026-05-31 at 11.47.24 PM.png"/>
          <p:cNvPicPr>
            <a:picLocks noChangeAspect="1"/>
          </p:cNvPicPr>
          <p:nvPr/>
        </p:nvPicPr>
        <p:blipFill>
          <a:blip r:embed="rId4"/>
          <a:stretch>
            <a:fillRect/>
          </a:stretch>
        </p:blipFill>
        <p:spPr>
          <a:xfrm>
            <a:off x="858373" y="3517498"/>
            <a:ext cx="2136537" cy="2104408"/>
          </a:xfrm>
          <a:prstGeom prst="rect">
            <a:avLst/>
          </a:prstGeom>
          <a:ln w="12700">
            <a:miter lim="400000"/>
          </a:ln>
        </p:spPr>
      </p:pic>
      <p:sp>
        <p:nvSpPr>
          <p:cNvPr id="158" name="Critical Thinker : Dr B. R. Ambedkar"/>
          <p:cNvSpPr txBox="1"/>
          <p:nvPr/>
        </p:nvSpPr>
        <p:spPr>
          <a:xfrm>
            <a:off x="667676" y="2825367"/>
            <a:ext cx="2517930" cy="6151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a:latin typeface="Times New Roman"/>
                <a:ea typeface="Times New Roman"/>
                <a:cs typeface="Times New Roman"/>
                <a:sym typeface="Times New Roman"/>
              </a:defRPr>
            </a:pPr>
            <a:r>
              <a:rPr b="1"/>
              <a:t>Critical Thinker</a:t>
            </a:r>
            <a:r>
              <a:t> : Dr B. R. Ambedkar</a:t>
            </a:r>
          </a:p>
        </p:txBody>
      </p:sp>
      <p:sp>
        <p:nvSpPr>
          <p:cNvPr id="159" name="Creative Thinker : A. R. Rahman"/>
          <p:cNvSpPr txBox="1"/>
          <p:nvPr/>
        </p:nvSpPr>
        <p:spPr>
          <a:xfrm>
            <a:off x="3519385" y="2825367"/>
            <a:ext cx="2517930" cy="6151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a:latin typeface="Times New Roman"/>
                <a:ea typeface="Times New Roman"/>
                <a:cs typeface="Times New Roman"/>
                <a:sym typeface="Times New Roman"/>
              </a:defRPr>
            </a:pPr>
            <a:r>
              <a:rPr b="1"/>
              <a:t>Creative Thinker</a:t>
            </a:r>
            <a:r>
              <a:t> : A. R. Rahman</a:t>
            </a:r>
          </a:p>
        </p:txBody>
      </p:sp>
      <p:sp>
        <p:nvSpPr>
          <p:cNvPr id="160" name="Analytical Thinker : N. R. Narayana Murthy"/>
          <p:cNvSpPr txBox="1"/>
          <p:nvPr/>
        </p:nvSpPr>
        <p:spPr>
          <a:xfrm>
            <a:off x="6398251" y="2825367"/>
            <a:ext cx="2517930" cy="6151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just">
              <a:defRPr>
                <a:latin typeface="Times New Roman"/>
                <a:ea typeface="Times New Roman"/>
                <a:cs typeface="Times New Roman"/>
                <a:sym typeface="Times New Roman"/>
              </a:defRPr>
            </a:pPr>
            <a:r>
              <a:rPr b="1"/>
              <a:t>Analytical Thinker</a:t>
            </a:r>
            <a:r>
              <a:t> : N. R. Narayana Murthy</a:t>
            </a:r>
          </a:p>
        </p:txBody>
      </p:sp>
      <p:pic>
        <p:nvPicPr>
          <p:cNvPr id="161" name="Screenshot 2026-05-31 at 11.48.52 PM.png" descr="Screenshot 2026-05-31 at 11.48.52 PM.png"/>
          <p:cNvPicPr>
            <a:picLocks noChangeAspect="1"/>
          </p:cNvPicPr>
          <p:nvPr/>
        </p:nvPicPr>
        <p:blipFill>
          <a:blip r:embed="rId5"/>
          <a:stretch>
            <a:fillRect/>
          </a:stretch>
        </p:blipFill>
        <p:spPr>
          <a:xfrm>
            <a:off x="6380866" y="904146"/>
            <a:ext cx="2552701" cy="1943101"/>
          </a:xfrm>
          <a:prstGeom prst="rect">
            <a:avLst/>
          </a:prstGeom>
          <a:ln w="12700">
            <a:miter lim="400000"/>
          </a:ln>
        </p:spPr>
      </p:pic>
      <p:pic>
        <p:nvPicPr>
          <p:cNvPr id="162" name="Screenshot 2026-05-31 at 11.49.27 PM.png" descr="Screenshot 2026-05-31 at 11.49.27 PM.png"/>
          <p:cNvPicPr>
            <a:picLocks noChangeAspect="1"/>
          </p:cNvPicPr>
          <p:nvPr/>
        </p:nvPicPr>
        <p:blipFill>
          <a:blip r:embed="rId6"/>
          <a:stretch>
            <a:fillRect/>
          </a:stretch>
        </p:blipFill>
        <p:spPr>
          <a:xfrm>
            <a:off x="3707782" y="880307"/>
            <a:ext cx="1728435" cy="1894808"/>
          </a:xfrm>
          <a:prstGeom prst="rect">
            <a:avLst/>
          </a:prstGeom>
          <a:ln w="12700">
            <a:miter lim="400000"/>
          </a:ln>
        </p:spPr>
      </p:pic>
      <p:pic>
        <p:nvPicPr>
          <p:cNvPr id="163" name="Screenshot 2026-05-31 at 11.50.01 PM.png" descr="Screenshot 2026-05-31 at 11.50.01 PM.png"/>
          <p:cNvPicPr>
            <a:picLocks noChangeAspect="1"/>
          </p:cNvPicPr>
          <p:nvPr/>
        </p:nvPicPr>
        <p:blipFill>
          <a:blip r:embed="rId7"/>
          <a:stretch>
            <a:fillRect/>
          </a:stretch>
        </p:blipFill>
        <p:spPr>
          <a:xfrm>
            <a:off x="1082780" y="823492"/>
            <a:ext cx="1591873" cy="2008438"/>
          </a:xfrm>
          <a:prstGeom prst="rect">
            <a:avLst/>
          </a:prstGeom>
          <a:ln w="12700">
            <a:miter lim="400000"/>
          </a:ln>
        </p:spPr>
      </p:pic>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itle 1"/>
          <p:cNvSpPr txBox="1">
            <a:spLocks noGrp="1"/>
          </p:cNvSpPr>
          <p:nvPr>
            <p:ph type="title"/>
          </p:nvPr>
        </p:nvSpPr>
        <p:spPr>
          <a:xfrm>
            <a:off x="457200" y="274638"/>
            <a:ext cx="4523490" cy="1143001"/>
          </a:xfrm>
          <a:prstGeom prst="rect">
            <a:avLst/>
          </a:prstGeom>
        </p:spPr>
        <p:txBody>
          <a:bodyPr>
            <a:normAutofit fontScale="90000"/>
          </a:bodyPr>
          <a:lstStyle>
            <a:lvl1pPr>
              <a:defRPr>
                <a:latin typeface="Times New Roman"/>
                <a:ea typeface="Times New Roman"/>
                <a:cs typeface="Times New Roman"/>
                <a:sym typeface="Times New Roman"/>
              </a:defRPr>
            </a:lvl1pPr>
          </a:lstStyle>
          <a:p>
            <a:r>
              <a:rPr lang="en-US" dirty="0">
                <a:solidFill>
                  <a:srgbClr val="D60093"/>
                </a:solidFill>
              </a:rPr>
              <a:t>a) </a:t>
            </a:r>
            <a:r>
              <a:rPr dirty="0">
                <a:solidFill>
                  <a:srgbClr val="D60093"/>
                </a:solidFill>
              </a:rPr>
              <a:t>Critical Thinking</a:t>
            </a:r>
          </a:p>
        </p:txBody>
      </p:sp>
      <p:sp>
        <p:nvSpPr>
          <p:cNvPr id="166" name="Content Placeholder 2"/>
          <p:cNvSpPr txBox="1">
            <a:spLocks noGrp="1"/>
          </p:cNvSpPr>
          <p:nvPr>
            <p:ph type="body" idx="1"/>
          </p:nvPr>
        </p:nvSpPr>
        <p:spPr>
          <a:xfrm>
            <a:off x="457200" y="1600200"/>
            <a:ext cx="8229600" cy="4525963"/>
          </a:xfrm>
          <a:prstGeom prst="rect">
            <a:avLst/>
          </a:prstGeom>
          <a:solidFill>
            <a:schemeClr val="accent2">
              <a:satOff val="-4966"/>
              <a:lumOff val="-10549"/>
            </a:schemeClr>
          </a:solidFill>
        </p:spPr>
        <p:txBody>
          <a:bodyPr/>
          <a:lstStyle/>
          <a:p>
            <a:pPr>
              <a:defRPr>
                <a:latin typeface="Times New Roman"/>
                <a:ea typeface="Times New Roman"/>
                <a:cs typeface="Times New Roman"/>
                <a:sym typeface="Times New Roman"/>
              </a:defRPr>
            </a:pPr>
            <a:r>
              <a:rPr dirty="0"/>
              <a:t>Objective evaluation</a:t>
            </a:r>
          </a:p>
          <a:p>
            <a:pPr>
              <a:defRPr>
                <a:latin typeface="Times New Roman"/>
                <a:ea typeface="Times New Roman"/>
                <a:cs typeface="Times New Roman"/>
                <a:sym typeface="Times New Roman"/>
              </a:defRPr>
            </a:pPr>
            <a:r>
              <a:rPr dirty="0"/>
              <a:t>Fact-based reasoning</a:t>
            </a:r>
          </a:p>
          <a:p>
            <a:pPr>
              <a:defRPr>
                <a:latin typeface="Times New Roman"/>
                <a:ea typeface="Times New Roman"/>
                <a:cs typeface="Times New Roman"/>
                <a:sym typeface="Times New Roman"/>
              </a:defRPr>
            </a:pPr>
            <a:r>
              <a:rPr dirty="0"/>
              <a:t>Evidence analysis</a:t>
            </a:r>
          </a:p>
          <a:p>
            <a:pPr>
              <a:defRPr>
                <a:latin typeface="Times New Roman"/>
                <a:ea typeface="Times New Roman"/>
                <a:cs typeface="Times New Roman"/>
                <a:sym typeface="Times New Roman"/>
              </a:defRPr>
            </a:pPr>
            <a:r>
              <a:rPr dirty="0"/>
              <a:t>Avoid assumptions</a:t>
            </a:r>
          </a:p>
        </p:txBody>
      </p:sp>
      <p:sp>
        <p:nvSpPr>
          <p:cNvPr id="167" name="Title 1"/>
          <p:cNvSpPr txBox="1"/>
          <p:nvPr/>
        </p:nvSpPr>
        <p:spPr>
          <a:xfrm>
            <a:off x="4635500" y="274638"/>
            <a:ext cx="4104454"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a:defRPr sz="4400">
                <a:latin typeface="Times New Roman"/>
                <a:ea typeface="Times New Roman"/>
                <a:cs typeface="Times New Roman"/>
                <a:sym typeface="Times New Roman"/>
              </a:defRPr>
            </a:lvl1pPr>
          </a:lstStyle>
          <a:p>
            <a:r>
              <a:t>Example</a:t>
            </a:r>
          </a:p>
        </p:txBody>
      </p:sp>
      <p:sp>
        <p:nvSpPr>
          <p:cNvPr id="168" name="Content Placeholder 2"/>
          <p:cNvSpPr txBox="1"/>
          <p:nvPr/>
        </p:nvSpPr>
        <p:spPr>
          <a:xfrm>
            <a:off x="4980690" y="1600200"/>
            <a:ext cx="4012622" cy="4525963"/>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342900" indent="-342900">
              <a:spcBef>
                <a:spcPts val="700"/>
              </a:spcBef>
              <a:buSzPct val="100000"/>
              <a:buFont typeface="Arial"/>
              <a:buChar char="•"/>
              <a:defRPr sz="3200">
                <a:latin typeface="Times New Roman"/>
                <a:ea typeface="Times New Roman"/>
                <a:cs typeface="Times New Roman"/>
                <a:sym typeface="Times New Roman"/>
              </a:defRPr>
            </a:pPr>
            <a:r>
              <a:t>Choosing a smartphone</a:t>
            </a:r>
          </a:p>
          <a:p>
            <a:pPr marL="342900" indent="-342900">
              <a:spcBef>
                <a:spcPts val="700"/>
              </a:spcBef>
              <a:buSzPct val="100000"/>
              <a:buFont typeface="Arial"/>
              <a:buChar char="•"/>
              <a:defRPr sz="3200">
                <a:latin typeface="Times New Roman"/>
                <a:ea typeface="Times New Roman"/>
                <a:cs typeface="Times New Roman"/>
                <a:sym typeface="Times New Roman"/>
              </a:defRPr>
            </a:pPr>
            <a:r>
              <a:t>Compare features</a:t>
            </a:r>
          </a:p>
          <a:p>
            <a:pPr marL="342900" indent="-342900">
              <a:spcBef>
                <a:spcPts val="700"/>
              </a:spcBef>
              <a:buSzPct val="100000"/>
              <a:buFont typeface="Arial"/>
              <a:buChar char="•"/>
              <a:defRPr sz="3200">
                <a:latin typeface="Times New Roman"/>
                <a:ea typeface="Times New Roman"/>
                <a:cs typeface="Times New Roman"/>
                <a:sym typeface="Times New Roman"/>
              </a:defRPr>
            </a:pPr>
            <a:r>
              <a:t>Analyze reviews</a:t>
            </a:r>
          </a:p>
          <a:p>
            <a:pPr marL="342900" indent="-342900">
              <a:spcBef>
                <a:spcPts val="700"/>
              </a:spcBef>
              <a:buSzPct val="100000"/>
              <a:buFont typeface="Arial"/>
              <a:buChar char="•"/>
              <a:defRPr sz="3200">
                <a:latin typeface="Times New Roman"/>
                <a:ea typeface="Times New Roman"/>
                <a:cs typeface="Times New Roman"/>
                <a:sym typeface="Times New Roman"/>
              </a:defRPr>
            </a:pPr>
            <a:r>
              <a:t>Evaluate costs</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8DDD894-A75A-FF91-5CCD-73DA1D4C3C42}"/>
              </a:ext>
            </a:extLst>
          </p:cNvPr>
          <p:cNvSpPr>
            <a:spLocks noGrp="1"/>
          </p:cNvSpPr>
          <p:nvPr>
            <p:ph idx="1"/>
          </p:nvPr>
        </p:nvSpPr>
        <p:spPr>
          <a:xfrm>
            <a:off x="503435" y="308226"/>
            <a:ext cx="8342614" cy="6339154"/>
          </a:xfrm>
        </p:spPr>
        <p:txBody>
          <a:bodyPr>
            <a:normAutofit/>
          </a:bodyPr>
          <a:lstStyle/>
          <a:p>
            <a:pPr>
              <a:buNone/>
            </a:pPr>
            <a:r>
              <a:rPr lang="en-US" sz="2200" b="1" dirty="0">
                <a:solidFill>
                  <a:srgbClr val="006600"/>
                </a:solidFill>
                <a:latin typeface="Times New Roman" panose="02020603050405020304" pitchFamily="18" charset="0"/>
                <a:cs typeface="Times New Roman" panose="02020603050405020304" pitchFamily="18" charset="0"/>
              </a:rPr>
              <a:t>1. Objective Evaluation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Looking at a situation fairly and </a:t>
            </a:r>
            <a:r>
              <a:rPr lang="en-US" sz="2200" dirty="0">
                <a:solidFill>
                  <a:srgbClr val="0070C0"/>
                </a:solidFill>
                <a:latin typeface="Times New Roman" panose="02020603050405020304" pitchFamily="18" charset="0"/>
                <a:cs typeface="Times New Roman" panose="02020603050405020304" pitchFamily="18" charset="0"/>
              </a:rPr>
              <a:t>without personal bias </a:t>
            </a:r>
            <a:r>
              <a:rPr lang="en-US" sz="2200" dirty="0">
                <a:latin typeface="Times New Roman" panose="02020603050405020304" pitchFamily="18" charset="0"/>
                <a:cs typeface="Times New Roman" panose="02020603050405020304" pitchFamily="18" charset="0"/>
              </a:rPr>
              <a:t>or emotions.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Considering all sides before reaching a conclusion. </a:t>
            </a:r>
          </a:p>
          <a:p>
            <a:pPr>
              <a:buNone/>
            </a:pPr>
            <a:r>
              <a:rPr lang="en-US" sz="2200" b="1"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 A teacher grades students based on their performance, not personal likes or dislikes.</a:t>
            </a:r>
          </a:p>
          <a:p>
            <a:pPr>
              <a:buNone/>
            </a:pPr>
            <a:r>
              <a:rPr lang="en-US" sz="2200" b="1" dirty="0">
                <a:solidFill>
                  <a:srgbClr val="006600"/>
                </a:solidFill>
                <a:latin typeface="Times New Roman" panose="02020603050405020304" pitchFamily="18" charset="0"/>
                <a:cs typeface="Times New Roman" panose="02020603050405020304" pitchFamily="18" charset="0"/>
              </a:rPr>
              <a:t>2. Fact-Based Reasoning</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Making judgments </a:t>
            </a:r>
            <a:r>
              <a:rPr lang="en-US" sz="2200" dirty="0">
                <a:solidFill>
                  <a:srgbClr val="0070C0"/>
                </a:solidFill>
                <a:latin typeface="Times New Roman" panose="02020603050405020304" pitchFamily="18" charset="0"/>
                <a:cs typeface="Times New Roman" panose="02020603050405020304" pitchFamily="18" charset="0"/>
              </a:rPr>
              <a:t>based on facts, data</a:t>
            </a:r>
            <a:r>
              <a:rPr lang="en-US" sz="2200" dirty="0">
                <a:latin typeface="Times New Roman" panose="02020603050405020304" pitchFamily="18" charset="0"/>
                <a:cs typeface="Times New Roman" panose="02020603050405020304" pitchFamily="18" charset="0"/>
              </a:rPr>
              <a:t>, and reliable information rather than opinions or rumors.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Using evidence to support conclusions. </a:t>
            </a:r>
          </a:p>
          <a:p>
            <a:pPr>
              <a:buNone/>
            </a:pPr>
            <a:r>
              <a:rPr lang="en-US" sz="2200" b="1"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 A doctor diagnoses a disease based on test results, not guesses.</a:t>
            </a:r>
          </a:p>
          <a:p>
            <a:pPr>
              <a:buNone/>
            </a:pPr>
            <a:r>
              <a:rPr lang="en-US" sz="2200" b="1" dirty="0">
                <a:solidFill>
                  <a:srgbClr val="006600"/>
                </a:solidFill>
                <a:latin typeface="Times New Roman" panose="02020603050405020304" pitchFamily="18" charset="0"/>
                <a:cs typeface="Times New Roman" panose="02020603050405020304" pitchFamily="18" charset="0"/>
              </a:rPr>
              <a:t>3. Evidence Analysis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Examining and </a:t>
            </a:r>
            <a:r>
              <a:rPr lang="en-US" sz="2200" dirty="0">
                <a:solidFill>
                  <a:srgbClr val="0070C0"/>
                </a:solidFill>
                <a:latin typeface="Times New Roman" panose="02020603050405020304" pitchFamily="18" charset="0"/>
                <a:cs typeface="Times New Roman" panose="02020603050405020304" pitchFamily="18" charset="0"/>
              </a:rPr>
              <a:t>evaluating available evidence carefully</a:t>
            </a:r>
            <a:r>
              <a:rPr lang="en-US" sz="2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Checking whether the evidence is accurate, relevant, and sufficient. </a:t>
            </a:r>
          </a:p>
          <a:p>
            <a:pPr>
              <a:buNone/>
            </a:pPr>
            <a:r>
              <a:rPr lang="en-US" sz="2200" b="1"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 A researcher reviews experimental data before accepting a scientific claim.</a:t>
            </a:r>
          </a:p>
          <a:p>
            <a:endParaRPr lang="en-IN" dirty="0"/>
          </a:p>
        </p:txBody>
      </p:sp>
    </p:spTree>
    <p:extLst>
      <p:ext uri="{BB962C8B-B14F-4D97-AF65-F5344CB8AC3E}">
        <p14:creationId xmlns:p14="http://schemas.microsoft.com/office/powerpoint/2010/main" val="37421683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431616-3A09-5A6F-91C0-533D925C706D}"/>
              </a:ext>
            </a:extLst>
          </p:cNvPr>
          <p:cNvSpPr>
            <a:spLocks noGrp="1"/>
          </p:cNvSpPr>
          <p:nvPr>
            <p:ph idx="1"/>
          </p:nvPr>
        </p:nvSpPr>
        <p:spPr>
          <a:xfrm>
            <a:off x="628650" y="410966"/>
            <a:ext cx="7886700" cy="6010382"/>
          </a:xfrm>
        </p:spPr>
        <p:txBody>
          <a:bodyPr>
            <a:normAutofit/>
          </a:bodyPr>
          <a:lstStyle/>
          <a:p>
            <a:pPr>
              <a:buNone/>
            </a:pPr>
            <a:r>
              <a:rPr lang="en-US" sz="2200" b="1" dirty="0">
                <a:solidFill>
                  <a:srgbClr val="006600"/>
                </a:solidFill>
                <a:latin typeface="Times New Roman" panose="02020603050405020304" pitchFamily="18" charset="0"/>
                <a:cs typeface="Times New Roman" panose="02020603050405020304" pitchFamily="18" charset="0"/>
              </a:rPr>
              <a:t>4. Avoid Assumptions</a:t>
            </a:r>
          </a:p>
          <a:p>
            <a:pPr>
              <a:buFont typeface="Arial" panose="020B0604020202020204" pitchFamily="34" charset="0"/>
              <a:buChar char="•"/>
            </a:pPr>
            <a:r>
              <a:rPr lang="en-US" sz="2200" dirty="0">
                <a:solidFill>
                  <a:srgbClr val="0070C0"/>
                </a:solidFill>
                <a:latin typeface="Times New Roman" panose="02020603050405020304" pitchFamily="18" charset="0"/>
                <a:cs typeface="Times New Roman" panose="02020603050405020304" pitchFamily="18" charset="0"/>
              </a:rPr>
              <a:t>No</a:t>
            </a:r>
            <a:r>
              <a:rPr lang="en-US" sz="2200" dirty="0">
                <a:latin typeface="Times New Roman" panose="02020603050405020304" pitchFamily="18" charset="0"/>
                <a:cs typeface="Times New Roman" panose="02020603050405020304" pitchFamily="18" charset="0"/>
              </a:rPr>
              <a:t>t jumping to </a:t>
            </a:r>
            <a:r>
              <a:rPr lang="en-US" sz="2200" dirty="0">
                <a:solidFill>
                  <a:srgbClr val="0070C0"/>
                </a:solidFill>
                <a:latin typeface="Times New Roman" panose="02020603050405020304" pitchFamily="18" charset="0"/>
                <a:cs typeface="Times New Roman" panose="02020603050405020304" pitchFamily="18" charset="0"/>
              </a:rPr>
              <a:t>conclusions without proof</a:t>
            </a:r>
            <a:r>
              <a:rPr lang="en-US" sz="2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Questioning beliefs and seeking evidence before accepting something as true. </a:t>
            </a:r>
          </a:p>
          <a:p>
            <a:pPr>
              <a:buNone/>
            </a:pPr>
            <a:r>
              <a:rPr lang="en-US" sz="2200" b="1"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 If a student is absent, do not assume they are lazy; there may be a valid reason such as illness.</a:t>
            </a:r>
          </a:p>
          <a:p>
            <a:pPr>
              <a:buNone/>
            </a:pPr>
            <a:endParaRPr lang="en-US" sz="2200" dirty="0">
              <a:latin typeface="Times New Roman" panose="02020603050405020304" pitchFamily="18" charset="0"/>
              <a:cs typeface="Times New Roman" panose="02020603050405020304" pitchFamily="18" charset="0"/>
            </a:endParaRPr>
          </a:p>
          <a:p>
            <a:pPr>
              <a:buNone/>
            </a:pPr>
            <a:r>
              <a:rPr lang="en-US" sz="2200" dirty="0">
                <a:latin typeface="Times New Roman" panose="02020603050405020304" pitchFamily="18" charset="0"/>
                <a:cs typeface="Times New Roman" panose="02020603050405020304" pitchFamily="18" charset="0"/>
              </a:rPr>
              <a:t>These four elements help develop </a:t>
            </a:r>
            <a:r>
              <a:rPr lang="en-US" sz="2200" b="1" dirty="0">
                <a:latin typeface="Times New Roman" panose="02020603050405020304" pitchFamily="18" charset="0"/>
                <a:cs typeface="Times New Roman" panose="02020603050405020304" pitchFamily="18" charset="0"/>
              </a:rPr>
              <a:t>critical thinking</a:t>
            </a:r>
            <a:r>
              <a:rPr lang="en-US" sz="22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Objective evaluation</a:t>
            </a:r>
            <a:r>
              <a:rPr lang="en-US" sz="2200" dirty="0">
                <a:latin typeface="Times New Roman" panose="02020603050405020304" pitchFamily="18" charset="0"/>
                <a:cs typeface="Times New Roman" panose="02020603050405020304" pitchFamily="18" charset="0"/>
              </a:rPr>
              <a:t> → Be </a:t>
            </a:r>
            <a:r>
              <a:rPr lang="en-US" sz="2200" dirty="0">
                <a:solidFill>
                  <a:srgbClr val="0070C0"/>
                </a:solidFill>
                <a:latin typeface="Times New Roman" panose="02020603050405020304" pitchFamily="18" charset="0"/>
                <a:cs typeface="Times New Roman" panose="02020603050405020304" pitchFamily="18" charset="0"/>
              </a:rPr>
              <a:t>unbiased</a:t>
            </a:r>
            <a:r>
              <a:rPr lang="en-US" sz="2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Fact-based reasoning</a:t>
            </a:r>
            <a:r>
              <a:rPr lang="en-US" sz="2200" dirty="0">
                <a:latin typeface="Times New Roman" panose="02020603050405020304" pitchFamily="18" charset="0"/>
                <a:cs typeface="Times New Roman" panose="02020603050405020304" pitchFamily="18" charset="0"/>
              </a:rPr>
              <a:t> → </a:t>
            </a:r>
            <a:r>
              <a:rPr lang="en-US" sz="2200" dirty="0">
                <a:solidFill>
                  <a:srgbClr val="0070C0"/>
                </a:solidFill>
                <a:latin typeface="Times New Roman" panose="02020603050405020304" pitchFamily="18" charset="0"/>
                <a:cs typeface="Times New Roman" panose="02020603050405020304" pitchFamily="18" charset="0"/>
              </a:rPr>
              <a:t>Use facts and data</a:t>
            </a:r>
            <a:r>
              <a:rPr lang="en-US" sz="2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Evidence analysis</a:t>
            </a:r>
            <a:r>
              <a:rPr lang="en-US" sz="2200" dirty="0">
                <a:latin typeface="Times New Roman" panose="02020603050405020304" pitchFamily="18" charset="0"/>
                <a:cs typeface="Times New Roman" panose="02020603050405020304" pitchFamily="18" charset="0"/>
              </a:rPr>
              <a:t> → </a:t>
            </a:r>
            <a:r>
              <a:rPr lang="en-US" sz="2200" dirty="0">
                <a:solidFill>
                  <a:srgbClr val="0070C0"/>
                </a:solidFill>
                <a:latin typeface="Times New Roman" panose="02020603050405020304" pitchFamily="18" charset="0"/>
                <a:cs typeface="Times New Roman" panose="02020603050405020304" pitchFamily="18" charset="0"/>
              </a:rPr>
              <a:t>Examine proof </a:t>
            </a:r>
            <a:r>
              <a:rPr lang="en-US" sz="2200" dirty="0">
                <a:latin typeface="Times New Roman" panose="02020603050405020304" pitchFamily="18" charset="0"/>
                <a:cs typeface="Times New Roman" panose="02020603050405020304" pitchFamily="18" charset="0"/>
              </a:rPr>
              <a:t>carefully. </a:t>
            </a:r>
          </a:p>
          <a:p>
            <a:pPr>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Avoid assumptions</a:t>
            </a:r>
            <a:r>
              <a:rPr lang="en-US" sz="2200" dirty="0">
                <a:latin typeface="Times New Roman" panose="02020603050405020304" pitchFamily="18" charset="0"/>
                <a:cs typeface="Times New Roman" panose="02020603050405020304" pitchFamily="18" charset="0"/>
              </a:rPr>
              <a:t> → </a:t>
            </a:r>
            <a:r>
              <a:rPr lang="en-US" sz="2200" dirty="0">
                <a:solidFill>
                  <a:srgbClr val="0070C0"/>
                </a:solidFill>
                <a:latin typeface="Times New Roman" panose="02020603050405020304" pitchFamily="18" charset="0"/>
                <a:cs typeface="Times New Roman" panose="02020603050405020304" pitchFamily="18" charset="0"/>
              </a:rPr>
              <a:t>Do not conclude without evidence</a:t>
            </a:r>
            <a:r>
              <a:rPr lang="en-US" sz="2200" dirty="0">
                <a:latin typeface="Times New Roman" panose="02020603050405020304" pitchFamily="18" charset="0"/>
                <a:cs typeface="Times New Roman" panose="02020603050405020304" pitchFamily="18" charset="0"/>
              </a:rPr>
              <a:t>. </a:t>
            </a:r>
          </a:p>
          <a:p>
            <a:pPr marL="0" indent="0">
              <a:buNone/>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All these together enable people to make logical, informed, and reliable decisions.</a:t>
            </a:r>
          </a:p>
          <a:p>
            <a:endParaRPr lang="en-IN" dirty="0"/>
          </a:p>
        </p:txBody>
      </p:sp>
    </p:spTree>
    <p:extLst>
      <p:ext uri="{BB962C8B-B14F-4D97-AF65-F5344CB8AC3E}">
        <p14:creationId xmlns:p14="http://schemas.microsoft.com/office/powerpoint/2010/main" val="8837616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Title 1"/>
          <p:cNvSpPr txBox="1">
            <a:spLocks noGrp="1"/>
          </p:cNvSpPr>
          <p:nvPr>
            <p:ph type="title"/>
          </p:nvPr>
        </p:nvSpPr>
        <p:spPr>
          <a:xfrm>
            <a:off x="457200" y="274638"/>
            <a:ext cx="4523490" cy="1143001"/>
          </a:xfrm>
          <a:prstGeom prst="rect">
            <a:avLst/>
          </a:prstGeom>
        </p:spPr>
        <p:txBody>
          <a:bodyPr>
            <a:normAutofit fontScale="90000"/>
          </a:bodyPr>
          <a:lstStyle>
            <a:lvl1pPr defTabSz="448055">
              <a:defRPr sz="4312">
                <a:latin typeface="Times New Roman"/>
                <a:ea typeface="Times New Roman"/>
                <a:cs typeface="Times New Roman"/>
                <a:sym typeface="Times New Roman"/>
              </a:defRPr>
            </a:lvl1pPr>
          </a:lstStyle>
          <a:p>
            <a:r>
              <a:rPr lang="en-US" dirty="0">
                <a:solidFill>
                  <a:srgbClr val="D60093"/>
                </a:solidFill>
              </a:rPr>
              <a:t>b) </a:t>
            </a:r>
            <a:r>
              <a:rPr dirty="0">
                <a:solidFill>
                  <a:srgbClr val="D60093"/>
                </a:solidFill>
              </a:rPr>
              <a:t>Creative Thinking</a:t>
            </a:r>
          </a:p>
        </p:txBody>
      </p:sp>
      <p:sp>
        <p:nvSpPr>
          <p:cNvPr id="171" name="Content Placeholder 2"/>
          <p:cNvSpPr txBox="1">
            <a:spLocks noGrp="1"/>
          </p:cNvSpPr>
          <p:nvPr>
            <p:ph type="body" idx="1"/>
          </p:nvPr>
        </p:nvSpPr>
        <p:spPr>
          <a:xfrm>
            <a:off x="457200" y="1600200"/>
            <a:ext cx="8229600" cy="4525963"/>
          </a:xfrm>
          <a:prstGeom prst="rect">
            <a:avLst/>
          </a:prstGeom>
          <a:solidFill>
            <a:schemeClr val="accent2">
              <a:satOff val="-4966"/>
              <a:lumOff val="-10549"/>
            </a:schemeClr>
          </a:solidFill>
        </p:spPr>
        <p:txBody>
          <a:bodyPr/>
          <a:lstStyle/>
          <a:p>
            <a:pPr>
              <a:defRPr>
                <a:latin typeface="Times New Roman"/>
                <a:ea typeface="Times New Roman"/>
                <a:cs typeface="Times New Roman"/>
                <a:sym typeface="Times New Roman"/>
              </a:defRPr>
            </a:pPr>
            <a:r>
              <a:rPr dirty="0"/>
              <a:t>Generating new ideas</a:t>
            </a:r>
          </a:p>
          <a:p>
            <a:pPr>
              <a:defRPr>
                <a:latin typeface="Times New Roman"/>
                <a:ea typeface="Times New Roman"/>
                <a:cs typeface="Times New Roman"/>
                <a:sym typeface="Times New Roman"/>
              </a:defRPr>
            </a:pPr>
            <a:r>
              <a:rPr dirty="0"/>
              <a:t>Exploring possibilities</a:t>
            </a:r>
          </a:p>
          <a:p>
            <a:pPr>
              <a:defRPr>
                <a:latin typeface="Times New Roman"/>
                <a:ea typeface="Times New Roman"/>
                <a:cs typeface="Times New Roman"/>
                <a:sym typeface="Times New Roman"/>
              </a:defRPr>
            </a:pPr>
            <a:r>
              <a:rPr dirty="0"/>
              <a:t>Innovation-focused</a:t>
            </a:r>
          </a:p>
          <a:p>
            <a:pPr>
              <a:defRPr>
                <a:latin typeface="Times New Roman"/>
                <a:ea typeface="Times New Roman"/>
                <a:cs typeface="Times New Roman"/>
                <a:sym typeface="Times New Roman"/>
              </a:defRPr>
            </a:pPr>
            <a:r>
              <a:rPr dirty="0"/>
              <a:t>Imaginative</a:t>
            </a:r>
          </a:p>
        </p:txBody>
      </p:sp>
      <p:sp>
        <p:nvSpPr>
          <p:cNvPr id="172" name="Title 1"/>
          <p:cNvSpPr txBox="1"/>
          <p:nvPr/>
        </p:nvSpPr>
        <p:spPr>
          <a:xfrm>
            <a:off x="4635500" y="274638"/>
            <a:ext cx="4104454"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a:defRPr sz="4400">
                <a:latin typeface="Times New Roman"/>
                <a:ea typeface="Times New Roman"/>
                <a:cs typeface="Times New Roman"/>
                <a:sym typeface="Times New Roman"/>
              </a:defRPr>
            </a:lvl1pPr>
          </a:lstStyle>
          <a:p>
            <a:r>
              <a:t>Example</a:t>
            </a:r>
          </a:p>
        </p:txBody>
      </p:sp>
      <p:sp>
        <p:nvSpPr>
          <p:cNvPr id="173" name="Content Placeholder 2"/>
          <p:cNvSpPr txBox="1"/>
          <p:nvPr/>
        </p:nvSpPr>
        <p:spPr>
          <a:xfrm>
            <a:off x="4980690" y="1600200"/>
            <a:ext cx="4012622" cy="4525963"/>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342900" indent="-342900">
              <a:spcBef>
                <a:spcPts val="700"/>
              </a:spcBef>
              <a:buSzPct val="100000"/>
              <a:buFont typeface="Arial"/>
              <a:buChar char="•"/>
              <a:defRPr sz="3200">
                <a:latin typeface="Times New Roman"/>
                <a:ea typeface="Times New Roman"/>
                <a:cs typeface="Times New Roman"/>
                <a:sym typeface="Times New Roman"/>
              </a:defRPr>
            </a:pPr>
            <a:r>
              <a:t>Reduce plastic waste</a:t>
            </a:r>
          </a:p>
          <a:p>
            <a:pPr marL="342900" indent="-342900">
              <a:spcBef>
                <a:spcPts val="700"/>
              </a:spcBef>
              <a:buSzPct val="100000"/>
              <a:buFont typeface="Arial"/>
              <a:buChar char="•"/>
              <a:defRPr sz="3200">
                <a:latin typeface="Times New Roman"/>
                <a:ea typeface="Times New Roman"/>
                <a:cs typeface="Times New Roman"/>
                <a:sym typeface="Times New Roman"/>
              </a:defRPr>
            </a:pPr>
            <a:r>
              <a:t>Reusable packaging</a:t>
            </a:r>
          </a:p>
          <a:p>
            <a:pPr marL="342900" indent="-342900">
              <a:spcBef>
                <a:spcPts val="700"/>
              </a:spcBef>
              <a:buSzPct val="100000"/>
              <a:buFont typeface="Arial"/>
              <a:buChar char="•"/>
              <a:defRPr sz="3200">
                <a:latin typeface="Times New Roman"/>
                <a:ea typeface="Times New Roman"/>
                <a:cs typeface="Times New Roman"/>
                <a:sym typeface="Times New Roman"/>
              </a:defRPr>
            </a:pPr>
            <a:r>
              <a:t>Smart recycling bins</a:t>
            </a:r>
          </a:p>
          <a:p>
            <a:pPr marL="342900" indent="-342900">
              <a:spcBef>
                <a:spcPts val="700"/>
              </a:spcBef>
              <a:buSzPct val="100000"/>
              <a:buFont typeface="Arial"/>
              <a:buChar char="•"/>
              <a:defRPr sz="3200">
                <a:latin typeface="Times New Roman"/>
                <a:ea typeface="Times New Roman"/>
                <a:cs typeface="Times New Roman"/>
                <a:sym typeface="Times New Roman"/>
              </a:defRPr>
            </a:pPr>
            <a:r>
              <a:t>Eco-friendly materials</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1330183-FF27-B82F-2607-479CD6E5A5EE}"/>
              </a:ext>
            </a:extLst>
          </p:cNvPr>
          <p:cNvSpPr>
            <a:spLocks noGrp="1"/>
          </p:cNvSpPr>
          <p:nvPr>
            <p:ph idx="1"/>
          </p:nvPr>
        </p:nvSpPr>
        <p:spPr>
          <a:xfrm>
            <a:off x="628650" y="410966"/>
            <a:ext cx="8237948" cy="6154221"/>
          </a:xfrm>
        </p:spPr>
        <p:txBody>
          <a:bodyPr>
            <a:normAutofit/>
          </a:bodyPr>
          <a:lstStyle/>
          <a:p>
            <a:pPr algn="just"/>
            <a:r>
              <a:rPr lang="en-US" sz="2200" b="1" dirty="0">
                <a:latin typeface="Times New Roman" panose="02020603050405020304" pitchFamily="18" charset="0"/>
                <a:cs typeface="Times New Roman" panose="02020603050405020304" pitchFamily="18" charset="0"/>
              </a:rPr>
              <a:t>Creative thinking</a:t>
            </a:r>
            <a:r>
              <a:rPr lang="en-US" sz="2200" dirty="0">
                <a:latin typeface="Times New Roman" panose="02020603050405020304" pitchFamily="18" charset="0"/>
                <a:cs typeface="Times New Roman" panose="02020603050405020304" pitchFamily="18" charset="0"/>
              </a:rPr>
              <a:t> is the ability to generate original ideas, explore different possibilities, and find innovative solutions to problems. It involves looking beyond conventional approaches and using imagination to create something new or improve existing ideas.</a:t>
            </a:r>
          </a:p>
          <a:p>
            <a:pPr algn="just">
              <a:buNone/>
            </a:pPr>
            <a:r>
              <a:rPr lang="en-US" sz="2200" b="1" dirty="0">
                <a:solidFill>
                  <a:srgbClr val="0070C0"/>
                </a:solidFill>
                <a:latin typeface="Times New Roman" panose="02020603050405020304" pitchFamily="18" charset="0"/>
                <a:cs typeface="Times New Roman" panose="02020603050405020304" pitchFamily="18" charset="0"/>
              </a:rPr>
              <a:t>1. Generating New Ideas</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Creative thinkers produce fresh and unique ideas rather than relying only on established methods.</a:t>
            </a:r>
          </a:p>
          <a:p>
            <a:pPr>
              <a:buNone/>
            </a:pPr>
            <a:r>
              <a:rPr lang="en-US" sz="2200" b="1" dirty="0">
                <a:latin typeface="Times New Roman" panose="02020603050405020304" pitchFamily="18" charset="0"/>
                <a:cs typeface="Times New Roman" panose="02020603050405020304" pitchFamily="18" charset="0"/>
              </a:rPr>
              <a:t>Example: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teacher uses gamification and interactive quizzes instead of traditional lectures to make learning more engaging.</a:t>
            </a:r>
          </a:p>
          <a:p>
            <a:pPr algn="just">
              <a:buNone/>
            </a:pPr>
            <a:r>
              <a:rPr lang="en-US" sz="2200" b="1" dirty="0">
                <a:solidFill>
                  <a:srgbClr val="0070C0"/>
                </a:solidFill>
                <a:latin typeface="Times New Roman" panose="02020603050405020304" pitchFamily="18" charset="0"/>
                <a:cs typeface="Times New Roman" panose="02020603050405020304" pitchFamily="18" charset="0"/>
              </a:rPr>
              <a:t>2. Exploring Possibilities</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Creative thinking involves considering multiple alternatives and perspectives before making a decision.</a:t>
            </a:r>
          </a:p>
          <a:p>
            <a:pPr>
              <a:buNone/>
            </a:pPr>
            <a:r>
              <a:rPr lang="en-US" sz="2200" b="1" dirty="0">
                <a:latin typeface="Times New Roman" panose="02020603050405020304" pitchFamily="18" charset="0"/>
                <a:cs typeface="Times New Roman" panose="02020603050405020304" pitchFamily="18" charset="0"/>
              </a:rPr>
              <a:t>Example: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When designing a smart city solution, an engineer explores various technologies such as IoT sensors, AI-based traffic management, and renewable energy systems before selecting the best approach.</a:t>
            </a:r>
          </a:p>
          <a:p>
            <a:endParaRPr lang="en-IN" dirty="0"/>
          </a:p>
        </p:txBody>
      </p:sp>
    </p:spTree>
    <p:extLst>
      <p:ext uri="{BB962C8B-B14F-4D97-AF65-F5344CB8AC3E}">
        <p14:creationId xmlns:p14="http://schemas.microsoft.com/office/powerpoint/2010/main" val="11055046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CD1CE2-4C09-7CD2-8358-CDB45B5C3BC4}"/>
              </a:ext>
            </a:extLst>
          </p:cNvPr>
          <p:cNvSpPr>
            <a:spLocks noGrp="1"/>
          </p:cNvSpPr>
          <p:nvPr>
            <p:ph idx="1"/>
          </p:nvPr>
        </p:nvSpPr>
        <p:spPr>
          <a:xfrm>
            <a:off x="628650" y="616449"/>
            <a:ext cx="8268770" cy="5702158"/>
          </a:xfrm>
        </p:spPr>
        <p:txBody>
          <a:bodyPr/>
          <a:lstStyle/>
          <a:p>
            <a:pPr>
              <a:buNone/>
            </a:pPr>
            <a:r>
              <a:rPr lang="en-US" sz="2400" b="1" dirty="0">
                <a:solidFill>
                  <a:srgbClr val="0070C0"/>
                </a:solidFill>
                <a:latin typeface="Times New Roman" panose="02020603050405020304" pitchFamily="18" charset="0"/>
                <a:cs typeface="Times New Roman" panose="02020603050405020304" pitchFamily="18" charset="0"/>
              </a:rPr>
              <a:t>3. Innovation-Focused</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Creative thinkers aim to develop new products, services, or processes that add value and solve problems effectively.</a:t>
            </a:r>
          </a:p>
          <a:p>
            <a:pPr>
              <a:buNone/>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development of digital payment systems such as Unified Payments Interface (UPI) revolutionized financial transactions by enabling instant money transfers through mobile devices.</a:t>
            </a:r>
          </a:p>
          <a:p>
            <a:pPr>
              <a:buNone/>
            </a:pPr>
            <a:r>
              <a:rPr lang="en-US" sz="2400" b="1" dirty="0">
                <a:solidFill>
                  <a:srgbClr val="0070C0"/>
                </a:solidFill>
                <a:latin typeface="Times New Roman" panose="02020603050405020304" pitchFamily="18" charset="0"/>
                <a:cs typeface="Times New Roman" panose="02020603050405020304" pitchFamily="18" charset="0"/>
              </a:rPr>
              <a:t>4. Imaginative</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Imagination helps individuals visualize possibilities that do not yet exist and transform them into reality.</a:t>
            </a:r>
          </a:p>
          <a:p>
            <a:pPr>
              <a:buNone/>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software developer imagines a virtual reality classroom where students can conduct science experiments safely in a simulated environment and then develops the application.</a:t>
            </a:r>
          </a:p>
          <a:p>
            <a:endParaRPr lang="en-IN" dirty="0"/>
          </a:p>
        </p:txBody>
      </p:sp>
    </p:spTree>
    <p:extLst>
      <p:ext uri="{BB962C8B-B14F-4D97-AF65-F5344CB8AC3E}">
        <p14:creationId xmlns:p14="http://schemas.microsoft.com/office/powerpoint/2010/main" val="27656906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1E05A2-AB9D-8C28-8A65-0955539529BF}"/>
              </a:ext>
            </a:extLst>
          </p:cNvPr>
          <p:cNvSpPr>
            <a:spLocks noGrp="1"/>
          </p:cNvSpPr>
          <p:nvPr>
            <p:ph idx="1"/>
          </p:nvPr>
        </p:nvSpPr>
        <p:spPr>
          <a:xfrm>
            <a:off x="628650" y="513708"/>
            <a:ext cx="7886700" cy="5928189"/>
          </a:xfrm>
        </p:spPr>
        <p:txBody>
          <a:bodyPr>
            <a:normAutofit fontScale="92500" lnSpcReduction="10000"/>
          </a:bodyPr>
          <a:lstStyle/>
          <a:p>
            <a:pPr>
              <a:buNone/>
            </a:pPr>
            <a:r>
              <a:rPr lang="en-US" sz="2600" b="1" dirty="0">
                <a:latin typeface="Times New Roman" panose="02020603050405020304" pitchFamily="18" charset="0"/>
                <a:cs typeface="Times New Roman" panose="02020603050405020304" pitchFamily="18" charset="0"/>
              </a:rPr>
              <a:t>Characteristics of Creative Thinkers</a:t>
            </a:r>
          </a:p>
          <a:p>
            <a:pPr lvl="1"/>
            <a:r>
              <a:rPr lang="en-US" sz="2600" dirty="0">
                <a:latin typeface="Times New Roman" panose="02020603050405020304" pitchFamily="18" charset="0"/>
                <a:cs typeface="Times New Roman" panose="02020603050405020304" pitchFamily="18" charset="0"/>
              </a:rPr>
              <a:t>Curious and willing to learn </a:t>
            </a:r>
          </a:p>
          <a:p>
            <a:pPr lvl="1"/>
            <a:r>
              <a:rPr lang="en-US" sz="2600" dirty="0">
                <a:latin typeface="Times New Roman" panose="02020603050405020304" pitchFamily="18" charset="0"/>
                <a:cs typeface="Times New Roman" panose="02020603050405020304" pitchFamily="18" charset="0"/>
              </a:rPr>
              <a:t>Open to new experiences and perspectives </a:t>
            </a:r>
          </a:p>
          <a:p>
            <a:pPr lvl="1"/>
            <a:r>
              <a:rPr lang="en-US" sz="2600" dirty="0">
                <a:latin typeface="Times New Roman" panose="02020603050405020304" pitchFamily="18" charset="0"/>
                <a:cs typeface="Times New Roman" panose="02020603050405020304" pitchFamily="18" charset="0"/>
              </a:rPr>
              <a:t>Flexible in their thinking </a:t>
            </a:r>
          </a:p>
          <a:p>
            <a:pPr lvl="1"/>
            <a:r>
              <a:rPr lang="en-US" sz="2600" dirty="0">
                <a:latin typeface="Times New Roman" panose="02020603050405020304" pitchFamily="18" charset="0"/>
                <a:cs typeface="Times New Roman" panose="02020603050405020304" pitchFamily="18" charset="0"/>
              </a:rPr>
              <a:t>Willing to take calculated risks </a:t>
            </a:r>
          </a:p>
          <a:p>
            <a:pPr lvl="1"/>
            <a:r>
              <a:rPr lang="en-US" sz="2600" dirty="0">
                <a:latin typeface="Times New Roman" panose="02020603050405020304" pitchFamily="18" charset="0"/>
                <a:cs typeface="Times New Roman" panose="02020603050405020304" pitchFamily="18" charset="0"/>
              </a:rPr>
              <a:t>Able to connect unrelated ideas </a:t>
            </a:r>
          </a:p>
          <a:p>
            <a:pPr lvl="1"/>
            <a:r>
              <a:rPr lang="en-US" sz="2600" dirty="0">
                <a:latin typeface="Times New Roman" panose="02020603050405020304" pitchFamily="18" charset="0"/>
                <a:cs typeface="Times New Roman" panose="02020603050405020304" pitchFamily="18" charset="0"/>
              </a:rPr>
              <a:t>Innovative and solution-oriented</a:t>
            </a:r>
          </a:p>
          <a:p>
            <a:pPr>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a:p>
            <a:pPr>
              <a:buNone/>
            </a:pPr>
            <a:r>
              <a:rPr lang="en-US" sz="2600" b="1" dirty="0">
                <a:latin typeface="Times New Roman" panose="02020603050405020304" pitchFamily="18" charset="0"/>
                <a:cs typeface="Times New Roman" panose="02020603050405020304" pitchFamily="18" charset="0"/>
              </a:rPr>
              <a:t>Example</a:t>
            </a:r>
          </a:p>
          <a:p>
            <a:pPr algn="just">
              <a:lnSpc>
                <a:spcPct val="11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A college student notices that classmates often miss assignment deadlines. Instead of merely reminding them, the student designs a mobile app that sends personalized reminders, tracks progress, and rewards timely submissions. This demonstrates generating new ideas, exploring possibilities, focusing on innovation, and using imagination to solve a practical problem.</a:t>
            </a:r>
          </a:p>
          <a:p>
            <a:endParaRPr lang="en-IN" dirty="0"/>
          </a:p>
        </p:txBody>
      </p:sp>
    </p:spTree>
    <p:extLst>
      <p:ext uri="{BB962C8B-B14F-4D97-AF65-F5344CB8AC3E}">
        <p14:creationId xmlns:p14="http://schemas.microsoft.com/office/powerpoint/2010/main" val="18520036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itle 1"/>
          <p:cNvSpPr txBox="1">
            <a:spLocks noGrp="1"/>
          </p:cNvSpPr>
          <p:nvPr>
            <p:ph type="title"/>
          </p:nvPr>
        </p:nvSpPr>
        <p:spPr>
          <a:xfrm>
            <a:off x="457199" y="274638"/>
            <a:ext cx="4423025" cy="1143001"/>
          </a:xfrm>
          <a:prstGeom prst="rect">
            <a:avLst/>
          </a:prstGeom>
        </p:spPr>
        <p:txBody>
          <a:bodyPr>
            <a:normAutofit fontScale="90000"/>
          </a:bodyPr>
          <a:lstStyle>
            <a:lvl1pPr defTabSz="406908">
              <a:defRPr sz="3916">
                <a:latin typeface="Times New Roman"/>
                <a:ea typeface="Times New Roman"/>
                <a:cs typeface="Times New Roman"/>
                <a:sym typeface="Times New Roman"/>
              </a:defRPr>
            </a:lvl1pPr>
          </a:lstStyle>
          <a:p>
            <a:r>
              <a:rPr lang="en-US" dirty="0">
                <a:solidFill>
                  <a:srgbClr val="D60093"/>
                </a:solidFill>
              </a:rPr>
              <a:t>c) </a:t>
            </a:r>
            <a:r>
              <a:rPr dirty="0">
                <a:solidFill>
                  <a:srgbClr val="D60093"/>
                </a:solidFill>
              </a:rPr>
              <a:t>Analytical Thinking</a:t>
            </a:r>
          </a:p>
        </p:txBody>
      </p:sp>
      <p:sp>
        <p:nvSpPr>
          <p:cNvPr id="176" name="Content Placeholder 2"/>
          <p:cNvSpPr txBox="1">
            <a:spLocks noGrp="1"/>
          </p:cNvSpPr>
          <p:nvPr>
            <p:ph type="body" sz="half" idx="1"/>
          </p:nvPr>
        </p:nvSpPr>
        <p:spPr>
          <a:xfrm>
            <a:off x="457200" y="1600200"/>
            <a:ext cx="4549423" cy="4525963"/>
          </a:xfrm>
          <a:prstGeom prst="rect">
            <a:avLst/>
          </a:prstGeom>
          <a:solidFill>
            <a:schemeClr val="accent2">
              <a:satOff val="-4966"/>
              <a:lumOff val="-10549"/>
            </a:schemeClr>
          </a:solidFill>
        </p:spPr>
        <p:txBody>
          <a:bodyPr/>
          <a:lstStyle/>
          <a:p>
            <a:pPr>
              <a:defRPr>
                <a:latin typeface="Times New Roman"/>
                <a:ea typeface="Times New Roman"/>
                <a:cs typeface="Times New Roman"/>
                <a:sym typeface="Times New Roman"/>
              </a:defRPr>
            </a:pPr>
            <a:r>
              <a:rPr dirty="0"/>
              <a:t>Breaking problems into parts</a:t>
            </a:r>
          </a:p>
          <a:p>
            <a:pPr>
              <a:defRPr>
                <a:latin typeface="Times New Roman"/>
                <a:ea typeface="Times New Roman"/>
                <a:cs typeface="Times New Roman"/>
                <a:sym typeface="Times New Roman"/>
              </a:defRPr>
            </a:pPr>
            <a:r>
              <a:rPr dirty="0"/>
              <a:t>Understanding relationships</a:t>
            </a:r>
          </a:p>
          <a:p>
            <a:pPr>
              <a:defRPr>
                <a:latin typeface="Times New Roman"/>
                <a:ea typeface="Times New Roman"/>
                <a:cs typeface="Times New Roman"/>
                <a:sym typeface="Times New Roman"/>
              </a:defRPr>
            </a:pPr>
            <a:r>
              <a:rPr dirty="0"/>
              <a:t>Finding root causes</a:t>
            </a:r>
          </a:p>
        </p:txBody>
      </p:sp>
      <p:sp>
        <p:nvSpPr>
          <p:cNvPr id="177" name="Title 1"/>
          <p:cNvSpPr txBox="1"/>
          <p:nvPr/>
        </p:nvSpPr>
        <p:spPr>
          <a:xfrm>
            <a:off x="4635500" y="274638"/>
            <a:ext cx="4104454"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a:defRPr sz="4400">
                <a:latin typeface="Times New Roman"/>
                <a:ea typeface="Times New Roman"/>
                <a:cs typeface="Times New Roman"/>
                <a:sym typeface="Times New Roman"/>
              </a:defRPr>
            </a:lvl1pPr>
          </a:lstStyle>
          <a:p>
            <a:r>
              <a:t>Example</a:t>
            </a:r>
          </a:p>
        </p:txBody>
      </p:sp>
      <p:sp>
        <p:nvSpPr>
          <p:cNvPr id="178" name="Content Placeholder 2"/>
          <p:cNvSpPr txBox="1"/>
          <p:nvPr/>
        </p:nvSpPr>
        <p:spPr>
          <a:xfrm>
            <a:off x="4980690" y="1600200"/>
            <a:ext cx="4012622" cy="4525963"/>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342900" indent="-342900">
              <a:spcBef>
                <a:spcPts val="700"/>
              </a:spcBef>
              <a:buSzPct val="100000"/>
              <a:buFont typeface="Arial"/>
              <a:buChar char="•"/>
              <a:defRPr sz="3200">
                <a:latin typeface="Times New Roman"/>
                <a:ea typeface="Times New Roman"/>
                <a:cs typeface="Times New Roman"/>
                <a:sym typeface="Times New Roman"/>
              </a:defRPr>
            </a:pPr>
            <a:r>
              <a:t>Attendance</a:t>
            </a:r>
          </a:p>
          <a:p>
            <a:pPr marL="342900" indent="-342900">
              <a:spcBef>
                <a:spcPts val="700"/>
              </a:spcBef>
              <a:buSzPct val="100000"/>
              <a:buFont typeface="Arial"/>
              <a:buChar char="•"/>
              <a:defRPr sz="3200">
                <a:latin typeface="Times New Roman"/>
                <a:ea typeface="Times New Roman"/>
                <a:cs typeface="Times New Roman"/>
                <a:sym typeface="Times New Roman"/>
              </a:defRPr>
            </a:pPr>
            <a:r>
              <a:t>Study hours</a:t>
            </a:r>
          </a:p>
          <a:p>
            <a:pPr marL="342900" indent="-342900">
              <a:spcBef>
                <a:spcPts val="700"/>
              </a:spcBef>
              <a:buSzPct val="100000"/>
              <a:buFont typeface="Arial"/>
              <a:buChar char="•"/>
              <a:defRPr sz="3200">
                <a:latin typeface="Times New Roman"/>
                <a:ea typeface="Times New Roman"/>
                <a:cs typeface="Times New Roman"/>
                <a:sym typeface="Times New Roman"/>
              </a:defRPr>
            </a:pPr>
            <a:r>
              <a:t>Assessment scores</a:t>
            </a:r>
          </a:p>
          <a:p>
            <a:pPr marL="342900" indent="-342900">
              <a:spcBef>
                <a:spcPts val="700"/>
              </a:spcBef>
              <a:buSzPct val="100000"/>
              <a:buFont typeface="Arial"/>
              <a:buChar char="•"/>
              <a:defRPr sz="3200">
                <a:latin typeface="Times New Roman"/>
                <a:ea typeface="Times New Roman"/>
                <a:cs typeface="Times New Roman"/>
                <a:sym typeface="Times New Roman"/>
              </a:defRPr>
            </a:pPr>
            <a:r>
              <a:t>Improvement areas</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1330183-FF27-B82F-2607-479CD6E5A5EE}"/>
              </a:ext>
            </a:extLst>
          </p:cNvPr>
          <p:cNvSpPr>
            <a:spLocks noGrp="1"/>
          </p:cNvSpPr>
          <p:nvPr>
            <p:ph idx="1"/>
          </p:nvPr>
        </p:nvSpPr>
        <p:spPr>
          <a:xfrm>
            <a:off x="452063" y="295383"/>
            <a:ext cx="8455631" cy="6267234"/>
          </a:xfrm>
        </p:spPr>
        <p:txBody>
          <a:bodyPr>
            <a:normAutofit/>
          </a:bodyPr>
          <a:lstStyle/>
          <a:p>
            <a:pPr algn="just">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Analytical thinking</a:t>
            </a:r>
            <a:r>
              <a:rPr lang="en-US" sz="2200" dirty="0">
                <a:latin typeface="Times New Roman" panose="02020603050405020304" pitchFamily="18" charset="0"/>
                <a:cs typeface="Times New Roman" panose="02020603050405020304" pitchFamily="18" charset="0"/>
              </a:rPr>
              <a:t> is the ability to examine information systematically, break complex problems into smaller parts, identify relationships among components, and determine the underlying causes of issues. It helps individuals make logical and informed decisions.</a:t>
            </a:r>
          </a:p>
          <a:p>
            <a:pPr algn="just">
              <a:buNone/>
            </a:pPr>
            <a:r>
              <a:rPr lang="en-US" sz="2200" b="1" dirty="0">
                <a:solidFill>
                  <a:srgbClr val="006600"/>
                </a:solidFill>
                <a:latin typeface="Times New Roman" panose="02020603050405020304" pitchFamily="18" charset="0"/>
                <a:cs typeface="Times New Roman" panose="02020603050405020304" pitchFamily="18" charset="0"/>
              </a:rPr>
              <a:t>1. Breaking Problems into Parts</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Analytical thinkers divide a complex problem into smaller, manageable components to understand it better and solve it effectively.</a:t>
            </a:r>
          </a:p>
          <a:p>
            <a:pPr algn="just">
              <a:buNone/>
            </a:pPr>
            <a:r>
              <a:rPr lang="en-US" sz="2200" b="1" dirty="0">
                <a:latin typeface="Times New Roman" panose="02020603050405020304" pitchFamily="18" charset="0"/>
                <a:cs typeface="Times New Roman" panose="02020603050405020304" pitchFamily="18" charset="0"/>
              </a:rPr>
              <a:t>Example: </a:t>
            </a:r>
            <a:r>
              <a:rPr lang="en-US" sz="2200" dirty="0">
                <a:latin typeface="Times New Roman" panose="02020603050405020304" pitchFamily="18" charset="0"/>
                <a:cs typeface="Times New Roman" panose="02020603050405020304" pitchFamily="18" charset="0"/>
              </a:rPr>
              <a:t>A university notices a decline in student performance. Instead of treating it as a single issue, the academic team analyzes attendance records, teaching methods, assessment patterns, study habits, and student feedback separately.</a:t>
            </a:r>
          </a:p>
          <a:p>
            <a:pPr algn="just">
              <a:buNone/>
            </a:pPr>
            <a:r>
              <a:rPr lang="en-US" sz="2200" b="1" dirty="0">
                <a:solidFill>
                  <a:srgbClr val="006600"/>
                </a:solidFill>
                <a:latin typeface="Times New Roman" panose="02020603050405020304" pitchFamily="18" charset="0"/>
                <a:cs typeface="Times New Roman" panose="02020603050405020304" pitchFamily="18" charset="0"/>
              </a:rPr>
              <a:t>2. Understanding Relationships</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Analytical thinking involves identifying how different factors influence one another and recognizing patterns or connections.</a:t>
            </a:r>
          </a:p>
          <a:p>
            <a:pPr algn="just">
              <a:buNone/>
            </a:pPr>
            <a:r>
              <a:rPr lang="en-US" sz="2200" b="1" dirty="0">
                <a:latin typeface="Times New Roman" panose="02020603050405020304" pitchFamily="18" charset="0"/>
                <a:cs typeface="Times New Roman" panose="02020603050405020304" pitchFamily="18" charset="0"/>
              </a:rPr>
              <a:t>Example: </a:t>
            </a:r>
            <a:r>
              <a:rPr lang="en-US" sz="2200" dirty="0">
                <a:latin typeface="Times New Roman" panose="02020603050405020304" pitchFamily="18" charset="0"/>
                <a:cs typeface="Times New Roman" panose="02020603050405020304" pitchFamily="18" charset="0"/>
              </a:rPr>
              <a:t>A data analyst studying online shopping behavior discovers that customers who receive personalized product recommendations are more likely to make purchases. Understanding this relationship helps improve marketing strategies.</a:t>
            </a:r>
          </a:p>
          <a:p>
            <a:endParaRPr lang="en-IN" dirty="0"/>
          </a:p>
        </p:txBody>
      </p:sp>
    </p:spTree>
    <p:extLst>
      <p:ext uri="{BB962C8B-B14F-4D97-AF65-F5344CB8AC3E}">
        <p14:creationId xmlns:p14="http://schemas.microsoft.com/office/powerpoint/2010/main" val="39228140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F633D4-ACC8-7DC5-0D8D-C8B1289B34D3}"/>
              </a:ext>
            </a:extLst>
          </p:cNvPr>
          <p:cNvSpPr>
            <a:spLocks noGrp="1"/>
          </p:cNvSpPr>
          <p:nvPr>
            <p:ph idx="1"/>
          </p:nvPr>
        </p:nvSpPr>
        <p:spPr>
          <a:xfrm>
            <a:off x="628649" y="369870"/>
            <a:ext cx="7909175" cy="6113123"/>
          </a:xfrm>
        </p:spPr>
        <p:txBody>
          <a:bodyPr>
            <a:normAutofit/>
          </a:bodyPr>
          <a:lstStyle/>
          <a:p>
            <a:pPr>
              <a:buNone/>
            </a:pPr>
            <a:r>
              <a:rPr lang="en-US" sz="2200" b="1" dirty="0">
                <a:solidFill>
                  <a:srgbClr val="006600"/>
                </a:solidFill>
                <a:latin typeface="Times New Roman" panose="02020603050405020304" pitchFamily="18" charset="0"/>
                <a:cs typeface="Times New Roman" panose="02020603050405020304" pitchFamily="18" charset="0"/>
              </a:rPr>
              <a:t>3. Finding Root Causes</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Rather than addressing symptoms, analytical thinkers investigate the fundamental reason behind a problem.</a:t>
            </a:r>
          </a:p>
          <a:p>
            <a:pPr algn="just">
              <a:buNone/>
            </a:pPr>
            <a:r>
              <a:rPr lang="en-US" sz="2200" b="1" dirty="0">
                <a:latin typeface="Times New Roman" panose="02020603050405020304" pitchFamily="18" charset="0"/>
                <a:cs typeface="Times New Roman" panose="02020603050405020304" pitchFamily="18" charset="0"/>
              </a:rPr>
              <a:t>Example: </a:t>
            </a:r>
            <a:r>
              <a:rPr lang="en-US" sz="2200" dirty="0">
                <a:latin typeface="Times New Roman" panose="02020603050405020304" pitchFamily="18" charset="0"/>
                <a:cs typeface="Times New Roman" panose="02020603050405020304" pitchFamily="18" charset="0"/>
              </a:rPr>
              <a:t>A manufacturing company experiences frequent machine breakdowns. Instead of repeatedly repairing the machines, the maintenance team analyzes operational data and discovers that inadequate lubrication schedules are the root cause. Correcting the maintenance process prevents future failures.</a:t>
            </a:r>
          </a:p>
          <a:p>
            <a:pPr algn="just">
              <a:buNone/>
            </a:pPr>
            <a:r>
              <a:rPr lang="en-US" sz="2200" b="1" dirty="0">
                <a:latin typeface="Times New Roman" panose="02020603050405020304" pitchFamily="18" charset="0"/>
                <a:cs typeface="Times New Roman" panose="02020603050405020304" pitchFamily="18" charset="0"/>
              </a:rPr>
              <a:t>Characteristics of Analytical Thinkers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Logical and systematic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Detail-oriented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Evidence-based decision makers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Good at identifying patterns and trends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Strong problem-solving abilities </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Objective and fact-focused</a:t>
            </a:r>
          </a:p>
          <a:p>
            <a:endParaRPr lang="en-IN" dirty="0"/>
          </a:p>
        </p:txBody>
      </p:sp>
    </p:spTree>
    <p:extLst>
      <p:ext uri="{BB962C8B-B14F-4D97-AF65-F5344CB8AC3E}">
        <p14:creationId xmlns:p14="http://schemas.microsoft.com/office/powerpoint/2010/main" val="19185521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D4934-8C79-1F72-1D7F-7F36EB1C84D2}"/>
              </a:ext>
            </a:extLst>
          </p:cNvPr>
          <p:cNvSpPr>
            <a:spLocks noGrp="1"/>
          </p:cNvSpPr>
          <p:nvPr>
            <p:ph idx="1"/>
          </p:nvPr>
        </p:nvSpPr>
        <p:spPr>
          <a:xfrm>
            <a:off x="628650" y="493160"/>
            <a:ext cx="7886700" cy="6020656"/>
          </a:xfrm>
        </p:spPr>
        <p:txBody>
          <a:bodyPr>
            <a:normAutofit lnSpcReduction="10000"/>
          </a:bodyPr>
          <a:lstStyle/>
          <a:p>
            <a:pPr>
              <a:buNone/>
            </a:pPr>
            <a:r>
              <a:rPr lang="en-US" sz="2400" b="1" dirty="0">
                <a:latin typeface="Times New Roman" panose="02020603050405020304" pitchFamily="18" charset="0"/>
                <a:cs typeface="Times New Roman" panose="02020603050405020304" pitchFamily="18" charset="0"/>
              </a:rPr>
              <a:t>Example: </a:t>
            </a:r>
            <a:r>
              <a:rPr lang="en-US" sz="2400" dirty="0">
                <a:latin typeface="Times New Roman" panose="02020603050405020304" pitchFamily="18" charset="0"/>
                <a:cs typeface="Times New Roman" panose="02020603050405020304" pitchFamily="18" charset="0"/>
              </a:rPr>
              <a:t>A software company receives a large number of customer complaints about its mobile application.</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An analytical thinker would:</a:t>
            </a:r>
          </a:p>
          <a:p>
            <a:pPr marL="800100" lvl="1" indent="-457200">
              <a:buFont typeface="+mj-lt"/>
              <a:buAutoNum type="arabicParenR"/>
            </a:pPr>
            <a:r>
              <a:rPr lang="en-US" sz="2400" dirty="0">
                <a:latin typeface="Times New Roman" panose="02020603050405020304" pitchFamily="18" charset="0"/>
                <a:cs typeface="Times New Roman" panose="02020603050405020304" pitchFamily="18" charset="0"/>
              </a:rPr>
              <a:t>Break the problem into parts (app performance, user interface, login process, network issues, and customer feedback). </a:t>
            </a:r>
          </a:p>
          <a:p>
            <a:pPr marL="800100" lvl="1" indent="-457200">
              <a:buFont typeface="+mj-lt"/>
              <a:buAutoNum type="arabicParenR"/>
            </a:pPr>
            <a:r>
              <a:rPr lang="en-US" sz="2400" dirty="0">
                <a:latin typeface="Times New Roman" panose="02020603050405020304" pitchFamily="18" charset="0"/>
                <a:cs typeface="Times New Roman" panose="02020603050405020304" pitchFamily="18" charset="0"/>
              </a:rPr>
              <a:t>Analyze the relationships between user complaints and app usage data. </a:t>
            </a:r>
          </a:p>
          <a:p>
            <a:pPr marL="800100" lvl="1" indent="-457200">
              <a:buFont typeface="+mj-lt"/>
              <a:buAutoNum type="arabicParenR"/>
            </a:pPr>
            <a:r>
              <a:rPr lang="en-US" sz="2400" dirty="0">
                <a:latin typeface="Times New Roman" panose="02020603050405020304" pitchFamily="18" charset="0"/>
                <a:cs typeface="Times New Roman" panose="02020603050405020304" pitchFamily="18" charset="0"/>
              </a:rPr>
              <a:t>Identify the root cause (for example, the app crashes frequently after a recent software update). </a:t>
            </a:r>
          </a:p>
          <a:p>
            <a:pPr marL="800100" lvl="1" indent="-457200">
              <a:buFont typeface="+mj-lt"/>
              <a:buAutoNum type="arabicParenR"/>
            </a:pPr>
            <a:r>
              <a:rPr lang="en-US" sz="2400" dirty="0">
                <a:latin typeface="Times New Roman" panose="02020603050405020304" pitchFamily="18" charset="0"/>
                <a:cs typeface="Times New Roman" panose="02020603050405020304" pitchFamily="18" charset="0"/>
              </a:rPr>
              <a:t>Implement a solution by fixing the bugs and thoroughly testing the updated version before release. </a:t>
            </a:r>
          </a:p>
          <a:p>
            <a:pPr>
              <a:buNone/>
            </a:pPr>
            <a:r>
              <a:rPr lang="en-US" sz="2400" b="1" dirty="0">
                <a:latin typeface="Times New Roman" panose="02020603050405020304" pitchFamily="18" charset="0"/>
                <a:cs typeface="Times New Roman" panose="02020603050405020304" pitchFamily="18" charset="0"/>
              </a:rPr>
              <a:t>Result: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number of app crashes decreases, customer complaints reduce significantly, user satisfaction improves, and app ratings increase.</a:t>
            </a:r>
          </a:p>
          <a:p>
            <a:endParaRPr lang="en-IN" dirty="0"/>
          </a:p>
        </p:txBody>
      </p:sp>
    </p:spTree>
    <p:extLst>
      <p:ext uri="{BB962C8B-B14F-4D97-AF65-F5344CB8AC3E}">
        <p14:creationId xmlns:p14="http://schemas.microsoft.com/office/powerpoint/2010/main" val="5234735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itle 1"/>
          <p:cNvSpPr txBox="1">
            <a:spLocks noGrp="1"/>
          </p:cNvSpPr>
          <p:nvPr>
            <p:ph type="title"/>
          </p:nvPr>
        </p:nvSpPr>
        <p:spPr>
          <a:xfrm>
            <a:off x="457199" y="274638"/>
            <a:ext cx="4594845" cy="1143001"/>
          </a:xfrm>
          <a:prstGeom prst="rect">
            <a:avLst/>
          </a:prstGeom>
        </p:spPr>
        <p:txBody>
          <a:bodyPr>
            <a:normAutofit/>
          </a:bodyPr>
          <a:lstStyle>
            <a:lvl1pPr>
              <a:defRPr>
                <a:latin typeface="Times New Roman"/>
                <a:ea typeface="Times New Roman"/>
                <a:cs typeface="Times New Roman"/>
                <a:sym typeface="Times New Roman"/>
              </a:defRPr>
            </a:lvl1pPr>
          </a:lstStyle>
          <a:p>
            <a:r>
              <a:rPr lang="en-US" dirty="0">
                <a:solidFill>
                  <a:srgbClr val="D60093"/>
                </a:solidFill>
              </a:rPr>
              <a:t>d) </a:t>
            </a:r>
            <a:r>
              <a:rPr dirty="0">
                <a:solidFill>
                  <a:srgbClr val="D60093"/>
                </a:solidFill>
              </a:rPr>
              <a:t>Logical Thinking</a:t>
            </a:r>
          </a:p>
        </p:txBody>
      </p:sp>
      <p:sp>
        <p:nvSpPr>
          <p:cNvPr id="181" name="Content Placeholder 2"/>
          <p:cNvSpPr txBox="1">
            <a:spLocks noGrp="1"/>
          </p:cNvSpPr>
          <p:nvPr>
            <p:ph type="body" sz="half" idx="1"/>
          </p:nvPr>
        </p:nvSpPr>
        <p:spPr>
          <a:xfrm>
            <a:off x="457200" y="1600200"/>
            <a:ext cx="4594845" cy="4525963"/>
          </a:xfrm>
          <a:prstGeom prst="rect">
            <a:avLst/>
          </a:prstGeom>
          <a:solidFill>
            <a:schemeClr val="accent2">
              <a:satOff val="-4966"/>
              <a:lumOff val="-10549"/>
            </a:schemeClr>
          </a:solidFill>
        </p:spPr>
        <p:txBody>
          <a:bodyPr/>
          <a:lstStyle/>
          <a:p>
            <a:pPr>
              <a:defRPr>
                <a:latin typeface="Times New Roman"/>
                <a:ea typeface="Times New Roman"/>
                <a:cs typeface="Times New Roman"/>
                <a:sym typeface="Times New Roman"/>
              </a:defRPr>
            </a:pPr>
            <a:r>
              <a:rPr dirty="0"/>
              <a:t>Sequential reasoning</a:t>
            </a:r>
          </a:p>
          <a:p>
            <a:pPr>
              <a:defRPr>
                <a:latin typeface="Times New Roman"/>
                <a:ea typeface="Times New Roman"/>
                <a:cs typeface="Times New Roman"/>
                <a:sym typeface="Times New Roman"/>
              </a:defRPr>
            </a:pPr>
            <a:r>
              <a:rPr dirty="0"/>
              <a:t>Cause-and-effect analysis</a:t>
            </a:r>
          </a:p>
          <a:p>
            <a:pPr>
              <a:defRPr>
                <a:latin typeface="Times New Roman"/>
                <a:ea typeface="Times New Roman"/>
                <a:cs typeface="Times New Roman"/>
                <a:sym typeface="Times New Roman"/>
              </a:defRPr>
            </a:pPr>
            <a:r>
              <a:rPr dirty="0"/>
              <a:t>Structured conclusions</a:t>
            </a:r>
          </a:p>
        </p:txBody>
      </p:sp>
      <p:sp>
        <p:nvSpPr>
          <p:cNvPr id="182" name="Title 1"/>
          <p:cNvSpPr txBox="1"/>
          <p:nvPr/>
        </p:nvSpPr>
        <p:spPr>
          <a:xfrm>
            <a:off x="4635500" y="274638"/>
            <a:ext cx="4104454"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a:defRPr sz="4400">
                <a:latin typeface="Times New Roman"/>
                <a:ea typeface="Times New Roman"/>
                <a:cs typeface="Times New Roman"/>
                <a:sym typeface="Times New Roman"/>
              </a:defRPr>
            </a:lvl1pPr>
          </a:lstStyle>
          <a:p>
            <a:r>
              <a:t>Example</a:t>
            </a:r>
          </a:p>
        </p:txBody>
      </p:sp>
      <p:sp>
        <p:nvSpPr>
          <p:cNvPr id="183" name="Content Placeholder 2"/>
          <p:cNvSpPr txBox="1"/>
          <p:nvPr/>
        </p:nvSpPr>
        <p:spPr>
          <a:xfrm>
            <a:off x="4980690" y="1600200"/>
            <a:ext cx="4012622" cy="4525963"/>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lvl1pPr marL="342900" indent="-342900">
              <a:spcBef>
                <a:spcPts val="700"/>
              </a:spcBef>
              <a:buSzPct val="100000"/>
              <a:buFont typeface="Arial"/>
              <a:buChar char="•"/>
              <a:defRPr sz="3200">
                <a:latin typeface="Times New Roman"/>
                <a:ea typeface="Times New Roman"/>
                <a:cs typeface="Times New Roman"/>
                <a:sym typeface="Times New Roman"/>
              </a:defRPr>
            </a:lvl1pPr>
          </a:lstStyle>
          <a:p>
            <a:r>
              <a:t>Make a plan to learn a topic</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1330183-FF27-B82F-2607-479CD6E5A5EE}"/>
              </a:ext>
            </a:extLst>
          </p:cNvPr>
          <p:cNvSpPr>
            <a:spLocks noGrp="1"/>
          </p:cNvSpPr>
          <p:nvPr>
            <p:ph idx="1"/>
          </p:nvPr>
        </p:nvSpPr>
        <p:spPr>
          <a:xfrm>
            <a:off x="628650" y="421240"/>
            <a:ext cx="7886700" cy="6102850"/>
          </a:xfrm>
        </p:spPr>
        <p:txBody>
          <a:bodyPr>
            <a:normAutofit fontScale="92500" lnSpcReduction="10000"/>
          </a:bodyPr>
          <a:lstStyle/>
          <a:p>
            <a:pPr algn="just">
              <a:buFont typeface="Wingdings" panose="05000000000000000000" pitchFamily="2" charset="2"/>
              <a:buChar char="ü"/>
            </a:pPr>
            <a:r>
              <a:rPr lang="en-US" sz="2500" b="1" dirty="0">
                <a:latin typeface="Times New Roman" panose="02020603050405020304" pitchFamily="18" charset="0"/>
                <a:cs typeface="Times New Roman" panose="02020603050405020304" pitchFamily="18" charset="0"/>
              </a:rPr>
              <a:t>Logical thinking</a:t>
            </a:r>
            <a:r>
              <a:rPr lang="en-US" sz="2500" dirty="0">
                <a:latin typeface="Times New Roman" panose="02020603050405020304" pitchFamily="18" charset="0"/>
                <a:cs typeface="Times New Roman" panose="02020603050405020304" pitchFamily="18" charset="0"/>
              </a:rPr>
              <a:t> is the process of using reason, facts, and systematic steps to analyze information and arrive at valid conclusions. It helps individuals make decisions based on evidence rather than assumptions or emotions.</a:t>
            </a:r>
          </a:p>
          <a:p>
            <a:pPr algn="just">
              <a:buNone/>
            </a:pPr>
            <a:r>
              <a:rPr lang="en-US" sz="2500" b="1" dirty="0">
                <a:solidFill>
                  <a:schemeClr val="accent2">
                    <a:lumMod val="75000"/>
                  </a:schemeClr>
                </a:solidFill>
                <a:latin typeface="Times New Roman" panose="02020603050405020304" pitchFamily="18" charset="0"/>
                <a:cs typeface="Times New Roman" panose="02020603050405020304" pitchFamily="18" charset="0"/>
              </a:rPr>
              <a:t>1. Sequential Reasoning</a:t>
            </a:r>
          </a:p>
          <a:p>
            <a:pPr algn="just">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Sequential reasoning involves following a series of logical steps in the correct order to solve a problem or reach a conclusion.</a:t>
            </a:r>
          </a:p>
          <a:p>
            <a:pPr>
              <a:buNone/>
            </a:pPr>
            <a:r>
              <a:rPr lang="en-US" sz="2500" b="1" dirty="0">
                <a:latin typeface="Times New Roman" panose="02020603050405020304" pitchFamily="18" charset="0"/>
                <a:cs typeface="Times New Roman" panose="02020603050405020304" pitchFamily="18" charset="0"/>
              </a:rPr>
              <a:t>Example:</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A student follows these steps to solve a programming problem:</a:t>
            </a:r>
          </a:p>
          <a:p>
            <a:pPr marL="800100" lvl="1" indent="-457200" algn="just">
              <a:buFont typeface="+mj-lt"/>
              <a:buAutoNum type="alphaLcParenR"/>
            </a:pPr>
            <a:r>
              <a:rPr lang="en-US" sz="2500" dirty="0">
                <a:latin typeface="Times New Roman" panose="02020603050405020304" pitchFamily="18" charset="0"/>
                <a:cs typeface="Times New Roman" panose="02020603050405020304" pitchFamily="18" charset="0"/>
              </a:rPr>
              <a:t>Understand the problem statement. </a:t>
            </a:r>
          </a:p>
          <a:p>
            <a:pPr marL="800100" lvl="1" indent="-457200" algn="just">
              <a:buFont typeface="+mj-lt"/>
              <a:buAutoNum type="alphaLcParenR"/>
            </a:pPr>
            <a:r>
              <a:rPr lang="en-US" sz="2500" dirty="0">
                <a:latin typeface="Times New Roman" panose="02020603050405020304" pitchFamily="18" charset="0"/>
                <a:cs typeface="Times New Roman" panose="02020603050405020304" pitchFamily="18" charset="0"/>
              </a:rPr>
              <a:t>Design an algorithm. </a:t>
            </a:r>
          </a:p>
          <a:p>
            <a:pPr marL="800100" lvl="1" indent="-457200" algn="just">
              <a:buFont typeface="+mj-lt"/>
              <a:buAutoNum type="alphaLcParenR"/>
            </a:pPr>
            <a:r>
              <a:rPr lang="en-US" sz="2500" dirty="0">
                <a:latin typeface="Times New Roman" panose="02020603050405020304" pitchFamily="18" charset="0"/>
                <a:cs typeface="Times New Roman" panose="02020603050405020304" pitchFamily="18" charset="0"/>
              </a:rPr>
              <a:t>Write the code. </a:t>
            </a:r>
          </a:p>
          <a:p>
            <a:pPr marL="800100" lvl="1" indent="-457200" algn="just">
              <a:buFont typeface="+mj-lt"/>
              <a:buAutoNum type="alphaLcParenR"/>
            </a:pPr>
            <a:r>
              <a:rPr lang="en-US" sz="2500" dirty="0">
                <a:latin typeface="Times New Roman" panose="02020603050405020304" pitchFamily="18" charset="0"/>
                <a:cs typeface="Times New Roman" panose="02020603050405020304" pitchFamily="18" charset="0"/>
              </a:rPr>
              <a:t>Test the program. </a:t>
            </a:r>
          </a:p>
          <a:p>
            <a:pPr marL="800100" lvl="1" indent="-457200" algn="just">
              <a:buFont typeface="+mj-lt"/>
              <a:buAutoNum type="alphaLcParenR"/>
            </a:pPr>
            <a:r>
              <a:rPr lang="en-US" sz="2500" dirty="0">
                <a:latin typeface="Times New Roman" panose="02020603050405020304" pitchFamily="18" charset="0"/>
                <a:cs typeface="Times New Roman" panose="02020603050405020304" pitchFamily="18" charset="0"/>
              </a:rPr>
              <a:t>Debug errors if necessary. </a:t>
            </a:r>
          </a:p>
          <a:p>
            <a:pPr algn="just">
              <a:buNone/>
            </a:pPr>
            <a:endParaRPr lang="en-US" sz="2500" dirty="0">
              <a:latin typeface="Times New Roman" panose="02020603050405020304" pitchFamily="18" charset="0"/>
              <a:cs typeface="Times New Roman" panose="02020603050405020304" pitchFamily="18" charset="0"/>
            </a:endParaRPr>
          </a:p>
          <a:p>
            <a:pPr algn="just">
              <a:buNone/>
            </a:pPr>
            <a:r>
              <a:rPr lang="en-US" sz="2500" dirty="0">
                <a:latin typeface="Times New Roman" panose="02020603050405020304" pitchFamily="18" charset="0"/>
                <a:cs typeface="Times New Roman" panose="02020603050405020304" pitchFamily="18" charset="0"/>
              </a:rPr>
              <a:t>Each step logically follows the previous one.</a:t>
            </a:r>
          </a:p>
          <a:p>
            <a:endParaRPr lang="en-IN" dirty="0"/>
          </a:p>
        </p:txBody>
      </p:sp>
    </p:spTree>
    <p:extLst>
      <p:ext uri="{BB962C8B-B14F-4D97-AF65-F5344CB8AC3E}">
        <p14:creationId xmlns:p14="http://schemas.microsoft.com/office/powerpoint/2010/main" val="999169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F11CE8-B5FF-1CE9-81A6-0A2584E41C32}"/>
              </a:ext>
            </a:extLst>
          </p:cNvPr>
          <p:cNvSpPr>
            <a:spLocks noGrp="1"/>
          </p:cNvSpPr>
          <p:nvPr>
            <p:ph idx="1"/>
          </p:nvPr>
        </p:nvSpPr>
        <p:spPr>
          <a:xfrm>
            <a:off x="628650" y="184935"/>
            <a:ext cx="7886700" cy="5992028"/>
          </a:xfrm>
        </p:spPr>
        <p:txBody>
          <a:bodyPr>
            <a:normAutofit/>
          </a:bodyPr>
          <a:lstStyle/>
          <a:p>
            <a:pPr>
              <a:buNone/>
            </a:pPr>
            <a:r>
              <a:rPr lang="en-US" sz="2300" b="1" dirty="0">
                <a:solidFill>
                  <a:schemeClr val="accent2">
                    <a:lumMod val="75000"/>
                  </a:schemeClr>
                </a:solidFill>
                <a:latin typeface="Times New Roman" panose="02020603050405020304" pitchFamily="18" charset="0"/>
                <a:cs typeface="Times New Roman" panose="02020603050405020304" pitchFamily="18" charset="0"/>
              </a:rPr>
              <a:t>2. Cause-and-Effect Analysis</a:t>
            </a:r>
          </a:p>
          <a:p>
            <a:pPr>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Logical thinkers identify how one event or action leads to another.</a:t>
            </a:r>
          </a:p>
          <a:p>
            <a:pPr>
              <a:buNone/>
            </a:pPr>
            <a:r>
              <a:rPr lang="en-US" sz="2300" b="1" dirty="0">
                <a:latin typeface="Times New Roman" panose="02020603050405020304" pitchFamily="18" charset="0"/>
                <a:cs typeface="Times New Roman" panose="02020603050405020304" pitchFamily="18" charset="0"/>
              </a:rPr>
              <a:t>Example:</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A company notices lower website traffic.</a:t>
            </a:r>
          </a:p>
          <a:p>
            <a:pPr lvl="1"/>
            <a:r>
              <a:rPr lang="en-US" sz="2300" dirty="0">
                <a:latin typeface="Times New Roman" panose="02020603050405020304" pitchFamily="18" charset="0"/>
                <a:cs typeface="Times New Roman" panose="02020603050405020304" pitchFamily="18" charset="0"/>
              </a:rPr>
              <a:t>Cause: Reduced social media marketing activities. </a:t>
            </a:r>
          </a:p>
          <a:p>
            <a:pPr lvl="1"/>
            <a:r>
              <a:rPr lang="en-US" sz="2300" dirty="0">
                <a:latin typeface="Times New Roman" panose="02020603050405020304" pitchFamily="18" charset="0"/>
                <a:cs typeface="Times New Roman" panose="02020603050405020304" pitchFamily="18" charset="0"/>
              </a:rPr>
              <a:t>Effect: Fewer visitors reach the website. </a:t>
            </a:r>
          </a:p>
          <a:p>
            <a:pPr lvl="1"/>
            <a:r>
              <a:rPr lang="en-US" sz="2300" dirty="0">
                <a:latin typeface="Times New Roman" panose="02020603050405020304" pitchFamily="18" charset="0"/>
                <a:cs typeface="Times New Roman" panose="02020603050405020304" pitchFamily="18" charset="0"/>
              </a:rPr>
              <a:t>Conclusion: Increasing marketing efforts may improve website traffic.</a:t>
            </a:r>
          </a:p>
          <a:p>
            <a:pPr>
              <a:buNone/>
            </a:pPr>
            <a:r>
              <a:rPr lang="en-US" sz="2300" b="1" dirty="0">
                <a:solidFill>
                  <a:schemeClr val="accent2">
                    <a:lumMod val="75000"/>
                  </a:schemeClr>
                </a:solidFill>
                <a:latin typeface="Times New Roman" panose="02020603050405020304" pitchFamily="18" charset="0"/>
                <a:cs typeface="Times New Roman" panose="02020603050405020304" pitchFamily="18" charset="0"/>
              </a:rPr>
              <a:t>3. Structured Conclusions</a:t>
            </a:r>
          </a:p>
          <a:p>
            <a:pPr>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Logical thinking helps draw conclusions that are supported by facts and evidence.</a:t>
            </a:r>
          </a:p>
          <a:p>
            <a:pPr algn="just">
              <a:buNone/>
            </a:pPr>
            <a:r>
              <a:rPr lang="en-US" sz="2300" b="1" dirty="0">
                <a:latin typeface="Times New Roman" panose="02020603050405020304" pitchFamily="18" charset="0"/>
                <a:cs typeface="Times New Roman" panose="02020603050405020304" pitchFamily="18" charset="0"/>
              </a:rPr>
              <a:t>Example: </a:t>
            </a:r>
            <a:r>
              <a:rPr lang="en-US" sz="2300" dirty="0">
                <a:latin typeface="Times New Roman" panose="02020603050405020304" pitchFamily="18" charset="0"/>
                <a:cs typeface="Times New Roman" panose="02020603050405020304" pitchFamily="18" charset="0"/>
              </a:rPr>
              <a:t>A teacher observes that students who attend more than 90% of classes consistently score higher in exams. Based on this evidence, the teacher concludes that regular attendance contributes to better academic performance.</a:t>
            </a:r>
          </a:p>
          <a:p>
            <a:endParaRPr lang="en-IN" dirty="0"/>
          </a:p>
        </p:txBody>
      </p:sp>
    </p:spTree>
    <p:extLst>
      <p:ext uri="{BB962C8B-B14F-4D97-AF65-F5344CB8AC3E}">
        <p14:creationId xmlns:p14="http://schemas.microsoft.com/office/powerpoint/2010/main" val="35523567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DE1E21-A2D5-D192-89B5-777A8060329B}"/>
              </a:ext>
            </a:extLst>
          </p:cNvPr>
          <p:cNvSpPr>
            <a:spLocks noGrp="1"/>
          </p:cNvSpPr>
          <p:nvPr>
            <p:ph idx="1"/>
          </p:nvPr>
        </p:nvSpPr>
        <p:spPr>
          <a:xfrm>
            <a:off x="410966" y="372438"/>
            <a:ext cx="8578921" cy="6113123"/>
          </a:xfrm>
        </p:spPr>
        <p:txBody>
          <a:bodyPr>
            <a:normAutofit fontScale="85000" lnSpcReduction="20000"/>
          </a:bodyPr>
          <a:lstStyle/>
          <a:p>
            <a:pPr>
              <a:buNone/>
            </a:pPr>
            <a:r>
              <a:rPr lang="en-US" sz="2700" b="1" dirty="0">
                <a:latin typeface="Times New Roman" panose="02020603050405020304" pitchFamily="18" charset="0"/>
                <a:cs typeface="Times New Roman" panose="02020603050405020304" pitchFamily="18" charset="0"/>
              </a:rPr>
              <a:t>Characteristics of Logical Thinkers</a:t>
            </a:r>
          </a:p>
          <a:p>
            <a:pPr lvl="1"/>
            <a:r>
              <a:rPr lang="en-US" sz="2700" dirty="0">
                <a:latin typeface="Times New Roman" panose="02020603050405020304" pitchFamily="18" charset="0"/>
                <a:cs typeface="Times New Roman" panose="02020603050405020304" pitchFamily="18" charset="0"/>
              </a:rPr>
              <a:t>Rational and objective </a:t>
            </a:r>
          </a:p>
          <a:p>
            <a:pPr lvl="1"/>
            <a:r>
              <a:rPr lang="en-US" sz="2700" dirty="0">
                <a:latin typeface="Times New Roman" panose="02020603050405020304" pitchFamily="18" charset="0"/>
                <a:cs typeface="Times New Roman" panose="02020603050405020304" pitchFamily="18" charset="0"/>
              </a:rPr>
              <a:t>Systematic in approach </a:t>
            </a:r>
          </a:p>
          <a:p>
            <a:pPr lvl="1"/>
            <a:r>
              <a:rPr lang="en-US" sz="2700" dirty="0">
                <a:latin typeface="Times New Roman" panose="02020603050405020304" pitchFamily="18" charset="0"/>
                <a:cs typeface="Times New Roman" panose="02020603050405020304" pitchFamily="18" charset="0"/>
              </a:rPr>
              <a:t>Fact-based decision makers </a:t>
            </a:r>
          </a:p>
          <a:p>
            <a:pPr lvl="1"/>
            <a:r>
              <a:rPr lang="en-US" sz="2700" dirty="0">
                <a:latin typeface="Times New Roman" panose="02020603050405020304" pitchFamily="18" charset="0"/>
                <a:cs typeface="Times New Roman" panose="02020603050405020304" pitchFamily="18" charset="0"/>
              </a:rPr>
              <a:t>Consistent in reasoning </a:t>
            </a:r>
          </a:p>
          <a:p>
            <a:pPr lvl="1"/>
            <a:r>
              <a:rPr lang="en-US" sz="2700" dirty="0">
                <a:latin typeface="Times New Roman" panose="02020603050405020304" pitchFamily="18" charset="0"/>
                <a:cs typeface="Times New Roman" panose="02020603050405020304" pitchFamily="18" charset="0"/>
              </a:rPr>
              <a:t>Good at identifying patterns and relationships</a:t>
            </a:r>
          </a:p>
          <a:p>
            <a:pPr>
              <a:buNone/>
            </a:pPr>
            <a:r>
              <a:rPr lang="en-US" sz="2700" b="1" dirty="0">
                <a:latin typeface="Times New Roman" panose="02020603050405020304" pitchFamily="18" charset="0"/>
                <a:cs typeface="Times New Roman" panose="02020603050405020304" pitchFamily="18" charset="0"/>
              </a:rPr>
              <a:t>Example</a:t>
            </a:r>
          </a:p>
          <a:p>
            <a:pPr>
              <a:buNone/>
            </a:pPr>
            <a:r>
              <a:rPr lang="en-US" sz="2700" dirty="0">
                <a:latin typeface="Times New Roman" panose="02020603050405020304" pitchFamily="18" charset="0"/>
                <a:cs typeface="Times New Roman" panose="02020603050405020304" pitchFamily="18" charset="0"/>
              </a:rPr>
              <a:t>A company finds that employee productivity has decreased.</a:t>
            </a:r>
          </a:p>
          <a:p>
            <a:pPr>
              <a:buNone/>
            </a:pPr>
            <a:r>
              <a:rPr lang="en-US" sz="2700" dirty="0">
                <a:latin typeface="Times New Roman" panose="02020603050405020304" pitchFamily="18" charset="0"/>
                <a:cs typeface="Times New Roman" panose="02020603050405020304" pitchFamily="18" charset="0"/>
              </a:rPr>
              <a:t>A logical thinker would:</a:t>
            </a:r>
          </a:p>
          <a:p>
            <a:pPr marL="857250" lvl="1" indent="-514350">
              <a:buFont typeface="+mj-lt"/>
              <a:buAutoNum type="arabicParenR"/>
            </a:pPr>
            <a:r>
              <a:rPr lang="en-US" sz="2700" dirty="0">
                <a:latin typeface="Times New Roman" panose="02020603050405020304" pitchFamily="18" charset="0"/>
                <a:cs typeface="Times New Roman" panose="02020603050405020304" pitchFamily="18" charset="0"/>
              </a:rPr>
              <a:t>Collect relevant data (attendance records, workload, employee feedback, and project timelines). </a:t>
            </a:r>
          </a:p>
          <a:p>
            <a:pPr marL="857250" lvl="1" indent="-514350">
              <a:buFont typeface="+mj-lt"/>
              <a:buAutoNum type="arabicParenR"/>
            </a:pPr>
            <a:r>
              <a:rPr lang="en-US" sz="2700" dirty="0">
                <a:latin typeface="Times New Roman" panose="02020603050405020304" pitchFamily="18" charset="0"/>
                <a:cs typeface="Times New Roman" panose="02020603050405020304" pitchFamily="18" charset="0"/>
              </a:rPr>
              <a:t>Analyze cause-and-effect relationships between these factors and productivity. </a:t>
            </a:r>
          </a:p>
          <a:p>
            <a:pPr marL="857250" lvl="1" indent="-514350">
              <a:buFont typeface="+mj-lt"/>
              <a:buAutoNum type="arabicParenR"/>
            </a:pPr>
            <a:r>
              <a:rPr lang="en-US" sz="2700" dirty="0">
                <a:latin typeface="Times New Roman" panose="02020603050405020304" pitchFamily="18" charset="0"/>
                <a:cs typeface="Times New Roman" panose="02020603050405020304" pitchFamily="18" charset="0"/>
              </a:rPr>
              <a:t>Follow a logical sequence to eliminate unlikely causes and identify the main issue. </a:t>
            </a:r>
          </a:p>
          <a:p>
            <a:pPr marL="857250" lvl="1" indent="-514350">
              <a:buFont typeface="+mj-lt"/>
              <a:buAutoNum type="arabicParenR"/>
            </a:pPr>
            <a:r>
              <a:rPr lang="en-US" sz="2700" dirty="0">
                <a:latin typeface="Times New Roman" panose="02020603050405020304" pitchFamily="18" charset="0"/>
                <a:cs typeface="Times New Roman" panose="02020603050405020304" pitchFamily="18" charset="0"/>
              </a:rPr>
              <a:t>Draw a structured conclusion that excessive workload is causing employee burnout and reduced productivity. </a:t>
            </a:r>
          </a:p>
          <a:p>
            <a:pPr>
              <a:buNone/>
            </a:pPr>
            <a:r>
              <a:rPr lang="en-US" sz="2700" b="1" dirty="0">
                <a:latin typeface="Times New Roman" panose="02020603050405020304" pitchFamily="18" charset="0"/>
                <a:cs typeface="Times New Roman" panose="02020603050405020304" pitchFamily="18" charset="0"/>
              </a:rPr>
              <a:t>Result:</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The company redistributes tasks, improves work-life balance, and employee productivity increases.</a:t>
            </a:r>
          </a:p>
          <a:p>
            <a:endParaRPr lang="en-IN" dirty="0"/>
          </a:p>
        </p:txBody>
      </p:sp>
    </p:spTree>
    <p:extLst>
      <p:ext uri="{BB962C8B-B14F-4D97-AF65-F5344CB8AC3E}">
        <p14:creationId xmlns:p14="http://schemas.microsoft.com/office/powerpoint/2010/main" val="27739388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itle 1"/>
          <p:cNvSpPr txBox="1">
            <a:spLocks noGrp="1"/>
          </p:cNvSpPr>
          <p:nvPr>
            <p:ph type="title"/>
          </p:nvPr>
        </p:nvSpPr>
        <p:spPr>
          <a:xfrm>
            <a:off x="457200" y="274638"/>
            <a:ext cx="4523490" cy="1143001"/>
          </a:xfrm>
          <a:prstGeom prst="rect">
            <a:avLst/>
          </a:prstGeom>
        </p:spPr>
        <p:txBody>
          <a:bodyPr>
            <a:normAutofit fontScale="90000"/>
          </a:bodyPr>
          <a:lstStyle>
            <a:lvl1pPr defTabSz="438911">
              <a:defRPr sz="4224">
                <a:latin typeface="Times New Roman"/>
                <a:ea typeface="Times New Roman"/>
                <a:cs typeface="Times New Roman"/>
                <a:sym typeface="Times New Roman"/>
              </a:defRPr>
            </a:lvl1pPr>
          </a:lstStyle>
          <a:p>
            <a:r>
              <a:rPr lang="en-US" dirty="0">
                <a:solidFill>
                  <a:srgbClr val="D60093"/>
                </a:solidFill>
              </a:rPr>
              <a:t>e) </a:t>
            </a:r>
            <a:r>
              <a:rPr dirty="0">
                <a:solidFill>
                  <a:srgbClr val="D60093"/>
                </a:solidFill>
              </a:rPr>
              <a:t>Strategic Thinking</a:t>
            </a:r>
          </a:p>
        </p:txBody>
      </p:sp>
      <p:sp>
        <p:nvSpPr>
          <p:cNvPr id="186" name="Content Placeholder 2"/>
          <p:cNvSpPr txBox="1">
            <a:spLocks noGrp="1"/>
          </p:cNvSpPr>
          <p:nvPr>
            <p:ph type="body" idx="1"/>
          </p:nvPr>
        </p:nvSpPr>
        <p:spPr>
          <a:xfrm>
            <a:off x="457200" y="1600200"/>
            <a:ext cx="8229600" cy="4525963"/>
          </a:xfrm>
          <a:prstGeom prst="rect">
            <a:avLst/>
          </a:prstGeom>
          <a:solidFill>
            <a:schemeClr val="accent2">
              <a:satOff val="-4966"/>
              <a:lumOff val="-10549"/>
            </a:schemeClr>
          </a:solidFill>
        </p:spPr>
        <p:txBody>
          <a:bodyPr/>
          <a:lstStyle/>
          <a:p>
            <a:pPr>
              <a:defRPr>
                <a:latin typeface="Times New Roman"/>
                <a:ea typeface="Times New Roman"/>
                <a:cs typeface="Times New Roman"/>
                <a:sym typeface="Times New Roman"/>
              </a:defRPr>
            </a:pPr>
            <a:r>
              <a:rPr dirty="0">
                <a:latin typeface="Times New Roman" panose="02020603050405020304" pitchFamily="18" charset="0"/>
                <a:cs typeface="Times New Roman" panose="02020603050405020304" pitchFamily="18" charset="0"/>
              </a:rPr>
              <a:t> Long-term planning</a:t>
            </a:r>
          </a:p>
          <a:p>
            <a:r>
              <a:rPr dirty="0">
                <a:latin typeface="Times New Roman" panose="02020603050405020304" pitchFamily="18" charset="0"/>
                <a:cs typeface="Times New Roman" panose="02020603050405020304" pitchFamily="18" charset="0"/>
              </a:rPr>
              <a:t>Goal-oriented</a:t>
            </a:r>
          </a:p>
          <a:p>
            <a:r>
              <a:rPr dirty="0">
                <a:latin typeface="Times New Roman" panose="02020603050405020304" pitchFamily="18" charset="0"/>
                <a:cs typeface="Times New Roman" panose="02020603050405020304" pitchFamily="18" charset="0"/>
              </a:rPr>
              <a:t>Resource optimization</a:t>
            </a:r>
          </a:p>
          <a:p>
            <a:r>
              <a:rPr dirty="0">
                <a:latin typeface="Times New Roman" panose="02020603050405020304" pitchFamily="18" charset="0"/>
                <a:cs typeface="Times New Roman" panose="02020603050405020304" pitchFamily="18" charset="0"/>
              </a:rPr>
              <a:t>Future-focused</a:t>
            </a:r>
          </a:p>
        </p:txBody>
      </p:sp>
      <p:sp>
        <p:nvSpPr>
          <p:cNvPr id="187" name="Title 1"/>
          <p:cNvSpPr txBox="1"/>
          <p:nvPr/>
        </p:nvSpPr>
        <p:spPr>
          <a:xfrm>
            <a:off x="4635500" y="274638"/>
            <a:ext cx="4104454"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a:defRPr sz="4400">
                <a:latin typeface="Times New Roman"/>
                <a:ea typeface="Times New Roman"/>
                <a:cs typeface="Times New Roman"/>
                <a:sym typeface="Times New Roman"/>
              </a:defRPr>
            </a:lvl1pPr>
          </a:lstStyle>
          <a:p>
            <a:r>
              <a:t>Example</a:t>
            </a:r>
          </a:p>
        </p:txBody>
      </p:sp>
      <p:sp>
        <p:nvSpPr>
          <p:cNvPr id="188" name="Content Placeholder 2"/>
          <p:cNvSpPr txBox="1"/>
          <p:nvPr/>
        </p:nvSpPr>
        <p:spPr>
          <a:xfrm>
            <a:off x="4980690" y="1600200"/>
            <a:ext cx="4012622" cy="4525963"/>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lvl1pPr marL="342900" indent="-342900">
              <a:spcBef>
                <a:spcPts val="700"/>
              </a:spcBef>
              <a:buSzPct val="100000"/>
              <a:buFont typeface="Arial"/>
              <a:buChar char="•"/>
              <a:defRPr sz="3200">
                <a:latin typeface="Times New Roman"/>
                <a:ea typeface="Times New Roman"/>
                <a:cs typeface="Times New Roman"/>
                <a:sym typeface="Times New Roman"/>
              </a:defRPr>
            </a:lvl1pPr>
          </a:lstStyle>
          <a:p>
            <a:r>
              <a:t>Convene a classevent</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1330183-FF27-B82F-2607-479CD6E5A5EE}"/>
              </a:ext>
            </a:extLst>
          </p:cNvPr>
          <p:cNvSpPr>
            <a:spLocks noGrp="1"/>
          </p:cNvSpPr>
          <p:nvPr>
            <p:ph idx="1"/>
          </p:nvPr>
        </p:nvSpPr>
        <p:spPr>
          <a:xfrm>
            <a:off x="515634" y="582452"/>
            <a:ext cx="8350964" cy="5972460"/>
          </a:xfrm>
        </p:spPr>
        <p:txBody>
          <a:bodyPr>
            <a:normAutofit/>
          </a:bodyPr>
          <a:lstStyle/>
          <a:p>
            <a:pPr>
              <a:buFont typeface="Wingdings" panose="05000000000000000000" pitchFamily="2" charset="2"/>
              <a:buChar char="ü"/>
            </a:pPr>
            <a:r>
              <a:rPr lang="en-US" sz="2300" b="1" dirty="0">
                <a:latin typeface="Times New Roman" panose="02020603050405020304" pitchFamily="18" charset="0"/>
                <a:cs typeface="Times New Roman" panose="02020603050405020304" pitchFamily="18" charset="0"/>
              </a:rPr>
              <a:t>Strategic thinking</a:t>
            </a:r>
            <a:r>
              <a:rPr lang="en-US" sz="2300" dirty="0">
                <a:latin typeface="Times New Roman" panose="02020603050405020304" pitchFamily="18" charset="0"/>
                <a:cs typeface="Times New Roman" panose="02020603050405020304" pitchFamily="18" charset="0"/>
              </a:rPr>
              <a:t> is the ability to plan for the future, align actions with long-term goals, use resources effectively, and anticipate challenges and opportunities. It helps individuals and organizations make decisions that lead to sustainable success.</a:t>
            </a:r>
          </a:p>
          <a:p>
            <a:pPr>
              <a:buNone/>
            </a:pPr>
            <a:r>
              <a:rPr lang="en-US" sz="2300" b="1" dirty="0">
                <a:solidFill>
                  <a:srgbClr val="0066FF"/>
                </a:solidFill>
                <a:latin typeface="Times New Roman" panose="02020603050405020304" pitchFamily="18" charset="0"/>
                <a:cs typeface="Times New Roman" panose="02020603050405020304" pitchFamily="18" charset="0"/>
              </a:rPr>
              <a:t>1. Long-Term Planning</a:t>
            </a:r>
          </a:p>
          <a:p>
            <a:pPr>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Strategic thinkers focus on achieving objectives over an extended period rather than only addressing immediate needs.</a:t>
            </a:r>
          </a:p>
          <a:p>
            <a:pPr>
              <a:buNone/>
            </a:pPr>
            <a:r>
              <a:rPr lang="en-US" sz="2300" b="1" dirty="0">
                <a:latin typeface="Times New Roman" panose="02020603050405020304" pitchFamily="18" charset="0"/>
                <a:cs typeface="Times New Roman" panose="02020603050405020304" pitchFamily="18" charset="0"/>
              </a:rPr>
              <a:t>Example: </a:t>
            </a:r>
            <a:r>
              <a:rPr lang="en-US" sz="2300" dirty="0">
                <a:latin typeface="Times New Roman" panose="02020603050405020304" pitchFamily="18" charset="0"/>
                <a:cs typeface="Times New Roman" panose="02020603050405020304" pitchFamily="18" charset="0"/>
              </a:rPr>
              <a:t>A university develops a five-year plan to become a leading institution in Artificial Intelligence education by investing in faculty development, research facilities, and industry partnerships.</a:t>
            </a:r>
          </a:p>
          <a:p>
            <a:pPr>
              <a:buNone/>
            </a:pPr>
            <a:r>
              <a:rPr lang="en-US" sz="2300" b="1" dirty="0">
                <a:solidFill>
                  <a:srgbClr val="0066FF"/>
                </a:solidFill>
                <a:latin typeface="Times New Roman" panose="02020603050405020304" pitchFamily="18" charset="0"/>
                <a:cs typeface="Times New Roman" panose="02020603050405020304" pitchFamily="18" charset="0"/>
              </a:rPr>
              <a:t>2. Goal-Oriented</a:t>
            </a:r>
          </a:p>
          <a:p>
            <a:pPr>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Strategic thinking involves setting clear goals and ensuring that actions contribute toward achieving them.</a:t>
            </a:r>
          </a:p>
          <a:p>
            <a:pPr>
              <a:buNone/>
            </a:pPr>
            <a:r>
              <a:rPr lang="en-US" sz="2300" b="1" dirty="0">
                <a:latin typeface="Times New Roman" panose="02020603050405020304" pitchFamily="18" charset="0"/>
                <a:cs typeface="Times New Roman" panose="02020603050405020304" pitchFamily="18" charset="0"/>
              </a:rPr>
              <a:t>Example: </a:t>
            </a:r>
            <a:r>
              <a:rPr lang="en-US" sz="2300" dirty="0">
                <a:latin typeface="Times New Roman" panose="02020603050405020304" pitchFamily="18" charset="0"/>
                <a:cs typeface="Times New Roman" panose="02020603050405020304" pitchFamily="18" charset="0"/>
              </a:rPr>
              <a:t>A startup aims to become a market leader in online learning. Every decision, from product development to marketing, is aligned with this goal.</a:t>
            </a:r>
          </a:p>
          <a:p>
            <a:endParaRPr lang="en-IN" dirty="0"/>
          </a:p>
        </p:txBody>
      </p:sp>
    </p:spTree>
    <p:extLst>
      <p:ext uri="{BB962C8B-B14F-4D97-AF65-F5344CB8AC3E}">
        <p14:creationId xmlns:p14="http://schemas.microsoft.com/office/powerpoint/2010/main" val="40725798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698DEA-4FAD-A983-6642-6F223503BD99}"/>
              </a:ext>
            </a:extLst>
          </p:cNvPr>
          <p:cNvSpPr>
            <a:spLocks noGrp="1"/>
          </p:cNvSpPr>
          <p:nvPr>
            <p:ph idx="1"/>
          </p:nvPr>
        </p:nvSpPr>
        <p:spPr>
          <a:xfrm>
            <a:off x="628650" y="452063"/>
            <a:ext cx="7886700" cy="5724900"/>
          </a:xfrm>
        </p:spPr>
        <p:txBody>
          <a:bodyPr/>
          <a:lstStyle/>
          <a:p>
            <a:pPr>
              <a:buNone/>
            </a:pPr>
            <a:r>
              <a:rPr lang="en-US" sz="2400" b="1" dirty="0">
                <a:solidFill>
                  <a:srgbClr val="0066FF"/>
                </a:solidFill>
                <a:latin typeface="Times New Roman" panose="02020603050405020304" pitchFamily="18" charset="0"/>
                <a:cs typeface="Times New Roman" panose="02020603050405020304" pitchFamily="18" charset="0"/>
              </a:rPr>
              <a:t>3. Resource Optimization</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Strategic thinkers make the best use of available resources such as time, money, technology, and human talent.</a:t>
            </a:r>
          </a:p>
          <a:p>
            <a:pPr>
              <a:buNone/>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company automates repetitive tasks so employees can focus on high-value activities, improving productivity without increasing workforce size.</a:t>
            </a:r>
          </a:p>
          <a:p>
            <a:pPr>
              <a:buNone/>
            </a:pPr>
            <a:r>
              <a:rPr lang="en-US" sz="2400" b="1" dirty="0">
                <a:solidFill>
                  <a:srgbClr val="0066FF"/>
                </a:solidFill>
                <a:latin typeface="Times New Roman" panose="02020603050405020304" pitchFamily="18" charset="0"/>
                <a:cs typeface="Times New Roman" panose="02020603050405020304" pitchFamily="18" charset="0"/>
              </a:rPr>
              <a:t>4. Future-Focused</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Strategic thinking requires anticipating future trends, risks, and opportunities to stay prepared.</a:t>
            </a:r>
          </a:p>
          <a:p>
            <a:pPr>
              <a:buNone/>
            </a:pPr>
            <a:r>
              <a:rPr lang="en-US" sz="2400" b="1" dirty="0">
                <a:latin typeface="Times New Roman" panose="02020603050405020304" pitchFamily="18" charset="0"/>
                <a:cs typeface="Times New Roman" panose="02020603050405020304" pitchFamily="18" charset="0"/>
              </a:rPr>
              <a:t>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retailer adopts e-commerce and digital payment systems early, anticipating a shift in customer shopping preferences toward online platforms.</a:t>
            </a:r>
          </a:p>
          <a:p>
            <a:endParaRPr lang="en-IN" dirty="0"/>
          </a:p>
        </p:txBody>
      </p:sp>
    </p:spTree>
    <p:extLst>
      <p:ext uri="{BB962C8B-B14F-4D97-AF65-F5344CB8AC3E}">
        <p14:creationId xmlns:p14="http://schemas.microsoft.com/office/powerpoint/2010/main" val="25486896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96C71-C25A-7F1D-CFF5-65DC6EE425FB}"/>
              </a:ext>
            </a:extLst>
          </p:cNvPr>
          <p:cNvSpPr>
            <a:spLocks noGrp="1"/>
          </p:cNvSpPr>
          <p:nvPr>
            <p:ph idx="1"/>
          </p:nvPr>
        </p:nvSpPr>
        <p:spPr>
          <a:xfrm>
            <a:off x="364733" y="369869"/>
            <a:ext cx="8414534" cy="6246687"/>
          </a:xfrm>
        </p:spPr>
        <p:txBody>
          <a:bodyPr>
            <a:noAutofit/>
          </a:bodyPr>
          <a:lstStyle/>
          <a:p>
            <a:pPr>
              <a:buNone/>
            </a:pPr>
            <a:r>
              <a:rPr lang="en-US" b="1" dirty="0">
                <a:latin typeface="Times New Roman" panose="02020603050405020304" pitchFamily="18" charset="0"/>
                <a:cs typeface="Times New Roman" panose="02020603050405020304" pitchFamily="18" charset="0"/>
              </a:rPr>
              <a:t>Characteristics of Strategic Thinkers</a:t>
            </a:r>
          </a:p>
          <a:p>
            <a:pPr lvl="1">
              <a:spcBef>
                <a:spcPts val="0"/>
              </a:spcBef>
            </a:pPr>
            <a:r>
              <a:rPr lang="en-US" sz="2100" dirty="0">
                <a:latin typeface="Times New Roman" panose="02020603050405020304" pitchFamily="18" charset="0"/>
                <a:cs typeface="Times New Roman" panose="02020603050405020304" pitchFamily="18" charset="0"/>
              </a:rPr>
              <a:t>Visionary and future-oriented </a:t>
            </a:r>
          </a:p>
          <a:p>
            <a:pPr lvl="1">
              <a:spcBef>
                <a:spcPts val="0"/>
              </a:spcBef>
            </a:pPr>
            <a:r>
              <a:rPr lang="en-US" sz="2100" dirty="0">
                <a:latin typeface="Times New Roman" panose="02020603050405020304" pitchFamily="18" charset="0"/>
                <a:cs typeface="Times New Roman" panose="02020603050405020304" pitchFamily="18" charset="0"/>
              </a:rPr>
              <a:t>Goal-driven </a:t>
            </a:r>
          </a:p>
          <a:p>
            <a:pPr lvl="1">
              <a:spcBef>
                <a:spcPts val="0"/>
              </a:spcBef>
            </a:pPr>
            <a:r>
              <a:rPr lang="en-US" sz="2100" dirty="0">
                <a:latin typeface="Times New Roman" panose="02020603050405020304" pitchFamily="18" charset="0"/>
                <a:cs typeface="Times New Roman" panose="02020603050405020304" pitchFamily="18" charset="0"/>
              </a:rPr>
              <a:t>Proactive rather than reactive </a:t>
            </a:r>
          </a:p>
          <a:p>
            <a:pPr lvl="1">
              <a:spcBef>
                <a:spcPts val="0"/>
              </a:spcBef>
            </a:pPr>
            <a:r>
              <a:rPr lang="en-US" sz="2100" dirty="0">
                <a:latin typeface="Times New Roman" panose="02020603050405020304" pitchFamily="18" charset="0"/>
                <a:cs typeface="Times New Roman" panose="02020603050405020304" pitchFamily="18" charset="0"/>
              </a:rPr>
              <a:t>Efficient in resource utilization </a:t>
            </a:r>
          </a:p>
          <a:p>
            <a:pPr lvl="1">
              <a:spcBef>
                <a:spcPts val="0"/>
              </a:spcBef>
            </a:pPr>
            <a:r>
              <a:rPr lang="en-US" sz="2100" dirty="0">
                <a:latin typeface="Times New Roman" panose="02020603050405020304" pitchFamily="18" charset="0"/>
                <a:cs typeface="Times New Roman" panose="02020603050405020304" pitchFamily="18" charset="0"/>
              </a:rPr>
              <a:t>Good at anticipating opportunities and challenges </a:t>
            </a:r>
          </a:p>
          <a:p>
            <a:pPr lvl="1">
              <a:spcBef>
                <a:spcPts val="0"/>
              </a:spcBef>
            </a:pPr>
            <a:r>
              <a:rPr lang="en-US" sz="2100" dirty="0">
                <a:latin typeface="Times New Roman" panose="02020603050405020304" pitchFamily="18" charset="0"/>
                <a:cs typeface="Times New Roman" panose="02020603050405020304" pitchFamily="18" charset="0"/>
              </a:rPr>
              <a:t>Strong decision-makers</a:t>
            </a:r>
          </a:p>
          <a:p>
            <a:pPr>
              <a:buNone/>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technology company wants to become a leader in Artificial Intelligence solutions within the next five years.</a:t>
            </a:r>
          </a:p>
          <a:p>
            <a:pPr>
              <a:buNone/>
            </a:pPr>
            <a:r>
              <a:rPr lang="en-US" dirty="0">
                <a:latin typeface="Times New Roman" panose="02020603050405020304" pitchFamily="18" charset="0"/>
                <a:cs typeface="Times New Roman" panose="02020603050405020304" pitchFamily="18" charset="0"/>
              </a:rPr>
              <a:t>A strategic thinker would:</a:t>
            </a:r>
          </a:p>
          <a:p>
            <a:pPr marL="800100" lvl="1" indent="-457200">
              <a:spcBef>
                <a:spcPts val="0"/>
              </a:spcBef>
              <a:buFont typeface="+mj-lt"/>
              <a:buAutoNum type="arabicParenR"/>
            </a:pPr>
            <a:r>
              <a:rPr lang="en-US" sz="2100" dirty="0">
                <a:latin typeface="Times New Roman" panose="02020603050405020304" pitchFamily="18" charset="0"/>
                <a:cs typeface="Times New Roman" panose="02020603050405020304" pitchFamily="18" charset="0"/>
              </a:rPr>
              <a:t>Define the long-term goal of becoming a recognized AI solutions provider. </a:t>
            </a:r>
          </a:p>
          <a:p>
            <a:pPr marL="800100" lvl="1" indent="-457200">
              <a:spcBef>
                <a:spcPts val="0"/>
              </a:spcBef>
              <a:buFont typeface="+mj-lt"/>
              <a:buAutoNum type="arabicParenR"/>
            </a:pPr>
            <a:r>
              <a:rPr lang="en-US" sz="2100" dirty="0">
                <a:latin typeface="Times New Roman" panose="02020603050405020304" pitchFamily="18" charset="0"/>
                <a:cs typeface="Times New Roman" panose="02020603050405020304" pitchFamily="18" charset="0"/>
              </a:rPr>
              <a:t>Develop a roadmap that includes research, product development, talent acquisition, and market expansion. </a:t>
            </a:r>
          </a:p>
          <a:p>
            <a:pPr marL="800100" lvl="1" indent="-457200">
              <a:spcBef>
                <a:spcPts val="0"/>
              </a:spcBef>
              <a:buFont typeface="+mj-lt"/>
              <a:buAutoNum type="arabicParenR"/>
            </a:pPr>
            <a:r>
              <a:rPr lang="en-US" sz="2100" dirty="0">
                <a:latin typeface="Times New Roman" panose="02020603050405020304" pitchFamily="18" charset="0"/>
                <a:cs typeface="Times New Roman" panose="02020603050405020304" pitchFamily="18" charset="0"/>
              </a:rPr>
              <a:t>Optimize resources by investing in high-impact AI projects and employee training. </a:t>
            </a:r>
          </a:p>
          <a:p>
            <a:pPr marL="800100" lvl="1" indent="-457200">
              <a:spcBef>
                <a:spcPts val="0"/>
              </a:spcBef>
              <a:buFont typeface="+mj-lt"/>
              <a:buAutoNum type="arabicParenR"/>
            </a:pPr>
            <a:r>
              <a:rPr lang="en-US" sz="2100" dirty="0">
                <a:latin typeface="Times New Roman" panose="02020603050405020304" pitchFamily="18" charset="0"/>
                <a:cs typeface="Times New Roman" panose="02020603050405020304" pitchFamily="18" charset="0"/>
              </a:rPr>
              <a:t>Monitor future trends in AI and adjust strategies accordingly. </a:t>
            </a:r>
          </a:p>
          <a:p>
            <a:pPr>
              <a:buNone/>
            </a:pPr>
            <a:r>
              <a:rPr lang="en-US" b="1" dirty="0">
                <a:latin typeface="Times New Roman" panose="02020603050405020304" pitchFamily="18" charset="0"/>
                <a:cs typeface="Times New Roman" panose="02020603050405020304" pitchFamily="18" charset="0"/>
              </a:rPr>
              <a:t>Result: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company develops innovative AI products, expands its customer base, strengthens its market position, and achieves sustainable growth over time.</a:t>
            </a:r>
            <a:endParaRPr lang="en-US"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13849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itle 1"/>
          <p:cNvSpPr txBox="1">
            <a:spLocks noGrp="1"/>
          </p:cNvSpPr>
          <p:nvPr>
            <p:ph type="title"/>
          </p:nvPr>
        </p:nvSpPr>
        <p:spPr>
          <a:xfrm>
            <a:off x="457200" y="274638"/>
            <a:ext cx="4104454" cy="1143001"/>
          </a:xfrm>
          <a:prstGeom prst="rect">
            <a:avLst/>
          </a:prstGeom>
        </p:spPr>
        <p:txBody>
          <a:bodyPr>
            <a:normAutofit fontScale="90000"/>
          </a:bodyPr>
          <a:lstStyle>
            <a:lvl1pPr>
              <a:defRPr>
                <a:latin typeface="Times New Roman"/>
                <a:ea typeface="Times New Roman"/>
                <a:cs typeface="Times New Roman"/>
                <a:sym typeface="Times New Roman"/>
              </a:defRPr>
            </a:lvl1pPr>
          </a:lstStyle>
          <a:p>
            <a:r>
              <a:rPr lang="en-US" dirty="0">
                <a:solidFill>
                  <a:srgbClr val="D60093"/>
                </a:solidFill>
              </a:rPr>
              <a:t>f) </a:t>
            </a:r>
            <a:r>
              <a:rPr dirty="0">
                <a:solidFill>
                  <a:srgbClr val="D60093"/>
                </a:solidFill>
              </a:rPr>
              <a:t>Lateral Thinking</a:t>
            </a:r>
          </a:p>
        </p:txBody>
      </p:sp>
      <p:sp>
        <p:nvSpPr>
          <p:cNvPr id="191" name="Content Placeholder 2"/>
          <p:cNvSpPr txBox="1">
            <a:spLocks noGrp="1"/>
          </p:cNvSpPr>
          <p:nvPr>
            <p:ph type="body" idx="1"/>
          </p:nvPr>
        </p:nvSpPr>
        <p:spPr>
          <a:xfrm>
            <a:off x="457200" y="1600200"/>
            <a:ext cx="8229600" cy="4525963"/>
          </a:xfrm>
          <a:prstGeom prst="rect">
            <a:avLst/>
          </a:prstGeom>
          <a:solidFill>
            <a:schemeClr val="accent2">
              <a:satOff val="-4966"/>
              <a:lumOff val="-10549"/>
            </a:schemeClr>
          </a:solidFill>
        </p:spPr>
        <p:txBody>
          <a:bodyPr/>
          <a:lstStyle/>
          <a:p>
            <a:pPr>
              <a:defRPr>
                <a:latin typeface="Times New Roman"/>
                <a:ea typeface="Times New Roman"/>
                <a:cs typeface="Times New Roman"/>
                <a:sym typeface="Times New Roman"/>
              </a:defRPr>
            </a:pPr>
            <a:r>
              <a:rPr dirty="0"/>
              <a:t>Different perspectives</a:t>
            </a:r>
          </a:p>
          <a:p>
            <a:pPr>
              <a:defRPr>
                <a:latin typeface="Times New Roman"/>
                <a:ea typeface="Times New Roman"/>
                <a:cs typeface="Times New Roman"/>
                <a:sym typeface="Times New Roman"/>
              </a:defRPr>
            </a:pPr>
            <a:r>
              <a:rPr dirty="0"/>
              <a:t>Unconventional ideas</a:t>
            </a:r>
          </a:p>
          <a:p>
            <a:pPr>
              <a:defRPr>
                <a:latin typeface="Times New Roman"/>
                <a:ea typeface="Times New Roman"/>
                <a:cs typeface="Times New Roman"/>
                <a:sym typeface="Times New Roman"/>
              </a:defRPr>
            </a:pPr>
            <a:r>
              <a:rPr dirty="0"/>
              <a:t>Breaking assumptions</a:t>
            </a:r>
          </a:p>
        </p:txBody>
      </p:sp>
      <p:sp>
        <p:nvSpPr>
          <p:cNvPr id="192" name="Title 1"/>
          <p:cNvSpPr txBox="1"/>
          <p:nvPr/>
        </p:nvSpPr>
        <p:spPr>
          <a:xfrm>
            <a:off x="4635500" y="274638"/>
            <a:ext cx="4104454"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a:defRPr sz="4400">
                <a:latin typeface="Times New Roman"/>
                <a:ea typeface="Times New Roman"/>
                <a:cs typeface="Times New Roman"/>
                <a:sym typeface="Times New Roman"/>
              </a:defRPr>
            </a:lvl1pPr>
          </a:lstStyle>
          <a:p>
            <a:r>
              <a:t>Example</a:t>
            </a:r>
          </a:p>
        </p:txBody>
      </p:sp>
      <p:sp>
        <p:nvSpPr>
          <p:cNvPr id="193" name="Content Placeholder 2"/>
          <p:cNvSpPr txBox="1"/>
          <p:nvPr/>
        </p:nvSpPr>
        <p:spPr>
          <a:xfrm>
            <a:off x="4980690" y="1600200"/>
            <a:ext cx="4012622" cy="4525963"/>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lvl1pPr marL="342900" indent="-342900">
              <a:spcBef>
                <a:spcPts val="700"/>
              </a:spcBef>
              <a:buSzPct val="100000"/>
              <a:buFont typeface="Arial"/>
              <a:buChar char="•"/>
              <a:defRPr sz="3200">
                <a:latin typeface="Times New Roman"/>
                <a:ea typeface="Times New Roman"/>
                <a:cs typeface="Times New Roman"/>
                <a:sym typeface="Times New Roman"/>
              </a:defRPr>
            </a:lvl1pPr>
          </a:lstStyle>
          <a:p>
            <a:r>
              <a:t>Make a class work for your goal </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1330183-FF27-B82F-2607-479CD6E5A5EE}"/>
              </a:ext>
            </a:extLst>
          </p:cNvPr>
          <p:cNvSpPr>
            <a:spLocks noGrp="1"/>
          </p:cNvSpPr>
          <p:nvPr>
            <p:ph idx="1"/>
          </p:nvPr>
        </p:nvSpPr>
        <p:spPr>
          <a:xfrm>
            <a:off x="267129" y="267127"/>
            <a:ext cx="8784404" cy="6590873"/>
          </a:xfrm>
        </p:spPr>
        <p:txBody>
          <a:bodyPr>
            <a:normAutofit fontScale="77500" lnSpcReduction="20000"/>
          </a:bodyPr>
          <a:lstStyle/>
          <a:p>
            <a:pPr marL="0" indent="0">
              <a:lnSpc>
                <a:spcPct val="120000"/>
              </a:lnSpc>
              <a:buNone/>
            </a:pPr>
            <a:r>
              <a:rPr lang="en-US" sz="2900" b="1" dirty="0">
                <a:latin typeface="Times New Roman" panose="02020603050405020304" pitchFamily="18" charset="0"/>
                <a:cs typeface="Times New Roman" panose="02020603050405020304" pitchFamily="18" charset="0"/>
              </a:rPr>
              <a:t>Lateral Thinking</a:t>
            </a:r>
            <a:r>
              <a:rPr lang="en-US" sz="2900" dirty="0">
                <a:latin typeface="Times New Roman" panose="02020603050405020304" pitchFamily="18" charset="0"/>
                <a:cs typeface="Times New Roman" panose="02020603050405020304" pitchFamily="18" charset="0"/>
              </a:rPr>
              <a:t> is a way of solving problems by looking beyond the obvious solution. Instead of following a standard step-by-step approach, it involves exploring new perspectives, generating unconventional ideas, and challenging existing assumptions.</a:t>
            </a:r>
          </a:p>
          <a:p>
            <a:pPr>
              <a:buNone/>
            </a:pPr>
            <a:r>
              <a:rPr lang="en-US" sz="2900" b="1" dirty="0">
                <a:solidFill>
                  <a:srgbClr val="7030A0"/>
                </a:solidFill>
                <a:latin typeface="Times New Roman" panose="02020603050405020304" pitchFamily="18" charset="0"/>
                <a:cs typeface="Times New Roman" panose="02020603050405020304" pitchFamily="18" charset="0"/>
              </a:rPr>
              <a:t>1. Different Perspectives</a:t>
            </a:r>
          </a:p>
          <a:p>
            <a:pPr>
              <a:buFont typeface="Wingdings" panose="05000000000000000000" pitchFamily="2" charset="2"/>
              <a:buChar char="Ø"/>
            </a:pPr>
            <a:r>
              <a:rPr lang="en-US" sz="2900" dirty="0">
                <a:latin typeface="Times New Roman" panose="02020603050405020304" pitchFamily="18" charset="0"/>
                <a:cs typeface="Times New Roman" panose="02020603050405020304" pitchFamily="18" charset="0"/>
              </a:rPr>
              <a:t>Looking at a situation from various viewpoints to discover solutions that may not be immediately obvious.</a:t>
            </a:r>
          </a:p>
          <a:p>
            <a:pPr>
              <a:buNone/>
            </a:pPr>
            <a:r>
              <a:rPr lang="en-US" sz="2900" b="1" dirty="0">
                <a:latin typeface="Times New Roman" panose="02020603050405020304" pitchFamily="18" charset="0"/>
                <a:cs typeface="Times New Roman" panose="02020603050405020304" pitchFamily="18" charset="0"/>
              </a:rPr>
              <a:t>Example</a:t>
            </a:r>
          </a:p>
          <a:p>
            <a:pPr>
              <a:buNone/>
            </a:pPr>
            <a:r>
              <a:rPr lang="en-US" sz="2900" dirty="0">
                <a:latin typeface="Times New Roman" panose="02020603050405020304" pitchFamily="18" charset="0"/>
                <a:cs typeface="Times New Roman" panose="02020603050405020304" pitchFamily="18" charset="0"/>
              </a:rPr>
              <a:t>Situation: A university notices that attendance in online classes is low.</a:t>
            </a:r>
          </a:p>
          <a:p>
            <a:pPr>
              <a:buFont typeface="Wingdings" panose="05000000000000000000" pitchFamily="2" charset="2"/>
              <a:buChar char="ü"/>
            </a:pPr>
            <a:r>
              <a:rPr lang="en-US" sz="2900" dirty="0">
                <a:latin typeface="Times New Roman" panose="02020603050405020304" pitchFamily="18" charset="0"/>
                <a:cs typeface="Times New Roman" panose="02020603050405020304" pitchFamily="18" charset="0"/>
              </a:rPr>
              <a:t>Teacher's Perspective: Students may not be interested in the subject. </a:t>
            </a:r>
          </a:p>
          <a:p>
            <a:pPr>
              <a:buFont typeface="Wingdings" panose="05000000000000000000" pitchFamily="2" charset="2"/>
              <a:buChar char="ü"/>
            </a:pPr>
            <a:r>
              <a:rPr lang="en-US" sz="2900" dirty="0">
                <a:latin typeface="Times New Roman" panose="02020603050405020304" pitchFamily="18" charset="0"/>
                <a:cs typeface="Times New Roman" panose="02020603050405020304" pitchFamily="18" charset="0"/>
              </a:rPr>
              <a:t>Student's Perspective: Classes are scheduled too early in the morning. </a:t>
            </a:r>
          </a:p>
          <a:p>
            <a:pPr>
              <a:buFont typeface="Wingdings" panose="05000000000000000000" pitchFamily="2" charset="2"/>
              <a:buChar char="ü"/>
            </a:pPr>
            <a:r>
              <a:rPr lang="en-US" sz="2900" dirty="0">
                <a:latin typeface="Times New Roman" panose="02020603050405020304" pitchFamily="18" charset="0"/>
                <a:cs typeface="Times New Roman" panose="02020603050405020304" pitchFamily="18" charset="0"/>
              </a:rPr>
              <a:t>Parent's Perspective: Students may face internet connectivity issues at home. </a:t>
            </a:r>
          </a:p>
          <a:p>
            <a:pPr>
              <a:buFont typeface="Wingdings" panose="05000000000000000000" pitchFamily="2" charset="2"/>
              <a:buChar char="ü"/>
            </a:pPr>
            <a:r>
              <a:rPr lang="en-US" sz="2900" dirty="0">
                <a:latin typeface="Times New Roman" panose="02020603050405020304" pitchFamily="18" charset="0"/>
                <a:cs typeface="Times New Roman" panose="02020603050405020304" pitchFamily="18" charset="0"/>
              </a:rPr>
              <a:t>Administrator's Perspective: The online platform may not be engaging enough. </a:t>
            </a:r>
          </a:p>
          <a:p>
            <a:pPr>
              <a:lnSpc>
                <a:spcPct val="120000"/>
              </a:lnSpc>
              <a:buNone/>
            </a:pPr>
            <a:r>
              <a:rPr lang="en-US" sz="2900" b="1" dirty="0">
                <a:latin typeface="Times New Roman" panose="02020603050405020304" pitchFamily="18" charset="0"/>
                <a:cs typeface="Times New Roman" panose="02020603050405020304" pitchFamily="18" charset="0"/>
              </a:rPr>
              <a:t>Result:</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After collecting feedback from all perspectives, the university changes class timings and introduces interactive activities, leading to improved attendance.</a:t>
            </a:r>
          </a:p>
          <a:p>
            <a:pPr marL="0" indent="0">
              <a:buNone/>
            </a:pPr>
            <a:endParaRPr lang="en-IN" dirty="0"/>
          </a:p>
        </p:txBody>
      </p:sp>
    </p:spTree>
    <p:extLst>
      <p:ext uri="{BB962C8B-B14F-4D97-AF65-F5344CB8AC3E}">
        <p14:creationId xmlns:p14="http://schemas.microsoft.com/office/powerpoint/2010/main" val="29596882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C6E7A6-067D-6816-A69B-9B839582EB9B}"/>
              </a:ext>
            </a:extLst>
          </p:cNvPr>
          <p:cNvSpPr>
            <a:spLocks noGrp="1"/>
          </p:cNvSpPr>
          <p:nvPr>
            <p:ph idx="1"/>
          </p:nvPr>
        </p:nvSpPr>
        <p:spPr>
          <a:xfrm>
            <a:off x="390418" y="380144"/>
            <a:ext cx="8124932" cy="5796819"/>
          </a:xfrm>
        </p:spPr>
        <p:txBody>
          <a:bodyPr>
            <a:normAutofit/>
          </a:bodyPr>
          <a:lstStyle/>
          <a:p>
            <a:pPr>
              <a:buNone/>
            </a:pPr>
            <a:r>
              <a:rPr lang="en-US" sz="2400" b="1" dirty="0">
                <a:solidFill>
                  <a:srgbClr val="7030A0"/>
                </a:solidFill>
                <a:latin typeface="Times New Roman" panose="02020603050405020304" pitchFamily="18" charset="0"/>
                <a:cs typeface="Times New Roman" panose="02020603050405020304" pitchFamily="18" charset="0"/>
              </a:rPr>
              <a:t>2. Unconventional Ideas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Generating creative solutions that differ from traditional approaches.</a:t>
            </a:r>
          </a:p>
          <a:p>
            <a:pPr>
              <a:buNone/>
            </a:pPr>
            <a:r>
              <a:rPr lang="en-US" sz="2400" b="1" dirty="0">
                <a:latin typeface="Times New Roman" panose="02020603050405020304" pitchFamily="18" charset="0"/>
                <a:cs typeface="Times New Roman" panose="02020603050405020304" pitchFamily="18" charset="0"/>
              </a:rPr>
              <a:t>Example</a:t>
            </a:r>
          </a:p>
          <a:p>
            <a:pPr>
              <a:buNone/>
            </a:pPr>
            <a:r>
              <a:rPr lang="en-US" sz="2400" b="1" dirty="0">
                <a:latin typeface="Times New Roman" panose="02020603050405020304" pitchFamily="18" charset="0"/>
                <a:cs typeface="Times New Roman" panose="02020603050405020304" pitchFamily="18" charset="0"/>
              </a:rPr>
              <a:t>Situation:</a:t>
            </a:r>
            <a:r>
              <a:rPr lang="en-US" sz="2400" dirty="0">
                <a:latin typeface="Times New Roman" panose="02020603050405020304" pitchFamily="18" charset="0"/>
                <a:cs typeface="Times New Roman" panose="02020603050405020304" pitchFamily="18" charset="0"/>
              </a:rPr>
              <a:t> A retail store wants to attract more customers.</a:t>
            </a:r>
          </a:p>
          <a:p>
            <a:pPr>
              <a:buNone/>
            </a:pPr>
            <a:r>
              <a:rPr lang="en-US" sz="2400" b="1" dirty="0">
                <a:latin typeface="Times New Roman" panose="02020603050405020304" pitchFamily="18" charset="0"/>
                <a:cs typeface="Times New Roman" panose="02020603050405020304" pitchFamily="18" charset="0"/>
              </a:rPr>
              <a:t>Traditional Idea:</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Offer discounts and advertisements. </a:t>
            </a:r>
          </a:p>
          <a:p>
            <a:pPr>
              <a:buNone/>
            </a:pPr>
            <a:r>
              <a:rPr lang="en-US" sz="2400" b="1" dirty="0">
                <a:latin typeface="Times New Roman" panose="02020603050405020304" pitchFamily="18" charset="0"/>
                <a:cs typeface="Times New Roman" panose="02020603050405020304" pitchFamily="18" charset="0"/>
              </a:rPr>
              <a:t>Unconventional Idea:</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Create a "mystery shopping day" where random customers receive surprise gifts at checkout. </a:t>
            </a:r>
          </a:p>
          <a:p>
            <a:pPr>
              <a:buNone/>
            </a:pPr>
            <a:r>
              <a:rPr lang="en-US" sz="2400" b="1" dirty="0">
                <a:latin typeface="Times New Roman" panose="02020603050405020304" pitchFamily="18" charset="0"/>
                <a:cs typeface="Times New Roman" panose="02020603050405020304" pitchFamily="18" charset="0"/>
              </a:rPr>
              <a:t>Result: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Customers become excited about visiting the store, and foot traffic increases significantly through word-of-mouth promotion.</a:t>
            </a:r>
          </a:p>
          <a:p>
            <a:endParaRPr lang="en-IN" dirty="0"/>
          </a:p>
        </p:txBody>
      </p:sp>
    </p:spTree>
    <p:extLst>
      <p:ext uri="{BB962C8B-B14F-4D97-AF65-F5344CB8AC3E}">
        <p14:creationId xmlns:p14="http://schemas.microsoft.com/office/powerpoint/2010/main" val="29426721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24471F-B4E5-3519-01B1-2151414A208F}"/>
              </a:ext>
            </a:extLst>
          </p:cNvPr>
          <p:cNvSpPr>
            <a:spLocks noGrp="1"/>
          </p:cNvSpPr>
          <p:nvPr>
            <p:ph idx="1"/>
          </p:nvPr>
        </p:nvSpPr>
        <p:spPr>
          <a:xfrm>
            <a:off x="628650" y="195208"/>
            <a:ext cx="8268770" cy="6349429"/>
          </a:xfrm>
        </p:spPr>
        <p:txBody>
          <a:bodyPr>
            <a:normAutofit/>
          </a:bodyPr>
          <a:lstStyle/>
          <a:p>
            <a:pPr>
              <a:buNone/>
            </a:pPr>
            <a:r>
              <a:rPr lang="en-US" sz="2300" b="1" dirty="0">
                <a:solidFill>
                  <a:srgbClr val="7030A0"/>
                </a:solidFill>
                <a:latin typeface="Times New Roman" panose="02020603050405020304" pitchFamily="18" charset="0"/>
                <a:cs typeface="Times New Roman" panose="02020603050405020304" pitchFamily="18" charset="0"/>
              </a:rPr>
              <a:t>3. Breaking Assumptions</a:t>
            </a:r>
          </a:p>
          <a:p>
            <a:pPr>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Questioning beliefs or rules that people usually accept without thinking.</a:t>
            </a:r>
          </a:p>
          <a:p>
            <a:pPr>
              <a:buNone/>
            </a:pPr>
            <a:r>
              <a:rPr lang="en-US" sz="2300" b="1" dirty="0">
                <a:latin typeface="Times New Roman" panose="02020603050405020304" pitchFamily="18" charset="0"/>
                <a:cs typeface="Times New Roman" panose="02020603050405020304" pitchFamily="18" charset="0"/>
              </a:rPr>
              <a:t>Example</a:t>
            </a:r>
          </a:p>
          <a:p>
            <a:pPr>
              <a:spcBef>
                <a:spcPts val="0"/>
              </a:spcBef>
              <a:spcAft>
                <a:spcPts val="1200"/>
              </a:spcAft>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Situation: A company assumes employees must work from the office to be productive.</a:t>
            </a:r>
          </a:p>
          <a:p>
            <a:pPr lvl="1">
              <a:spcBef>
                <a:spcPts val="0"/>
              </a:spcBef>
              <a:buFont typeface="Wingdings" panose="05000000000000000000" pitchFamily="2" charset="2"/>
              <a:buChar char="§"/>
            </a:pPr>
            <a:r>
              <a:rPr lang="en-US" sz="2300" dirty="0">
                <a:latin typeface="Times New Roman" panose="02020603050405020304" pitchFamily="18" charset="0"/>
                <a:cs typeface="Times New Roman" panose="02020603050405020304" pitchFamily="18" charset="0"/>
              </a:rPr>
              <a:t>Assumption: Productivity requires physical presence. </a:t>
            </a:r>
          </a:p>
          <a:p>
            <a:pPr lvl="1">
              <a:buFont typeface="Wingdings" panose="05000000000000000000" pitchFamily="2" charset="2"/>
              <a:buChar char="§"/>
            </a:pPr>
            <a:r>
              <a:rPr lang="en-US" sz="2300" dirty="0">
                <a:latin typeface="Times New Roman" panose="02020603050405020304" pitchFamily="18" charset="0"/>
                <a:cs typeface="Times New Roman" panose="02020603050405020304" pitchFamily="18" charset="0"/>
              </a:rPr>
              <a:t>Challenge the Assumption: Can employees be productive while working remotely? </a:t>
            </a:r>
          </a:p>
          <a:p>
            <a:pPr lvl="1">
              <a:buFont typeface="Wingdings" panose="05000000000000000000" pitchFamily="2" charset="2"/>
              <a:buChar char="§"/>
            </a:pPr>
            <a:r>
              <a:rPr lang="en-US" sz="2300" dirty="0">
                <a:latin typeface="Times New Roman" panose="02020603050405020304" pitchFamily="18" charset="0"/>
                <a:cs typeface="Times New Roman" panose="02020603050405020304" pitchFamily="18" charset="0"/>
              </a:rPr>
              <a:t>Action: The company runs a three-month remote-work pilot program. </a:t>
            </a:r>
          </a:p>
          <a:p>
            <a:pPr>
              <a:buNone/>
            </a:pPr>
            <a:endParaRPr lang="en-US" sz="2300" b="1" dirty="0">
              <a:latin typeface="Times New Roman" panose="02020603050405020304" pitchFamily="18" charset="0"/>
              <a:cs typeface="Times New Roman" panose="02020603050405020304" pitchFamily="18" charset="0"/>
            </a:endParaRPr>
          </a:p>
          <a:p>
            <a:pPr>
              <a:buNone/>
            </a:pPr>
            <a:r>
              <a:rPr lang="en-US" sz="2300" b="1" dirty="0">
                <a:latin typeface="Times New Roman" panose="02020603050405020304" pitchFamily="18" charset="0"/>
                <a:cs typeface="Times New Roman" panose="02020603050405020304" pitchFamily="18" charset="0"/>
              </a:rPr>
              <a:t>Result:</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Employee productivity remains high, travel costs decrease, and job satisfaction improves.</a:t>
            </a:r>
          </a:p>
          <a:p>
            <a:pPr marL="0" indent="0">
              <a:buNone/>
            </a:pPr>
            <a:endParaRPr lang="en-IN" dirty="0"/>
          </a:p>
        </p:txBody>
      </p:sp>
    </p:spTree>
    <p:extLst>
      <p:ext uri="{BB962C8B-B14F-4D97-AF65-F5344CB8AC3E}">
        <p14:creationId xmlns:p14="http://schemas.microsoft.com/office/powerpoint/2010/main" val="12235058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F3E66-92BB-97BC-0DD1-D81D83D22420}"/>
              </a:ext>
            </a:extLst>
          </p:cNvPr>
          <p:cNvSpPr>
            <a:spLocks noGrp="1"/>
          </p:cNvSpPr>
          <p:nvPr>
            <p:ph idx="1"/>
          </p:nvPr>
        </p:nvSpPr>
        <p:spPr>
          <a:xfrm>
            <a:off x="410966" y="603607"/>
            <a:ext cx="8322067" cy="5650786"/>
          </a:xfrm>
        </p:spPr>
        <p:txBody>
          <a:bodyPr>
            <a:normAutofit fontScale="92500" lnSpcReduction="20000"/>
          </a:bodyPr>
          <a:lstStyle/>
          <a:p>
            <a:pPr>
              <a:buNone/>
            </a:pPr>
            <a:r>
              <a:rPr lang="en-US" sz="2400" b="1" dirty="0">
                <a:latin typeface="Times New Roman" panose="02020603050405020304" pitchFamily="18" charset="0"/>
                <a:cs typeface="Times New Roman" panose="02020603050405020304" pitchFamily="18" charset="0"/>
              </a:rPr>
              <a:t>Example: Lateral Thinking</a:t>
            </a:r>
          </a:p>
          <a:p>
            <a:pPr>
              <a:spcBef>
                <a:spcPts val="0"/>
              </a:spcBef>
              <a:buNone/>
            </a:pPr>
            <a:r>
              <a:rPr lang="en-US" sz="2400" dirty="0">
                <a:latin typeface="Times New Roman" panose="02020603050405020304" pitchFamily="18" charset="0"/>
                <a:cs typeface="Times New Roman" panose="02020603050405020304" pitchFamily="18" charset="0"/>
              </a:rPr>
              <a:t>Situation: A university cafeteria experiences long queues during lunch </a:t>
            </a:r>
          </a:p>
          <a:p>
            <a:pPr>
              <a:spcBef>
                <a:spcPts val="0"/>
              </a:spcBef>
              <a:buNone/>
            </a:pPr>
            <a:r>
              <a:rPr lang="en-US" sz="2400" dirty="0">
                <a:latin typeface="Times New Roman" panose="02020603050405020304" pitchFamily="18" charset="0"/>
                <a:cs typeface="Times New Roman" panose="02020603050405020304" pitchFamily="18" charset="0"/>
              </a:rPr>
              <a:t>                  hours, causing students to miss parts of their classes.</a:t>
            </a:r>
          </a:p>
          <a:p>
            <a:pPr>
              <a:buNone/>
            </a:pPr>
            <a:endParaRPr lang="en-US" sz="2400" b="1" dirty="0">
              <a:latin typeface="Times New Roman" panose="02020603050405020304" pitchFamily="18" charset="0"/>
              <a:cs typeface="Times New Roman" panose="02020603050405020304" pitchFamily="18" charset="0"/>
            </a:endParaRPr>
          </a:p>
          <a:p>
            <a:pPr>
              <a:spcBef>
                <a:spcPts val="0"/>
              </a:spcBef>
              <a:buNone/>
            </a:pPr>
            <a:r>
              <a:rPr lang="en-US" sz="2400" b="1" dirty="0">
                <a:latin typeface="Times New Roman" panose="02020603050405020304" pitchFamily="18" charset="0"/>
                <a:cs typeface="Times New Roman" panose="02020603050405020304" pitchFamily="18" charset="0"/>
              </a:rPr>
              <a:t>1. Different Perspectives</a:t>
            </a:r>
          </a:p>
          <a:p>
            <a:pPr lvl="1"/>
            <a:r>
              <a:rPr lang="en-US" sz="2400" dirty="0">
                <a:latin typeface="Times New Roman" panose="02020603050405020304" pitchFamily="18" charset="0"/>
                <a:cs typeface="Times New Roman" panose="02020603050405020304" pitchFamily="18" charset="0"/>
              </a:rPr>
              <a:t>Students: Want faster service so they can return to class on time. </a:t>
            </a:r>
          </a:p>
          <a:p>
            <a:pPr lvl="1"/>
            <a:r>
              <a:rPr lang="en-US" sz="2400" dirty="0">
                <a:latin typeface="Times New Roman" panose="02020603050405020304" pitchFamily="18" charset="0"/>
                <a:cs typeface="Times New Roman" panose="02020603050405020304" pitchFamily="18" charset="0"/>
              </a:rPr>
              <a:t>Cafeteria Staff: Struggle to handle a large number of orders at once. </a:t>
            </a:r>
          </a:p>
          <a:p>
            <a:pPr lvl="1"/>
            <a:r>
              <a:rPr lang="en-US" sz="2400" dirty="0">
                <a:latin typeface="Times New Roman" panose="02020603050405020304" pitchFamily="18" charset="0"/>
                <a:cs typeface="Times New Roman" panose="02020603050405020304" pitchFamily="18" charset="0"/>
              </a:rPr>
              <a:t>University Administration: Wants to improve student satisfaction without significantly increasing costs. </a:t>
            </a:r>
          </a:p>
          <a:p>
            <a:pPr>
              <a:buNone/>
            </a:pPr>
            <a:r>
              <a:rPr lang="en-US" sz="2400" b="1" dirty="0">
                <a:latin typeface="Times New Roman" panose="02020603050405020304" pitchFamily="18" charset="0"/>
                <a:cs typeface="Times New Roman" panose="02020603050405020304" pitchFamily="18" charset="0"/>
              </a:rPr>
              <a:t>2. Unconventional Idea</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Introduce a mobile app that allows students to pre-order meals and select a pickup time. </a:t>
            </a:r>
          </a:p>
          <a:p>
            <a:pPr>
              <a:buNone/>
            </a:pPr>
            <a:r>
              <a:rPr lang="en-US" sz="2400" b="1" dirty="0">
                <a:latin typeface="Times New Roman" panose="02020603050405020304" pitchFamily="18" charset="0"/>
                <a:cs typeface="Times New Roman" panose="02020603050405020304" pitchFamily="18" charset="0"/>
              </a:rPr>
              <a:t>3. Breaking Assumptions</a:t>
            </a:r>
          </a:p>
          <a:p>
            <a:pPr lvl="1"/>
            <a:r>
              <a:rPr lang="en-US" sz="2400" dirty="0">
                <a:latin typeface="Times New Roman" panose="02020603050405020304" pitchFamily="18" charset="0"/>
                <a:cs typeface="Times New Roman" panose="02020603050405020304" pitchFamily="18" charset="0"/>
              </a:rPr>
              <a:t>Assumption: Students must place orders only after arriving at the cafeteria. </a:t>
            </a:r>
          </a:p>
          <a:p>
            <a:pPr lvl="1"/>
            <a:r>
              <a:rPr lang="en-US" sz="2400" dirty="0">
                <a:latin typeface="Times New Roman" panose="02020603050405020304" pitchFamily="18" charset="0"/>
                <a:cs typeface="Times New Roman" panose="02020603050405020304" pitchFamily="18" charset="0"/>
              </a:rPr>
              <a:t>Challenge: Why can't students order before reaching the cafeteria? </a:t>
            </a:r>
          </a:p>
          <a:p>
            <a:pPr>
              <a:buNone/>
            </a:pPr>
            <a:r>
              <a:rPr lang="en-US" sz="2400" b="1" dirty="0">
                <a:latin typeface="Times New Roman" panose="02020603050405020304" pitchFamily="18" charset="0"/>
                <a:cs typeface="Times New Roman" panose="02020603050405020304" pitchFamily="18" charset="0"/>
              </a:rPr>
              <a:t>Result</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Students collect their meals quickly at designated pickup counters, queues are reduced, staff can prepare orders more efficiently, and overall satisfaction increases.</a:t>
            </a:r>
          </a:p>
          <a:p>
            <a:endParaRPr lang="en-IN" dirty="0"/>
          </a:p>
        </p:txBody>
      </p:sp>
    </p:spTree>
    <p:extLst>
      <p:ext uri="{BB962C8B-B14F-4D97-AF65-F5344CB8AC3E}">
        <p14:creationId xmlns:p14="http://schemas.microsoft.com/office/powerpoint/2010/main" val="34743745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Thinking Styles Comparison</a:t>
            </a:r>
          </a:p>
        </p:txBody>
      </p:sp>
      <p:sp>
        <p:nvSpPr>
          <p:cNvPr id="199"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Critical=Evaluation</a:t>
            </a:r>
          </a:p>
          <a:p>
            <a:pPr>
              <a:defRPr>
                <a:latin typeface="Times New Roman"/>
                <a:ea typeface="Times New Roman"/>
                <a:cs typeface="Times New Roman"/>
                <a:sym typeface="Times New Roman"/>
              </a:defRPr>
            </a:pPr>
            <a:r>
              <a:t>Creative=Innovation</a:t>
            </a:r>
          </a:p>
          <a:p>
            <a:pPr>
              <a:defRPr>
                <a:latin typeface="Times New Roman"/>
                <a:ea typeface="Times New Roman"/>
                <a:cs typeface="Times New Roman"/>
                <a:sym typeface="Times New Roman"/>
              </a:defRPr>
            </a:pPr>
            <a:r>
              <a:t>Analytical=Breakdown</a:t>
            </a:r>
          </a:p>
          <a:p>
            <a:pPr>
              <a:defRPr>
                <a:latin typeface="Times New Roman"/>
                <a:ea typeface="Times New Roman"/>
                <a:cs typeface="Times New Roman"/>
                <a:sym typeface="Times New Roman"/>
              </a:defRPr>
            </a:pPr>
            <a:r>
              <a:t>Logical=Reasoning</a:t>
            </a:r>
          </a:p>
          <a:p>
            <a:pPr>
              <a:defRPr>
                <a:latin typeface="Times New Roman"/>
                <a:ea typeface="Times New Roman"/>
                <a:cs typeface="Times New Roman"/>
                <a:sym typeface="Times New Roman"/>
              </a:defRPr>
            </a:pPr>
            <a:r>
              <a:t>Strategic=Planning</a:t>
            </a:r>
          </a:p>
          <a:p>
            <a:pPr>
              <a:defRPr>
                <a:latin typeface="Times New Roman"/>
                <a:ea typeface="Times New Roman"/>
                <a:cs typeface="Times New Roman"/>
                <a:sym typeface="Times New Roman"/>
              </a:defRPr>
            </a:pPr>
            <a:r>
              <a:t>Lateral=New Perspectives</a:t>
            </a: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rPr dirty="0">
                <a:solidFill>
                  <a:srgbClr val="0070C0"/>
                </a:solidFill>
              </a:rPr>
              <a:t>Activity – Think Differently</a:t>
            </a:r>
          </a:p>
        </p:txBody>
      </p:sp>
      <p:sp>
        <p:nvSpPr>
          <p:cNvPr id="196"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rPr dirty="0"/>
              <a:t>How can a chair be used other than sitting?</a:t>
            </a:r>
          </a:p>
          <a:p>
            <a:pPr>
              <a:defRPr>
                <a:latin typeface="Times New Roman"/>
                <a:ea typeface="Times New Roman"/>
                <a:cs typeface="Times New Roman"/>
                <a:sym typeface="Times New Roman"/>
              </a:defRPr>
            </a:pPr>
            <a:r>
              <a:rPr dirty="0"/>
              <a:t>Brainstorm alternative uses.</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Barriers to Effective Thinking</a:t>
            </a:r>
          </a:p>
        </p:txBody>
      </p:sp>
      <p:sp>
        <p:nvSpPr>
          <p:cNvPr id="202"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Fixed mindset</a:t>
            </a:r>
          </a:p>
          <a:p>
            <a:pPr>
              <a:defRPr>
                <a:latin typeface="Times New Roman"/>
                <a:ea typeface="Times New Roman"/>
                <a:cs typeface="Times New Roman"/>
                <a:sym typeface="Times New Roman"/>
              </a:defRPr>
            </a:pPr>
            <a:r>
              <a:t>Biases</a:t>
            </a:r>
          </a:p>
          <a:p>
            <a:pPr>
              <a:defRPr>
                <a:latin typeface="Times New Roman"/>
                <a:ea typeface="Times New Roman"/>
                <a:cs typeface="Times New Roman"/>
                <a:sym typeface="Times New Roman"/>
              </a:defRPr>
            </a:pPr>
            <a:r>
              <a:t>Fear of failure</a:t>
            </a:r>
          </a:p>
          <a:p>
            <a:pPr>
              <a:defRPr>
                <a:latin typeface="Times New Roman"/>
                <a:ea typeface="Times New Roman"/>
                <a:cs typeface="Times New Roman"/>
                <a:sym typeface="Times New Roman"/>
              </a:defRPr>
            </a:pPr>
            <a:r>
              <a:t>Limited information</a:t>
            </a:r>
          </a:p>
          <a:p>
            <a:pPr>
              <a:defRPr>
                <a:latin typeface="Times New Roman"/>
                <a:ea typeface="Times New Roman"/>
                <a:cs typeface="Times New Roman"/>
                <a:sym typeface="Times New Roman"/>
              </a:defRPr>
            </a:pPr>
            <a:r>
              <a:t>Overconfidence</a:t>
            </a: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Fixed vs Growth Mindset</a:t>
            </a:r>
          </a:p>
        </p:txBody>
      </p:sp>
      <p:sp>
        <p:nvSpPr>
          <p:cNvPr id="208"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Fixed: avoid challenges</a:t>
            </a:r>
          </a:p>
          <a:p>
            <a:pPr>
              <a:defRPr>
                <a:latin typeface="Times New Roman"/>
                <a:ea typeface="Times New Roman"/>
                <a:cs typeface="Times New Roman"/>
                <a:sym typeface="Times New Roman"/>
              </a:defRPr>
            </a:pPr>
            <a:r>
              <a:t>Growth: embrace challenges</a:t>
            </a:r>
          </a:p>
          <a:p>
            <a:pPr>
              <a:defRPr>
                <a:latin typeface="Times New Roman"/>
                <a:ea typeface="Times New Roman"/>
                <a:cs typeface="Times New Roman"/>
                <a:sym typeface="Times New Roman"/>
              </a:defRPr>
            </a:pPr>
            <a:r>
              <a:t>Learn from failure</a:t>
            </a: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Cognitive Biases</a:t>
            </a:r>
          </a:p>
        </p:txBody>
      </p:sp>
      <p:sp>
        <p:nvSpPr>
          <p:cNvPr id="205"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Confirmation bias</a:t>
            </a:r>
          </a:p>
          <a:p>
            <a:pPr>
              <a:defRPr>
                <a:latin typeface="Times New Roman"/>
                <a:ea typeface="Times New Roman"/>
                <a:cs typeface="Times New Roman"/>
                <a:sym typeface="Times New Roman"/>
              </a:defRPr>
            </a:pPr>
            <a:r>
              <a:t>Anchoring bias</a:t>
            </a:r>
          </a:p>
          <a:p>
            <a:pPr>
              <a:defRPr>
                <a:latin typeface="Times New Roman"/>
                <a:ea typeface="Times New Roman"/>
                <a:cs typeface="Times New Roman"/>
                <a:sym typeface="Times New Roman"/>
              </a:defRPr>
            </a:pPr>
            <a:r>
              <a:t>Availability bias</a:t>
            </a:r>
          </a:p>
          <a:p>
            <a:pPr>
              <a:defRPr>
                <a:latin typeface="Times New Roman"/>
                <a:ea typeface="Times New Roman"/>
                <a:cs typeface="Times New Roman"/>
                <a:sym typeface="Times New Roman"/>
              </a:defRPr>
            </a:pPr>
            <a:r>
              <a:t>Groupthink</a:t>
            </a: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Changing Human Thinking</a:t>
            </a:r>
          </a:p>
        </p:txBody>
      </p:sp>
      <p:sp>
        <p:nvSpPr>
          <p:cNvPr id="211"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Reflection</a:t>
            </a:r>
          </a:p>
          <a:p>
            <a:pPr>
              <a:defRPr>
                <a:latin typeface="Times New Roman"/>
                <a:ea typeface="Times New Roman"/>
                <a:cs typeface="Times New Roman"/>
                <a:sym typeface="Times New Roman"/>
              </a:defRPr>
            </a:pPr>
            <a:r>
              <a:t>Learning</a:t>
            </a:r>
          </a:p>
          <a:p>
            <a:pPr>
              <a:defRPr>
                <a:latin typeface="Times New Roman"/>
                <a:ea typeface="Times New Roman"/>
                <a:cs typeface="Times New Roman"/>
                <a:sym typeface="Times New Roman"/>
              </a:defRPr>
            </a:pPr>
            <a:r>
              <a:t>Feedback</a:t>
            </a:r>
          </a:p>
          <a:p>
            <a:pPr>
              <a:defRPr>
                <a:latin typeface="Times New Roman"/>
                <a:ea typeface="Times New Roman"/>
                <a:cs typeface="Times New Roman"/>
                <a:sym typeface="Times New Roman"/>
              </a:defRPr>
            </a:pPr>
            <a:r>
              <a:t>Collaboration</a:t>
            </a:r>
          </a:p>
          <a:p>
            <a:pPr>
              <a:defRPr>
                <a:latin typeface="Times New Roman"/>
                <a:ea typeface="Times New Roman"/>
                <a:cs typeface="Times New Roman"/>
                <a:sym typeface="Times New Roman"/>
              </a:defRPr>
            </a:pPr>
            <a:r>
              <a:t>Experimentation</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Reflection as a Tool</a:t>
            </a:r>
          </a:p>
        </p:txBody>
      </p:sp>
      <p:sp>
        <p:nvSpPr>
          <p:cNvPr id="214"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Review actions</a:t>
            </a:r>
          </a:p>
          <a:p>
            <a:pPr>
              <a:defRPr>
                <a:latin typeface="Times New Roman"/>
                <a:ea typeface="Times New Roman"/>
                <a:cs typeface="Times New Roman"/>
                <a:sym typeface="Times New Roman"/>
              </a:defRPr>
            </a:pPr>
            <a:r>
              <a:t>Learn from mistakes</a:t>
            </a:r>
          </a:p>
          <a:p>
            <a:pPr>
              <a:defRPr>
                <a:latin typeface="Times New Roman"/>
                <a:ea typeface="Times New Roman"/>
                <a:cs typeface="Times New Roman"/>
                <a:sym typeface="Times New Roman"/>
              </a:defRPr>
            </a:pPr>
            <a:r>
              <a:t>Identify improvements</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Role of Collaboration</a:t>
            </a:r>
          </a:p>
        </p:txBody>
      </p:sp>
      <p:sp>
        <p:nvSpPr>
          <p:cNvPr id="217"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Diverse viewpoints</a:t>
            </a:r>
          </a:p>
          <a:p>
            <a:pPr>
              <a:defRPr>
                <a:latin typeface="Times New Roman"/>
                <a:ea typeface="Times New Roman"/>
                <a:cs typeface="Times New Roman"/>
                <a:sym typeface="Times New Roman"/>
              </a:defRPr>
            </a:pPr>
            <a:r>
              <a:t>Better solutions</a:t>
            </a:r>
          </a:p>
          <a:p>
            <a:pPr>
              <a:defRPr>
                <a:latin typeface="Times New Roman"/>
                <a:ea typeface="Times New Roman"/>
                <a:cs typeface="Times New Roman"/>
                <a:sym typeface="Times New Roman"/>
              </a:defRPr>
            </a:pPr>
            <a:r>
              <a:t>Knowledge sharing</a:t>
            </a:r>
          </a:p>
          <a:p>
            <a:pPr>
              <a:defRPr>
                <a:latin typeface="Times New Roman"/>
                <a:ea typeface="Times New Roman"/>
                <a:cs typeface="Times New Roman"/>
                <a:sym typeface="Times New Roman"/>
              </a:defRPr>
            </a:pPr>
            <a:r>
              <a:t>Enhanced creativity</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Importance of Asking Questions</a:t>
            </a:r>
          </a:p>
        </p:txBody>
      </p:sp>
      <p:sp>
        <p:nvSpPr>
          <p:cNvPr id="220"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Curiosity</a:t>
            </a:r>
          </a:p>
          <a:p>
            <a:pPr>
              <a:defRPr>
                <a:latin typeface="Times New Roman"/>
                <a:ea typeface="Times New Roman"/>
                <a:cs typeface="Times New Roman"/>
                <a:sym typeface="Times New Roman"/>
              </a:defRPr>
            </a:pPr>
            <a:r>
              <a:t>Exploration</a:t>
            </a:r>
          </a:p>
          <a:p>
            <a:pPr>
              <a:defRPr>
                <a:latin typeface="Times New Roman"/>
                <a:ea typeface="Times New Roman"/>
                <a:cs typeface="Times New Roman"/>
                <a:sym typeface="Times New Roman"/>
              </a:defRPr>
            </a:pPr>
            <a:r>
              <a:t>Learning</a:t>
            </a:r>
          </a:p>
          <a:p>
            <a:pPr>
              <a:defRPr>
                <a:latin typeface="Times New Roman"/>
                <a:ea typeface="Times New Roman"/>
                <a:cs typeface="Times New Roman"/>
                <a:sym typeface="Times New Roman"/>
              </a:defRPr>
            </a:pPr>
            <a:r>
              <a:t>Innovation</a:t>
            </a:r>
          </a:p>
          <a:p>
            <a:pPr>
              <a:defRPr>
                <a:latin typeface="Times New Roman"/>
                <a:ea typeface="Times New Roman"/>
                <a:cs typeface="Times New Roman"/>
                <a:sym typeface="Times New Roman"/>
              </a:defRPr>
            </a:pPr>
            <a:r>
              <a:t>Why? What if?</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Case Study Discussion</a:t>
            </a:r>
          </a:p>
        </p:txBody>
      </p:sp>
      <p:sp>
        <p:nvSpPr>
          <p:cNvPr id="223"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Netflix Transformation</a:t>
            </a:r>
          </a:p>
          <a:p>
            <a:pPr>
              <a:defRPr>
                <a:latin typeface="Times New Roman"/>
                <a:ea typeface="Times New Roman"/>
                <a:cs typeface="Times New Roman"/>
                <a:sym typeface="Times New Roman"/>
              </a:defRPr>
            </a:pPr>
            <a:r>
              <a:t>Challenge assumptions</a:t>
            </a:r>
          </a:p>
          <a:p>
            <a:pPr>
              <a:defRPr>
                <a:latin typeface="Times New Roman"/>
                <a:ea typeface="Times New Roman"/>
                <a:cs typeface="Times New Roman"/>
                <a:sym typeface="Times New Roman"/>
              </a:defRPr>
            </a:pPr>
            <a:r>
              <a:t>Innovation through change</a:t>
            </a: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Key Takeaways</a:t>
            </a:r>
          </a:p>
        </p:txBody>
      </p:sp>
      <p:sp>
        <p:nvSpPr>
          <p:cNvPr id="226"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Thinking influences decisions</a:t>
            </a:r>
          </a:p>
          <a:p>
            <a:pPr>
              <a:defRPr>
                <a:latin typeface="Times New Roman"/>
                <a:ea typeface="Times New Roman"/>
                <a:cs typeface="Times New Roman"/>
                <a:sym typeface="Times New Roman"/>
              </a:defRPr>
            </a:pPr>
            <a:r>
              <a:t>Multiple styles exist</a:t>
            </a:r>
          </a:p>
          <a:p>
            <a:pPr>
              <a:defRPr>
                <a:latin typeface="Times New Roman"/>
                <a:ea typeface="Times New Roman"/>
                <a:cs typeface="Times New Roman"/>
                <a:sym typeface="Times New Roman"/>
              </a:defRPr>
            </a:pPr>
            <a:r>
              <a:t>Biases limit effectiveness</a:t>
            </a:r>
          </a:p>
          <a:p>
            <a:pPr>
              <a:defRPr>
                <a:latin typeface="Times New Roman"/>
                <a:ea typeface="Times New Roman"/>
                <a:cs typeface="Times New Roman"/>
                <a:sym typeface="Times New Roman"/>
              </a:defRPr>
            </a:pPr>
            <a:r>
              <a:t>Thinking can improve</a:t>
            </a: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Title 1"/>
          <p:cNvSpPr txBox="1">
            <a:spLocks noGrp="1"/>
          </p:cNvSpPr>
          <p:nvPr>
            <p:ph type="title"/>
          </p:nvPr>
        </p:nvSpPr>
        <p:spPr>
          <a:prstGeom prst="rect">
            <a:avLst/>
          </a:prstGeom>
        </p:spPr>
        <p:txBody>
          <a:bodyPr/>
          <a:lstStyle>
            <a:lvl1pPr>
              <a:defRPr>
                <a:latin typeface="Times New Roman"/>
                <a:ea typeface="Times New Roman"/>
                <a:cs typeface="Times New Roman"/>
                <a:sym typeface="Times New Roman"/>
              </a:defRPr>
            </a:lvl1pPr>
          </a:lstStyle>
          <a:p>
            <a:r>
              <a:t>Summary and Discussion</a:t>
            </a:r>
          </a:p>
        </p:txBody>
      </p:sp>
      <p:sp>
        <p:nvSpPr>
          <p:cNvPr id="229" name="Content Placeholder 2"/>
          <p:cNvSpPr txBox="1">
            <a:spLocks noGrp="1"/>
          </p:cNvSpPr>
          <p:nvPr>
            <p:ph type="body" idx="1"/>
          </p:nvPr>
        </p:nvSpPr>
        <p:spPr>
          <a:xfrm>
            <a:off x="457200" y="1600200"/>
            <a:ext cx="8229600" cy="4525963"/>
          </a:xfrm>
          <a:prstGeom prst="rect">
            <a:avLst/>
          </a:prstGeom>
        </p:spPr>
        <p:txBody>
          <a:bodyPr/>
          <a:lstStyle/>
          <a:p>
            <a:pPr>
              <a:defRPr>
                <a:latin typeface="Times New Roman"/>
                <a:ea typeface="Times New Roman"/>
                <a:cs typeface="Times New Roman"/>
                <a:sym typeface="Times New Roman"/>
              </a:defRPr>
            </a:pPr>
            <a:r>
              <a:t>Which thinking style do you use?</a:t>
            </a:r>
          </a:p>
          <a:p>
            <a:pPr>
              <a:defRPr>
                <a:latin typeface="Times New Roman"/>
                <a:ea typeface="Times New Roman"/>
                <a:cs typeface="Times New Roman"/>
                <a:sym typeface="Times New Roman"/>
              </a:defRPr>
            </a:pPr>
            <a:r>
              <a:t>How can thinking be improved?</a:t>
            </a:r>
          </a:p>
          <a:p>
            <a:pPr>
              <a:defRPr>
                <a:latin typeface="Times New Roman"/>
                <a:ea typeface="Times New Roman"/>
                <a:cs typeface="Times New Roman"/>
                <a:sym typeface="Times New Roman"/>
              </a:defRPr>
            </a:pPr>
            <a:r>
              <a:t>Why is creative thinking important?</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1450</TotalTime>
  <Words>6027</Words>
  <Application>Microsoft Office PowerPoint</Application>
  <PresentationFormat>On-screen Show (4:3)</PresentationFormat>
  <Paragraphs>761</Paragraphs>
  <Slides>87</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87</vt:i4>
      </vt:variant>
    </vt:vector>
  </HeadingPairs>
  <TitlesOfParts>
    <vt:vector size="97" baseType="lpstr">
      <vt:lpstr>Arial</vt:lpstr>
      <vt:lpstr>Calibri</vt:lpstr>
      <vt:lpstr>Calibri Light</vt:lpstr>
      <vt:lpstr>Helvetica Neue</vt:lpstr>
      <vt:lpstr>Symbol</vt:lpstr>
      <vt:lpstr>Times New Roman</vt:lpstr>
      <vt:lpstr>Times Roman</vt:lpstr>
      <vt:lpstr>Wingdings</vt:lpstr>
      <vt:lpstr>Office Theme</vt:lpstr>
      <vt:lpstr>2_Office Theme</vt:lpstr>
      <vt:lpstr>DESIGN THINKING (ADS336)</vt:lpstr>
      <vt:lpstr>The Team</vt:lpstr>
      <vt:lpstr>Course Description</vt:lpstr>
      <vt:lpstr>Course Outcomes</vt:lpstr>
      <vt:lpstr>PowerPoint Presentation</vt:lpstr>
      <vt:lpstr>Topics</vt:lpstr>
      <vt:lpstr>CIA Components </vt:lpstr>
      <vt:lpstr>UNIT 1</vt:lpstr>
      <vt:lpstr>Where are we?</vt:lpstr>
      <vt:lpstr>What is Thinking?</vt:lpstr>
      <vt:lpstr>PowerPoint Presentation</vt:lpstr>
      <vt:lpstr>PowerPoint Presentation</vt:lpstr>
      <vt:lpstr>PowerPoint Presentation</vt:lpstr>
      <vt:lpstr>PowerPoint Presentation</vt:lpstr>
      <vt:lpstr>PowerPoint Presentation</vt:lpstr>
      <vt:lpstr>PowerPoint Presentation</vt:lpstr>
      <vt:lpstr>Over all Flow</vt:lpstr>
      <vt:lpstr>Case 2: Simple real-life example using buying a mobile phone</vt:lpstr>
      <vt:lpstr>PowerPoint Presentation</vt:lpstr>
      <vt:lpstr>PowerPoint Presentation</vt:lpstr>
      <vt:lpstr>PowerPoint Presentation</vt:lpstr>
      <vt:lpstr>Analyze the major functions of critical thinking and cognitive processing  </vt:lpstr>
      <vt:lpstr>Importance of Thinking</vt:lpstr>
      <vt:lpstr>PowerPoint Presentation</vt:lpstr>
      <vt:lpstr>PowerPoint Presentation</vt:lpstr>
      <vt:lpstr>PowerPoint Presentation</vt:lpstr>
      <vt:lpstr>PowerPoint Presentation</vt:lpstr>
      <vt:lpstr>PowerPoint Presentation</vt:lpstr>
      <vt:lpstr>PowerPoint Presentation</vt:lpstr>
      <vt:lpstr>How Humans Think</vt:lpstr>
      <vt:lpstr>How humans think (continuation…)</vt:lpstr>
      <vt:lpstr>PowerPoint Presentation</vt:lpstr>
      <vt:lpstr>PowerPoint Presentation</vt:lpstr>
      <vt:lpstr>Flow of Thinking</vt:lpstr>
      <vt:lpstr>Activity: Stroop Effect</vt:lpstr>
      <vt:lpstr>PowerPoint Presentation</vt:lpstr>
      <vt:lpstr>Thinking and Innovation</vt:lpstr>
      <vt:lpstr>Characteristics of Effective Thinkers</vt:lpstr>
      <vt:lpstr>PowerPoint Presentation</vt:lpstr>
      <vt:lpstr>PowerPoint Presentation</vt:lpstr>
      <vt:lpstr>PowerPoint Presentation</vt:lpstr>
      <vt:lpstr>PowerPoint Presentation</vt:lpstr>
      <vt:lpstr>PowerPoint Presentation</vt:lpstr>
      <vt:lpstr>PowerPoint Presentation</vt:lpstr>
      <vt:lpstr>Effective Thinker Model</vt:lpstr>
      <vt:lpstr>Factors Affecting Thinking</vt:lpstr>
      <vt:lpstr>PowerPoint Presentation</vt:lpstr>
      <vt:lpstr>PowerPoint Presentation</vt:lpstr>
      <vt:lpstr>PowerPoint Presentation</vt:lpstr>
      <vt:lpstr>PowerPoint Presentation</vt:lpstr>
      <vt:lpstr>Types of Thinking – Overview</vt:lpstr>
      <vt:lpstr>a) Critical Thinking</vt:lpstr>
      <vt:lpstr>PowerPoint Presentation</vt:lpstr>
      <vt:lpstr>PowerPoint Presentation</vt:lpstr>
      <vt:lpstr>b) Creative Thinking</vt:lpstr>
      <vt:lpstr>PowerPoint Presentation</vt:lpstr>
      <vt:lpstr>PowerPoint Presentation</vt:lpstr>
      <vt:lpstr>PowerPoint Presentation</vt:lpstr>
      <vt:lpstr>c) Analytical Thinking</vt:lpstr>
      <vt:lpstr>PowerPoint Presentation</vt:lpstr>
      <vt:lpstr>PowerPoint Presentation</vt:lpstr>
      <vt:lpstr>PowerPoint Presentation</vt:lpstr>
      <vt:lpstr>d) Logical Thinking</vt:lpstr>
      <vt:lpstr>PowerPoint Presentation</vt:lpstr>
      <vt:lpstr>PowerPoint Presentation</vt:lpstr>
      <vt:lpstr>PowerPoint Presentation</vt:lpstr>
      <vt:lpstr>e) Strategic Thinking</vt:lpstr>
      <vt:lpstr>PowerPoint Presentation</vt:lpstr>
      <vt:lpstr>PowerPoint Presentation</vt:lpstr>
      <vt:lpstr>PowerPoint Presentation</vt:lpstr>
      <vt:lpstr>f) Lateral Thinking</vt:lpstr>
      <vt:lpstr>PowerPoint Presentation</vt:lpstr>
      <vt:lpstr>PowerPoint Presentation</vt:lpstr>
      <vt:lpstr>PowerPoint Presentation</vt:lpstr>
      <vt:lpstr>PowerPoint Presentation</vt:lpstr>
      <vt:lpstr>Thinking Styles Comparison</vt:lpstr>
      <vt:lpstr>Activity – Think Differently</vt:lpstr>
      <vt:lpstr>Barriers to Effective Thinking</vt:lpstr>
      <vt:lpstr>Fixed vs Growth Mindset</vt:lpstr>
      <vt:lpstr>Cognitive Biases</vt:lpstr>
      <vt:lpstr>Changing Human Thinking</vt:lpstr>
      <vt:lpstr>Reflection as a Tool</vt:lpstr>
      <vt:lpstr>Role of Collaboration</vt:lpstr>
      <vt:lpstr>Importance of Asking Questions</vt:lpstr>
      <vt:lpstr>Case Study Discussion</vt:lpstr>
      <vt:lpstr>Key Takeaways</vt:lpstr>
      <vt:lpstr>Summary and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Alpha Vijayan</cp:lastModifiedBy>
  <cp:revision>54</cp:revision>
  <dcterms:modified xsi:type="dcterms:W3CDTF">2026-06-12T08:24:01Z</dcterms:modified>
</cp:coreProperties>
</file>