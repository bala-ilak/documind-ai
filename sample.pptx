
<file path=[Content_Types].xml><?xml version="1.0" encoding="utf-8"?>
<Types xmlns="http://schemas.openxmlformats.org/package/2006/content-types">
  <Default Extension="xml" ContentType="application/vnd.openxmlformats-officedocument.extended-properties+xml"/>
  <Default Extension="png" ContentType="image/png"/>
  <Default Extension="fntdata" ContentType="application/x-fontdata"/>
  <Default Extension="jpeg" ContentType="image/jpeg"/>
  <Default Extension="rels" ContentType="application/vnd.openxmlformats-package.relationships+xml"/>
  <Override PartName="/docProps/core.xml" ContentType="application/vnd.openxmlformats-package.core-properties+xml"/>
  <Override PartName="/ppt/presentation.xml" ContentType="application/vnd.openxmlformats-officedocument.presentationml.presentation.main+xml"/>
  <Override PartName="/ppt/slides/slide24.xml" ContentType="application/vnd.openxmlformats-officedocument.presentationml.slide+xml"/>
  <Override PartName="/ppt/slideLayouts/slideLayout8.xml" ContentType="application/vnd.openxmlformats-officedocument.presentationml.slideLayout+xml"/>
  <Override PartName="/ppt/slideMasters/slideMaster2.xml" ContentType="application/vnd.openxmlformats-officedocument.presentationml.slideMaster+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s/slide19.xml" ContentType="application/vnd.openxmlformats-officedocument.presentationml.slide+xml"/>
  <Override PartName="/ppt/slides/slide40.xml" ContentType="application/vnd.openxmlformats-officedocument.presentationml.slide+xml"/>
  <Override PartName="/ppt/slides/slide45.xml" ContentType="application/vnd.openxmlformats-officedocument.presentationml.slide+xml"/>
  <Override PartName="/ppt/slides/slide61.xml" ContentType="application/vnd.openxmlformats-officedocument.presentationml.slide+xml"/>
  <Override PartName="/ppt/slides/slide66.xml" ContentType="application/vnd.openxmlformats-officedocument.presentationml.slide+xml"/>
  <Override PartName="/ppt/slides/slide82.xml" ContentType="application/vnd.openxmlformats-officedocument.presentationml.slide+xml"/>
  <Override PartName="/ppt/slides/slide87.xml" ContentType="application/vnd.openxmlformats-officedocument.presentationml.slide+xml"/>
  <Override PartName="/ppt/slides/slide14.xml" ContentType="application/vnd.openxmlformats-officedocument.presentationml.slide+xml"/>
  <Override PartName="/ppt/slides/slide9.xml" ContentType="application/vnd.openxmlformats-officedocument.presentationml.slide+xml"/>
  <Override PartName="/ppt/slides/slide30.xml" ContentType="application/vnd.openxmlformats-officedocument.presentationml.slide+xml"/>
  <Override PartName="/ppt/slides/slide35.xml" ContentType="application/vnd.openxmlformats-officedocument.presentationml.slide+xml"/>
  <Override PartName="/ppt/slides/slide51.xml" ContentType="application/vnd.openxmlformats-officedocument.presentationml.slide+xml"/>
  <Override PartName="/ppt/slides/slide56.xml" ContentType="application/vnd.openxmlformats-officedocument.presentationml.slide+xml"/>
  <Override PartName="/ppt/slides/slide72.xml" ContentType="application/vnd.openxmlformats-officedocument.presentationml.slide+xml"/>
  <Override PartName="/ppt/slides/slide77.xml" ContentType="application/vnd.openxmlformats-officedocument.presentationml.slide+xml"/>
  <Override PartName="/ppt/slides/slide3.xml" ContentType="application/vnd.openxmlformats-officedocument.presentationml.slide+xml"/>
  <Override PartName="/ppt/slides/slide88.xml" ContentType="application/vnd.openxmlformats-officedocument.presentationml.slide+xml"/>
  <Override PartName="/ppt/slides/slide93.xml" ContentType="application/vnd.openxmlformats-officedocument.presentationml.slide+xml"/>
  <Override PartName="/ppt/slides/slide20.xml" ContentType="application/vnd.openxmlformats-officedocument.presentationml.slide+xml"/>
  <Override PartName="/ppt/slides/slide25.xml" ContentType="application/vnd.openxmlformats-officedocument.presentationml.slide+xml"/>
  <Override PartName="/ppt/slides/slide41.xml" ContentType="application/vnd.openxmlformats-officedocument.presentationml.slide+xml"/>
  <Override PartName="/ppt/slides/slide46.xml" ContentType="application/vnd.openxmlformats-officedocument.presentationml.slide+xml"/>
  <Override PartName="/ppt/slides/slide62.xml" ContentType="application/vnd.openxmlformats-officedocument.presentationml.slide+xml"/>
  <Override PartName="/ppt/slides/slide67.xml" ContentType="application/vnd.openxmlformats-officedocument.presentationml.slide+xml"/>
  <Override PartName="/ppt/slides/slide78.xml" ContentType="application/vnd.openxmlformats-officedocument.presentationml.slide+xml"/>
  <Override PartName="/ppt/slides/slide83.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31.xml" ContentType="application/vnd.openxmlformats-officedocument.presentationml.slide+xml"/>
  <Override PartName="/ppt/slides/slide3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slides/slide52.xml" ContentType="application/vnd.openxmlformats-officedocument.presentationml.slide+xml"/>
  <Override PartName="/ppt/slides/slide68.xml" ContentType="application/vnd.openxmlformats-officedocument.presentationml.slide+xml"/>
  <Override PartName="/ppt/slides/slide73.xml" ContentType="application/vnd.openxmlformats-officedocument.presentationml.slide+xml"/>
  <Override PartName="/ppt/slides/slide89.xml" ContentType="application/vnd.openxmlformats-officedocument.presentationml.slide+xml"/>
  <Override PartName="/ppt/slides/slide94.xml" ContentType="application/vnd.openxmlformats-officedocument.presentationml.slide+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s/slide4.xml" ContentType="application/vnd.openxmlformats-officedocument.presentationml.slide+xml"/>
  <Override PartName="/ppt/slides/slide21.xml" ContentType="application/vnd.openxmlformats-officedocument.presentationml.slide+xml"/>
  <Override PartName="/ppt/slides/slide26.xml" ContentType="application/vnd.openxmlformats-officedocument.presentationml.slide+xml"/>
  <Override PartName="/ppt/slides/slide47.xml" ContentType="application/vnd.openxmlformats-officedocument.presentationml.slide+xml"/>
  <Override PartName="/ppt/slides/slide42.xml" ContentType="application/vnd.openxmlformats-officedocument.presentationml.slide+xml"/>
  <Override PartName="/ppt/slides/slide58.xml" ContentType="application/vnd.openxmlformats-officedocument.presentationml.slide+xml"/>
  <Override PartName="/ppt/slides/slide63.xml" ContentType="application/vnd.openxmlformats-officedocument.presentationml.slide+xml"/>
  <Override PartName="/ppt/slides/slide79.xml" ContentType="application/vnd.openxmlformats-officedocument.presentationml.slide+xml"/>
  <Override PartName="/ppt/slides/slide84.xml" ContentType="application/vnd.openxmlformats-officedocument.presentationml.slide+xml"/>
  <Override PartName="/ppt/slides/slide11.xml" ContentType="application/vnd.openxmlformats-officedocument.presentationml.slide+xml"/>
  <Override PartName="/ppt/slides/slide16.xml" ContentType="application/vnd.openxmlformats-officedocument.presentationml.slide+xml"/>
  <Override PartName="/ppt/slides/slide37.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53.xml" ContentType="application/vnd.openxmlformats-officedocument.presentationml.slide+xml"/>
  <Override PartName="/ppt/slides/slide74.xml" ContentType="application/vnd.openxmlformats-officedocument.presentationml.slide+xml"/>
  <Override PartName="/ppt/slides/slide95.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69.xml" ContentType="application/vnd.openxmlformats-officedocument.presentationml.slide+xml"/>
  <Override PartName="/ppt/slides/slide90.xml" ContentType="application/vnd.openxmlformats-officedocument.presentationml.slide+xml"/>
  <Override PartName="/ppt/slides/slide27.xml" ContentType="application/vnd.openxmlformats-officedocument.presentationml.slide+xml"/>
  <Override PartName="/ppt/slides/slide22.xml" ContentType="application/vnd.openxmlformats-officedocument.presentationml.slide+xml"/>
  <Override PartName="/ppt/slides/slide38.xml" ContentType="application/vnd.openxmlformats-officedocument.presentationml.slide+xml"/>
  <Override PartName="/ppt/slides/slide43.xml" ContentType="application/vnd.openxmlformats-officedocument.presentationml.slide+xml"/>
  <Override PartName="/ppt/slides/slide64.xml" ContentType="application/vnd.openxmlformats-officedocument.presentationml.slide+xml"/>
  <Override PartName="/ppt/slides/slide85.xml" ContentType="application/vnd.openxmlformats-officedocument.presentationml.slide+xml"/>
  <Override PartName="/ppt/slides/slide59.xml" ContentType="application/vnd.openxmlformats-officedocument.presentationml.slide+xml"/>
  <Override PartName="/ppt/slides/slide80.xml" ContentType="application/vnd.openxmlformats-officedocument.presentationml.slide+xml"/>
  <Override PartName="/ppt/slides/slide17.xml" ContentType="application/vnd.openxmlformats-officedocument.presentationml.slide+xml"/>
  <Override PartName="/ppt/slides/slide12.xml" ContentType="application/vnd.openxmlformats-officedocument.presentationml.slide+xml"/>
  <Override PartName="/ppt/slides/slide28.xml" ContentType="application/vnd.openxmlformats-officedocument.presentationml.slide+xml"/>
  <Override PartName="/ppt/slides/slide33.xml" ContentType="application/vnd.openxmlformats-officedocument.presentationml.slide+xml"/>
  <Override PartName="/ppt/slides/slide54.xml" ContentType="application/vnd.openxmlformats-officedocument.presentationml.slide+xml"/>
  <Override PartName="/ppt/slides/slide75.xml" ContentType="application/vnd.openxmlformats-officedocument.presentationml.slide+xml"/>
  <Override PartName="/ppt/slides/slide6.xml" ContentType="application/vnd.openxmlformats-officedocument.presentationml.slide+xml"/>
  <Override PartName="/ppt/slides/slide49.xml" ContentType="application/vnd.openxmlformats-officedocument.presentationml.slide+xml"/>
  <Override PartName="/ppt/slides/slide7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theme/theme3.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3.xml" ContentType="application/vnd.openxmlformats-officedocument.presentationml.slide+xml"/>
  <Override PartName="/ppt/slides/slide44.xml" ContentType="application/vnd.openxmlformats-officedocument.presentationml.slide+xml"/>
  <Override PartName="/ppt/slides/slide65.xml" ContentType="application/vnd.openxmlformats-officedocument.presentationml.slide+xml"/>
  <Override PartName="/ppt/slides/slide18.xml" ContentType="application/vnd.openxmlformats-officedocument.presentationml.slide+xml"/>
  <Override PartName="/ppt/slides/slide39.xml" ContentType="application/vnd.openxmlformats-officedocument.presentationml.slide+xml"/>
  <Override PartName="/ppt/slides/slide60.xml" ContentType="application/vnd.openxmlformats-officedocument.presentationml.slide+xml"/>
  <Override PartName="/ppt/slides/slide81.xml" ContentType="application/vnd.openxmlformats-officedocument.presentationml.slide+xml"/>
  <Override PartName="/ppt/slides/slide86.xml" ContentType="application/vnd.openxmlformats-officedocument.presentationml.slide+xml"/>
  <Override PartName="/ppt/slides/slide13.xml" ContentType="application/vnd.openxmlformats-officedocument.presentationml.slide+xml"/>
  <Override PartName="/ppt/slides/slide34.xml" ContentType="application/vnd.openxmlformats-officedocument.presentationml.slide+xml"/>
  <Override PartName="/ppt/slides/slide55.xml" ContentType="application/vnd.openxmlformats-officedocument.presentationml.slide+xml"/>
  <Override PartName="/ppt/tableStyles.xml" ContentType="application/vnd.openxmlformats-officedocument.presentationml.tableStyles+xml"/>
  <Override PartName="/ppt/slides/slide8.xml" ContentType="application/vnd.openxmlformats-officedocument.presentationml.slide+xml"/>
  <Override PartName="/ppt/slides/slide29.xml" ContentType="application/vnd.openxmlformats-officedocument.presentationml.slide+xml"/>
  <Override PartName="/ppt/slides/slide50.xml" ContentType="application/vnd.openxmlformats-officedocument.presentationml.slide+xml"/>
  <Override PartName="/ppt/slides/slide71.xml" ContentType="application/vnd.openxmlformats-officedocument.presentationml.slide+xml"/>
  <Override PartName="/ppt/slides/slide76.xml" ContentType="application/vnd.openxmlformats-officedocument.presentationml.slide+xml"/>
  <Override PartName="/ppt/slides/slide92.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extended-properties" Target="/docProps/app.xml" Id="rId3" /><Relationship Type="http://schemas.openxmlformats.org/package/2006/relationships/metadata/core-properties" Target="/docProps/core.xml" Id="rId2" /><Relationship Type="http://schemas.openxmlformats.org/officeDocument/2006/relationships/officeDocument" Target="/ppt/presentation.xml" Id="rId1"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 id="2147483661" r:id="rId2"/>
  </p:sldMasterIdLst>
  <p:notesMasterIdLst>
    <p:notesMasterId r:id="rId98"/>
  </p:notesMasterIdLst>
  <p:sldIdLst>
    <p:sldId id="256" r:id="rId3"/>
    <p:sldId id="316" r:id="rId4"/>
    <p:sldId id="466" r:id="rId5"/>
    <p:sldId id="475" r:id="rId6"/>
    <p:sldId id="467" r:id="rId7"/>
    <p:sldId id="468" r:id="rId8"/>
    <p:sldId id="469" r:id="rId9"/>
    <p:sldId id="470" r:id="rId10"/>
    <p:sldId id="471" r:id="rId11"/>
    <p:sldId id="472" r:id="rId12"/>
    <p:sldId id="473" r:id="rId13"/>
    <p:sldId id="476" r:id="rId14"/>
    <p:sldId id="477" r:id="rId15"/>
    <p:sldId id="478" r:id="rId16"/>
    <p:sldId id="474" r:id="rId17"/>
    <p:sldId id="479" r:id="rId18"/>
    <p:sldId id="480" r:id="rId19"/>
    <p:sldId id="481" r:id="rId20"/>
    <p:sldId id="482" r:id="rId21"/>
    <p:sldId id="483" r:id="rId22"/>
    <p:sldId id="484" r:id="rId23"/>
    <p:sldId id="485" r:id="rId24"/>
    <p:sldId id="486" r:id="rId25"/>
    <p:sldId id="487" r:id="rId26"/>
    <p:sldId id="488" r:id="rId27"/>
    <p:sldId id="489" r:id="rId28"/>
    <p:sldId id="490" r:id="rId29"/>
    <p:sldId id="492" r:id="rId30"/>
    <p:sldId id="493" r:id="rId31"/>
    <p:sldId id="491" r:id="rId32"/>
    <p:sldId id="494" r:id="rId33"/>
    <p:sldId id="495" r:id="rId34"/>
    <p:sldId id="496" r:id="rId35"/>
    <p:sldId id="497" r:id="rId36"/>
    <p:sldId id="498" r:id="rId37"/>
    <p:sldId id="499" r:id="rId38"/>
    <p:sldId id="500" r:id="rId39"/>
    <p:sldId id="501" r:id="rId40"/>
    <p:sldId id="502" r:id="rId41"/>
    <p:sldId id="503" r:id="rId42"/>
    <p:sldId id="504" r:id="rId43"/>
    <p:sldId id="505" r:id="rId44"/>
    <p:sldId id="506" r:id="rId45"/>
    <p:sldId id="507" r:id="rId46"/>
    <p:sldId id="508" r:id="rId47"/>
    <p:sldId id="509" r:id="rId48"/>
    <p:sldId id="510" r:id="rId49"/>
    <p:sldId id="511" r:id="rId50"/>
    <p:sldId id="512" r:id="rId51"/>
    <p:sldId id="513" r:id="rId52"/>
    <p:sldId id="514" r:id="rId53"/>
    <p:sldId id="515" r:id="rId54"/>
    <p:sldId id="516" r:id="rId55"/>
    <p:sldId id="517" r:id="rId56"/>
    <p:sldId id="518" r:id="rId57"/>
    <p:sldId id="519" r:id="rId58"/>
    <p:sldId id="520" r:id="rId59"/>
    <p:sldId id="521" r:id="rId60"/>
    <p:sldId id="522" r:id="rId61"/>
    <p:sldId id="523" r:id="rId62"/>
    <p:sldId id="524" r:id="rId63"/>
    <p:sldId id="525" r:id="rId64"/>
    <p:sldId id="526" r:id="rId65"/>
    <p:sldId id="527" r:id="rId66"/>
    <p:sldId id="528" r:id="rId67"/>
    <p:sldId id="530" r:id="rId68"/>
    <p:sldId id="531" r:id="rId69"/>
    <p:sldId id="532" r:id="rId70"/>
    <p:sldId id="533" r:id="rId71"/>
    <p:sldId id="534" r:id="rId72"/>
    <p:sldId id="535" r:id="rId73"/>
    <p:sldId id="536" r:id="rId74"/>
    <p:sldId id="537" r:id="rId75"/>
    <p:sldId id="538" r:id="rId76"/>
    <p:sldId id="539" r:id="rId77"/>
    <p:sldId id="540" r:id="rId78"/>
    <p:sldId id="541" r:id="rId79"/>
    <p:sldId id="542" r:id="rId80"/>
    <p:sldId id="543" r:id="rId81"/>
    <p:sldId id="544" r:id="rId82"/>
    <p:sldId id="545" r:id="rId83"/>
    <p:sldId id="546" r:id="rId84"/>
    <p:sldId id="547" r:id="rId85"/>
    <p:sldId id="548" r:id="rId86"/>
    <p:sldId id="549" r:id="rId87"/>
    <p:sldId id="550" r:id="rId88"/>
    <p:sldId id="551" r:id="rId89"/>
    <p:sldId id="552" r:id="rId90"/>
    <p:sldId id="553" r:id="rId91"/>
    <p:sldId id="554" r:id="rId92"/>
    <p:sldId id="555" r:id="rId93"/>
    <p:sldId id="556" r:id="rId94"/>
    <p:sldId id="557" r:id="rId95"/>
    <p:sldId id="558" r:id="rId96"/>
    <p:sldId id="559" r:id="rId97"/>
  </p:sldIdLst>
  <p:sldSz cx="12192000" cy="6858000"/>
  <p:notesSz cx="6858000" cy="9144000"/>
  <p:embeddedFontLst>
    <p:embeddedFont>
      <p:font typeface="Archivo Narrow" panose="020B0604020202020204" charset="0"/>
      <p:regular r:id="rId99"/>
      <p:bold r:id="rId100"/>
      <p:italic r:id="rId101"/>
      <p:boldItalic r:id="rId102"/>
    </p:embeddedFont>
    <p:embeddedFont>
      <p:font typeface="Archivo Narrow Medium" panose="020B0604020202020204" charset="0"/>
      <p:regular r:id="rId103"/>
      <p:bold r:id="rId104"/>
      <p:italic r:id="rId105"/>
      <p:boldItalic r:id="rId106"/>
    </p:embeddedFont>
    <p:embeddedFont>
      <p:font typeface="Book Antiqua" panose="02040602050305030304" pitchFamily="18" charset="0"/>
      <p:regular r:id="rId107"/>
      <p:bold r:id="rId108"/>
      <p:italic r:id="rId109"/>
      <p:boldItalic r:id="rId110"/>
    </p:embeddedFont>
    <p:embeddedFont>
      <p:font typeface="Calibri" panose="020F0502020204030204" pitchFamily="34" charset="0"/>
      <p:regular r:id="rId111"/>
      <p:bold r:id="rId112"/>
      <p:italic r:id="rId113"/>
      <p:boldItalic r:id="rId114"/>
    </p:embeddedFont>
    <p:embeddedFont>
      <p:font typeface="Georgia" panose="02040502050405020303" pitchFamily="18" charset="0"/>
      <p:regular r:id="rId115"/>
      <p:bold r:id="rId116"/>
      <p:italic r:id="rId117"/>
      <p:boldItalic r:id="rId118"/>
    </p:embeddedFont>
    <p:embeddedFont>
      <p:font typeface="IBM Plex Sans Condensed" panose="020B0506050203000203" pitchFamily="34" charset="0"/>
      <p:regular r:id="rId119"/>
      <p:bold r:id="rId120"/>
      <p:italic r:id="rId121"/>
      <p:boldItalic r:id="rId122"/>
    </p:embeddedFont>
    <p:embeddedFont>
      <p:font typeface="Yellowtail" panose="020B0604020202020204" charset="0"/>
      <p:regular r:id="rId1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FF"/>
    <a:srgbClr val="006600"/>
    <a:srgbClr val="CC0000"/>
    <a:srgbClr val="FF5050"/>
    <a:srgbClr val="CC3399"/>
    <a:srgbClr val="FF00FF"/>
    <a:srgbClr val="0066FF"/>
    <a:srgbClr val="339933"/>
    <a:srgbClr val="FF66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93741" autoAdjust="0"/>
  </p:normalViewPr>
  <p:slideViewPr>
    <p:cSldViewPr snapToGrid="0">
      <p:cViewPr varScale="1">
        <p:scale>
          <a:sx n="79" d="100"/>
          <a:sy n="79" d="100"/>
        </p:scale>
        <p:origin x="816" y="58"/>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 Target="/ppt/slides/slide24.xml" Id="rId26" /><Relationship Type="http://schemas.openxmlformats.org/officeDocument/2006/relationships/font" Target="/ppt/fonts/font19.fntdata" Id="rId117" /><Relationship Type="http://schemas.openxmlformats.org/officeDocument/2006/relationships/slide" Target="/ppt/slides/slide19.xml" Id="rId21" /><Relationship Type="http://schemas.openxmlformats.org/officeDocument/2006/relationships/slide" Target="/ppt/slides/slide40.xml" Id="rId42" /><Relationship Type="http://schemas.openxmlformats.org/officeDocument/2006/relationships/slide" Target="/ppt/slides/slide45.xml" Id="rId47" /><Relationship Type="http://schemas.openxmlformats.org/officeDocument/2006/relationships/slide" Target="/ppt/slides/slide61.xml" Id="rId63" /><Relationship Type="http://schemas.openxmlformats.org/officeDocument/2006/relationships/slide" Target="/ppt/slides/slide66.xml" Id="rId68" /><Relationship Type="http://schemas.openxmlformats.org/officeDocument/2006/relationships/slide" Target="/ppt/slides/slide82.xml" Id="rId84" /><Relationship Type="http://schemas.openxmlformats.org/officeDocument/2006/relationships/slide" Target="/ppt/slides/slide87.xml" Id="rId89" /><Relationship Type="http://schemas.openxmlformats.org/officeDocument/2006/relationships/font" Target="/ppt/fonts/font14.fntdata" Id="rId112" /><Relationship Type="http://schemas.openxmlformats.org/officeDocument/2006/relationships/slide" Target="/ppt/slides/slide14.xml" Id="rId16" /><Relationship Type="http://schemas.openxmlformats.org/officeDocument/2006/relationships/font" Target="/ppt/fonts/font9.fntdata" Id="rId107" /><Relationship Type="http://schemas.openxmlformats.org/officeDocument/2006/relationships/slide" Target="/ppt/slides/slide9.xml" Id="rId11" /><Relationship Type="http://schemas.openxmlformats.org/officeDocument/2006/relationships/slide" Target="/ppt/slides/slide30.xml" Id="rId32" /><Relationship Type="http://schemas.openxmlformats.org/officeDocument/2006/relationships/slide" Target="/ppt/slides/slide35.xml" Id="rId37" /><Relationship Type="http://schemas.openxmlformats.org/officeDocument/2006/relationships/slide" Target="/ppt/slides/slide51.xml" Id="rId53" /><Relationship Type="http://schemas.openxmlformats.org/officeDocument/2006/relationships/slide" Target="/ppt/slides/slide56.xml" Id="rId58" /><Relationship Type="http://schemas.openxmlformats.org/officeDocument/2006/relationships/slide" Target="/ppt/slides/slide72.xml" Id="rId74" /><Relationship Type="http://schemas.openxmlformats.org/officeDocument/2006/relationships/slide" Target="/ppt/slides/slide77.xml" Id="rId79" /><Relationship Type="http://schemas.openxmlformats.org/officeDocument/2006/relationships/font" Target="/ppt/fonts/font4.fntdata" Id="rId102" /><Relationship Type="http://schemas.openxmlformats.org/officeDocument/2006/relationships/font" Target="/ppt/fonts/font25.fntdata" Id="rId123" /><Relationship Type="http://schemas.openxmlformats.org/officeDocument/2006/relationships/slide" Target="/ppt/slides/slide3.xml" Id="rId5" /><Relationship Type="http://schemas.openxmlformats.org/officeDocument/2006/relationships/slide" Target="/ppt/slides/slide88.xml" Id="rId90" /><Relationship Type="http://schemas.openxmlformats.org/officeDocument/2006/relationships/slide" Target="/ppt/slides/slide93.xml" Id="rId95" /><Relationship Type="http://schemas.openxmlformats.org/officeDocument/2006/relationships/slide" Target="/ppt/slides/slide20.xml" Id="rId22" /><Relationship Type="http://schemas.openxmlformats.org/officeDocument/2006/relationships/slide" Target="/ppt/slides/slide25.xml" Id="rId27" /><Relationship Type="http://schemas.openxmlformats.org/officeDocument/2006/relationships/slide" Target="/ppt/slides/slide41.xml" Id="rId43" /><Relationship Type="http://schemas.openxmlformats.org/officeDocument/2006/relationships/slide" Target="/ppt/slides/slide46.xml" Id="rId48" /><Relationship Type="http://schemas.openxmlformats.org/officeDocument/2006/relationships/slide" Target="/ppt/slides/slide62.xml" Id="rId64" /><Relationship Type="http://schemas.openxmlformats.org/officeDocument/2006/relationships/slide" Target="/ppt/slides/slide67.xml" Id="rId69" /><Relationship Type="http://schemas.openxmlformats.org/officeDocument/2006/relationships/font" Target="/ppt/fonts/font15.fntdata" Id="rId113" /><Relationship Type="http://schemas.openxmlformats.org/officeDocument/2006/relationships/font" Target="/ppt/fonts/font20.fntdata" Id="rId118" /><Relationship Type="http://schemas.openxmlformats.org/officeDocument/2006/relationships/slide" Target="/ppt/slides/slide78.xml" Id="rId80" /><Relationship Type="http://schemas.openxmlformats.org/officeDocument/2006/relationships/slide" Target="/ppt/slides/slide83.xml" Id="rId85" /><Relationship Type="http://schemas.openxmlformats.org/officeDocument/2006/relationships/slide" Target="/ppt/slides/slide10.xml" Id="rId12" /><Relationship Type="http://schemas.openxmlformats.org/officeDocument/2006/relationships/slide" Target="/ppt/slides/slide15.xml" Id="rId17" /><Relationship Type="http://schemas.openxmlformats.org/officeDocument/2006/relationships/slide" Target="/ppt/slides/slide31.xml" Id="rId33" /><Relationship Type="http://schemas.openxmlformats.org/officeDocument/2006/relationships/slide" Target="/ppt/slides/slide36.xml" Id="rId38" /><Relationship Type="http://schemas.openxmlformats.org/officeDocument/2006/relationships/slide" Target="/ppt/slides/slide57.xml" Id="rId59" /><Relationship Type="http://schemas.openxmlformats.org/officeDocument/2006/relationships/font" Target="/ppt/fonts/font5.fntdata" Id="rId103" /><Relationship Type="http://schemas.openxmlformats.org/officeDocument/2006/relationships/font" Target="/ppt/fonts/font10.fntdata" Id="rId108" /><Relationship Type="http://schemas.openxmlformats.org/officeDocument/2006/relationships/presProps" Target="/ppt/presProps.xml" Id="rId124" /><Relationship Type="http://schemas.openxmlformats.org/officeDocument/2006/relationships/slide" Target="/ppt/slides/slide52.xml" Id="rId54" /><Relationship Type="http://schemas.openxmlformats.org/officeDocument/2006/relationships/slide" Target="/ppt/slides/slide68.xml" Id="rId70" /><Relationship Type="http://schemas.openxmlformats.org/officeDocument/2006/relationships/slide" Target="/ppt/slides/slide73.xml" Id="rId75" /><Relationship Type="http://schemas.openxmlformats.org/officeDocument/2006/relationships/slide" Target="/ppt/slides/slide89.xml" Id="rId91" /><Relationship Type="http://schemas.openxmlformats.org/officeDocument/2006/relationships/slide" Target="/ppt/slides/slide94.xml" Id="rId96" /><Relationship Type="http://schemas.openxmlformats.org/officeDocument/2006/relationships/slideMaster" Target="/ppt/slideMasters/slideMaster1.xml" Id="rId1" /><Relationship Type="http://schemas.openxmlformats.org/officeDocument/2006/relationships/slide" Target="/ppt/slides/slide4.xml" Id="rId6" /><Relationship Type="http://schemas.openxmlformats.org/officeDocument/2006/relationships/slide" Target="/ppt/slides/slide21.xml" Id="rId23" /><Relationship Type="http://schemas.openxmlformats.org/officeDocument/2006/relationships/slide" Target="/ppt/slides/slide26.xml" Id="rId28" /><Relationship Type="http://schemas.openxmlformats.org/officeDocument/2006/relationships/slide" Target="/ppt/slides/slide47.xml" Id="rId49" /><Relationship Type="http://schemas.openxmlformats.org/officeDocument/2006/relationships/font" Target="/ppt/fonts/font16.fntdata" Id="rId114" /><Relationship Type="http://schemas.openxmlformats.org/officeDocument/2006/relationships/font" Target="/ppt/fonts/font21.fntdata" Id="rId119" /><Relationship Type="http://schemas.openxmlformats.org/officeDocument/2006/relationships/slide" Target="/ppt/slides/slide42.xml" Id="rId44" /><Relationship Type="http://schemas.openxmlformats.org/officeDocument/2006/relationships/slide" Target="/ppt/slides/slide58.xml" Id="rId60" /><Relationship Type="http://schemas.openxmlformats.org/officeDocument/2006/relationships/slide" Target="/ppt/slides/slide63.xml" Id="rId65" /><Relationship Type="http://schemas.openxmlformats.org/officeDocument/2006/relationships/slide" Target="/ppt/slides/slide79.xml" Id="rId81" /><Relationship Type="http://schemas.openxmlformats.org/officeDocument/2006/relationships/slide" Target="/ppt/slides/slide84.xml" Id="rId86" /><Relationship Type="http://schemas.openxmlformats.org/officeDocument/2006/relationships/slide" Target="/ppt/slides/slide11.xml" Id="rId13" /><Relationship Type="http://schemas.openxmlformats.org/officeDocument/2006/relationships/slide" Target="/ppt/slides/slide16.xml" Id="rId18" /><Relationship Type="http://schemas.openxmlformats.org/officeDocument/2006/relationships/slide" Target="/ppt/slides/slide37.xml" Id="rId39" /><Relationship Type="http://schemas.openxmlformats.org/officeDocument/2006/relationships/font" Target="/ppt/fonts/font11.fntdata" Id="rId109" /><Relationship Type="http://schemas.openxmlformats.org/officeDocument/2006/relationships/slide" Target="/ppt/slides/slide32.xml" Id="rId34" /><Relationship Type="http://schemas.openxmlformats.org/officeDocument/2006/relationships/slide" Target="/ppt/slides/slide48.xml" Id="rId50" /><Relationship Type="http://schemas.openxmlformats.org/officeDocument/2006/relationships/slide" Target="/ppt/slides/slide53.xml" Id="rId55" /><Relationship Type="http://schemas.openxmlformats.org/officeDocument/2006/relationships/slide" Target="/ppt/slides/slide74.xml" Id="rId76" /><Relationship Type="http://schemas.openxmlformats.org/officeDocument/2006/relationships/slide" Target="/ppt/slides/slide95.xml" Id="rId97" /><Relationship Type="http://schemas.openxmlformats.org/officeDocument/2006/relationships/font" Target="/ppt/fonts/font6.fntdata" Id="rId104" /><Relationship Type="http://schemas.openxmlformats.org/officeDocument/2006/relationships/font" Target="/ppt/fonts/font22.fntdata" Id="rId120" /><Relationship Type="http://schemas.openxmlformats.org/officeDocument/2006/relationships/viewProps" Target="/ppt/viewProps.xml" Id="rId125" /><Relationship Type="http://schemas.openxmlformats.org/officeDocument/2006/relationships/slide" Target="/ppt/slides/slide5.xml" Id="rId7" /><Relationship Type="http://schemas.openxmlformats.org/officeDocument/2006/relationships/slide" Target="/ppt/slides/slide69.xml" Id="rId71" /><Relationship Type="http://schemas.openxmlformats.org/officeDocument/2006/relationships/slide" Target="/ppt/slides/slide90.xml" Id="rId92" /><Relationship Type="http://schemas.openxmlformats.org/officeDocument/2006/relationships/slideMaster" Target="/ppt/slideMasters/slideMaster2.xml" Id="rId2" /><Relationship Type="http://schemas.openxmlformats.org/officeDocument/2006/relationships/slide" Target="/ppt/slides/slide27.xml" Id="rId29" /><Relationship Type="http://schemas.openxmlformats.org/officeDocument/2006/relationships/slide" Target="/ppt/slides/slide22.xml" Id="rId24" /><Relationship Type="http://schemas.openxmlformats.org/officeDocument/2006/relationships/slide" Target="/ppt/slides/slide38.xml" Id="rId40" /><Relationship Type="http://schemas.openxmlformats.org/officeDocument/2006/relationships/slide" Target="/ppt/slides/slide43.xml" Id="rId45" /><Relationship Type="http://schemas.openxmlformats.org/officeDocument/2006/relationships/slide" Target="/ppt/slides/slide64.xml" Id="rId66" /><Relationship Type="http://schemas.openxmlformats.org/officeDocument/2006/relationships/slide" Target="/ppt/slides/slide85.xml" Id="rId87" /><Relationship Type="http://schemas.openxmlformats.org/officeDocument/2006/relationships/font" Target="/ppt/fonts/font12.fntdata" Id="rId110" /><Relationship Type="http://schemas.openxmlformats.org/officeDocument/2006/relationships/font" Target="/ppt/fonts/font17.fntdata" Id="rId115" /><Relationship Type="http://schemas.openxmlformats.org/officeDocument/2006/relationships/slide" Target="/ppt/slides/slide59.xml" Id="rId61" /><Relationship Type="http://schemas.openxmlformats.org/officeDocument/2006/relationships/slide" Target="/ppt/slides/slide80.xml" Id="rId82" /><Relationship Type="http://schemas.openxmlformats.org/officeDocument/2006/relationships/slide" Target="/ppt/slides/slide17.xml" Id="rId19" /><Relationship Type="http://schemas.openxmlformats.org/officeDocument/2006/relationships/slide" Target="/ppt/slides/slide12.xml" Id="rId14" /><Relationship Type="http://schemas.openxmlformats.org/officeDocument/2006/relationships/slide" Target="/ppt/slides/slide28.xml" Id="rId30" /><Relationship Type="http://schemas.openxmlformats.org/officeDocument/2006/relationships/slide" Target="/ppt/slides/slide33.xml" Id="rId35" /><Relationship Type="http://schemas.openxmlformats.org/officeDocument/2006/relationships/slide" Target="/ppt/slides/slide54.xml" Id="rId56" /><Relationship Type="http://schemas.openxmlformats.org/officeDocument/2006/relationships/slide" Target="/ppt/slides/slide75.xml" Id="rId77" /><Relationship Type="http://schemas.openxmlformats.org/officeDocument/2006/relationships/font" Target="/ppt/fonts/font2.fntdata" Id="rId100" /><Relationship Type="http://schemas.openxmlformats.org/officeDocument/2006/relationships/font" Target="/ppt/fonts/font7.fntdata" Id="rId105" /><Relationship Type="http://schemas.openxmlformats.org/officeDocument/2006/relationships/theme" Target="/ppt/theme/theme1.xml" Id="rId126" /><Relationship Type="http://schemas.openxmlformats.org/officeDocument/2006/relationships/slide" Target="/ppt/slides/slide6.xml" Id="rId8" /><Relationship Type="http://schemas.openxmlformats.org/officeDocument/2006/relationships/slide" Target="/ppt/slides/slide49.xml" Id="rId51" /><Relationship Type="http://schemas.openxmlformats.org/officeDocument/2006/relationships/slide" Target="/ppt/slides/slide70.xml" Id="rId72" /><Relationship Type="http://schemas.openxmlformats.org/officeDocument/2006/relationships/slide" Target="/ppt/slides/slide91.xml" Id="rId93" /><Relationship Type="http://schemas.openxmlformats.org/officeDocument/2006/relationships/notesMaster" Target="/ppt/notesMasters/notesMaster1.xml" Id="rId98" /><Relationship Type="http://schemas.openxmlformats.org/officeDocument/2006/relationships/font" Target="/ppt/fonts/font23.fntdata" Id="rId121" /><Relationship Type="http://schemas.openxmlformats.org/officeDocument/2006/relationships/slide" Target="/ppt/slides/slide1.xml" Id="rId3" /><Relationship Type="http://schemas.openxmlformats.org/officeDocument/2006/relationships/slide" Target="/ppt/slides/slide23.xml" Id="rId25" /><Relationship Type="http://schemas.openxmlformats.org/officeDocument/2006/relationships/slide" Target="/ppt/slides/slide44.xml" Id="rId46" /><Relationship Type="http://schemas.openxmlformats.org/officeDocument/2006/relationships/slide" Target="/ppt/slides/slide65.xml" Id="rId67" /><Relationship Type="http://schemas.openxmlformats.org/officeDocument/2006/relationships/font" Target="/ppt/fonts/font18.fntdata" Id="rId116" /><Relationship Type="http://schemas.openxmlformats.org/officeDocument/2006/relationships/slide" Target="/ppt/slides/slide18.xml" Id="rId20" /><Relationship Type="http://schemas.openxmlformats.org/officeDocument/2006/relationships/slide" Target="/ppt/slides/slide39.xml" Id="rId41" /><Relationship Type="http://schemas.openxmlformats.org/officeDocument/2006/relationships/slide" Target="/ppt/slides/slide60.xml" Id="rId62" /><Relationship Type="http://schemas.openxmlformats.org/officeDocument/2006/relationships/slide" Target="/ppt/slides/slide81.xml" Id="rId83" /><Relationship Type="http://schemas.openxmlformats.org/officeDocument/2006/relationships/slide" Target="/ppt/slides/slide86.xml" Id="rId88" /><Relationship Type="http://schemas.openxmlformats.org/officeDocument/2006/relationships/font" Target="/ppt/fonts/font13.fntdata" Id="rId111" /><Relationship Type="http://schemas.openxmlformats.org/officeDocument/2006/relationships/slide" Target="/ppt/slides/slide13.xml" Id="rId15" /><Relationship Type="http://schemas.openxmlformats.org/officeDocument/2006/relationships/slide" Target="/ppt/slides/slide34.xml" Id="rId36" /><Relationship Type="http://schemas.openxmlformats.org/officeDocument/2006/relationships/slide" Target="/ppt/slides/slide55.xml" Id="rId57" /><Relationship Type="http://schemas.openxmlformats.org/officeDocument/2006/relationships/font" Target="/ppt/fonts/font8.fntdata" Id="rId106" /><Relationship Type="http://schemas.openxmlformats.org/officeDocument/2006/relationships/tableStyles" Target="/ppt/tableStyles.xml" Id="rId127" /><Relationship Type="http://schemas.openxmlformats.org/officeDocument/2006/relationships/slide" Target="/ppt/slides/slide8.xml" Id="rId10" /><Relationship Type="http://schemas.openxmlformats.org/officeDocument/2006/relationships/slide" Target="/ppt/slides/slide29.xml" Id="rId31" /><Relationship Type="http://schemas.openxmlformats.org/officeDocument/2006/relationships/slide" Target="/ppt/slides/slide50.xml" Id="rId52" /><Relationship Type="http://schemas.openxmlformats.org/officeDocument/2006/relationships/slide" Target="/ppt/slides/slide71.xml" Id="rId73" /><Relationship Type="http://schemas.openxmlformats.org/officeDocument/2006/relationships/slide" Target="/ppt/slides/slide76.xml" Id="rId78" /><Relationship Type="http://schemas.openxmlformats.org/officeDocument/2006/relationships/slide" Target="/ppt/slides/slide92.xml" Id="rId94" /><Relationship Type="http://schemas.openxmlformats.org/officeDocument/2006/relationships/font" Target="/ppt/fonts/font1.fntdata" Id="rId99" /><Relationship Type="http://schemas.openxmlformats.org/officeDocument/2006/relationships/font" Target="/ppt/fonts/font3.fntdata" Id="rId101" /><Relationship Type="http://schemas.openxmlformats.org/officeDocument/2006/relationships/font" Target="/ppt/fonts/font24.fntdata" Id="rId122" /><Relationship Type="http://schemas.openxmlformats.org/officeDocument/2006/relationships/slide" Target="/ppt/slides/slide2.xml" Id="rId4" /><Relationship Type="http://schemas.openxmlformats.org/officeDocument/2006/relationships/slide" Target="/ppt/slides/slide7.xml" Id="rId9" /></Relationships>
</file>

<file path=ppt/notesMasters/_rels/notesMaster1.xml.rels>&#65279;<?xml version="1.0" encoding="utf-8"?><Relationships xmlns="http://schemas.openxmlformats.org/package/2006/relationships"><Relationship Type="http://schemas.openxmlformats.org/officeDocument/2006/relationships/theme" Target="/ppt/theme/theme3.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Relationships xmlns="http://schemas.openxmlformats.org/package/2006/relationships"><Relationship Type="http://schemas.openxmlformats.org/officeDocument/2006/relationships/slide" Target="/ppt/slides/slide1.xml" Id="rId2" /><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 name="Google Shape;7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image" Target="/ppt/media/image2.png" Id="rId2" /><Relationship Type="http://schemas.openxmlformats.org/officeDocument/2006/relationships/slideMaster" Target="/ppt/slideMasters/slideMaster1.xml" Id="rI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Id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Id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
          <p:cNvSpPr txBox="1">
            <a:spLocks noGrp="1"/>
          </p:cNvSpPr>
          <p:nvPr>
            <p:ph type="ctrTitle"/>
          </p:nvPr>
        </p:nvSpPr>
        <p:spPr>
          <a:xfrm>
            <a:off x="415600" y="1886797"/>
            <a:ext cx="11360700" cy="1842900"/>
          </a:xfrm>
          <a:prstGeom prst="rect">
            <a:avLst/>
          </a:prstGeom>
        </p:spPr>
        <p:txBody>
          <a:bodyPr spcFirstLastPara="1" wrap="square" lIns="121900" tIns="121900" rIns="121900" bIns="121900" anchor="b"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21" name="Google Shape;21;p2"/>
          <p:cNvSpPr txBox="1">
            <a:spLocks noGrp="1"/>
          </p:cNvSpPr>
          <p:nvPr>
            <p:ph type="subTitle" idx="1"/>
          </p:nvPr>
        </p:nvSpPr>
        <p:spPr>
          <a:xfrm>
            <a:off x="415600" y="3778833"/>
            <a:ext cx="11360700" cy="1056900"/>
          </a:xfrm>
          <a:prstGeom prst="rect">
            <a:avLst/>
          </a:prstGeom>
        </p:spPr>
        <p:txBody>
          <a:bodyPr spcFirstLastPara="1" wrap="square" lIns="121900" tIns="121900" rIns="121900" bIns="121900" anchor="t" anchorCtr="0">
            <a:noAutofit/>
          </a:bodyPr>
          <a:lstStyle>
            <a:lvl1pPr lvl="0" algn="ctr" rtl="0">
              <a:lnSpc>
                <a:spcPct val="100000"/>
              </a:lnSpc>
              <a:spcBef>
                <a:spcPts val="0"/>
              </a:spcBef>
              <a:spcAft>
                <a:spcPts val="0"/>
              </a:spcAft>
              <a:buSzPts val="3600"/>
              <a:buNone/>
              <a:defRPr sz="3600"/>
            </a:lvl1pPr>
            <a:lvl2pPr lvl="1" algn="ctr" rtl="0">
              <a:lnSpc>
                <a:spcPct val="100000"/>
              </a:lnSpc>
              <a:spcBef>
                <a:spcPts val="0"/>
              </a:spcBef>
              <a:spcAft>
                <a:spcPts val="0"/>
              </a:spcAft>
              <a:buSzPts val="3700"/>
              <a:buNone/>
              <a:defRPr sz="3700"/>
            </a:lvl2pPr>
            <a:lvl3pPr lvl="2" algn="ctr" rtl="0">
              <a:lnSpc>
                <a:spcPct val="100000"/>
              </a:lnSpc>
              <a:spcBef>
                <a:spcPts val="0"/>
              </a:spcBef>
              <a:spcAft>
                <a:spcPts val="0"/>
              </a:spcAft>
              <a:buSzPts val="3700"/>
              <a:buNone/>
              <a:defRPr sz="3700"/>
            </a:lvl3pPr>
            <a:lvl4pPr lvl="3" algn="ctr" rtl="0">
              <a:lnSpc>
                <a:spcPct val="100000"/>
              </a:lnSpc>
              <a:spcBef>
                <a:spcPts val="0"/>
              </a:spcBef>
              <a:spcAft>
                <a:spcPts val="0"/>
              </a:spcAft>
              <a:buSzPts val="3700"/>
              <a:buNone/>
              <a:defRPr sz="3700"/>
            </a:lvl4pPr>
            <a:lvl5pPr lvl="4" algn="ctr" rtl="0">
              <a:lnSpc>
                <a:spcPct val="100000"/>
              </a:lnSpc>
              <a:spcBef>
                <a:spcPts val="0"/>
              </a:spcBef>
              <a:spcAft>
                <a:spcPts val="0"/>
              </a:spcAft>
              <a:buSzPts val="3700"/>
              <a:buNone/>
              <a:defRPr sz="3700"/>
            </a:lvl5pPr>
            <a:lvl6pPr lvl="5" algn="ctr" rtl="0">
              <a:lnSpc>
                <a:spcPct val="100000"/>
              </a:lnSpc>
              <a:spcBef>
                <a:spcPts val="0"/>
              </a:spcBef>
              <a:spcAft>
                <a:spcPts val="0"/>
              </a:spcAft>
              <a:buSzPts val="3700"/>
              <a:buNone/>
              <a:defRPr sz="3700"/>
            </a:lvl6pPr>
            <a:lvl7pPr lvl="6" algn="ctr" rtl="0">
              <a:lnSpc>
                <a:spcPct val="100000"/>
              </a:lnSpc>
              <a:spcBef>
                <a:spcPts val="0"/>
              </a:spcBef>
              <a:spcAft>
                <a:spcPts val="0"/>
              </a:spcAft>
              <a:buSzPts val="3700"/>
              <a:buNone/>
              <a:defRPr sz="3700"/>
            </a:lvl7pPr>
            <a:lvl8pPr lvl="7" algn="ctr" rtl="0">
              <a:lnSpc>
                <a:spcPct val="100000"/>
              </a:lnSpc>
              <a:spcBef>
                <a:spcPts val="0"/>
              </a:spcBef>
              <a:spcAft>
                <a:spcPts val="0"/>
              </a:spcAft>
              <a:buSzPts val="3700"/>
              <a:buNone/>
              <a:defRPr sz="3700"/>
            </a:lvl8pPr>
            <a:lvl9pPr lvl="8" algn="ctr" rtl="0">
              <a:lnSpc>
                <a:spcPct val="100000"/>
              </a:lnSpc>
              <a:spcBef>
                <a:spcPts val="0"/>
              </a:spcBef>
              <a:spcAft>
                <a:spcPts val="0"/>
              </a:spcAft>
              <a:buSzPts val="3700"/>
              <a:buNone/>
              <a:defRPr sz="3700"/>
            </a:lvl9pPr>
          </a:lstStyle>
          <a:p>
            <a:endParaRPr/>
          </a:p>
        </p:txBody>
      </p:sp>
      <p:sp>
        <p:nvSpPr>
          <p:cNvPr id="22" name="Google Shape;22;p2"/>
          <p:cNvSpPr txBox="1">
            <a:spLocks noGrp="1"/>
          </p:cNvSpPr>
          <p:nvPr>
            <p:ph type="sldNum" idx="12"/>
          </p:nvPr>
        </p:nvSpPr>
        <p:spPr>
          <a:xfrm>
            <a:off x="11220400" y="6408364"/>
            <a:ext cx="731700" cy="4014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
        <p:nvSpPr>
          <p:cNvPr id="23" name="Google Shape;23;p2"/>
          <p:cNvSpPr/>
          <p:nvPr/>
        </p:nvSpPr>
        <p:spPr>
          <a:xfrm>
            <a:off x="-9450" y="-30350"/>
            <a:ext cx="12216600" cy="7371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Condensed"/>
              <a:ea typeface="IBM Plex Sans Condensed"/>
              <a:cs typeface="IBM Plex Sans Condensed"/>
              <a:sym typeface="IBM Plex Sans Condensed"/>
            </a:endParaRPr>
          </a:p>
        </p:txBody>
      </p:sp>
      <p:sp>
        <p:nvSpPr>
          <p:cNvPr id="24" name="Google Shape;24;p2"/>
          <p:cNvSpPr/>
          <p:nvPr/>
        </p:nvSpPr>
        <p:spPr>
          <a:xfrm>
            <a:off x="-9325" y="154075"/>
            <a:ext cx="12209100" cy="1282500"/>
          </a:xfrm>
          <a:prstGeom prst="roundRect">
            <a:avLst>
              <a:gd name="adj" fmla="val 1017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Condensed"/>
              <a:ea typeface="IBM Plex Sans Condensed"/>
              <a:cs typeface="IBM Plex Sans Condensed"/>
              <a:sym typeface="IBM Plex Sans Condensed"/>
            </a:endParaRPr>
          </a:p>
        </p:txBody>
      </p:sp>
      <p:sp>
        <p:nvSpPr>
          <p:cNvPr id="25" name="Google Shape;25;p2"/>
          <p:cNvSpPr/>
          <p:nvPr/>
        </p:nvSpPr>
        <p:spPr>
          <a:xfrm>
            <a:off x="10763550" y="-30350"/>
            <a:ext cx="868800" cy="1467000"/>
          </a:xfrm>
          <a:prstGeom prst="parallelogram">
            <a:avLst>
              <a:gd name="adj" fmla="val 57856"/>
            </a:avLst>
          </a:prstGeom>
          <a:solidFill>
            <a:srgbClr val="D2AE6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Condensed"/>
              <a:ea typeface="IBM Plex Sans Condensed"/>
              <a:cs typeface="IBM Plex Sans Condensed"/>
              <a:sym typeface="IBM Plex Sans Condensed"/>
            </a:endParaRPr>
          </a:p>
        </p:txBody>
      </p:sp>
      <p:sp>
        <p:nvSpPr>
          <p:cNvPr id="26" name="Google Shape;26;p2"/>
          <p:cNvSpPr/>
          <p:nvPr/>
        </p:nvSpPr>
        <p:spPr>
          <a:xfrm>
            <a:off x="7714000" y="-30350"/>
            <a:ext cx="3841800" cy="1488900"/>
          </a:xfrm>
          <a:prstGeom prst="parallelogram">
            <a:avLst>
              <a:gd name="adj" fmla="val 33925"/>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Condensed"/>
              <a:ea typeface="IBM Plex Sans Condensed"/>
              <a:cs typeface="IBM Plex Sans Condensed"/>
              <a:sym typeface="IBM Plex Sans Condensed"/>
            </a:endParaRPr>
          </a:p>
        </p:txBody>
      </p:sp>
      <p:pic>
        <p:nvPicPr>
          <p:cNvPr id="27" name="Google Shape;27;p2"/>
          <p:cNvPicPr preferRelativeResize="0"/>
          <p:nvPr/>
        </p:nvPicPr>
        <p:blipFill>
          <a:blip r:embed="rId2">
            <a:alphaModFix/>
          </a:blip>
          <a:stretch>
            <a:fillRect/>
          </a:stretch>
        </p:blipFill>
        <p:spPr>
          <a:xfrm>
            <a:off x="8118017" y="408211"/>
            <a:ext cx="2828175" cy="899725"/>
          </a:xfrm>
          <a:prstGeom prst="rect">
            <a:avLst/>
          </a:prstGeom>
          <a:noFill/>
          <a:ln>
            <a:noFill/>
          </a:ln>
        </p:spPr>
      </p:pic>
      <p:sp>
        <p:nvSpPr>
          <p:cNvPr id="28" name="Google Shape;28;p2"/>
          <p:cNvSpPr/>
          <p:nvPr/>
        </p:nvSpPr>
        <p:spPr>
          <a:xfrm>
            <a:off x="-9325" y="6604519"/>
            <a:ext cx="12216600" cy="2598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Condensed"/>
              <a:ea typeface="IBM Plex Sans Condensed"/>
              <a:cs typeface="IBM Plex Sans Condensed"/>
              <a:sym typeface="IBM Plex Sans Condensed"/>
            </a:endParaRPr>
          </a:p>
        </p:txBody>
      </p:sp>
      <p:sp>
        <p:nvSpPr>
          <p:cNvPr id="29" name="Google Shape;29;p2"/>
          <p:cNvSpPr/>
          <p:nvPr/>
        </p:nvSpPr>
        <p:spPr>
          <a:xfrm>
            <a:off x="-9325" y="5899575"/>
            <a:ext cx="12216600" cy="737100"/>
          </a:xfrm>
          <a:prstGeom prst="roundRect">
            <a:avLst>
              <a:gd name="adj" fmla="val 1017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Condensed"/>
              <a:ea typeface="IBM Plex Sans Condensed"/>
              <a:cs typeface="IBM Plex Sans Condensed"/>
              <a:sym typeface="IBM Plex Sans Condensed"/>
            </a:endParaRPr>
          </a:p>
        </p:txBody>
      </p:sp>
      <p:sp>
        <p:nvSpPr>
          <p:cNvPr id="30" name="Google Shape;30;p2"/>
          <p:cNvSpPr txBox="1"/>
          <p:nvPr/>
        </p:nvSpPr>
        <p:spPr>
          <a:xfrm>
            <a:off x="381000" y="5899575"/>
            <a:ext cx="3810000" cy="969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500" b="1">
                <a:solidFill>
                  <a:srgbClr val="D2AE6C"/>
                </a:solidFill>
                <a:latin typeface="Archivo Narrow"/>
                <a:ea typeface="Archivo Narrow"/>
                <a:cs typeface="Archivo Narrow"/>
                <a:sym typeface="Archivo Narrow"/>
              </a:rPr>
              <a:t>Mission</a:t>
            </a:r>
            <a:endParaRPr sz="1500" b="1">
              <a:solidFill>
                <a:srgbClr val="D2AE6C"/>
              </a:solidFill>
              <a:latin typeface="Archivo Narrow"/>
              <a:ea typeface="Archivo Narrow"/>
              <a:cs typeface="Archivo Narrow"/>
              <a:sym typeface="Archivo Narrow"/>
            </a:endParaRPr>
          </a:p>
          <a:p>
            <a:pPr marL="0" lvl="0" indent="0" algn="ctr" rtl="0">
              <a:spcBef>
                <a:spcPts val="0"/>
              </a:spcBef>
              <a:spcAft>
                <a:spcPts val="0"/>
              </a:spcAft>
              <a:buNone/>
            </a:pPr>
            <a:r>
              <a:rPr lang="en-GB" sz="1200">
                <a:solidFill>
                  <a:schemeClr val="lt1"/>
                </a:solidFill>
                <a:latin typeface="Archivo Narrow Medium"/>
                <a:ea typeface="Archivo Narrow Medium"/>
                <a:cs typeface="Archivo Narrow Medium"/>
                <a:sym typeface="Archivo Narrow Medium"/>
              </a:rPr>
              <a:t>Christ University is a nurturing ground for an individual’s holistic development to make effective contribution</a:t>
            </a:r>
            <a:endParaRPr sz="1200">
              <a:solidFill>
                <a:schemeClr val="lt1"/>
              </a:solidFill>
              <a:latin typeface="Archivo Narrow Medium"/>
              <a:ea typeface="Archivo Narrow Medium"/>
              <a:cs typeface="Archivo Narrow Medium"/>
              <a:sym typeface="Archivo Narrow Medium"/>
            </a:endParaRPr>
          </a:p>
          <a:p>
            <a:pPr marL="0" lvl="0" indent="0" algn="ctr" rtl="0">
              <a:spcBef>
                <a:spcPts val="0"/>
              </a:spcBef>
              <a:spcAft>
                <a:spcPts val="0"/>
              </a:spcAft>
              <a:buNone/>
            </a:pPr>
            <a:r>
              <a:rPr lang="en-GB" sz="1200">
                <a:solidFill>
                  <a:schemeClr val="lt1"/>
                </a:solidFill>
                <a:latin typeface="Archivo Narrow Medium"/>
                <a:ea typeface="Archivo Narrow Medium"/>
                <a:cs typeface="Archivo Narrow Medium"/>
                <a:sym typeface="Archivo Narrow Medium"/>
              </a:rPr>
              <a:t>to the society in a dynamic environment</a:t>
            </a:r>
            <a:endParaRPr sz="1200">
              <a:solidFill>
                <a:schemeClr val="lt1"/>
              </a:solidFill>
              <a:latin typeface="Archivo Narrow Medium"/>
              <a:ea typeface="Archivo Narrow Medium"/>
              <a:cs typeface="Archivo Narrow Medium"/>
              <a:sym typeface="Archivo Narrow Medium"/>
            </a:endParaRPr>
          </a:p>
        </p:txBody>
      </p:sp>
      <p:sp>
        <p:nvSpPr>
          <p:cNvPr id="31" name="Google Shape;31;p2"/>
          <p:cNvSpPr txBox="1"/>
          <p:nvPr/>
        </p:nvSpPr>
        <p:spPr>
          <a:xfrm>
            <a:off x="4191000" y="5899575"/>
            <a:ext cx="3810000" cy="600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500" b="1">
                <a:solidFill>
                  <a:srgbClr val="D2AE6C"/>
                </a:solidFill>
                <a:latin typeface="Archivo Narrow"/>
                <a:ea typeface="Archivo Narrow"/>
                <a:cs typeface="Archivo Narrow"/>
                <a:sym typeface="Archivo Narrow"/>
              </a:rPr>
              <a:t>Vision</a:t>
            </a:r>
            <a:endParaRPr sz="1500" b="1">
              <a:solidFill>
                <a:srgbClr val="D2AE6C"/>
              </a:solidFill>
              <a:latin typeface="Archivo Narrow"/>
              <a:ea typeface="Archivo Narrow"/>
              <a:cs typeface="Archivo Narrow"/>
              <a:sym typeface="Archivo Narrow"/>
            </a:endParaRPr>
          </a:p>
          <a:p>
            <a:pPr marL="0" lvl="0" indent="0" algn="ctr" rtl="0">
              <a:spcBef>
                <a:spcPts val="0"/>
              </a:spcBef>
              <a:spcAft>
                <a:spcPts val="0"/>
              </a:spcAft>
              <a:buNone/>
            </a:pPr>
            <a:r>
              <a:rPr lang="en-GB" sz="1200">
                <a:solidFill>
                  <a:schemeClr val="lt1"/>
                </a:solidFill>
                <a:latin typeface="Archivo Narrow Medium"/>
                <a:ea typeface="Archivo Narrow Medium"/>
                <a:cs typeface="Archivo Narrow Medium"/>
                <a:sym typeface="Archivo Narrow Medium"/>
              </a:rPr>
              <a:t>Excellence and Service</a:t>
            </a:r>
            <a:endParaRPr sz="1200">
              <a:solidFill>
                <a:schemeClr val="lt1"/>
              </a:solidFill>
              <a:latin typeface="Archivo Narrow Medium"/>
              <a:ea typeface="Archivo Narrow Medium"/>
              <a:cs typeface="Archivo Narrow Medium"/>
              <a:sym typeface="Archivo Narrow Medium"/>
            </a:endParaRPr>
          </a:p>
        </p:txBody>
      </p:sp>
      <p:sp>
        <p:nvSpPr>
          <p:cNvPr id="32" name="Google Shape;32;p2"/>
          <p:cNvSpPr txBox="1"/>
          <p:nvPr/>
        </p:nvSpPr>
        <p:spPr>
          <a:xfrm>
            <a:off x="8572600" y="5899575"/>
            <a:ext cx="2983200" cy="969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500" b="1">
                <a:solidFill>
                  <a:srgbClr val="D2AE6C"/>
                </a:solidFill>
                <a:latin typeface="Archivo Narrow"/>
                <a:ea typeface="Archivo Narrow"/>
                <a:cs typeface="Archivo Narrow"/>
                <a:sym typeface="Archivo Narrow"/>
              </a:rPr>
              <a:t>Core Values</a:t>
            </a:r>
            <a:endParaRPr sz="1500" b="1">
              <a:solidFill>
                <a:srgbClr val="D2AE6C"/>
              </a:solidFill>
              <a:latin typeface="Archivo Narrow"/>
              <a:ea typeface="Archivo Narrow"/>
              <a:cs typeface="Archivo Narrow"/>
              <a:sym typeface="Archivo Narrow"/>
            </a:endParaRPr>
          </a:p>
          <a:p>
            <a:pPr marL="0" lvl="0" indent="0" algn="ctr" rtl="0">
              <a:spcBef>
                <a:spcPts val="0"/>
              </a:spcBef>
              <a:spcAft>
                <a:spcPts val="0"/>
              </a:spcAft>
              <a:buNone/>
            </a:pPr>
            <a:r>
              <a:rPr lang="en-GB" sz="1200">
                <a:solidFill>
                  <a:schemeClr val="lt1"/>
                </a:solidFill>
                <a:latin typeface="Archivo Narrow Medium"/>
                <a:ea typeface="Archivo Narrow Medium"/>
                <a:cs typeface="Archivo Narrow Medium"/>
                <a:sym typeface="Archivo Narrow Medium"/>
              </a:rPr>
              <a:t>Faith in God |  Moral Uprightness</a:t>
            </a:r>
            <a:endParaRPr sz="1200">
              <a:solidFill>
                <a:schemeClr val="lt1"/>
              </a:solidFill>
              <a:latin typeface="Archivo Narrow Medium"/>
              <a:ea typeface="Archivo Narrow Medium"/>
              <a:cs typeface="Archivo Narrow Medium"/>
              <a:sym typeface="Archivo Narrow Medium"/>
            </a:endParaRPr>
          </a:p>
          <a:p>
            <a:pPr marL="0" lvl="0" indent="0" algn="ctr" rtl="0">
              <a:spcBef>
                <a:spcPts val="0"/>
              </a:spcBef>
              <a:spcAft>
                <a:spcPts val="0"/>
              </a:spcAft>
              <a:buNone/>
            </a:pPr>
            <a:r>
              <a:rPr lang="en-GB" sz="1200">
                <a:solidFill>
                  <a:schemeClr val="lt1"/>
                </a:solidFill>
                <a:latin typeface="Archivo Narrow Medium"/>
                <a:ea typeface="Archivo Narrow Medium"/>
                <a:cs typeface="Archivo Narrow Medium"/>
                <a:sym typeface="Archivo Narrow Medium"/>
              </a:rPr>
              <a:t> Love of Fellow Beings |  Social Responsibility</a:t>
            </a:r>
            <a:br>
              <a:rPr lang="en-GB" sz="1200">
                <a:solidFill>
                  <a:schemeClr val="lt1"/>
                </a:solidFill>
                <a:latin typeface="Archivo Narrow Medium"/>
                <a:ea typeface="Archivo Narrow Medium"/>
                <a:cs typeface="Archivo Narrow Medium"/>
                <a:sym typeface="Archivo Narrow Medium"/>
              </a:rPr>
            </a:br>
            <a:r>
              <a:rPr lang="en-GB" sz="1200">
                <a:solidFill>
                  <a:schemeClr val="lt1"/>
                </a:solidFill>
                <a:latin typeface="Archivo Narrow Medium"/>
                <a:ea typeface="Archivo Narrow Medium"/>
                <a:cs typeface="Archivo Narrow Medium"/>
                <a:sym typeface="Archivo Narrow Medium"/>
              </a:rPr>
              <a:t>Pursuit of Excellence</a:t>
            </a:r>
            <a:endParaRPr sz="1200">
              <a:solidFill>
                <a:schemeClr val="lt1"/>
              </a:solidFill>
              <a:latin typeface="Archivo Narrow Medium"/>
              <a:ea typeface="Archivo Narrow Medium"/>
              <a:cs typeface="Archivo Narrow Medium"/>
              <a:sym typeface="Archivo Narrow Medium"/>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415600" y="1474833"/>
            <a:ext cx="11360700" cy="2618100"/>
          </a:xfrm>
          <a:prstGeom prst="rect">
            <a:avLst/>
          </a:prstGeom>
        </p:spPr>
        <p:txBody>
          <a:bodyPr spcFirstLastPara="1" wrap="square" lIns="121900" tIns="121900" rIns="121900" bIns="121900" anchor="b" anchorCtr="0">
            <a:noAutofit/>
          </a:bodyPr>
          <a:lstStyle>
            <a:lvl1pPr lvl="0" algn="ctr" rtl="0">
              <a:spcBef>
                <a:spcPts val="0"/>
              </a:spcBef>
              <a:spcAft>
                <a:spcPts val="0"/>
              </a:spcAft>
              <a:buSzPts val="16000"/>
              <a:buNone/>
              <a:defRPr sz="16000"/>
            </a:lvl1pPr>
            <a:lvl2pPr lvl="1" algn="ctr" rtl="0">
              <a:spcBef>
                <a:spcPts val="0"/>
              </a:spcBef>
              <a:spcAft>
                <a:spcPts val="0"/>
              </a:spcAft>
              <a:buSzPts val="16000"/>
              <a:buNone/>
              <a:defRPr sz="16000"/>
            </a:lvl2pPr>
            <a:lvl3pPr lvl="2" algn="ctr" rtl="0">
              <a:spcBef>
                <a:spcPts val="0"/>
              </a:spcBef>
              <a:spcAft>
                <a:spcPts val="0"/>
              </a:spcAft>
              <a:buSzPts val="16000"/>
              <a:buNone/>
              <a:defRPr sz="16000"/>
            </a:lvl3pPr>
            <a:lvl4pPr lvl="3" algn="ctr" rtl="0">
              <a:spcBef>
                <a:spcPts val="0"/>
              </a:spcBef>
              <a:spcAft>
                <a:spcPts val="0"/>
              </a:spcAft>
              <a:buSzPts val="16000"/>
              <a:buNone/>
              <a:defRPr sz="16000"/>
            </a:lvl4pPr>
            <a:lvl5pPr lvl="4" algn="ctr" rtl="0">
              <a:spcBef>
                <a:spcPts val="0"/>
              </a:spcBef>
              <a:spcAft>
                <a:spcPts val="0"/>
              </a:spcAft>
              <a:buSzPts val="16000"/>
              <a:buNone/>
              <a:defRPr sz="16000"/>
            </a:lvl5pPr>
            <a:lvl6pPr lvl="5" algn="ctr" rtl="0">
              <a:spcBef>
                <a:spcPts val="0"/>
              </a:spcBef>
              <a:spcAft>
                <a:spcPts val="0"/>
              </a:spcAft>
              <a:buSzPts val="16000"/>
              <a:buNone/>
              <a:defRPr sz="16000"/>
            </a:lvl6pPr>
            <a:lvl7pPr lvl="6" algn="ctr" rtl="0">
              <a:spcBef>
                <a:spcPts val="0"/>
              </a:spcBef>
              <a:spcAft>
                <a:spcPts val="0"/>
              </a:spcAft>
              <a:buSzPts val="16000"/>
              <a:buNone/>
              <a:defRPr sz="16000"/>
            </a:lvl7pPr>
            <a:lvl8pPr lvl="7" algn="ctr" rtl="0">
              <a:spcBef>
                <a:spcPts val="0"/>
              </a:spcBef>
              <a:spcAft>
                <a:spcPts val="0"/>
              </a:spcAft>
              <a:buSzPts val="16000"/>
              <a:buNone/>
              <a:defRPr sz="16000"/>
            </a:lvl8pPr>
            <a:lvl9pPr lvl="8" algn="ctr" rtl="0">
              <a:spcBef>
                <a:spcPts val="0"/>
              </a:spcBef>
              <a:spcAft>
                <a:spcPts val="0"/>
              </a:spcAft>
              <a:buSzPts val="16000"/>
              <a:buNone/>
              <a:defRPr sz="16000"/>
            </a:lvl9pPr>
          </a:lstStyle>
          <a:p>
            <a:r>
              <a:t>xx%</a:t>
            </a:r>
          </a:p>
        </p:txBody>
      </p:sp>
      <p:sp>
        <p:nvSpPr>
          <p:cNvPr id="68" name="Google Shape;68;p11"/>
          <p:cNvSpPr txBox="1">
            <a:spLocks noGrp="1"/>
          </p:cNvSpPr>
          <p:nvPr>
            <p:ph type="body" idx="1"/>
          </p:nvPr>
        </p:nvSpPr>
        <p:spPr>
          <a:xfrm>
            <a:off x="415600" y="4202967"/>
            <a:ext cx="11360700" cy="1734300"/>
          </a:xfrm>
          <a:prstGeom prst="rect">
            <a:avLst/>
          </a:prstGeom>
        </p:spPr>
        <p:txBody>
          <a:bodyPr spcFirstLastPara="1" wrap="square" lIns="121900" tIns="121900" rIns="121900" bIns="121900" anchor="t" anchorCtr="0">
            <a:noAutofit/>
          </a:bodyPr>
          <a:lstStyle>
            <a:lvl1pPr marL="457200" lvl="0" indent="-406400" algn="ctr" rtl="0">
              <a:spcBef>
                <a:spcPts val="0"/>
              </a:spcBef>
              <a:spcAft>
                <a:spcPts val="0"/>
              </a:spcAft>
              <a:buSzPts val="2800"/>
              <a:buChar char="●"/>
              <a:defRPr/>
            </a:lvl1pPr>
            <a:lvl2pPr marL="914400" lvl="1" indent="-393700" algn="ctr" rtl="0">
              <a:spcBef>
                <a:spcPts val="800"/>
              </a:spcBef>
              <a:spcAft>
                <a:spcPts val="0"/>
              </a:spcAft>
              <a:buSzPts val="2600"/>
              <a:buChar char="○"/>
              <a:defRPr/>
            </a:lvl2pPr>
            <a:lvl3pPr marL="1371600" lvl="2" indent="-381000" algn="ctr" rtl="0">
              <a:spcBef>
                <a:spcPts val="800"/>
              </a:spcBef>
              <a:spcAft>
                <a:spcPts val="0"/>
              </a:spcAft>
              <a:buSzPts val="2400"/>
              <a:buChar char="■"/>
              <a:defRPr/>
            </a:lvl3pPr>
            <a:lvl4pPr marL="1828800" lvl="3" indent="-381000" algn="ctr" rtl="0">
              <a:spcBef>
                <a:spcPts val="800"/>
              </a:spcBef>
              <a:spcAft>
                <a:spcPts val="0"/>
              </a:spcAft>
              <a:buSzPts val="2400"/>
              <a:buChar char="●"/>
              <a:defRPr/>
            </a:lvl4pPr>
            <a:lvl5pPr marL="2286000" lvl="4" indent="-381000" algn="ctr" rtl="0">
              <a:spcBef>
                <a:spcPts val="800"/>
              </a:spcBef>
              <a:spcAft>
                <a:spcPts val="0"/>
              </a:spcAft>
              <a:buSzPts val="2400"/>
              <a:buChar char="○"/>
              <a:defRPr/>
            </a:lvl5pPr>
            <a:lvl6pPr marL="2743200" lvl="5" indent="-381000" algn="ctr" rtl="0">
              <a:spcBef>
                <a:spcPts val="800"/>
              </a:spcBef>
              <a:spcAft>
                <a:spcPts val="0"/>
              </a:spcAft>
              <a:buSzPts val="2400"/>
              <a:buChar char="■"/>
              <a:defRPr/>
            </a:lvl6pPr>
            <a:lvl7pPr marL="3200400" lvl="6" indent="-381000" algn="ctr" rtl="0">
              <a:spcBef>
                <a:spcPts val="800"/>
              </a:spcBef>
              <a:spcAft>
                <a:spcPts val="0"/>
              </a:spcAft>
              <a:buSzPts val="2400"/>
              <a:buChar char="●"/>
              <a:defRPr/>
            </a:lvl7pPr>
            <a:lvl8pPr marL="3657600" lvl="7" indent="-381000" algn="ctr" rtl="0">
              <a:spcBef>
                <a:spcPts val="800"/>
              </a:spcBef>
              <a:spcAft>
                <a:spcPts val="0"/>
              </a:spcAft>
              <a:buSzPts val="2400"/>
              <a:buChar char="○"/>
              <a:defRPr/>
            </a:lvl8pPr>
            <a:lvl9pPr marL="4114800" lvl="8" indent="-381000" algn="ctr" rtl="0">
              <a:spcBef>
                <a:spcPts val="800"/>
              </a:spcBef>
              <a:spcAft>
                <a:spcPts val="800"/>
              </a:spcAft>
              <a:buSzPts val="2400"/>
              <a:buChar char="■"/>
              <a:defRPr/>
            </a:lvl9pPr>
          </a:lstStyle>
          <a:p>
            <a:endParaRPr/>
          </a:p>
        </p:txBody>
      </p:sp>
      <p:sp>
        <p:nvSpPr>
          <p:cNvPr id="69" name="Google Shape;69;p11"/>
          <p:cNvSpPr txBox="1">
            <a:spLocks noGrp="1"/>
          </p:cNvSpPr>
          <p:nvPr>
            <p:ph type="sldNum" idx="12"/>
          </p:nvPr>
        </p:nvSpPr>
        <p:spPr>
          <a:xfrm>
            <a:off x="11220400" y="6408364"/>
            <a:ext cx="731700" cy="4014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415600" y="491767"/>
            <a:ext cx="11360700" cy="763500"/>
          </a:xfrm>
          <a:prstGeom prst="rect">
            <a:avLst/>
          </a:prstGeom>
        </p:spPr>
        <p:txBody>
          <a:bodyPr spcFirstLastPara="1" wrap="square" lIns="121900" tIns="121900" rIns="121900" bIns="121900" anchor="t" anchorCtr="0">
            <a:noAutofit/>
          </a:bodyPr>
          <a:lstStyle>
            <a:lvl1pPr lvl="0" rtl="0">
              <a:spcBef>
                <a:spcPts val="0"/>
              </a:spcBef>
              <a:spcAft>
                <a:spcPts val="0"/>
              </a:spcAft>
              <a:buSzPts val="3200"/>
              <a:buFont typeface="IBM Plex Sans Condensed"/>
              <a:buNone/>
              <a:defRPr>
                <a:latin typeface="IBM Plex Sans Condensed"/>
                <a:ea typeface="IBM Plex Sans Condensed"/>
                <a:cs typeface="IBM Plex Sans Condensed"/>
                <a:sym typeface="IBM Plex Sans Condensed"/>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38" name="Google Shape;38;p4"/>
          <p:cNvSpPr txBox="1">
            <a:spLocks noGrp="1"/>
          </p:cNvSpPr>
          <p:nvPr>
            <p:ph type="body" idx="1"/>
          </p:nvPr>
        </p:nvSpPr>
        <p:spPr>
          <a:xfrm>
            <a:off x="415600" y="1419388"/>
            <a:ext cx="11360700" cy="4672200"/>
          </a:xfrm>
          <a:prstGeom prst="rect">
            <a:avLst/>
          </a:prstGeom>
        </p:spPr>
        <p:txBody>
          <a:bodyPr spcFirstLastPara="1" wrap="square" lIns="121900" tIns="121900" rIns="121900" bIns="121900" anchor="t" anchorCtr="0">
            <a:noAutofit/>
          </a:bodyPr>
          <a:lstStyle>
            <a:lvl1pPr marL="457200" lvl="0" indent="-406400" rtl="0">
              <a:spcBef>
                <a:spcPts val="0"/>
              </a:spcBef>
              <a:spcAft>
                <a:spcPts val="0"/>
              </a:spcAft>
              <a:buSzPts val="2800"/>
              <a:buFont typeface="IBM Plex Sans Condensed"/>
              <a:buChar char="●"/>
              <a:defRPr>
                <a:latin typeface="IBM Plex Sans Condensed"/>
                <a:ea typeface="IBM Plex Sans Condensed"/>
                <a:cs typeface="IBM Plex Sans Condensed"/>
                <a:sym typeface="IBM Plex Sans Condensed"/>
              </a:defRPr>
            </a:lvl1pPr>
            <a:lvl2pPr marL="914400" lvl="1" indent="-393700" rtl="0">
              <a:spcBef>
                <a:spcPts val="800"/>
              </a:spcBef>
              <a:spcAft>
                <a:spcPts val="0"/>
              </a:spcAft>
              <a:buSzPts val="2600"/>
              <a:buFont typeface="IBM Plex Sans Condensed"/>
              <a:buChar char="○"/>
              <a:defRPr>
                <a:latin typeface="IBM Plex Sans Condensed"/>
                <a:ea typeface="IBM Plex Sans Condensed"/>
                <a:cs typeface="IBM Plex Sans Condensed"/>
                <a:sym typeface="IBM Plex Sans Condensed"/>
              </a:defRPr>
            </a:lvl2pPr>
            <a:lvl3pPr marL="1371600" lvl="2" indent="-381000" rtl="0">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3pPr>
            <a:lvl4pPr marL="1828800" lvl="3" indent="-381000" rtl="0">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4pPr>
            <a:lvl5pPr marL="2286000" lvl="4" indent="-381000" rtl="0">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5pPr>
            <a:lvl6pPr marL="2743200" lvl="5" indent="-381000" rtl="0">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6pPr>
            <a:lvl7pPr marL="3200400" lvl="6" indent="-381000" rtl="0">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7pPr>
            <a:lvl8pPr marL="3657600" lvl="7" indent="-381000" rtl="0">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8pPr>
            <a:lvl9pPr marL="4114800" lvl="8" indent="-381000" rtl="0">
              <a:spcBef>
                <a:spcPts val="800"/>
              </a:spcBef>
              <a:spcAft>
                <a:spcPts val="800"/>
              </a:spcAft>
              <a:buSzPts val="2400"/>
              <a:buFont typeface="IBM Plex Sans Condensed"/>
              <a:buChar char="■"/>
              <a:defRPr>
                <a:latin typeface="IBM Plex Sans Condensed"/>
                <a:ea typeface="IBM Plex Sans Condensed"/>
                <a:cs typeface="IBM Plex Sans Condensed"/>
                <a:sym typeface="IBM Plex Sans Condensed"/>
              </a:defRPr>
            </a:lvl9pPr>
          </a:lstStyle>
          <a:p>
            <a:endParaRPr/>
          </a:p>
        </p:txBody>
      </p:sp>
      <p:sp>
        <p:nvSpPr>
          <p:cNvPr id="39" name="Google Shape;39;p4"/>
          <p:cNvSpPr txBox="1">
            <a:spLocks noGrp="1"/>
          </p:cNvSpPr>
          <p:nvPr>
            <p:ph type="sldNum" idx="12"/>
          </p:nvPr>
        </p:nvSpPr>
        <p:spPr>
          <a:xfrm>
            <a:off x="11220400" y="6408364"/>
            <a:ext cx="731700" cy="4014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
        <p:nvSpPr>
          <p:cNvPr id="40" name="Google Shape;40;p4"/>
          <p:cNvSpPr txBox="1"/>
          <p:nvPr/>
        </p:nvSpPr>
        <p:spPr>
          <a:xfrm>
            <a:off x="11585175" y="6515100"/>
            <a:ext cx="532800" cy="2901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300">
              <a:solidFill>
                <a:srgbClr val="FFFFFF"/>
              </a:solidFill>
              <a:latin typeface="Georgia"/>
              <a:ea typeface="Georgia"/>
              <a:cs typeface="Georgia"/>
              <a:sym typeface="Georgia"/>
            </a:endParaRPr>
          </a:p>
        </p:txBody>
      </p:sp>
    </p:spTree>
    <p:extLst>
      <p:ext uri="{BB962C8B-B14F-4D97-AF65-F5344CB8AC3E}">
        <p14:creationId xmlns:p14="http://schemas.microsoft.com/office/powerpoint/2010/main" val="38475177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415600" y="1474833"/>
            <a:ext cx="11360700" cy="2618100"/>
          </a:xfrm>
          <a:prstGeom prst="rect">
            <a:avLst/>
          </a:prstGeom>
        </p:spPr>
        <p:txBody>
          <a:bodyPr spcFirstLastPara="1" wrap="square" lIns="121900" tIns="121900" rIns="121900" bIns="121900" anchor="b" anchorCtr="0">
            <a:noAutofit/>
          </a:bodyPr>
          <a:lstStyle>
            <a:lvl1pPr lvl="0" algn="ctr" rtl="0">
              <a:spcBef>
                <a:spcPts val="0"/>
              </a:spcBef>
              <a:spcAft>
                <a:spcPts val="0"/>
              </a:spcAft>
              <a:buSzPts val="16000"/>
              <a:buNone/>
              <a:defRPr sz="16000"/>
            </a:lvl1pPr>
            <a:lvl2pPr lvl="1" algn="ctr" rtl="0">
              <a:spcBef>
                <a:spcPts val="0"/>
              </a:spcBef>
              <a:spcAft>
                <a:spcPts val="0"/>
              </a:spcAft>
              <a:buSzPts val="16000"/>
              <a:buNone/>
              <a:defRPr sz="16000"/>
            </a:lvl2pPr>
            <a:lvl3pPr lvl="2" algn="ctr" rtl="0">
              <a:spcBef>
                <a:spcPts val="0"/>
              </a:spcBef>
              <a:spcAft>
                <a:spcPts val="0"/>
              </a:spcAft>
              <a:buSzPts val="16000"/>
              <a:buNone/>
              <a:defRPr sz="16000"/>
            </a:lvl3pPr>
            <a:lvl4pPr lvl="3" algn="ctr" rtl="0">
              <a:spcBef>
                <a:spcPts val="0"/>
              </a:spcBef>
              <a:spcAft>
                <a:spcPts val="0"/>
              </a:spcAft>
              <a:buSzPts val="16000"/>
              <a:buNone/>
              <a:defRPr sz="16000"/>
            </a:lvl4pPr>
            <a:lvl5pPr lvl="4" algn="ctr" rtl="0">
              <a:spcBef>
                <a:spcPts val="0"/>
              </a:spcBef>
              <a:spcAft>
                <a:spcPts val="0"/>
              </a:spcAft>
              <a:buSzPts val="16000"/>
              <a:buNone/>
              <a:defRPr sz="16000"/>
            </a:lvl5pPr>
            <a:lvl6pPr lvl="5" algn="ctr" rtl="0">
              <a:spcBef>
                <a:spcPts val="0"/>
              </a:spcBef>
              <a:spcAft>
                <a:spcPts val="0"/>
              </a:spcAft>
              <a:buSzPts val="16000"/>
              <a:buNone/>
              <a:defRPr sz="16000"/>
            </a:lvl6pPr>
            <a:lvl7pPr lvl="6" algn="ctr" rtl="0">
              <a:spcBef>
                <a:spcPts val="0"/>
              </a:spcBef>
              <a:spcAft>
                <a:spcPts val="0"/>
              </a:spcAft>
              <a:buSzPts val="16000"/>
              <a:buNone/>
              <a:defRPr sz="16000"/>
            </a:lvl7pPr>
            <a:lvl8pPr lvl="7" algn="ctr" rtl="0">
              <a:spcBef>
                <a:spcPts val="0"/>
              </a:spcBef>
              <a:spcAft>
                <a:spcPts val="0"/>
              </a:spcAft>
              <a:buSzPts val="16000"/>
              <a:buNone/>
              <a:defRPr sz="16000"/>
            </a:lvl8pPr>
            <a:lvl9pPr lvl="8" algn="ctr" rtl="0">
              <a:spcBef>
                <a:spcPts val="0"/>
              </a:spcBef>
              <a:spcAft>
                <a:spcPts val="0"/>
              </a:spcAft>
              <a:buSzPts val="16000"/>
              <a:buNone/>
              <a:defRPr sz="16000"/>
            </a:lvl9pPr>
          </a:lstStyle>
          <a:p>
            <a:r>
              <a:t>xx%</a:t>
            </a:r>
          </a:p>
        </p:txBody>
      </p:sp>
      <p:sp>
        <p:nvSpPr>
          <p:cNvPr id="68" name="Google Shape;68;p11"/>
          <p:cNvSpPr txBox="1">
            <a:spLocks noGrp="1"/>
          </p:cNvSpPr>
          <p:nvPr>
            <p:ph type="body" idx="1"/>
          </p:nvPr>
        </p:nvSpPr>
        <p:spPr>
          <a:xfrm>
            <a:off x="415600" y="4202967"/>
            <a:ext cx="11360700" cy="1734300"/>
          </a:xfrm>
          <a:prstGeom prst="rect">
            <a:avLst/>
          </a:prstGeom>
        </p:spPr>
        <p:txBody>
          <a:bodyPr spcFirstLastPara="1" wrap="square" lIns="121900" tIns="121900" rIns="121900" bIns="121900" anchor="t" anchorCtr="0">
            <a:noAutofit/>
          </a:bodyPr>
          <a:lstStyle>
            <a:lvl1pPr marL="457200" lvl="0" indent="-406400" algn="ctr" rtl="0">
              <a:spcBef>
                <a:spcPts val="0"/>
              </a:spcBef>
              <a:spcAft>
                <a:spcPts val="0"/>
              </a:spcAft>
              <a:buSzPts val="2800"/>
              <a:buChar char="●"/>
              <a:defRPr/>
            </a:lvl1pPr>
            <a:lvl2pPr marL="914400" lvl="1" indent="-393700" algn="ctr" rtl="0">
              <a:spcBef>
                <a:spcPts val="800"/>
              </a:spcBef>
              <a:spcAft>
                <a:spcPts val="0"/>
              </a:spcAft>
              <a:buSzPts val="2600"/>
              <a:buChar char="○"/>
              <a:defRPr/>
            </a:lvl2pPr>
            <a:lvl3pPr marL="1371600" lvl="2" indent="-381000" algn="ctr" rtl="0">
              <a:spcBef>
                <a:spcPts val="800"/>
              </a:spcBef>
              <a:spcAft>
                <a:spcPts val="0"/>
              </a:spcAft>
              <a:buSzPts val="2400"/>
              <a:buChar char="■"/>
              <a:defRPr/>
            </a:lvl3pPr>
            <a:lvl4pPr marL="1828800" lvl="3" indent="-381000" algn="ctr" rtl="0">
              <a:spcBef>
                <a:spcPts val="800"/>
              </a:spcBef>
              <a:spcAft>
                <a:spcPts val="0"/>
              </a:spcAft>
              <a:buSzPts val="2400"/>
              <a:buChar char="●"/>
              <a:defRPr/>
            </a:lvl4pPr>
            <a:lvl5pPr marL="2286000" lvl="4" indent="-381000" algn="ctr" rtl="0">
              <a:spcBef>
                <a:spcPts val="800"/>
              </a:spcBef>
              <a:spcAft>
                <a:spcPts val="0"/>
              </a:spcAft>
              <a:buSzPts val="2400"/>
              <a:buChar char="○"/>
              <a:defRPr/>
            </a:lvl5pPr>
            <a:lvl6pPr marL="2743200" lvl="5" indent="-381000" algn="ctr" rtl="0">
              <a:spcBef>
                <a:spcPts val="800"/>
              </a:spcBef>
              <a:spcAft>
                <a:spcPts val="0"/>
              </a:spcAft>
              <a:buSzPts val="2400"/>
              <a:buChar char="■"/>
              <a:defRPr/>
            </a:lvl6pPr>
            <a:lvl7pPr marL="3200400" lvl="6" indent="-381000" algn="ctr" rtl="0">
              <a:spcBef>
                <a:spcPts val="800"/>
              </a:spcBef>
              <a:spcAft>
                <a:spcPts val="0"/>
              </a:spcAft>
              <a:buSzPts val="2400"/>
              <a:buChar char="●"/>
              <a:defRPr/>
            </a:lvl7pPr>
            <a:lvl8pPr marL="3657600" lvl="7" indent="-381000" algn="ctr" rtl="0">
              <a:spcBef>
                <a:spcPts val="800"/>
              </a:spcBef>
              <a:spcAft>
                <a:spcPts val="0"/>
              </a:spcAft>
              <a:buSzPts val="2400"/>
              <a:buChar char="○"/>
              <a:defRPr/>
            </a:lvl8pPr>
            <a:lvl9pPr marL="4114800" lvl="8" indent="-381000" algn="ctr" rtl="0">
              <a:spcBef>
                <a:spcPts val="800"/>
              </a:spcBef>
              <a:spcAft>
                <a:spcPts val="800"/>
              </a:spcAft>
              <a:buSzPts val="2400"/>
              <a:buChar char="■"/>
              <a:defRPr/>
            </a:lvl9pPr>
          </a:lstStyle>
          <a:p>
            <a:endParaRPr/>
          </a:p>
        </p:txBody>
      </p:sp>
      <p:sp>
        <p:nvSpPr>
          <p:cNvPr id="69" name="Google Shape;69;p11"/>
          <p:cNvSpPr txBox="1">
            <a:spLocks noGrp="1"/>
          </p:cNvSpPr>
          <p:nvPr>
            <p:ph type="sldNum" idx="12"/>
          </p:nvPr>
        </p:nvSpPr>
        <p:spPr>
          <a:xfrm>
            <a:off x="11220400" y="6408364"/>
            <a:ext cx="731700" cy="4014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269253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41"/>
        <p:cNvGrpSpPr/>
        <p:nvPr/>
      </p:nvGrpSpPr>
      <p:grpSpPr>
        <a:xfrm>
          <a:off x="0" y="0"/>
          <a:ext cx="0" cy="0"/>
          <a:chOff x="0" y="0"/>
          <a:chExt cx="0" cy="0"/>
        </a:xfrm>
      </p:grpSpPr>
      <p:sp>
        <p:nvSpPr>
          <p:cNvPr id="42" name="Google Shape;42;p5"/>
          <p:cNvSpPr txBox="1">
            <a:spLocks noGrp="1"/>
          </p:cNvSpPr>
          <p:nvPr>
            <p:ph type="title"/>
          </p:nvPr>
        </p:nvSpPr>
        <p:spPr>
          <a:xfrm>
            <a:off x="415600" y="517167"/>
            <a:ext cx="11360700" cy="763500"/>
          </a:xfrm>
          <a:prstGeom prst="rect">
            <a:avLst/>
          </a:prstGeom>
        </p:spPr>
        <p:txBody>
          <a:bodyPr spcFirstLastPara="1" wrap="square" lIns="121900" tIns="121900" rIns="121900" bIns="121900"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43" name="Google Shape;43;p5"/>
          <p:cNvSpPr txBox="1">
            <a:spLocks noGrp="1"/>
          </p:cNvSpPr>
          <p:nvPr>
            <p:ph type="body" idx="1"/>
          </p:nvPr>
        </p:nvSpPr>
        <p:spPr>
          <a:xfrm>
            <a:off x="415600" y="1536625"/>
            <a:ext cx="5333100" cy="4751700"/>
          </a:xfrm>
          <a:prstGeom prst="rect">
            <a:avLst/>
          </a:prstGeom>
        </p:spPr>
        <p:txBody>
          <a:bodyPr spcFirstLastPara="1" wrap="square" lIns="121900" tIns="121900" rIns="121900" bIns="121900" anchor="t" anchorCtr="0">
            <a:noAutofit/>
          </a:bodyPr>
          <a:lstStyle>
            <a:lvl1pPr marL="457200" lvl="0" indent="-349250" rtl="0">
              <a:spcBef>
                <a:spcPts val="0"/>
              </a:spcBef>
              <a:spcAft>
                <a:spcPts val="0"/>
              </a:spcAft>
              <a:buSzPts val="1900"/>
              <a:buChar char="●"/>
              <a:defRPr sz="1900"/>
            </a:lvl1pPr>
            <a:lvl2pPr marL="914400" lvl="1" indent="-330200" rtl="0">
              <a:spcBef>
                <a:spcPts val="800"/>
              </a:spcBef>
              <a:spcAft>
                <a:spcPts val="0"/>
              </a:spcAft>
              <a:buSzPts val="1600"/>
              <a:buChar char="○"/>
              <a:defRPr sz="1600"/>
            </a:lvl2pPr>
            <a:lvl3pPr marL="1371600" lvl="2" indent="-330200" rtl="0">
              <a:spcBef>
                <a:spcPts val="800"/>
              </a:spcBef>
              <a:spcAft>
                <a:spcPts val="0"/>
              </a:spcAft>
              <a:buSzPts val="1600"/>
              <a:buChar char="■"/>
              <a:defRPr sz="1600"/>
            </a:lvl3pPr>
            <a:lvl4pPr marL="1828800" lvl="3" indent="-330200" rtl="0">
              <a:spcBef>
                <a:spcPts val="800"/>
              </a:spcBef>
              <a:spcAft>
                <a:spcPts val="0"/>
              </a:spcAft>
              <a:buSzPts val="1600"/>
              <a:buChar char="●"/>
              <a:defRPr sz="1600"/>
            </a:lvl4pPr>
            <a:lvl5pPr marL="2286000" lvl="4" indent="-330200" rtl="0">
              <a:spcBef>
                <a:spcPts val="800"/>
              </a:spcBef>
              <a:spcAft>
                <a:spcPts val="0"/>
              </a:spcAft>
              <a:buSzPts val="1600"/>
              <a:buChar char="○"/>
              <a:defRPr sz="1600"/>
            </a:lvl5pPr>
            <a:lvl6pPr marL="2743200" lvl="5" indent="-330200" rtl="0">
              <a:spcBef>
                <a:spcPts val="800"/>
              </a:spcBef>
              <a:spcAft>
                <a:spcPts val="0"/>
              </a:spcAft>
              <a:buSzPts val="1600"/>
              <a:buChar char="■"/>
              <a:defRPr sz="1600"/>
            </a:lvl6pPr>
            <a:lvl7pPr marL="3200400" lvl="6" indent="-330200" rtl="0">
              <a:spcBef>
                <a:spcPts val="800"/>
              </a:spcBef>
              <a:spcAft>
                <a:spcPts val="0"/>
              </a:spcAft>
              <a:buSzPts val="1600"/>
              <a:buChar char="●"/>
              <a:defRPr sz="1600"/>
            </a:lvl7pPr>
            <a:lvl8pPr marL="3657600" lvl="7" indent="-330200" rtl="0">
              <a:spcBef>
                <a:spcPts val="800"/>
              </a:spcBef>
              <a:spcAft>
                <a:spcPts val="0"/>
              </a:spcAft>
              <a:buSzPts val="1600"/>
              <a:buChar char="○"/>
              <a:defRPr sz="1600"/>
            </a:lvl8pPr>
            <a:lvl9pPr marL="4114800" lvl="8" indent="-330200" rtl="0">
              <a:spcBef>
                <a:spcPts val="800"/>
              </a:spcBef>
              <a:spcAft>
                <a:spcPts val="800"/>
              </a:spcAft>
              <a:buSzPts val="1600"/>
              <a:buChar char="■"/>
              <a:defRPr sz="1600"/>
            </a:lvl9pPr>
          </a:lstStyle>
          <a:p>
            <a:endParaRPr/>
          </a:p>
        </p:txBody>
      </p:sp>
      <p:sp>
        <p:nvSpPr>
          <p:cNvPr id="44" name="Google Shape;44;p5"/>
          <p:cNvSpPr txBox="1">
            <a:spLocks noGrp="1"/>
          </p:cNvSpPr>
          <p:nvPr>
            <p:ph type="body" idx="2"/>
          </p:nvPr>
        </p:nvSpPr>
        <p:spPr>
          <a:xfrm>
            <a:off x="6443200" y="1536625"/>
            <a:ext cx="5333100" cy="4751700"/>
          </a:xfrm>
          <a:prstGeom prst="rect">
            <a:avLst/>
          </a:prstGeom>
        </p:spPr>
        <p:txBody>
          <a:bodyPr spcFirstLastPara="1" wrap="square" lIns="121900" tIns="121900" rIns="121900" bIns="121900" anchor="t" anchorCtr="0">
            <a:noAutofit/>
          </a:bodyPr>
          <a:lstStyle>
            <a:lvl1pPr marL="457200" lvl="0" indent="-349250" rtl="0">
              <a:spcBef>
                <a:spcPts val="0"/>
              </a:spcBef>
              <a:spcAft>
                <a:spcPts val="0"/>
              </a:spcAft>
              <a:buSzPts val="1900"/>
              <a:buChar char="●"/>
              <a:defRPr sz="1900"/>
            </a:lvl1pPr>
            <a:lvl2pPr marL="914400" lvl="1" indent="-330200" rtl="0">
              <a:spcBef>
                <a:spcPts val="800"/>
              </a:spcBef>
              <a:spcAft>
                <a:spcPts val="0"/>
              </a:spcAft>
              <a:buSzPts val="1600"/>
              <a:buChar char="○"/>
              <a:defRPr sz="1600"/>
            </a:lvl2pPr>
            <a:lvl3pPr marL="1371600" lvl="2" indent="-330200" rtl="0">
              <a:spcBef>
                <a:spcPts val="800"/>
              </a:spcBef>
              <a:spcAft>
                <a:spcPts val="0"/>
              </a:spcAft>
              <a:buSzPts val="1600"/>
              <a:buChar char="■"/>
              <a:defRPr sz="1600"/>
            </a:lvl3pPr>
            <a:lvl4pPr marL="1828800" lvl="3" indent="-330200" rtl="0">
              <a:spcBef>
                <a:spcPts val="800"/>
              </a:spcBef>
              <a:spcAft>
                <a:spcPts val="0"/>
              </a:spcAft>
              <a:buSzPts val="1600"/>
              <a:buChar char="●"/>
              <a:defRPr sz="1600"/>
            </a:lvl4pPr>
            <a:lvl5pPr marL="2286000" lvl="4" indent="-330200" rtl="0">
              <a:spcBef>
                <a:spcPts val="800"/>
              </a:spcBef>
              <a:spcAft>
                <a:spcPts val="0"/>
              </a:spcAft>
              <a:buSzPts val="1600"/>
              <a:buChar char="○"/>
              <a:defRPr sz="1600"/>
            </a:lvl5pPr>
            <a:lvl6pPr marL="2743200" lvl="5" indent="-330200" rtl="0">
              <a:spcBef>
                <a:spcPts val="800"/>
              </a:spcBef>
              <a:spcAft>
                <a:spcPts val="0"/>
              </a:spcAft>
              <a:buSzPts val="1600"/>
              <a:buChar char="■"/>
              <a:defRPr sz="1600"/>
            </a:lvl6pPr>
            <a:lvl7pPr marL="3200400" lvl="6" indent="-330200" rtl="0">
              <a:spcBef>
                <a:spcPts val="800"/>
              </a:spcBef>
              <a:spcAft>
                <a:spcPts val="0"/>
              </a:spcAft>
              <a:buSzPts val="1600"/>
              <a:buChar char="●"/>
              <a:defRPr sz="1600"/>
            </a:lvl7pPr>
            <a:lvl8pPr marL="3657600" lvl="7" indent="-330200" rtl="0">
              <a:spcBef>
                <a:spcPts val="800"/>
              </a:spcBef>
              <a:spcAft>
                <a:spcPts val="0"/>
              </a:spcAft>
              <a:buSzPts val="1600"/>
              <a:buChar char="○"/>
              <a:defRPr sz="1600"/>
            </a:lvl8pPr>
            <a:lvl9pPr marL="4114800" lvl="8" indent="-330200" rtl="0">
              <a:spcBef>
                <a:spcPts val="800"/>
              </a:spcBef>
              <a:spcAft>
                <a:spcPts val="800"/>
              </a:spcAft>
              <a:buSzPts val="1600"/>
              <a:buChar char="■"/>
              <a:defRPr sz="1600"/>
            </a:lvl9pPr>
          </a:lstStyle>
          <a:p>
            <a:endParaRPr/>
          </a:p>
        </p:txBody>
      </p:sp>
      <p:sp>
        <p:nvSpPr>
          <p:cNvPr id="45" name="Google Shape;45;p5"/>
          <p:cNvSpPr txBox="1">
            <a:spLocks noGrp="1"/>
          </p:cNvSpPr>
          <p:nvPr>
            <p:ph type="sldNum" idx="12"/>
          </p:nvPr>
        </p:nvSpPr>
        <p:spPr>
          <a:xfrm>
            <a:off x="11220400" y="6408364"/>
            <a:ext cx="731700" cy="4014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
        <p:nvSpPr>
          <p:cNvPr id="46" name="Google Shape;46;p5"/>
          <p:cNvSpPr/>
          <p:nvPr/>
        </p:nvSpPr>
        <p:spPr>
          <a:xfrm rot="10800000">
            <a:off x="-2833" y="-25"/>
            <a:ext cx="122067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900"/>
          </a:p>
        </p:txBody>
      </p:sp>
    </p:spTree>
    <p:extLst>
      <p:ext uri="{BB962C8B-B14F-4D97-AF65-F5344CB8AC3E}">
        <p14:creationId xmlns:p14="http://schemas.microsoft.com/office/powerpoint/2010/main" val="1260179492"/>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image" Target="/ppt/media/image1.png" Id="rId8" /><Relationship Type="http://schemas.openxmlformats.org/officeDocument/2006/relationships/theme" Target="/ppt/theme/theme1.xml" Id="rId7" /><Relationship Type="http://schemas.openxmlformats.org/officeDocument/2006/relationships/slideLayout" Target="/ppt/slideLayouts/slideLayout1.xml" Id="rId1" /><Relationship Type="http://schemas.openxmlformats.org/officeDocument/2006/relationships/slideLayout" Target="/ppt/slideLayouts/slideLayout6.xml" Id="rId6" /></Relationships>
</file>

<file path=ppt/slideMasters/_rels/slideMaster2.xml.rels>&#65279;<?xml version="1.0" encoding="utf-8"?><Relationships xmlns="http://schemas.openxmlformats.org/package/2006/relationships"><Relationship Type="http://schemas.openxmlformats.org/officeDocument/2006/relationships/slideLayout" Target="/ppt/slideLayouts/slideLayout14.xml" Id="rId8" /><Relationship Type="http://schemas.openxmlformats.org/officeDocument/2006/relationships/slideLayout" Target="/ppt/slideLayouts/slideLayout13.xml" Id="rId7" /><Relationship Type="http://schemas.openxmlformats.org/officeDocument/2006/relationships/slideLayout" Target="/ppt/slideLayouts/slideLayout8.xml" Id="rId2" /><Relationship Type="http://schemas.openxmlformats.org/officeDocument/2006/relationships/image" Target="/ppt/media/image1.png" Id="rId10" /><Relationship Type="http://schemas.openxmlformats.org/officeDocument/2006/relationships/theme" Target="/ppt/theme/theme2.xml" Id="rId9"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lvl="0"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1pPr>
            <a:lvl2pPr lvl="1"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2pPr>
            <a:lvl3pPr lvl="2"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3pPr>
            <a:lvl4pPr lvl="3"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4pPr>
            <a:lvl5pPr lvl="4"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5pPr>
            <a:lvl6pPr lvl="5"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6pPr>
            <a:lvl7pPr lvl="6"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7pPr>
            <a:lvl8pPr lvl="7"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8pPr>
            <a:lvl9pPr lvl="8"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9pPr>
          </a:lstStyle>
          <a:p>
            <a:endParaRPr/>
          </a:p>
        </p:txBody>
      </p:sp>
      <p:sp>
        <p:nvSpPr>
          <p:cNvPr id="11" name="Google Shape;11;p1"/>
          <p:cNvSpPr txBox="1">
            <a:spLocks noGrp="1"/>
          </p:cNvSpPr>
          <p:nvPr>
            <p:ph type="body" idx="1"/>
          </p:nvPr>
        </p:nvSpPr>
        <p:spPr>
          <a:xfrm>
            <a:off x="415600" y="1356875"/>
            <a:ext cx="11360700" cy="4748400"/>
          </a:xfrm>
          <a:prstGeom prst="rect">
            <a:avLst/>
          </a:prstGeom>
          <a:noFill/>
          <a:ln>
            <a:noFill/>
          </a:ln>
        </p:spPr>
        <p:txBody>
          <a:bodyPr spcFirstLastPara="1" wrap="square" lIns="121900" tIns="121900" rIns="121900" bIns="121900" anchor="t" anchorCtr="0">
            <a:noAutofit/>
          </a:bodyPr>
          <a:lstStyle>
            <a:lvl1pPr marL="457200" lvl="0" indent="-406400" rtl="0">
              <a:lnSpc>
                <a:spcPct val="100000"/>
              </a:lnSpc>
              <a:spcBef>
                <a:spcPts val="0"/>
              </a:spcBef>
              <a:spcAft>
                <a:spcPts val="0"/>
              </a:spcAft>
              <a:buSzPts val="2800"/>
              <a:buFont typeface="IBM Plex Sans Condensed"/>
              <a:buChar char="●"/>
              <a:defRPr sz="2800">
                <a:latin typeface="IBM Plex Sans Condensed"/>
                <a:ea typeface="IBM Plex Sans Condensed"/>
                <a:cs typeface="IBM Plex Sans Condensed"/>
                <a:sym typeface="IBM Plex Sans Condensed"/>
              </a:defRPr>
            </a:lvl1pPr>
            <a:lvl2pPr marL="914400" lvl="1" indent="-393700" rtl="0">
              <a:lnSpc>
                <a:spcPct val="100000"/>
              </a:lnSpc>
              <a:spcBef>
                <a:spcPts val="800"/>
              </a:spcBef>
              <a:spcAft>
                <a:spcPts val="0"/>
              </a:spcAft>
              <a:buSzPts val="2600"/>
              <a:buFont typeface="IBM Plex Sans Condensed"/>
              <a:buChar char="○"/>
              <a:defRPr sz="2600">
                <a:latin typeface="IBM Plex Sans Condensed"/>
                <a:ea typeface="IBM Plex Sans Condensed"/>
                <a:cs typeface="IBM Plex Sans Condensed"/>
                <a:sym typeface="IBM Plex Sans Condensed"/>
              </a:defRPr>
            </a:lvl2pPr>
            <a:lvl3pPr marL="1371600" lvl="2" indent="-381000" rtl="0">
              <a:lnSpc>
                <a:spcPct val="100000"/>
              </a:lnSpc>
              <a:spcBef>
                <a:spcPts val="800"/>
              </a:spcBef>
              <a:spcAft>
                <a:spcPts val="0"/>
              </a:spcAft>
              <a:buSzPts val="2400"/>
              <a:buFont typeface="Archivo Narrow"/>
              <a:buChar char="■"/>
              <a:defRPr sz="2400">
                <a:latin typeface="Archivo Narrow"/>
                <a:ea typeface="Archivo Narrow"/>
                <a:cs typeface="Archivo Narrow"/>
                <a:sym typeface="Archivo Narrow"/>
              </a:defRPr>
            </a:lvl3pPr>
            <a:lvl4pPr marL="1828800" lvl="3" indent="-381000" rtl="0">
              <a:lnSpc>
                <a:spcPct val="100000"/>
              </a:lnSpc>
              <a:spcBef>
                <a:spcPts val="800"/>
              </a:spcBef>
              <a:spcAft>
                <a:spcPts val="0"/>
              </a:spcAft>
              <a:buSzPts val="2400"/>
              <a:buFont typeface="Archivo Narrow"/>
              <a:buChar char="●"/>
              <a:defRPr sz="2400">
                <a:latin typeface="Archivo Narrow"/>
                <a:ea typeface="Archivo Narrow"/>
                <a:cs typeface="Archivo Narrow"/>
                <a:sym typeface="Archivo Narrow"/>
              </a:defRPr>
            </a:lvl4pPr>
            <a:lvl5pPr marL="2286000" lvl="4" indent="-381000" rtl="0">
              <a:lnSpc>
                <a:spcPct val="100000"/>
              </a:lnSpc>
              <a:spcBef>
                <a:spcPts val="800"/>
              </a:spcBef>
              <a:spcAft>
                <a:spcPts val="0"/>
              </a:spcAft>
              <a:buSzPts val="2400"/>
              <a:buFont typeface="Archivo Narrow"/>
              <a:buChar char="○"/>
              <a:defRPr sz="2400">
                <a:latin typeface="Archivo Narrow"/>
                <a:ea typeface="Archivo Narrow"/>
                <a:cs typeface="Archivo Narrow"/>
                <a:sym typeface="Archivo Narrow"/>
              </a:defRPr>
            </a:lvl5pPr>
            <a:lvl6pPr marL="2743200" lvl="5" indent="-381000" rtl="0">
              <a:lnSpc>
                <a:spcPct val="100000"/>
              </a:lnSpc>
              <a:spcBef>
                <a:spcPts val="800"/>
              </a:spcBef>
              <a:spcAft>
                <a:spcPts val="0"/>
              </a:spcAft>
              <a:buSzPts val="2400"/>
              <a:buFont typeface="Archivo Narrow"/>
              <a:buChar char="■"/>
              <a:defRPr sz="2400">
                <a:latin typeface="Archivo Narrow"/>
                <a:ea typeface="Archivo Narrow"/>
                <a:cs typeface="Archivo Narrow"/>
                <a:sym typeface="Archivo Narrow"/>
              </a:defRPr>
            </a:lvl6pPr>
            <a:lvl7pPr marL="3200400" lvl="6" indent="-381000" rtl="0">
              <a:lnSpc>
                <a:spcPct val="100000"/>
              </a:lnSpc>
              <a:spcBef>
                <a:spcPts val="800"/>
              </a:spcBef>
              <a:spcAft>
                <a:spcPts val="0"/>
              </a:spcAft>
              <a:buSzPts val="2400"/>
              <a:buFont typeface="Archivo Narrow"/>
              <a:buChar char="●"/>
              <a:defRPr sz="2400">
                <a:latin typeface="Archivo Narrow"/>
                <a:ea typeface="Archivo Narrow"/>
                <a:cs typeface="Archivo Narrow"/>
                <a:sym typeface="Archivo Narrow"/>
              </a:defRPr>
            </a:lvl7pPr>
            <a:lvl8pPr marL="3657600" lvl="7" indent="-381000" rtl="0">
              <a:lnSpc>
                <a:spcPct val="100000"/>
              </a:lnSpc>
              <a:spcBef>
                <a:spcPts val="800"/>
              </a:spcBef>
              <a:spcAft>
                <a:spcPts val="0"/>
              </a:spcAft>
              <a:buSzPts val="2400"/>
              <a:buFont typeface="Archivo Narrow"/>
              <a:buChar char="○"/>
              <a:defRPr sz="2400">
                <a:latin typeface="Archivo Narrow"/>
                <a:ea typeface="Archivo Narrow"/>
                <a:cs typeface="Archivo Narrow"/>
                <a:sym typeface="Archivo Narrow"/>
              </a:defRPr>
            </a:lvl8pPr>
            <a:lvl9pPr marL="4114800" lvl="8" indent="-381000" rtl="0">
              <a:lnSpc>
                <a:spcPct val="100000"/>
              </a:lnSpc>
              <a:spcBef>
                <a:spcPts val="800"/>
              </a:spcBef>
              <a:spcAft>
                <a:spcPts val="800"/>
              </a:spcAft>
              <a:buSzPts val="2400"/>
              <a:buFont typeface="Archivo Narrow"/>
              <a:buChar char="■"/>
              <a:defRPr sz="2400">
                <a:latin typeface="Archivo Narrow"/>
                <a:ea typeface="Archivo Narrow"/>
                <a:cs typeface="Archivo Narrow"/>
                <a:sym typeface="Archivo Narrow"/>
              </a:defRPr>
            </a:lvl9pPr>
          </a:lstStyle>
          <a:p>
            <a:endParaRPr/>
          </a:p>
        </p:txBody>
      </p:sp>
      <p:sp>
        <p:nvSpPr>
          <p:cNvPr id="12" name="Google Shape;12;p1"/>
          <p:cNvSpPr/>
          <p:nvPr/>
        </p:nvSpPr>
        <p:spPr>
          <a:xfrm>
            <a:off x="0" y="-9719"/>
            <a:ext cx="12192000" cy="2619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Condensed"/>
              <a:ea typeface="IBM Plex Sans Condensed"/>
              <a:cs typeface="IBM Plex Sans Condensed"/>
              <a:sym typeface="IBM Plex Sans Condensed"/>
            </a:endParaRPr>
          </a:p>
        </p:txBody>
      </p:sp>
      <p:sp>
        <p:nvSpPr>
          <p:cNvPr id="13" name="Google Shape;13;p1"/>
          <p:cNvSpPr/>
          <p:nvPr/>
        </p:nvSpPr>
        <p:spPr>
          <a:xfrm>
            <a:off x="0" y="6615550"/>
            <a:ext cx="12192000" cy="2619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Condensed"/>
              <a:ea typeface="IBM Plex Sans Condensed"/>
              <a:cs typeface="IBM Plex Sans Condensed"/>
              <a:sym typeface="IBM Plex Sans Condensed"/>
            </a:endParaRPr>
          </a:p>
        </p:txBody>
      </p:sp>
      <p:sp>
        <p:nvSpPr>
          <p:cNvPr id="14" name="Google Shape;14;p1"/>
          <p:cNvSpPr/>
          <p:nvPr/>
        </p:nvSpPr>
        <p:spPr>
          <a:xfrm>
            <a:off x="-50" y="6387300"/>
            <a:ext cx="12192000" cy="353400"/>
          </a:xfrm>
          <a:prstGeom prst="roundRect">
            <a:avLst>
              <a:gd name="adj" fmla="val 1666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Condensed"/>
              <a:ea typeface="IBM Plex Sans Condensed"/>
              <a:cs typeface="IBM Plex Sans Condensed"/>
              <a:sym typeface="IBM Plex Sans Condensed"/>
            </a:endParaRPr>
          </a:p>
        </p:txBody>
      </p:sp>
      <p:sp>
        <p:nvSpPr>
          <p:cNvPr id="15" name="Google Shape;15;p1"/>
          <p:cNvSpPr txBox="1"/>
          <p:nvPr/>
        </p:nvSpPr>
        <p:spPr>
          <a:xfrm rot="-462626">
            <a:off x="8825194" y="6371291"/>
            <a:ext cx="1824597" cy="43110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rgbClr val="D2AE6C"/>
                </a:solidFill>
                <a:latin typeface="Yellowtail"/>
                <a:ea typeface="Yellowtail"/>
                <a:cs typeface="Yellowtail"/>
                <a:sym typeface="Yellowtail"/>
              </a:rPr>
              <a:t>Excellence &amp; Service</a:t>
            </a:r>
            <a:endParaRPr sz="1600">
              <a:solidFill>
                <a:srgbClr val="D2AE6C"/>
              </a:solidFill>
              <a:latin typeface="Yellowtail"/>
              <a:ea typeface="Yellowtail"/>
              <a:cs typeface="Yellowtail"/>
              <a:sym typeface="Yellowtail"/>
            </a:endParaRPr>
          </a:p>
        </p:txBody>
      </p:sp>
      <p:sp>
        <p:nvSpPr>
          <p:cNvPr id="16" name="Google Shape;16;p1"/>
          <p:cNvSpPr txBox="1"/>
          <p:nvPr/>
        </p:nvSpPr>
        <p:spPr>
          <a:xfrm rot="1419">
            <a:off x="6067925" y="6448425"/>
            <a:ext cx="29064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GB">
                <a:solidFill>
                  <a:srgbClr val="CCCCCC"/>
                </a:solidFill>
                <a:latin typeface="Archivo Narrow"/>
                <a:ea typeface="Archivo Narrow"/>
                <a:cs typeface="Archivo Narrow"/>
                <a:sym typeface="Archivo Narrow"/>
              </a:rPr>
              <a:t>CHRIST (Deemed to be University)</a:t>
            </a:r>
            <a:endParaRPr>
              <a:solidFill>
                <a:srgbClr val="CCCCCC"/>
              </a:solidFill>
              <a:latin typeface="Archivo Narrow"/>
              <a:ea typeface="Archivo Narrow"/>
              <a:cs typeface="Archivo Narrow"/>
              <a:sym typeface="Archivo Narrow"/>
            </a:endParaRPr>
          </a:p>
        </p:txBody>
      </p:sp>
      <p:sp>
        <p:nvSpPr>
          <p:cNvPr id="17" name="Google Shape;17;p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lvl="0" algn="r" rtl="0">
              <a:buNone/>
              <a:defRPr sz="1200">
                <a:solidFill>
                  <a:srgbClr val="FFFFFF"/>
                </a:solidFill>
              </a:defRPr>
            </a:lvl1pPr>
            <a:lvl2pPr lvl="1" algn="r" rtl="0">
              <a:buNone/>
              <a:defRPr sz="1200">
                <a:solidFill>
                  <a:srgbClr val="FFFFFF"/>
                </a:solidFill>
              </a:defRPr>
            </a:lvl2pPr>
            <a:lvl3pPr lvl="2" algn="r" rtl="0">
              <a:buNone/>
              <a:defRPr sz="1200">
                <a:solidFill>
                  <a:srgbClr val="FFFFFF"/>
                </a:solidFill>
              </a:defRPr>
            </a:lvl3pPr>
            <a:lvl4pPr lvl="3" algn="r" rtl="0">
              <a:buNone/>
              <a:defRPr sz="1200">
                <a:solidFill>
                  <a:srgbClr val="FFFFFF"/>
                </a:solidFill>
              </a:defRPr>
            </a:lvl4pPr>
            <a:lvl5pPr lvl="4" algn="r" rtl="0">
              <a:buNone/>
              <a:defRPr sz="1200">
                <a:solidFill>
                  <a:srgbClr val="FFFFFF"/>
                </a:solidFill>
              </a:defRPr>
            </a:lvl5pPr>
            <a:lvl6pPr lvl="5" algn="r" rtl="0">
              <a:buNone/>
              <a:defRPr sz="1200">
                <a:solidFill>
                  <a:srgbClr val="FFFFFF"/>
                </a:solidFill>
              </a:defRPr>
            </a:lvl6pPr>
            <a:lvl7pPr lvl="6" algn="r" rtl="0">
              <a:buNone/>
              <a:defRPr sz="1200">
                <a:solidFill>
                  <a:srgbClr val="FFFFFF"/>
                </a:solidFill>
              </a:defRPr>
            </a:lvl7pPr>
            <a:lvl8pPr lvl="7" algn="r" rtl="0">
              <a:buNone/>
              <a:defRPr sz="1200">
                <a:solidFill>
                  <a:srgbClr val="FFFFFF"/>
                </a:solidFill>
              </a:defRPr>
            </a:lvl8pPr>
            <a:lvl9pPr lvl="8" algn="r" rtl="0">
              <a:buNone/>
              <a:defRPr sz="1200">
                <a:solidFill>
                  <a:srgbClr val="FFFFFF"/>
                </a:solidFill>
              </a:defRPr>
            </a:lvl9pPr>
          </a:lstStyle>
          <a:p>
            <a:pPr marL="0" lvl="0" indent="0" algn="r" rtl="0">
              <a:spcBef>
                <a:spcPts val="0"/>
              </a:spcBef>
              <a:spcAft>
                <a:spcPts val="0"/>
              </a:spcAft>
              <a:buNone/>
            </a:pPr>
            <a:fld id="{00000000-1234-1234-1234-123412341234}" type="slidenum">
              <a:rPr lang="en-GB"/>
              <a:t>‹#›</a:t>
            </a:fld>
            <a:endParaRPr/>
          </a:p>
        </p:txBody>
      </p:sp>
      <p:pic>
        <p:nvPicPr>
          <p:cNvPr id="18" name="Google Shape;18;p1"/>
          <p:cNvPicPr preferRelativeResize="0"/>
          <p:nvPr/>
        </p:nvPicPr>
        <p:blipFill>
          <a:blip r:embed="rId8">
            <a:alphaModFix amt="2000"/>
          </a:blip>
          <a:stretch>
            <a:fillRect/>
          </a:stretch>
        </p:blipFill>
        <p:spPr>
          <a:xfrm>
            <a:off x="8405600" y="2427475"/>
            <a:ext cx="3338350" cy="3327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57"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p14="http://schemas.microsoft.com/office/powerpoint/2010/main"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lvl="0"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1pPr>
            <a:lvl2pPr lvl="1"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2pPr>
            <a:lvl3pPr lvl="2"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3pPr>
            <a:lvl4pPr lvl="3"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4pPr>
            <a:lvl5pPr lvl="4"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5pPr>
            <a:lvl6pPr lvl="5"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6pPr>
            <a:lvl7pPr lvl="6"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7pPr>
            <a:lvl8pPr lvl="7"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8pPr>
            <a:lvl9pPr lvl="8" rtl="0">
              <a:spcBef>
                <a:spcPts val="0"/>
              </a:spcBef>
              <a:spcAft>
                <a:spcPts val="0"/>
              </a:spcAft>
              <a:buSzPts val="3200"/>
              <a:buFont typeface="IBM Plex Sans Condensed"/>
              <a:buNone/>
              <a:defRPr sz="3200" b="1">
                <a:latin typeface="IBM Plex Sans Condensed"/>
                <a:ea typeface="IBM Plex Sans Condensed"/>
                <a:cs typeface="IBM Plex Sans Condensed"/>
                <a:sym typeface="IBM Plex Sans Condensed"/>
              </a:defRPr>
            </a:lvl9pPr>
          </a:lstStyle>
          <a:p>
            <a:endParaRPr/>
          </a:p>
        </p:txBody>
      </p:sp>
      <p:sp>
        <p:nvSpPr>
          <p:cNvPr id="11" name="Google Shape;11;p1"/>
          <p:cNvSpPr txBox="1">
            <a:spLocks noGrp="1"/>
          </p:cNvSpPr>
          <p:nvPr>
            <p:ph type="body" idx="1"/>
          </p:nvPr>
        </p:nvSpPr>
        <p:spPr>
          <a:xfrm>
            <a:off x="415600" y="1356875"/>
            <a:ext cx="11360700" cy="4748400"/>
          </a:xfrm>
          <a:prstGeom prst="rect">
            <a:avLst/>
          </a:prstGeom>
          <a:noFill/>
          <a:ln>
            <a:noFill/>
          </a:ln>
        </p:spPr>
        <p:txBody>
          <a:bodyPr spcFirstLastPara="1" wrap="square" lIns="121900" tIns="121900" rIns="121900" bIns="121900" anchor="t" anchorCtr="0">
            <a:noAutofit/>
          </a:bodyPr>
          <a:lstStyle>
            <a:lvl1pPr marL="457200" lvl="0" indent="-406400" rtl="0">
              <a:lnSpc>
                <a:spcPct val="100000"/>
              </a:lnSpc>
              <a:spcBef>
                <a:spcPts val="0"/>
              </a:spcBef>
              <a:spcAft>
                <a:spcPts val="0"/>
              </a:spcAft>
              <a:buSzPts val="2800"/>
              <a:buFont typeface="IBM Plex Sans Condensed"/>
              <a:buChar char="●"/>
              <a:defRPr sz="2800">
                <a:latin typeface="IBM Plex Sans Condensed"/>
                <a:ea typeface="IBM Plex Sans Condensed"/>
                <a:cs typeface="IBM Plex Sans Condensed"/>
                <a:sym typeface="IBM Plex Sans Condensed"/>
              </a:defRPr>
            </a:lvl1pPr>
            <a:lvl2pPr marL="914400" lvl="1" indent="-393700" rtl="0">
              <a:lnSpc>
                <a:spcPct val="100000"/>
              </a:lnSpc>
              <a:spcBef>
                <a:spcPts val="800"/>
              </a:spcBef>
              <a:spcAft>
                <a:spcPts val="0"/>
              </a:spcAft>
              <a:buSzPts val="2600"/>
              <a:buFont typeface="IBM Plex Sans Condensed"/>
              <a:buChar char="○"/>
              <a:defRPr sz="2600">
                <a:latin typeface="IBM Plex Sans Condensed"/>
                <a:ea typeface="IBM Plex Sans Condensed"/>
                <a:cs typeface="IBM Plex Sans Condensed"/>
                <a:sym typeface="IBM Plex Sans Condensed"/>
              </a:defRPr>
            </a:lvl2pPr>
            <a:lvl3pPr marL="1371600" lvl="2" indent="-381000" rtl="0">
              <a:lnSpc>
                <a:spcPct val="100000"/>
              </a:lnSpc>
              <a:spcBef>
                <a:spcPts val="800"/>
              </a:spcBef>
              <a:spcAft>
                <a:spcPts val="0"/>
              </a:spcAft>
              <a:buSzPts val="2400"/>
              <a:buFont typeface="Archivo Narrow"/>
              <a:buChar char="■"/>
              <a:defRPr sz="2400">
                <a:latin typeface="Archivo Narrow"/>
                <a:ea typeface="Archivo Narrow"/>
                <a:cs typeface="Archivo Narrow"/>
                <a:sym typeface="Archivo Narrow"/>
              </a:defRPr>
            </a:lvl3pPr>
            <a:lvl4pPr marL="1828800" lvl="3" indent="-381000" rtl="0">
              <a:lnSpc>
                <a:spcPct val="100000"/>
              </a:lnSpc>
              <a:spcBef>
                <a:spcPts val="800"/>
              </a:spcBef>
              <a:spcAft>
                <a:spcPts val="0"/>
              </a:spcAft>
              <a:buSzPts val="2400"/>
              <a:buFont typeface="Archivo Narrow"/>
              <a:buChar char="●"/>
              <a:defRPr sz="2400">
                <a:latin typeface="Archivo Narrow"/>
                <a:ea typeface="Archivo Narrow"/>
                <a:cs typeface="Archivo Narrow"/>
                <a:sym typeface="Archivo Narrow"/>
              </a:defRPr>
            </a:lvl4pPr>
            <a:lvl5pPr marL="2286000" lvl="4" indent="-381000" rtl="0">
              <a:lnSpc>
                <a:spcPct val="100000"/>
              </a:lnSpc>
              <a:spcBef>
                <a:spcPts val="800"/>
              </a:spcBef>
              <a:spcAft>
                <a:spcPts val="0"/>
              </a:spcAft>
              <a:buSzPts val="2400"/>
              <a:buFont typeface="Archivo Narrow"/>
              <a:buChar char="○"/>
              <a:defRPr sz="2400">
                <a:latin typeface="Archivo Narrow"/>
                <a:ea typeface="Archivo Narrow"/>
                <a:cs typeface="Archivo Narrow"/>
                <a:sym typeface="Archivo Narrow"/>
              </a:defRPr>
            </a:lvl5pPr>
            <a:lvl6pPr marL="2743200" lvl="5" indent="-381000" rtl="0">
              <a:lnSpc>
                <a:spcPct val="100000"/>
              </a:lnSpc>
              <a:spcBef>
                <a:spcPts val="800"/>
              </a:spcBef>
              <a:spcAft>
                <a:spcPts val="0"/>
              </a:spcAft>
              <a:buSzPts val="2400"/>
              <a:buFont typeface="Archivo Narrow"/>
              <a:buChar char="■"/>
              <a:defRPr sz="2400">
                <a:latin typeface="Archivo Narrow"/>
                <a:ea typeface="Archivo Narrow"/>
                <a:cs typeface="Archivo Narrow"/>
                <a:sym typeface="Archivo Narrow"/>
              </a:defRPr>
            </a:lvl6pPr>
            <a:lvl7pPr marL="3200400" lvl="6" indent="-381000" rtl="0">
              <a:lnSpc>
                <a:spcPct val="100000"/>
              </a:lnSpc>
              <a:spcBef>
                <a:spcPts val="800"/>
              </a:spcBef>
              <a:spcAft>
                <a:spcPts val="0"/>
              </a:spcAft>
              <a:buSzPts val="2400"/>
              <a:buFont typeface="Archivo Narrow"/>
              <a:buChar char="●"/>
              <a:defRPr sz="2400">
                <a:latin typeface="Archivo Narrow"/>
                <a:ea typeface="Archivo Narrow"/>
                <a:cs typeface="Archivo Narrow"/>
                <a:sym typeface="Archivo Narrow"/>
              </a:defRPr>
            </a:lvl7pPr>
            <a:lvl8pPr marL="3657600" lvl="7" indent="-381000" rtl="0">
              <a:lnSpc>
                <a:spcPct val="100000"/>
              </a:lnSpc>
              <a:spcBef>
                <a:spcPts val="800"/>
              </a:spcBef>
              <a:spcAft>
                <a:spcPts val="0"/>
              </a:spcAft>
              <a:buSzPts val="2400"/>
              <a:buFont typeface="Archivo Narrow"/>
              <a:buChar char="○"/>
              <a:defRPr sz="2400">
                <a:latin typeface="Archivo Narrow"/>
                <a:ea typeface="Archivo Narrow"/>
                <a:cs typeface="Archivo Narrow"/>
                <a:sym typeface="Archivo Narrow"/>
              </a:defRPr>
            </a:lvl8pPr>
            <a:lvl9pPr marL="4114800" lvl="8" indent="-381000" rtl="0">
              <a:lnSpc>
                <a:spcPct val="100000"/>
              </a:lnSpc>
              <a:spcBef>
                <a:spcPts val="800"/>
              </a:spcBef>
              <a:spcAft>
                <a:spcPts val="800"/>
              </a:spcAft>
              <a:buSzPts val="2400"/>
              <a:buFont typeface="Archivo Narrow"/>
              <a:buChar char="■"/>
              <a:defRPr sz="2400">
                <a:latin typeface="Archivo Narrow"/>
                <a:ea typeface="Archivo Narrow"/>
                <a:cs typeface="Archivo Narrow"/>
                <a:sym typeface="Archivo Narrow"/>
              </a:defRPr>
            </a:lvl9pPr>
          </a:lstStyle>
          <a:p>
            <a:endParaRPr/>
          </a:p>
        </p:txBody>
      </p:sp>
      <p:sp>
        <p:nvSpPr>
          <p:cNvPr id="12" name="Google Shape;12;p1"/>
          <p:cNvSpPr/>
          <p:nvPr/>
        </p:nvSpPr>
        <p:spPr>
          <a:xfrm>
            <a:off x="0" y="-9719"/>
            <a:ext cx="12192000" cy="2619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Condensed"/>
              <a:ea typeface="IBM Plex Sans Condensed"/>
              <a:cs typeface="IBM Plex Sans Condensed"/>
              <a:sym typeface="IBM Plex Sans Condensed"/>
            </a:endParaRPr>
          </a:p>
        </p:txBody>
      </p:sp>
      <p:sp>
        <p:nvSpPr>
          <p:cNvPr id="13" name="Google Shape;13;p1"/>
          <p:cNvSpPr/>
          <p:nvPr/>
        </p:nvSpPr>
        <p:spPr>
          <a:xfrm>
            <a:off x="0" y="6615550"/>
            <a:ext cx="12192000" cy="2619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Condensed"/>
              <a:ea typeface="IBM Plex Sans Condensed"/>
              <a:cs typeface="IBM Plex Sans Condensed"/>
              <a:sym typeface="IBM Plex Sans Condensed"/>
            </a:endParaRPr>
          </a:p>
        </p:txBody>
      </p:sp>
      <p:sp>
        <p:nvSpPr>
          <p:cNvPr id="14" name="Google Shape;14;p1"/>
          <p:cNvSpPr/>
          <p:nvPr/>
        </p:nvSpPr>
        <p:spPr>
          <a:xfrm>
            <a:off x="-50" y="6387300"/>
            <a:ext cx="12192000" cy="353400"/>
          </a:xfrm>
          <a:prstGeom prst="roundRect">
            <a:avLst>
              <a:gd name="adj" fmla="val 1666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BM Plex Sans Condensed"/>
              <a:ea typeface="IBM Plex Sans Condensed"/>
              <a:cs typeface="IBM Plex Sans Condensed"/>
              <a:sym typeface="IBM Plex Sans Condensed"/>
            </a:endParaRPr>
          </a:p>
        </p:txBody>
      </p:sp>
      <p:sp>
        <p:nvSpPr>
          <p:cNvPr id="15" name="Google Shape;15;p1"/>
          <p:cNvSpPr txBox="1"/>
          <p:nvPr/>
        </p:nvSpPr>
        <p:spPr>
          <a:xfrm rot="-462626">
            <a:off x="8825194" y="6371291"/>
            <a:ext cx="1824597" cy="43110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600">
                <a:solidFill>
                  <a:srgbClr val="D2AE6C"/>
                </a:solidFill>
                <a:latin typeface="Yellowtail"/>
                <a:ea typeface="Yellowtail"/>
                <a:cs typeface="Yellowtail"/>
                <a:sym typeface="Yellowtail"/>
              </a:rPr>
              <a:t>Excellence &amp; Service</a:t>
            </a:r>
            <a:endParaRPr sz="1600">
              <a:solidFill>
                <a:srgbClr val="D2AE6C"/>
              </a:solidFill>
              <a:latin typeface="Yellowtail"/>
              <a:ea typeface="Yellowtail"/>
              <a:cs typeface="Yellowtail"/>
              <a:sym typeface="Yellowtail"/>
            </a:endParaRPr>
          </a:p>
        </p:txBody>
      </p:sp>
      <p:sp>
        <p:nvSpPr>
          <p:cNvPr id="16" name="Google Shape;16;p1"/>
          <p:cNvSpPr txBox="1"/>
          <p:nvPr/>
        </p:nvSpPr>
        <p:spPr>
          <a:xfrm rot="1419">
            <a:off x="6067925" y="6448425"/>
            <a:ext cx="2906400" cy="400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GB">
                <a:solidFill>
                  <a:srgbClr val="CCCCCC"/>
                </a:solidFill>
                <a:latin typeface="Archivo Narrow"/>
                <a:ea typeface="Archivo Narrow"/>
                <a:cs typeface="Archivo Narrow"/>
                <a:sym typeface="Archivo Narrow"/>
              </a:rPr>
              <a:t>CHRIST (Deemed to be University)</a:t>
            </a:r>
            <a:endParaRPr>
              <a:solidFill>
                <a:srgbClr val="CCCCCC"/>
              </a:solidFill>
              <a:latin typeface="Archivo Narrow"/>
              <a:ea typeface="Archivo Narrow"/>
              <a:cs typeface="Archivo Narrow"/>
              <a:sym typeface="Archivo Narrow"/>
            </a:endParaRPr>
          </a:p>
        </p:txBody>
      </p:sp>
      <p:sp>
        <p:nvSpPr>
          <p:cNvPr id="17" name="Google Shape;17;p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lvl="0" algn="r" rtl="0">
              <a:buNone/>
              <a:defRPr sz="1200">
                <a:solidFill>
                  <a:srgbClr val="FFFFFF"/>
                </a:solidFill>
              </a:defRPr>
            </a:lvl1pPr>
            <a:lvl2pPr lvl="1" algn="r" rtl="0">
              <a:buNone/>
              <a:defRPr sz="1200">
                <a:solidFill>
                  <a:srgbClr val="FFFFFF"/>
                </a:solidFill>
              </a:defRPr>
            </a:lvl2pPr>
            <a:lvl3pPr lvl="2" algn="r" rtl="0">
              <a:buNone/>
              <a:defRPr sz="1200">
                <a:solidFill>
                  <a:srgbClr val="FFFFFF"/>
                </a:solidFill>
              </a:defRPr>
            </a:lvl3pPr>
            <a:lvl4pPr lvl="3" algn="r" rtl="0">
              <a:buNone/>
              <a:defRPr sz="1200">
                <a:solidFill>
                  <a:srgbClr val="FFFFFF"/>
                </a:solidFill>
              </a:defRPr>
            </a:lvl4pPr>
            <a:lvl5pPr lvl="4" algn="r" rtl="0">
              <a:buNone/>
              <a:defRPr sz="1200">
                <a:solidFill>
                  <a:srgbClr val="FFFFFF"/>
                </a:solidFill>
              </a:defRPr>
            </a:lvl5pPr>
            <a:lvl6pPr lvl="5" algn="r" rtl="0">
              <a:buNone/>
              <a:defRPr sz="1200">
                <a:solidFill>
                  <a:srgbClr val="FFFFFF"/>
                </a:solidFill>
              </a:defRPr>
            </a:lvl6pPr>
            <a:lvl7pPr lvl="6" algn="r" rtl="0">
              <a:buNone/>
              <a:defRPr sz="1200">
                <a:solidFill>
                  <a:srgbClr val="FFFFFF"/>
                </a:solidFill>
              </a:defRPr>
            </a:lvl7pPr>
            <a:lvl8pPr lvl="7" algn="r" rtl="0">
              <a:buNone/>
              <a:defRPr sz="1200">
                <a:solidFill>
                  <a:srgbClr val="FFFFFF"/>
                </a:solidFill>
              </a:defRPr>
            </a:lvl8pPr>
            <a:lvl9pPr lvl="8" algn="r" rtl="0">
              <a:buNone/>
              <a:defRPr sz="1200">
                <a:solidFill>
                  <a:srgbClr val="FFFFFF"/>
                </a:solidFill>
              </a:defRPr>
            </a:lvl9pPr>
          </a:lstStyle>
          <a:p>
            <a:pPr marL="0" lvl="0" indent="0" algn="r" rtl="0">
              <a:spcBef>
                <a:spcPts val="0"/>
              </a:spcBef>
              <a:spcAft>
                <a:spcPts val="0"/>
              </a:spcAft>
              <a:buNone/>
            </a:pPr>
            <a:fld id="{00000000-1234-1234-1234-123412341234}" type="slidenum">
              <a:rPr lang="en-GB"/>
              <a:t>‹#›</a:t>
            </a:fld>
            <a:endParaRPr/>
          </a:p>
        </p:txBody>
      </p:sp>
      <p:pic>
        <p:nvPicPr>
          <p:cNvPr id="18" name="Google Shape;18;p1"/>
          <p:cNvPicPr preferRelativeResize="0"/>
          <p:nvPr/>
        </p:nvPicPr>
        <p:blipFill>
          <a:blip r:embed="rId10">
            <a:alphaModFix amt="2000"/>
          </a:blip>
          <a:stretch>
            <a:fillRect/>
          </a:stretch>
        </p:blipFill>
        <p:spPr>
          <a:xfrm>
            <a:off x="8405600" y="2427475"/>
            <a:ext cx="3338350" cy="3327000"/>
          </a:xfrm>
          <a:prstGeom prst="rect">
            <a:avLst/>
          </a:prstGeom>
          <a:noFill/>
          <a:ln>
            <a:noFill/>
          </a:ln>
        </p:spPr>
      </p:pic>
    </p:spTree>
    <p:extLst>
      <p:ext uri="{BB962C8B-B14F-4D97-AF65-F5344CB8AC3E}">
        <p14:creationId xmlns:p14="http://schemas.microsoft.com/office/powerpoint/2010/main" val="1557198120"/>
      </p:ext>
    </p:extLst>
  </p:cSld>
  <p:clrMap bg1="lt1" tx1="dk1" bg2="dk2" tx2="lt2" accent1="accent1" accent2="accent2" accent3="accent3" accent4="accent4" accent5="accent5" accent6="accent6" hlink="hlink" folHlink="folHlink"/>
  <p:sldLayoutIdLst>
    <p:sldLayoutId id="2147483663" r:id="rId2"/>
    <p:sldLayoutId id="2147483669" r:id="rId7"/>
    <p:sldLayoutId id="2147483670"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Relationships xmlns="http://schemas.openxmlformats.org/package/2006/relationships"><Relationship Type="http://schemas.openxmlformats.org/officeDocument/2006/relationships/notesSlide" Target="/ppt/notesSlides/notesSlide1.xml" Id="rId2" /><Relationship Type="http://schemas.openxmlformats.org/officeDocument/2006/relationships/slideLayout" Target="/ppt/slideLayouts/slideLayout1.xml" Id="rI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Id1" /></Relationships>
</file>

<file path=ppt/slides/_rels/slide3.xml.rels>&#65279;<?xml version="1.0" encoding="utf-8"?><Relationships xmlns="http://schemas.openxmlformats.org/package/2006/relationships"><Relationship Type="http://schemas.openxmlformats.org/officeDocument/2006/relationships/image" Target="/ppt/media/image3.png" Id="rId2" /><Relationship Type="http://schemas.openxmlformats.org/officeDocument/2006/relationships/slideLayout" Target="/ppt/slideLayouts/slideLayout8.xml" Id="rI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5.xml.rels>&#65279;<?xml version="1.0" encoding="utf-8"?><Relationships xmlns="http://schemas.openxmlformats.org/package/2006/relationships"><Relationship Type="http://schemas.openxmlformats.org/officeDocument/2006/relationships/image" Target="/ppt/media/image4.png" Id="rId2" /><Relationship Type="http://schemas.openxmlformats.org/officeDocument/2006/relationships/slideLayout" Target="/ppt/slideLayouts/slideLayout8.xml" Id="rId1" /></Relationships>
</file>

<file path=ppt/slides/_rels/slide6.xml.rels>&#65279;<?xml version="1.0" encoding="utf-8"?><Relationships xmlns="http://schemas.openxmlformats.org/package/2006/relationships"><Relationship Type="http://schemas.openxmlformats.org/officeDocument/2006/relationships/image" Target="/ppt/media/image5.png" Id="rId2" /><Relationship Type="http://schemas.openxmlformats.org/officeDocument/2006/relationships/slideLayout" Target="/ppt/slideLayouts/slideLayout8.xml" Id="rI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8.xml.rels>&#65279;<?xml version="1.0" encoding="utf-8"?><Relationships xmlns="http://schemas.openxmlformats.org/package/2006/relationships"><Relationship Type="http://schemas.openxmlformats.org/officeDocument/2006/relationships/image" Target="/ppt/media/image6.png" Id="rId2" /><Relationship Type="http://schemas.openxmlformats.org/officeDocument/2006/relationships/slideLayout" Target="/ppt/slideLayouts/slideLayout8.xml" Id="rId1" /></Relationships>
</file>

<file path=ppt/slides/_rels/slide9.xml.rels>&#65279;<?xml version="1.0" encoding="utf-8"?><Relationships xmlns="http://schemas.openxmlformats.org/package/2006/relationships"><Relationship Type="http://schemas.openxmlformats.org/officeDocument/2006/relationships/image" Target="/ppt/media/image7.png" Id="rId2" /><Relationship Type="http://schemas.openxmlformats.org/officeDocument/2006/relationships/slideLayout" Target="/ppt/slideLayouts/slideLayout8.xml" Id="rId1" /></Relationships>
</file>

<file path=ppt/slides/_rels/slide10.xml.rels>&#65279;<?xml version="1.0" encoding="utf-8"?><Relationships xmlns="http://schemas.openxmlformats.org/package/2006/relationships"><Relationship Type="http://schemas.openxmlformats.org/officeDocument/2006/relationships/image" Target="/ppt/media/image8.png" Id="rId2" /><Relationship Type="http://schemas.openxmlformats.org/officeDocument/2006/relationships/slideLayout" Target="/ppt/slideLayouts/slideLayout8.xml" Id="rId1" /></Relationships>
</file>

<file path=ppt/slides/_rels/slide11.xml.rels>&#65279;<?xml version="1.0" encoding="utf-8"?><Relationships xmlns="http://schemas.openxmlformats.org/package/2006/relationships"><Relationship Type="http://schemas.openxmlformats.org/officeDocument/2006/relationships/image" Target="/ppt/media/image9.png" Id="rId2" /><Relationship Type="http://schemas.openxmlformats.org/officeDocument/2006/relationships/slideLayout" Target="/ppt/slideLayouts/slideLayout8.xml" Id="rI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14.xml.rels>&#65279;<?xml version="1.0" encoding="utf-8"?><Relationships xmlns="http://schemas.openxmlformats.org/package/2006/relationships"><Relationship Type="http://schemas.openxmlformats.org/officeDocument/2006/relationships/image" Target="/ppt/media/image10.png" Id="rId2" /><Relationship Type="http://schemas.openxmlformats.org/officeDocument/2006/relationships/slideLayout" Target="/ppt/slideLayouts/slideLayout8.xml" Id="rI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20.xml.rels>&#65279;<?xml version="1.0" encoding="utf-8"?><Relationships xmlns="http://schemas.openxmlformats.org/package/2006/relationships"><Relationship Type="http://schemas.openxmlformats.org/officeDocument/2006/relationships/image" Target="/ppt/media/image11.png" Id="rId2" /><Relationship Type="http://schemas.openxmlformats.org/officeDocument/2006/relationships/slideLayout" Target="/ppt/slideLayouts/slideLayout8.xml" Id="rId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24.xml.rels>&#65279;<?xml version="1.0" encoding="utf-8"?><Relationships xmlns="http://schemas.openxmlformats.org/package/2006/relationships"><Relationship Type="http://schemas.openxmlformats.org/officeDocument/2006/relationships/image" Target="/ppt/media/image12.png" Id="rId2" /><Relationship Type="http://schemas.openxmlformats.org/officeDocument/2006/relationships/slideLayout" Target="/ppt/slideLayouts/slideLayout8.xml" Id="rId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26.xml.rels>&#65279;<?xml version="1.0" encoding="utf-8"?><Relationships xmlns="http://schemas.openxmlformats.org/package/2006/relationships"><Relationship Type="http://schemas.openxmlformats.org/officeDocument/2006/relationships/image" Target="/ppt/media/image13.png" Id="rId2" /><Relationship Type="http://schemas.openxmlformats.org/officeDocument/2006/relationships/slideLayout" Target="/ppt/slideLayouts/slideLayout8.xml" Id="rI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43.xml.rels>&#65279;<?xml version="1.0" encoding="utf-8"?><Relationships xmlns="http://schemas.openxmlformats.org/package/2006/relationships"><Relationship Type="http://schemas.openxmlformats.org/officeDocument/2006/relationships/image" Target="/ppt/media/image14.png" Id="rId2" /><Relationship Type="http://schemas.openxmlformats.org/officeDocument/2006/relationships/slideLayout" Target="/ppt/slideLayouts/slideLayout8.xml" Id="rId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3.xml" Id="rId1" /></Relationships>
</file>

<file path=ppt/slides/_rels/slide48.xml.rels>&#65279;<?xml version="1.0" encoding="utf-8"?><Relationships xmlns="http://schemas.openxmlformats.org/package/2006/relationships"><Relationship Type="http://schemas.openxmlformats.org/officeDocument/2006/relationships/image" Target="/ppt/media/image15.png" Id="rId2" /><Relationship Type="http://schemas.openxmlformats.org/officeDocument/2006/relationships/slideLayout" Target="/ppt/slideLayouts/slideLayout8.xml" Id="rId1" /></Relationships>
</file>

<file path=ppt/slides/_rels/slide49.xml.rels>&#65279;<?xml version="1.0" encoding="utf-8"?><Relationships xmlns="http://schemas.openxmlformats.org/package/2006/relationships"><Relationship Type="http://schemas.openxmlformats.org/officeDocument/2006/relationships/image" Target="/ppt/media/image16.png" Id="rId2" /><Relationship Type="http://schemas.openxmlformats.org/officeDocument/2006/relationships/slideLayout" Target="/ppt/slideLayouts/slideLayout8.xml" Id="rId1" /></Relationships>
</file>

<file path=ppt/slides/_rels/slide50.xml.rels>&#65279;<?xml version="1.0" encoding="utf-8"?><Relationships xmlns="http://schemas.openxmlformats.org/package/2006/relationships"><Relationship Type="http://schemas.openxmlformats.org/officeDocument/2006/relationships/image" Target="/ppt/media/image17.png" Id="rId2" /><Relationship Type="http://schemas.openxmlformats.org/officeDocument/2006/relationships/slideLayout" Target="/ppt/slideLayouts/slideLayout8.xml" Id="rId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53.xml.rels>&#65279;<?xml version="1.0" encoding="utf-8"?><Relationships xmlns="http://schemas.openxmlformats.org/package/2006/relationships"><Relationship Type="http://schemas.openxmlformats.org/officeDocument/2006/relationships/image" Target="/ppt/media/image18.jpeg" Id="rId2" /><Relationship Type="http://schemas.openxmlformats.org/officeDocument/2006/relationships/slideLayout" Target="/ppt/slideLayouts/slideLayout8.xml" Id="rId1" /></Relationships>
</file>

<file path=ppt/slides/_rels/slide54.xml.rels>&#65279;<?xml version="1.0" encoding="utf-8"?><Relationships xmlns="http://schemas.openxmlformats.org/package/2006/relationships"><Relationship Type="http://schemas.openxmlformats.org/officeDocument/2006/relationships/image" Target="/ppt/media/image19.png" Id="rId2" /><Relationship Type="http://schemas.openxmlformats.org/officeDocument/2006/relationships/slideLayout" Target="/ppt/slideLayouts/slideLayout8.xml" Id="rId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4.xml" Id="rId1" /></Relationships>
</file>

<file path=ppt/slides/_rels/slide56.xml.rels>&#65279;<?xml version="1.0" encoding="utf-8"?><Relationships xmlns="http://schemas.openxmlformats.org/package/2006/relationships"><Relationship Type="http://schemas.openxmlformats.org/officeDocument/2006/relationships/image" Target="/ppt/media/image20.png" Id="rId2" /><Relationship Type="http://schemas.openxmlformats.org/officeDocument/2006/relationships/slideLayout" Target="/ppt/slideLayouts/slideLayout8.xml" Id="rId1" /></Relationships>
</file>

<file path=ppt/slides/_rels/slide57.xml.rels>&#65279;<?xml version="1.0" encoding="utf-8"?><Relationships xmlns="http://schemas.openxmlformats.org/package/2006/relationships"><Relationship Type="http://schemas.openxmlformats.org/officeDocument/2006/relationships/image" Target="/ppt/media/image21.png" Id="rId2" /><Relationship Type="http://schemas.openxmlformats.org/officeDocument/2006/relationships/slideLayout" Target="/ppt/slideLayouts/slideLayout8.xml" Id="rId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59.xml.rels>&#65279;<?xml version="1.0" encoding="utf-8"?><Relationships xmlns="http://schemas.openxmlformats.org/package/2006/relationships"><Relationship Type="http://schemas.openxmlformats.org/officeDocument/2006/relationships/image" Target="/ppt/media/image22.png" Id="rId2" /><Relationship Type="http://schemas.openxmlformats.org/officeDocument/2006/relationships/slideLayout" Target="/ppt/slideLayouts/slideLayout8.xml" Id="rId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61.xml.rels>&#65279;<?xml version="1.0" encoding="utf-8"?><Relationships xmlns="http://schemas.openxmlformats.org/package/2006/relationships"><Relationship Type="http://schemas.openxmlformats.org/officeDocument/2006/relationships/image" Target="/ppt/media/image23.png" Id="rId2" /><Relationship Type="http://schemas.openxmlformats.org/officeDocument/2006/relationships/slideLayout" Target="/ppt/slideLayouts/slideLayout8.xml" Id="rId1" /></Relationships>
</file>

<file path=ppt/slides/_rels/slide62.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63.xml.rels>&#65279;<?xml version="1.0" encoding="utf-8"?><Relationships xmlns="http://schemas.openxmlformats.org/package/2006/relationships"><Relationship Type="http://schemas.openxmlformats.org/officeDocument/2006/relationships/image" Target="/ppt/media/image24.png" Id="rId2" /><Relationship Type="http://schemas.openxmlformats.org/officeDocument/2006/relationships/slideLayout" Target="/ppt/slideLayouts/slideLayout8.xml" Id="rId1" /></Relationships>
</file>

<file path=ppt/slides/_rels/slide64.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66.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67.xml.rels>&#65279;<?xml version="1.0" encoding="utf-8"?><Relationships xmlns="http://schemas.openxmlformats.org/package/2006/relationships"><Relationship Type="http://schemas.openxmlformats.org/officeDocument/2006/relationships/image" Target="/ppt/media/image25.png" Id="rId2" /><Relationship Type="http://schemas.openxmlformats.org/officeDocument/2006/relationships/slideLayout" Target="/ppt/slideLayouts/slideLayout8.xml" Id="rId1" /></Relationships>
</file>

<file path=ppt/slides/_rels/slide68.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69.xml.rels>&#65279;<?xml version="1.0" encoding="utf-8"?><Relationships xmlns="http://schemas.openxmlformats.org/package/2006/relationships"><Relationship Type="http://schemas.openxmlformats.org/officeDocument/2006/relationships/image" Target="/ppt/media/image26.png" Id="rId2" /><Relationship Type="http://schemas.openxmlformats.org/officeDocument/2006/relationships/slideLayout" Target="/ppt/slideLayouts/slideLayout8.xml" Id="rId1" /></Relationships>
</file>

<file path=ppt/slides/_rels/slide70.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71.xml.rels>&#65279;<?xml version="1.0" encoding="utf-8"?><Relationships xmlns="http://schemas.openxmlformats.org/package/2006/relationships"><Relationship Type="http://schemas.openxmlformats.org/officeDocument/2006/relationships/image" Target="/ppt/media/image27.png" Id="rId2" /><Relationship Type="http://schemas.openxmlformats.org/officeDocument/2006/relationships/slideLayout" Target="/ppt/slideLayouts/slideLayout8.xml" Id="rId1" /></Relationships>
</file>

<file path=ppt/slides/_rels/slide72.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73.xml.rels>&#65279;<?xml version="1.0" encoding="utf-8"?><Relationships xmlns="http://schemas.openxmlformats.org/package/2006/relationships"><Relationship Type="http://schemas.openxmlformats.org/officeDocument/2006/relationships/image" Target="/ppt/media/image28.png" Id="rId2" /><Relationship Type="http://schemas.openxmlformats.org/officeDocument/2006/relationships/slideLayout" Target="/ppt/slideLayouts/slideLayout8.xml" Id="rId1" /></Relationships>
</file>

<file path=ppt/slides/_rels/slide74.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75.xml.rels>&#65279;<?xml version="1.0" encoding="utf-8"?><Relationships xmlns="http://schemas.openxmlformats.org/package/2006/relationships"><Relationship Type="http://schemas.openxmlformats.org/officeDocument/2006/relationships/image" Target="/ppt/media/image29.png" Id="rId2" /><Relationship Type="http://schemas.openxmlformats.org/officeDocument/2006/relationships/slideLayout" Target="/ppt/slideLayouts/slideLayout8.xml" Id="rId1" /></Relationships>
</file>

<file path=ppt/slides/_rels/slide76.xml.rels>&#65279;<?xml version="1.0" encoding="utf-8"?><Relationships xmlns="http://schemas.openxmlformats.org/package/2006/relationships"><Relationship Type="http://schemas.openxmlformats.org/officeDocument/2006/relationships/image" Target="/ppt/media/image30.png" Id="rId2" /><Relationship Type="http://schemas.openxmlformats.org/officeDocument/2006/relationships/slideLayout" Target="/ppt/slideLayouts/slideLayout8.xml" Id="rId1" /></Relationships>
</file>

<file path=ppt/slides/_rels/slide77.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78.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79.xml.rels>&#65279;<?xml version="1.0" encoding="utf-8"?><Relationships xmlns="http://schemas.openxmlformats.org/package/2006/relationships"><Relationship Type="http://schemas.openxmlformats.org/officeDocument/2006/relationships/image" Target="/ppt/media/image31.png" Id="rId2" /><Relationship Type="http://schemas.openxmlformats.org/officeDocument/2006/relationships/slideLayout" Target="/ppt/slideLayouts/slideLayout8.xml" Id="rId1"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4.xml" Id="rId1" /></Relationships>
</file>

<file path=ppt/slides/_rels/slide81.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82.xml.rels>&#65279;<?xml version="1.0" encoding="utf-8"?><Relationships xmlns="http://schemas.openxmlformats.org/package/2006/relationships"><Relationship Type="http://schemas.openxmlformats.org/officeDocument/2006/relationships/image" Target="/ppt/media/image32.png" Id="rId2" /><Relationship Type="http://schemas.openxmlformats.org/officeDocument/2006/relationships/slideLayout" Target="/ppt/slideLayouts/slideLayout8.xml" Id="rId1" /></Relationships>
</file>

<file path=ppt/slides/_rels/slide83.xml.rels>&#65279;<?xml version="1.0" encoding="utf-8"?><Relationships xmlns="http://schemas.openxmlformats.org/package/2006/relationships"><Relationship Type="http://schemas.openxmlformats.org/officeDocument/2006/relationships/image" Target="/ppt/media/image33.png" Id="rId2" /><Relationship Type="http://schemas.openxmlformats.org/officeDocument/2006/relationships/slideLayout" Target="/ppt/slideLayouts/slideLayout8.xml" Id="rId1" /></Relationships>
</file>

<file path=ppt/slides/_rels/slide84.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85.xml.rels>&#65279;<?xml version="1.0" encoding="utf-8"?><Relationships xmlns="http://schemas.openxmlformats.org/package/2006/relationships"><Relationship Type="http://schemas.openxmlformats.org/officeDocument/2006/relationships/image" Target="/ppt/media/image34.png" Id="rId2" /><Relationship Type="http://schemas.openxmlformats.org/officeDocument/2006/relationships/slideLayout" Target="/ppt/slideLayouts/slideLayout8.xml" Id="rId1" /></Relationships>
</file>

<file path=ppt/slides/_rels/slide86.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87.xml.rels>&#65279;<?xml version="1.0" encoding="utf-8"?><Relationships xmlns="http://schemas.openxmlformats.org/package/2006/relationships"><Relationship Type="http://schemas.openxmlformats.org/officeDocument/2006/relationships/image" Target="/ppt/media/image35.png" Id="rId2" /><Relationship Type="http://schemas.openxmlformats.org/officeDocument/2006/relationships/slideLayout" Target="/ppt/slideLayouts/slideLayout8.xml" Id="rId1" /></Relationships>
</file>

<file path=ppt/slides/_rels/slide88.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89.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90.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91.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92.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93.xml.rels>&#65279;<?xml version="1.0" encoding="utf-8"?><Relationships xmlns="http://schemas.openxmlformats.org/package/2006/relationships"><Relationship Type="http://schemas.openxmlformats.org/officeDocument/2006/relationships/image" Target="/ppt/media/image36.png" Id="rId2" /><Relationship Type="http://schemas.openxmlformats.org/officeDocument/2006/relationships/slideLayout" Target="/ppt/slideLayouts/slideLayout8.xml" Id="rId1" /></Relationships>
</file>

<file path=ppt/slides/_rels/slide94.xml.rels>&#65279;<?xml version="1.0" encoding="utf-8"?><Relationships xmlns="http://schemas.openxmlformats.org/package/2006/relationships"><Relationship Type="http://schemas.openxmlformats.org/officeDocument/2006/relationships/slideLayout" Target="/ppt/slideLayouts/slideLayout8.xml" Id="rId1" /></Relationships>
</file>

<file path=ppt/slides/_rels/slide95.xml.rels>&#65279;<?xml version="1.0" encoding="utf-8"?><Relationships xmlns="http://schemas.openxmlformats.org/package/2006/relationships"><Relationship Type="http://schemas.openxmlformats.org/officeDocument/2006/relationships/slideLayout" Target="/ppt/slideLayouts/slideLayout8.xml" Id="rId1"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
        <p:cNvGrpSpPr/>
        <p:nvPr/>
      </p:nvGrpSpPr>
      <p:grpSpPr>
        <a:xfrm>
          <a:off x="0" y="0"/>
          <a:ext cx="0" cy="0"/>
          <a:chOff x="0" y="0"/>
          <a:chExt cx="0" cy="0"/>
        </a:xfrm>
      </p:grpSpPr>
      <p:sp>
        <p:nvSpPr>
          <p:cNvPr id="80" name="Google Shape;80;p14"/>
          <p:cNvSpPr txBox="1"/>
          <p:nvPr/>
        </p:nvSpPr>
        <p:spPr>
          <a:xfrm>
            <a:off x="617550" y="2313225"/>
            <a:ext cx="5170800" cy="127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800">
              <a:latin typeface="IBM Plex Sans Condensed"/>
              <a:ea typeface="IBM Plex Sans Condensed"/>
              <a:cs typeface="IBM Plex Sans Condensed"/>
              <a:sym typeface="IBM Plex Sans Condensed"/>
            </a:endParaRPr>
          </a:p>
        </p:txBody>
      </p:sp>
      <p:sp>
        <p:nvSpPr>
          <p:cNvPr id="5" name="TextBox 4">
            <a:extLst>
              <a:ext uri="{FF2B5EF4-FFF2-40B4-BE49-F238E27FC236}">
                <a16:creationId xmlns:a16="http://schemas.microsoft.com/office/drawing/2014/main" id="{F754DBE0-02A0-C9DB-5113-2EC73A9E52A8}"/>
              </a:ext>
            </a:extLst>
          </p:cNvPr>
          <p:cNvSpPr txBox="1"/>
          <p:nvPr/>
        </p:nvSpPr>
        <p:spPr>
          <a:xfrm>
            <a:off x="390418" y="1931542"/>
            <a:ext cx="11496782" cy="3262432"/>
          </a:xfrm>
          <a:prstGeom prst="rect">
            <a:avLst/>
          </a:prstGeom>
          <a:noFill/>
        </p:spPr>
        <p:txBody>
          <a:bodyPr wrap="square" rtlCol="0">
            <a:spAutoFit/>
          </a:bodyPr>
          <a:lstStyle/>
          <a:p>
            <a:pPr algn="ctr"/>
            <a:r>
              <a:rPr kumimoji="0" lang="en-US" sz="4800" b="1" i="0" u="none" strike="noStrike" kern="0" cap="none" spc="0" normalizeH="0" baseline="0" noProof="0" dirty="0">
                <a:ln>
                  <a:noFill/>
                </a:ln>
                <a:solidFill>
                  <a:srgbClr val="000000"/>
                </a:solidFill>
                <a:effectLst/>
                <a:uLnTx/>
                <a:uFillTx/>
                <a:latin typeface="IBM Plex Sans Condensed"/>
                <a:sym typeface="IBM Plex Sans Condensed"/>
              </a:rPr>
              <a:t>ADS336 Design Thinking</a:t>
            </a:r>
            <a:br>
              <a:rPr kumimoji="0" lang="en-US" sz="4800" b="1" i="0" u="none" strike="noStrike" kern="0" cap="none" spc="0" normalizeH="0" baseline="0" noProof="0" dirty="0">
                <a:ln>
                  <a:noFill/>
                </a:ln>
                <a:solidFill>
                  <a:srgbClr val="000000"/>
                </a:solidFill>
                <a:effectLst/>
                <a:uLnTx/>
                <a:uFillTx/>
                <a:latin typeface="IBM Plex Sans Condensed"/>
                <a:sym typeface="IBM Plex Sans Condensed"/>
              </a:rPr>
            </a:br>
            <a:r>
              <a:rPr kumimoji="0" lang="en-US" sz="4800" b="1" i="0" u="none" strike="noStrike" kern="0" cap="none" spc="0" normalizeH="0" baseline="0" noProof="0" dirty="0">
                <a:ln>
                  <a:noFill/>
                </a:ln>
                <a:solidFill>
                  <a:srgbClr val="000000"/>
                </a:solidFill>
                <a:effectLst/>
                <a:uLnTx/>
                <a:uFillTx/>
                <a:latin typeface="IBM Plex Sans Condensed"/>
                <a:sym typeface="IBM Plex Sans Condensed"/>
              </a:rPr>
              <a:t>UNIT-4a</a:t>
            </a:r>
          </a:p>
          <a:p>
            <a:pPr algn="ctr"/>
            <a:endParaRPr lang="en-US" sz="4800" b="1" dirty="0">
              <a:latin typeface="IBM Plex Sans Condensed"/>
              <a:sym typeface="IBM Plex Sans Condensed"/>
            </a:endParaRPr>
          </a:p>
          <a:p>
            <a:pPr algn="ctr"/>
            <a:r>
              <a:rPr kumimoji="0" lang="en-US" sz="3200" b="1" i="0" u="none" strike="noStrike" kern="0" cap="none" spc="0" normalizeH="0" baseline="0" noProof="0" dirty="0">
                <a:ln>
                  <a:noFill/>
                </a:ln>
                <a:solidFill>
                  <a:srgbClr val="000000"/>
                </a:solidFill>
                <a:effectLst/>
                <a:uLnTx/>
                <a:uFillTx/>
                <a:latin typeface="IBM Plex Sans Condensed"/>
                <a:sym typeface="IBM Plex Sans Condensed"/>
              </a:rPr>
              <a:t>Academic Year: 2026-2027[ODD]</a:t>
            </a:r>
            <a:br>
              <a:rPr kumimoji="0" lang="en-US" sz="3200" b="1" i="0" u="none" strike="noStrike" kern="0" cap="none" spc="0" normalizeH="0" baseline="0" noProof="0" dirty="0">
                <a:ln>
                  <a:noFill/>
                </a:ln>
                <a:solidFill>
                  <a:srgbClr val="000000"/>
                </a:solidFill>
                <a:effectLst/>
                <a:uLnTx/>
                <a:uFillTx/>
                <a:latin typeface="IBM Plex Sans Condensed"/>
                <a:sym typeface="IBM Plex Sans Condensed"/>
              </a:rPr>
            </a:br>
            <a:endParaRPr lang="en-IN"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1B4F8-0D6B-75C8-3649-BAFD78B2C56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F789FEF-44F0-8876-1011-EBB2C04DA72C}"/>
              </a:ext>
            </a:extLst>
          </p:cNvPr>
          <p:cNvSpPr>
            <a:spLocks noGrp="1"/>
          </p:cNvSpPr>
          <p:nvPr>
            <p:ph type="body" idx="1"/>
          </p:nvPr>
        </p:nvSpPr>
        <p:spPr>
          <a:xfrm>
            <a:off x="697127" y="410967"/>
            <a:ext cx="10797745" cy="5856269"/>
          </a:xfrm>
        </p:spPr>
        <p:txBody>
          <a:bodyPr/>
          <a:lstStyle/>
          <a:p>
            <a:pPr marL="50800" indent="0">
              <a:spcAft>
                <a:spcPts val="1200"/>
              </a:spcAft>
              <a:buNone/>
            </a:pPr>
            <a:r>
              <a:rPr lang="en-US" sz="3200" b="1" dirty="0">
                <a:latin typeface="Times New Roman" panose="02020603050405020304" pitchFamily="18" charset="0"/>
                <a:cs typeface="Times New Roman" panose="02020603050405020304" pitchFamily="18" charset="0"/>
              </a:rPr>
              <a:t>UNIT-4: </a:t>
            </a:r>
            <a:r>
              <a:rPr lang="en-IN" sz="3200" b="1" dirty="0">
                <a:effectLst/>
                <a:latin typeface="Book Antiqua" panose="02040602050305030304" pitchFamily="18" charset="0"/>
                <a:ea typeface="Book Antiqua" panose="02040602050305030304" pitchFamily="18" charset="0"/>
                <a:cs typeface="Book Antiqua" panose="02040602050305030304" pitchFamily="18" charset="0"/>
              </a:rPr>
              <a:t>Prototype &amp; Test – Iterative Design</a:t>
            </a:r>
            <a:endParaRPr lang="en-US" sz="3200" b="1" dirty="0">
              <a:latin typeface="Times New Roman" panose="02020603050405020304" pitchFamily="18" charset="0"/>
              <a:cs typeface="Times New Roman" panose="02020603050405020304" pitchFamily="18" charset="0"/>
            </a:endParaRPr>
          </a:p>
          <a:p>
            <a:pPr algn="l">
              <a:lnSpc>
                <a:spcPct val="115000"/>
              </a:lnSpc>
              <a:spcAft>
                <a:spcPts val="800"/>
              </a:spcAft>
              <a:buNone/>
            </a:pPr>
            <a:r>
              <a:rPr lang="en-IN" sz="2800" b="1" i="1" kern="100" dirty="0">
                <a:effectLst/>
                <a:latin typeface="Times New Roman" panose="02020603050405020304" pitchFamily="18" charset="0"/>
                <a:ea typeface="Book Antiqua" panose="02040602050305030304" pitchFamily="18" charset="0"/>
                <a:cs typeface="Times New Roman" panose="02020603050405020304" pitchFamily="18" charset="0"/>
              </a:rPr>
              <a:t>Syllabus</a:t>
            </a:r>
          </a:p>
          <a:p>
            <a:pPr marL="50800" indent="0" algn="just">
              <a:lnSpc>
                <a:spcPct val="115000"/>
              </a:lnSpc>
              <a:spcAft>
                <a:spcPts val="800"/>
              </a:spcAft>
              <a:buNone/>
            </a:pPr>
            <a:r>
              <a:rPr lang="en-IN" sz="2800" b="1" dirty="0">
                <a:effectLst/>
                <a:latin typeface="Times New Roman" panose="02020603050405020304" pitchFamily="18" charset="0"/>
                <a:ea typeface="Book Antiqua" panose="02040602050305030304" pitchFamily="18" charset="0"/>
                <a:cs typeface="Times New Roman" panose="02020603050405020304" pitchFamily="18" charset="0"/>
              </a:rPr>
              <a:t>Creating prototypes </a:t>
            </a:r>
            <a:r>
              <a:rPr lang="en-IN" sz="2800" dirty="0">
                <a:effectLst/>
                <a:latin typeface="Times New Roman" panose="02020603050405020304" pitchFamily="18" charset="0"/>
                <a:ea typeface="Book Antiqua" panose="02040602050305030304" pitchFamily="18" charset="0"/>
                <a:cs typeface="Times New Roman" panose="02020603050405020304" pitchFamily="18" charset="0"/>
              </a:rPr>
              <a:t>to visualize and communicate solutions.</a:t>
            </a:r>
          </a:p>
          <a:p>
            <a:pPr marL="50800" indent="0" algn="just">
              <a:lnSpc>
                <a:spcPct val="115000"/>
              </a:lnSpc>
              <a:spcAft>
                <a:spcPts val="800"/>
              </a:spcAft>
              <a:buNone/>
            </a:pPr>
            <a:r>
              <a:rPr lang="en-IN" sz="2800" b="1" dirty="0">
                <a:effectLst/>
                <a:latin typeface="Times New Roman" panose="02020603050405020304" pitchFamily="18" charset="0"/>
                <a:ea typeface="Book Antiqua" panose="02040602050305030304" pitchFamily="18" charset="0"/>
                <a:cs typeface="Times New Roman" panose="02020603050405020304" pitchFamily="18" charset="0"/>
              </a:rPr>
              <a:t>Iterative design process</a:t>
            </a:r>
            <a:r>
              <a:rPr lang="en-IN" sz="2800" dirty="0">
                <a:effectLst/>
                <a:latin typeface="Times New Roman" panose="02020603050405020304" pitchFamily="18" charset="0"/>
                <a:ea typeface="Book Antiqua" panose="02040602050305030304" pitchFamily="18" charset="0"/>
                <a:cs typeface="Times New Roman" panose="02020603050405020304" pitchFamily="18" charset="0"/>
              </a:rPr>
              <a:t>: Testing, feedback, and refinement. </a:t>
            </a:r>
          </a:p>
          <a:p>
            <a:pPr marL="50800" indent="0" algn="just">
              <a:lnSpc>
                <a:spcPct val="115000"/>
              </a:lnSpc>
              <a:spcAft>
                <a:spcPts val="800"/>
              </a:spcAft>
              <a:buNone/>
            </a:pPr>
            <a:r>
              <a:rPr lang="en-IN" sz="2800" b="1" dirty="0">
                <a:effectLst/>
                <a:latin typeface="Times New Roman" panose="02020603050405020304" pitchFamily="18" charset="0"/>
                <a:ea typeface="Book Antiqua" panose="02040602050305030304" pitchFamily="18" charset="0"/>
                <a:cs typeface="Times New Roman" panose="02020603050405020304" pitchFamily="18" charset="0"/>
              </a:rPr>
              <a:t>Rapid prototyping techniques</a:t>
            </a:r>
            <a:r>
              <a:rPr lang="en-IN" sz="2800" dirty="0">
                <a:effectLst/>
                <a:latin typeface="Times New Roman" panose="02020603050405020304" pitchFamily="18" charset="0"/>
                <a:ea typeface="Book Antiqua" panose="02040602050305030304" pitchFamily="18" charset="0"/>
                <a:cs typeface="Times New Roman" panose="02020603050405020304" pitchFamily="18" charset="0"/>
              </a:rPr>
              <a:t>: Paper prototypes, digital mock-ups, and wireframes. </a:t>
            </a:r>
          </a:p>
          <a:p>
            <a:pPr marL="50800" indent="0" algn="just">
              <a:lnSpc>
                <a:spcPct val="115000"/>
              </a:lnSpc>
              <a:spcAft>
                <a:spcPts val="800"/>
              </a:spcAft>
              <a:buNone/>
            </a:pPr>
            <a:r>
              <a:rPr lang="en-IN" sz="2800" b="1" dirty="0">
                <a:effectLst/>
                <a:latin typeface="Times New Roman" panose="02020603050405020304" pitchFamily="18" charset="0"/>
                <a:ea typeface="Book Antiqua" panose="02040602050305030304" pitchFamily="18" charset="0"/>
                <a:cs typeface="Times New Roman" panose="02020603050405020304" pitchFamily="18" charset="0"/>
              </a:rPr>
              <a:t>Conducting user testing and incorporating feedback </a:t>
            </a:r>
            <a:r>
              <a:rPr lang="en-IN" sz="2800" dirty="0">
                <a:effectLst/>
                <a:latin typeface="Times New Roman" panose="02020603050405020304" pitchFamily="18" charset="0"/>
                <a:ea typeface="Book Antiqua" panose="02040602050305030304" pitchFamily="18" charset="0"/>
                <a:cs typeface="Times New Roman" panose="02020603050405020304" pitchFamily="18" charset="0"/>
              </a:rPr>
              <a:t>for design improvement.</a:t>
            </a:r>
            <a:endParaRPr lang="en-US" kern="100" dirty="0">
              <a:effectLst/>
              <a:latin typeface="Times New Roman" panose="02020603050405020304" pitchFamily="18" charset="0"/>
              <a:ea typeface="Book Antiqua" panose="02040602050305030304" pitchFamily="18" charset="0"/>
              <a:cs typeface="Times New Roman" panose="02020603050405020304" pitchFamily="18" charset="0"/>
            </a:endParaRPr>
          </a:p>
          <a:p>
            <a:pPr algn="l">
              <a:lnSpc>
                <a:spcPct val="115000"/>
              </a:lnSpc>
              <a:spcAft>
                <a:spcPts val="800"/>
              </a:spcAft>
              <a:buNone/>
            </a:pPr>
            <a:endParaRPr lang="en-US" dirty="0"/>
          </a:p>
        </p:txBody>
      </p:sp>
      <p:sp>
        <p:nvSpPr>
          <p:cNvPr id="4" name="Slide Number Placeholder 3">
            <a:extLst>
              <a:ext uri="{FF2B5EF4-FFF2-40B4-BE49-F238E27FC236}">
                <a16:creationId xmlns:a16="http://schemas.microsoft.com/office/drawing/2014/main" id="{D61B28B9-2DB5-6AB3-656A-39231579516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a:t>
            </a:fld>
            <a:endParaRPr lang="en-GB"/>
          </a:p>
        </p:txBody>
      </p:sp>
    </p:spTree>
    <p:extLst>
      <p:ext uri="{BB962C8B-B14F-4D97-AF65-F5344CB8AC3E}">
        <p14:creationId xmlns:p14="http://schemas.microsoft.com/office/powerpoint/2010/main" val="1533600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6064D-7558-D4B7-EAE5-84CAD8F8EABC}"/>
              </a:ext>
            </a:extLst>
          </p:cNvPr>
          <p:cNvSpPr>
            <a:spLocks noGrp="1"/>
          </p:cNvSpPr>
          <p:nvPr>
            <p:ph type="title"/>
          </p:nvPr>
        </p:nvSpPr>
        <p:spPr>
          <a:xfrm>
            <a:off x="415600" y="276010"/>
            <a:ext cx="11360700" cy="763500"/>
          </a:xfrm>
        </p:spPr>
        <p:txBody>
          <a:bodyPr/>
          <a:lstStyle/>
          <a:p>
            <a:pPr marL="50800" marR="0" lvl="0" defTabSz="914400" rtl="0" eaLnBrk="1" fontAlgn="auto" latinLnBrk="0" hangingPunct="1">
              <a:lnSpc>
                <a:spcPct val="100000"/>
              </a:lnSpc>
              <a:spcBef>
                <a:spcPts val="0"/>
              </a:spcBef>
              <a:spcAft>
                <a:spcPts val="0"/>
              </a:spcAft>
              <a:buClr>
                <a:srgbClr val="0066FF"/>
              </a:buClr>
              <a:tabLst/>
              <a:defRPr/>
            </a:pPr>
            <a:r>
              <a:rPr kumimoji="0" lang="en-US" sz="2800" b="1" i="0" u="none" strike="noStrike" kern="100" cap="none" spc="0" normalizeH="0" baseline="0" noProof="0" dirty="0">
                <a:ln>
                  <a:noFill/>
                </a:ln>
                <a:solidFill>
                  <a:srgbClr val="0066FF"/>
                </a:solidFill>
                <a:effectLst/>
                <a:uLnTx/>
                <a:uFillTx/>
                <a:latin typeface="Times New Roman" panose="02020603050405020304" pitchFamily="18" charset="0"/>
                <a:ea typeface="Book Antiqua" panose="02040602050305030304" pitchFamily="18" charset="0"/>
                <a:cs typeface="Times New Roman" panose="02020603050405020304" pitchFamily="18" charset="0"/>
                <a:sym typeface="IBM Plex Sans Condensed"/>
              </a:rPr>
              <a:t>I.</a:t>
            </a:r>
            <a:r>
              <a:rPr kumimoji="0" lang="en-US" sz="2800" b="1" i="0" u="none" strike="noStrike" kern="100" cap="none" spc="0" normalizeH="0" baseline="0" noProof="0" dirty="0">
                <a:ln>
                  <a:noFill/>
                </a:ln>
                <a:solidFill>
                  <a:srgbClr val="FF00FF"/>
                </a:solidFill>
                <a:effectLst/>
                <a:uLnTx/>
                <a:uFillTx/>
                <a:latin typeface="Times New Roman" panose="02020603050405020304" pitchFamily="18" charset="0"/>
                <a:ea typeface="Book Antiqua" panose="02040602050305030304" pitchFamily="18" charset="0"/>
                <a:cs typeface="Times New Roman" panose="02020603050405020304" pitchFamily="18" charset="0"/>
                <a:sym typeface="IBM Plex Sans Condensed"/>
              </a:rPr>
              <a:t> </a:t>
            </a:r>
            <a:r>
              <a:rPr kumimoji="0" lang="en-IN" sz="2800" i="0" u="none" strike="noStrike" kern="0" cap="none" spc="0" normalizeH="0" baseline="0" noProof="0" dirty="0">
                <a:ln>
                  <a:noFill/>
                </a:ln>
                <a:solidFill>
                  <a:srgbClr val="FF00FF"/>
                </a:solidFill>
                <a:effectLst/>
                <a:uLnTx/>
                <a:uFillTx/>
                <a:latin typeface="Times New Roman" panose="02020603050405020304" pitchFamily="18" charset="0"/>
                <a:ea typeface="Book Antiqua" panose="02040602050305030304" pitchFamily="18" charset="0"/>
                <a:cs typeface="Times New Roman" panose="02020603050405020304" pitchFamily="18" charset="0"/>
                <a:sym typeface="IBM Plex Sans Condensed"/>
              </a:rPr>
              <a:t>Creating prototypes to visualize and communicate solutions</a:t>
            </a:r>
            <a:br>
              <a:rPr kumimoji="0" lang="en-US" sz="2800" b="1" i="0" u="none" strike="noStrike" kern="0" cap="none" spc="0" normalizeH="0" baseline="0" noProof="0" dirty="0">
                <a:ln>
                  <a:noFill/>
                </a:ln>
                <a:solidFill>
                  <a:srgbClr val="000000"/>
                </a:solidFill>
                <a:effectLst/>
                <a:uLnTx/>
                <a:uFillTx/>
                <a:latin typeface="IBM Plex Sans Condensed"/>
                <a:sym typeface="IBM Plex Sans Condensed"/>
              </a:rPr>
            </a:br>
            <a:endParaRPr lang="en-IN" dirty="0"/>
          </a:p>
        </p:txBody>
      </p:sp>
      <p:sp>
        <p:nvSpPr>
          <p:cNvPr id="3" name="Text Placeholder 2">
            <a:extLst>
              <a:ext uri="{FF2B5EF4-FFF2-40B4-BE49-F238E27FC236}">
                <a16:creationId xmlns:a16="http://schemas.microsoft.com/office/drawing/2014/main" id="{50F8068C-28C7-D2AD-9F33-BD72834BB070}"/>
              </a:ext>
            </a:extLst>
          </p:cNvPr>
          <p:cNvSpPr>
            <a:spLocks noGrp="1"/>
          </p:cNvSpPr>
          <p:nvPr>
            <p:ph type="body" idx="1"/>
          </p:nvPr>
        </p:nvSpPr>
        <p:spPr>
          <a:xfrm>
            <a:off x="509207" y="1114470"/>
            <a:ext cx="5434393" cy="5110966"/>
          </a:xfrm>
        </p:spPr>
        <p:txBody>
          <a:bodyPr/>
          <a:lstStyle/>
          <a:p>
            <a:pPr algn="just">
              <a:buSzPct val="80000"/>
            </a:pPr>
            <a:r>
              <a:rPr lang="en-US" sz="2400" b="0" i="0" dirty="0">
                <a:solidFill>
                  <a:srgbClr val="212529"/>
                </a:solidFill>
                <a:effectLst/>
                <a:latin typeface="Times New Roman" panose="02020603050405020304" pitchFamily="18" charset="0"/>
                <a:cs typeface="Times New Roman" panose="02020603050405020304" pitchFamily="18" charset="0"/>
              </a:rPr>
              <a:t>A </a:t>
            </a:r>
            <a:r>
              <a:rPr lang="en-US" sz="2400" b="1" i="0" dirty="0">
                <a:solidFill>
                  <a:srgbClr val="C00000"/>
                </a:solidFill>
                <a:effectLst/>
                <a:latin typeface="Times New Roman" panose="02020603050405020304" pitchFamily="18" charset="0"/>
                <a:cs typeface="Times New Roman" panose="02020603050405020304" pitchFamily="18" charset="0"/>
              </a:rPr>
              <a:t>prototype</a:t>
            </a:r>
            <a:r>
              <a:rPr lang="en-US" sz="2400" b="0" i="0" dirty="0">
                <a:solidFill>
                  <a:srgbClr val="212529"/>
                </a:solidFill>
                <a:effectLst/>
                <a:latin typeface="Times New Roman" panose="02020603050405020304" pitchFamily="18" charset="0"/>
                <a:cs typeface="Times New Roman" panose="02020603050405020304" pitchFamily="18" charset="0"/>
              </a:rPr>
              <a:t> is an early representation of a solution that helps designers visualize ideas, test assumptions, communicate concepts, and collect feedback before developing the final product.</a:t>
            </a:r>
          </a:p>
          <a:p>
            <a:pPr marL="50800" indent="0" algn="just">
              <a:buSzPct val="80000"/>
              <a:buNone/>
            </a:pPr>
            <a:endParaRPr lang="en-US" sz="2400" b="0" i="0" dirty="0">
              <a:solidFill>
                <a:srgbClr val="212529"/>
              </a:solidFill>
              <a:effectLst/>
              <a:latin typeface="Times New Roman" panose="02020603050405020304" pitchFamily="18" charset="0"/>
              <a:cs typeface="Times New Roman" panose="02020603050405020304" pitchFamily="18" charset="0"/>
            </a:endParaRPr>
          </a:p>
          <a:p>
            <a:pPr algn="just">
              <a:buSzPct val="80000"/>
            </a:pPr>
            <a:r>
              <a:rPr lang="en-US" sz="2400" b="0" i="0" dirty="0">
                <a:solidFill>
                  <a:srgbClr val="212529"/>
                </a:solidFill>
                <a:effectLst/>
                <a:latin typeface="Times New Roman" panose="02020603050405020304" pitchFamily="18" charset="0"/>
                <a:cs typeface="Times New Roman" panose="02020603050405020304" pitchFamily="18" charset="0"/>
              </a:rPr>
              <a:t>In Design Thinking, prototyping transforms an abstract idea into something that people can see, touch, experience, or interact with.</a:t>
            </a:r>
          </a:p>
        </p:txBody>
      </p:sp>
      <p:sp>
        <p:nvSpPr>
          <p:cNvPr id="4" name="Slide Number Placeholder 3">
            <a:extLst>
              <a:ext uri="{FF2B5EF4-FFF2-40B4-BE49-F238E27FC236}">
                <a16:creationId xmlns:a16="http://schemas.microsoft.com/office/drawing/2014/main" id="{63259E53-EAC7-B352-0F18-7E50D7BC6B5D}"/>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GB" sz="1200" b="0" i="0" u="none" strike="noStrike" kern="0" cap="none" spc="0" normalizeH="0" baseline="0" noProof="0" smtClean="0">
                <a:ln>
                  <a:noFill/>
                </a:ln>
                <a:solidFill>
                  <a:srgbClr val="FFFFFF"/>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a:t>
            </a:fld>
            <a:endParaRPr kumimoji="0" lang="en-GB" sz="1200" b="0" i="0" u="none" strike="noStrike" kern="0" cap="none" spc="0" normalizeH="0" baseline="0" noProof="0">
              <a:ln>
                <a:noFill/>
              </a:ln>
              <a:solidFill>
                <a:srgbClr val="FFFFFF"/>
              </a:solidFill>
              <a:effectLst/>
              <a:uLnTx/>
              <a:uFillTx/>
              <a:latin typeface="Arial"/>
              <a:cs typeface="Arial"/>
              <a:sym typeface="Arial"/>
            </a:endParaRPr>
          </a:p>
        </p:txBody>
      </p:sp>
      <p:cxnSp>
        <p:nvCxnSpPr>
          <p:cNvPr id="5" name="Straight Connector 4">
            <a:extLst>
              <a:ext uri="{FF2B5EF4-FFF2-40B4-BE49-F238E27FC236}">
                <a16:creationId xmlns:a16="http://schemas.microsoft.com/office/drawing/2014/main" id="{3AB9DB15-9C87-8EEF-FE4F-64A7C8E73994}"/>
              </a:ext>
            </a:extLst>
          </p:cNvPr>
          <p:cNvCxnSpPr/>
          <p:nvPr/>
        </p:nvCxnSpPr>
        <p:spPr>
          <a:xfrm>
            <a:off x="302584" y="873517"/>
            <a:ext cx="11473716" cy="0"/>
          </a:xfrm>
          <a:prstGeom prst="line">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6" name="AutoShape 2" descr="Idea to New Prototype Flowchart">
            <a:extLst>
              <a:ext uri="{FF2B5EF4-FFF2-40B4-BE49-F238E27FC236}">
                <a16:creationId xmlns:a16="http://schemas.microsoft.com/office/drawing/2014/main" id="{6D4A7E2B-A2C8-14EB-1103-5DD3C165E46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6C89D31C-E420-D9CB-2C69-F0258F0BBF56}"/>
              </a:ext>
            </a:extLst>
          </p:cNvPr>
          <p:cNvPicPr>
            <a:picLocks noChangeAspect="1"/>
          </p:cNvPicPr>
          <p:nvPr/>
        </p:nvPicPr>
        <p:blipFill>
          <a:blip r:embed="rId2"/>
          <a:stretch>
            <a:fillRect/>
          </a:stretch>
        </p:blipFill>
        <p:spPr>
          <a:xfrm>
            <a:off x="6551489" y="944865"/>
            <a:ext cx="4383640" cy="5334555"/>
          </a:xfrm>
          <a:prstGeom prst="rect">
            <a:avLst/>
          </a:prstGeom>
        </p:spPr>
      </p:pic>
      <p:sp>
        <p:nvSpPr>
          <p:cNvPr id="9" name="TextBox 8">
            <a:extLst>
              <a:ext uri="{FF2B5EF4-FFF2-40B4-BE49-F238E27FC236}">
                <a16:creationId xmlns:a16="http://schemas.microsoft.com/office/drawing/2014/main" id="{8EA23A8D-3CCB-8F68-7562-4491A1558D74}"/>
              </a:ext>
            </a:extLst>
          </p:cNvPr>
          <p:cNvSpPr txBox="1"/>
          <p:nvPr/>
        </p:nvSpPr>
        <p:spPr>
          <a:xfrm>
            <a:off x="9936398" y="944865"/>
            <a:ext cx="2207231" cy="461665"/>
          </a:xfrm>
          <a:prstGeom prst="rect">
            <a:avLst/>
          </a:prstGeom>
          <a:noFill/>
        </p:spPr>
        <p:txBody>
          <a:bodyPr wrap="square">
            <a:spAutoFit/>
          </a:bodyPr>
          <a:lstStyle/>
          <a:p>
            <a:pPr marL="50800" marR="0" lvl="0" indent="0" algn="just" defTabSz="914400" rtl="0" eaLnBrk="1" fontAlgn="auto" latinLnBrk="0" hangingPunct="1">
              <a:lnSpc>
                <a:spcPct val="100000"/>
              </a:lnSpc>
              <a:spcBef>
                <a:spcPts val="0"/>
              </a:spcBef>
              <a:spcAft>
                <a:spcPts val="0"/>
              </a:spcAft>
              <a:buClr>
                <a:srgbClr val="000000"/>
              </a:buClr>
              <a:buSzPct val="80000"/>
              <a:buFont typeface="IBM Plex Sans Condensed"/>
              <a:buNone/>
              <a:tabLst/>
              <a:defRPr/>
            </a:pP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Basic Idea</a:t>
            </a:r>
          </a:p>
        </p:txBody>
      </p:sp>
    </p:spTree>
    <p:extLst>
      <p:ext uri="{BB962C8B-B14F-4D97-AF65-F5344CB8AC3E}">
        <p14:creationId xmlns:p14="http://schemas.microsoft.com/office/powerpoint/2010/main" val="3763873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F12A945-980E-BF99-794E-F6FC0EB01C3B}"/>
              </a:ext>
            </a:extLst>
          </p:cNvPr>
          <p:cNvSpPr>
            <a:spLocks noGrp="1"/>
          </p:cNvSpPr>
          <p:nvPr>
            <p:ph type="body" idx="1"/>
          </p:nvPr>
        </p:nvSpPr>
        <p:spPr>
          <a:xfrm>
            <a:off x="415650" y="576906"/>
            <a:ext cx="11360700" cy="5831457"/>
          </a:xfrm>
        </p:spPr>
        <p:txBody>
          <a:bodyPr/>
          <a:lstStyle/>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In Design Thinking, </a:t>
            </a:r>
            <a:r>
              <a:rPr lang="en-US" sz="2400" b="1" dirty="0">
                <a:solidFill>
                  <a:schemeClr val="tx1"/>
                </a:solidFill>
                <a:latin typeface="Times New Roman" panose="02020603050405020304" pitchFamily="18" charset="0"/>
                <a:cs typeface="Times New Roman" panose="02020603050405020304" pitchFamily="18" charset="0"/>
              </a:rPr>
              <a:t>prototyping</a:t>
            </a:r>
            <a:r>
              <a:rPr lang="en-US" sz="2400" dirty="0">
                <a:solidFill>
                  <a:schemeClr val="tx1"/>
                </a:solidFill>
                <a:latin typeface="Times New Roman" panose="02020603050405020304" pitchFamily="18" charset="0"/>
                <a:cs typeface="Times New Roman" panose="02020603050405020304" pitchFamily="18" charset="0"/>
              </a:rPr>
              <a:t> is the process of creating a simple representation of an idea or solution so that it can be </a:t>
            </a:r>
            <a:r>
              <a:rPr lang="en-US" sz="2400" b="1" dirty="0">
                <a:solidFill>
                  <a:schemeClr val="tx1"/>
                </a:solidFill>
                <a:latin typeface="Times New Roman" panose="02020603050405020304" pitchFamily="18" charset="0"/>
                <a:cs typeface="Times New Roman" panose="02020603050405020304" pitchFamily="18" charset="0"/>
              </a:rPr>
              <a:t>visualized, communicated, explored, and tested</a:t>
            </a:r>
            <a:r>
              <a:rPr lang="en-US" sz="2400" dirty="0">
                <a:solidFill>
                  <a:schemeClr val="tx1"/>
                </a:solidFill>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A prototype does not have to be a finished product. It is created to answer questions such as:</a:t>
            </a:r>
          </a:p>
          <a:p>
            <a:pPr lvl="1">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How will the solution work? </a:t>
            </a:r>
          </a:p>
          <a:p>
            <a:pPr lvl="1">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How will the user interact with it? </a:t>
            </a:r>
          </a:p>
          <a:p>
            <a:pPr lvl="1">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Is the idea easy to understand? </a:t>
            </a:r>
          </a:p>
          <a:p>
            <a:pPr lvl="1">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What problems might users face? </a:t>
            </a:r>
          </a:p>
          <a:p>
            <a:pPr lvl="1">
              <a:buFont typeface="Wingdings" panose="05000000000000000000" pitchFamily="2" charset="2"/>
              <a:buChar char="ü"/>
            </a:pPr>
            <a:r>
              <a:rPr lang="en-US" sz="2400" dirty="0">
                <a:solidFill>
                  <a:schemeClr val="tx1"/>
                </a:solidFill>
                <a:latin typeface="Times New Roman" panose="02020603050405020304" pitchFamily="18" charset="0"/>
                <a:cs typeface="Times New Roman" panose="02020603050405020304" pitchFamily="18" charset="0"/>
              </a:rPr>
              <a:t>What improvements are required? </a:t>
            </a:r>
          </a:p>
          <a:p>
            <a:pPr>
              <a:buNone/>
            </a:pPr>
            <a:endParaRPr lang="en-US" sz="2400" b="1" dirty="0">
              <a:solidFill>
                <a:schemeClr val="tx1"/>
              </a:solidFill>
              <a:latin typeface="Times New Roman" panose="02020603050405020304" pitchFamily="18" charset="0"/>
              <a:cs typeface="Times New Roman" panose="02020603050405020304" pitchFamily="18" charset="0"/>
            </a:endParaRPr>
          </a:p>
          <a:p>
            <a:pPr>
              <a:buNone/>
            </a:pPr>
            <a:r>
              <a:rPr lang="en-US" sz="2400" b="1" dirty="0">
                <a:solidFill>
                  <a:schemeClr val="tx1"/>
                </a:solidFill>
                <a:latin typeface="Times New Roman" panose="02020603050405020304" pitchFamily="18" charset="0"/>
                <a:cs typeface="Times New Roman" panose="02020603050405020304" pitchFamily="18" charset="0"/>
              </a:rPr>
              <a:t>Basic Concept</a:t>
            </a:r>
          </a:p>
          <a:p>
            <a:pPr>
              <a:buNone/>
            </a:pPr>
            <a:r>
              <a:rPr lang="en-US" sz="2400" b="1" dirty="0">
                <a:solidFill>
                  <a:schemeClr val="tx1"/>
                </a:solidFill>
                <a:latin typeface="Times New Roman" panose="02020603050405020304" pitchFamily="18" charset="0"/>
                <a:cs typeface="Times New Roman" panose="02020603050405020304" pitchFamily="18" charset="0"/>
              </a:rPr>
              <a:t>Problem → Idea → Prototype → Feedback → Improvement → Solution</a:t>
            </a:r>
            <a:endParaRPr lang="en-US" sz="2400"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474A5E58-F39E-4676-A671-DB900FE601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a:t>
            </a:fld>
            <a:endParaRPr lang="en-GB"/>
          </a:p>
        </p:txBody>
      </p:sp>
    </p:spTree>
    <p:extLst>
      <p:ext uri="{BB962C8B-B14F-4D97-AF65-F5344CB8AC3E}">
        <p14:creationId xmlns:p14="http://schemas.microsoft.com/office/powerpoint/2010/main" val="1996958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2CF8F-D85D-836F-4E42-7D80793BC6FA}"/>
              </a:ext>
            </a:extLst>
          </p:cNvPr>
          <p:cNvSpPr>
            <a:spLocks noGrp="1"/>
          </p:cNvSpPr>
          <p:nvPr>
            <p:ph type="title"/>
          </p:nvPr>
        </p:nvSpPr>
        <p:spPr>
          <a:xfrm>
            <a:off x="263250" y="319878"/>
            <a:ext cx="8027995" cy="666292"/>
          </a:xfrm>
        </p:spPr>
        <p:txBody>
          <a:bodyPr/>
          <a:lstStyle/>
          <a:p>
            <a:pPr marL="457200" indent="-457200">
              <a:buFont typeface="Wingdings" panose="05000000000000000000" pitchFamily="2" charset="2"/>
              <a:buChar char="v"/>
            </a:pPr>
            <a:r>
              <a:rPr lang="en-US" sz="2800" dirty="0">
                <a:solidFill>
                  <a:srgbClr val="006600"/>
                </a:solidFill>
                <a:latin typeface="Times New Roman" panose="02020603050405020304" pitchFamily="18" charset="0"/>
                <a:cs typeface="Times New Roman" panose="02020603050405020304" pitchFamily="18" charset="0"/>
              </a:rPr>
              <a:t>Position of Prototyping in Design Thinking</a:t>
            </a:r>
            <a:endParaRPr lang="en-IN" sz="2800" dirty="0">
              <a:solidFill>
                <a:srgbClr val="0066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06DB1BB-0BD1-DD59-6EBE-3FC7293586A6}"/>
              </a:ext>
            </a:extLst>
          </p:cNvPr>
          <p:cNvSpPr>
            <a:spLocks noGrp="1"/>
          </p:cNvSpPr>
          <p:nvPr>
            <p:ph type="body" idx="1"/>
          </p:nvPr>
        </p:nvSpPr>
        <p:spPr>
          <a:xfrm>
            <a:off x="415600" y="1150706"/>
            <a:ext cx="5266009" cy="4940882"/>
          </a:xfrm>
        </p:spPr>
        <p:txBody>
          <a:bodyPr/>
          <a:lstStyle/>
          <a:p>
            <a:r>
              <a:rPr lang="en-US" sz="2400" dirty="0">
                <a:latin typeface="Times New Roman" panose="02020603050405020304" pitchFamily="18" charset="0"/>
                <a:cs typeface="Times New Roman" panose="02020603050405020304" pitchFamily="18" charset="0"/>
              </a:rPr>
              <a:t>Prototyping is an important stage in the Design Thinking process.</a:t>
            </a:r>
          </a:p>
          <a:p>
            <a:pPr marL="50800" indent="0">
              <a:buNone/>
            </a:pPr>
            <a:endParaRPr lang="en-US" sz="2400" dirty="0">
              <a:latin typeface="Times New Roman" panose="02020603050405020304" pitchFamily="18" charset="0"/>
              <a:cs typeface="Times New Roman" panose="02020603050405020304" pitchFamily="18" charset="0"/>
            </a:endParaRPr>
          </a:p>
          <a:p>
            <a:pPr marL="50800" indent="0">
              <a:buNone/>
            </a:pPr>
            <a:r>
              <a:rPr lang="en-US" sz="2400" dirty="0">
                <a:latin typeface="Times New Roman" panose="02020603050405020304" pitchFamily="18" charset="0"/>
                <a:cs typeface="Times New Roman" panose="02020603050405020304" pitchFamily="18" charset="0"/>
              </a:rPr>
              <a:t>(refer previous unit)</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71DC795-DA03-82B1-ECE0-FADA0564E71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a:t>
            </a:fld>
            <a:endParaRPr lang="en-GB"/>
          </a:p>
        </p:txBody>
      </p:sp>
      <p:sp>
        <p:nvSpPr>
          <p:cNvPr id="5" name="AutoShape 2" descr="Colourful Design Thinking Process Flowchart">
            <a:extLst>
              <a:ext uri="{FF2B5EF4-FFF2-40B4-BE49-F238E27FC236}">
                <a16:creationId xmlns:a16="http://schemas.microsoft.com/office/drawing/2014/main" id="{CD91B46F-6C06-BCA3-1438-D609861261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8D280EFE-1758-0616-1C45-A7E1BE62C9FF}"/>
              </a:ext>
            </a:extLst>
          </p:cNvPr>
          <p:cNvPicPr>
            <a:picLocks noChangeAspect="1"/>
          </p:cNvPicPr>
          <p:nvPr/>
        </p:nvPicPr>
        <p:blipFill>
          <a:blip r:embed="rId2"/>
          <a:stretch>
            <a:fillRect/>
          </a:stretch>
        </p:blipFill>
        <p:spPr>
          <a:xfrm>
            <a:off x="7531410" y="457200"/>
            <a:ext cx="4572000" cy="5943600"/>
          </a:xfrm>
          <a:prstGeom prst="rect">
            <a:avLst/>
          </a:prstGeom>
        </p:spPr>
      </p:pic>
    </p:spTree>
    <p:extLst>
      <p:ext uri="{BB962C8B-B14F-4D97-AF65-F5344CB8AC3E}">
        <p14:creationId xmlns:p14="http://schemas.microsoft.com/office/powerpoint/2010/main" val="2191237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5C52599-FCE7-0635-03DF-1D12F0CB7B52}"/>
              </a:ext>
            </a:extLst>
          </p:cNvPr>
          <p:cNvSpPr>
            <a:spLocks noGrp="1"/>
          </p:cNvSpPr>
          <p:nvPr>
            <p:ph type="body" idx="1"/>
          </p:nvPr>
        </p:nvSpPr>
        <p:spPr>
          <a:xfrm>
            <a:off x="415600" y="287676"/>
            <a:ext cx="7053712" cy="5803912"/>
          </a:xfrm>
        </p:spPr>
        <p:txBody>
          <a:bodyPr/>
          <a:lstStyle/>
          <a:p>
            <a:pPr>
              <a:buNone/>
            </a:pPr>
            <a:r>
              <a:rPr lang="en-US" sz="2400" b="1" dirty="0">
                <a:latin typeface="Times New Roman" panose="02020603050405020304" pitchFamily="18" charset="0"/>
                <a:cs typeface="Times New Roman" panose="02020603050405020304" pitchFamily="18" charset="0"/>
              </a:rPr>
              <a:t>Example</a:t>
            </a:r>
          </a:p>
          <a:p>
            <a:pPr>
              <a:buNone/>
            </a:pPr>
            <a:endParaRPr lang="en-US" sz="2400" b="1"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Problem:</a:t>
            </a:r>
            <a:r>
              <a:rPr lang="en-US" sz="2400" dirty="0">
                <a:latin typeface="Times New Roman" panose="02020603050405020304" pitchFamily="18" charset="0"/>
                <a:cs typeface="Times New Roman" panose="02020603050405020304" pitchFamily="18" charset="0"/>
              </a:rPr>
              <a:t> Students often forget assignment deadlines.</a:t>
            </a:r>
          </a:p>
          <a:p>
            <a:pPr>
              <a:buNone/>
            </a:pPr>
            <a:r>
              <a:rPr lang="en-US" sz="2400" b="1" dirty="0">
                <a:latin typeface="Times New Roman" panose="02020603050405020304" pitchFamily="18" charset="0"/>
                <a:cs typeface="Times New Roman" panose="02020603050405020304" pitchFamily="18" charset="0"/>
              </a:rPr>
              <a:t>Idea:</a:t>
            </a:r>
            <a:r>
              <a:rPr lang="en-US" sz="2400" dirty="0">
                <a:latin typeface="Times New Roman" panose="02020603050405020304" pitchFamily="18" charset="0"/>
                <a:cs typeface="Times New Roman" panose="02020603050405020304" pitchFamily="18" charset="0"/>
              </a:rPr>
              <a:t> Develop a mobile application that reminds students about upcoming deadlines.</a:t>
            </a:r>
          </a:p>
          <a:p>
            <a:pPr>
              <a:buNone/>
            </a:pPr>
            <a:endParaRPr lang="en-US" sz="24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A815835F-7556-A946-B9B0-59A0E33A59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a:t>
            </a:fld>
            <a:endParaRPr lang="en-GB"/>
          </a:p>
        </p:txBody>
      </p:sp>
      <p:sp>
        <p:nvSpPr>
          <p:cNvPr id="5" name="AutoShape 2" descr="From Idea to Better Design">
            <a:extLst>
              <a:ext uri="{FF2B5EF4-FFF2-40B4-BE49-F238E27FC236}">
                <a16:creationId xmlns:a16="http://schemas.microsoft.com/office/drawing/2014/main" id="{571CA89A-C483-D5D0-9FD0-3B75B302D73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AEE1CFA5-AF05-84D7-9CD5-FED17ED0BBBF}"/>
              </a:ext>
            </a:extLst>
          </p:cNvPr>
          <p:cNvPicPr>
            <a:picLocks noChangeAspect="1"/>
          </p:cNvPicPr>
          <p:nvPr/>
        </p:nvPicPr>
        <p:blipFill>
          <a:blip r:embed="rId2"/>
          <a:stretch>
            <a:fillRect/>
          </a:stretch>
        </p:blipFill>
        <p:spPr>
          <a:xfrm>
            <a:off x="7380100" y="452914"/>
            <a:ext cx="4572000" cy="5647372"/>
          </a:xfrm>
          <a:prstGeom prst="rect">
            <a:avLst/>
          </a:prstGeom>
        </p:spPr>
      </p:pic>
      <p:sp>
        <p:nvSpPr>
          <p:cNvPr id="8" name="TextBox 7">
            <a:extLst>
              <a:ext uri="{FF2B5EF4-FFF2-40B4-BE49-F238E27FC236}">
                <a16:creationId xmlns:a16="http://schemas.microsoft.com/office/drawing/2014/main" id="{2FF295E8-E4B5-E99B-E42F-9959D477E2B8}"/>
              </a:ext>
            </a:extLst>
          </p:cNvPr>
          <p:cNvSpPr txBox="1"/>
          <p:nvPr/>
        </p:nvSpPr>
        <p:spPr>
          <a:xfrm>
            <a:off x="4338890" y="4737237"/>
            <a:ext cx="3689922" cy="1200329"/>
          </a:xfrm>
          <a:prstGeom prst="rect">
            <a:avLst/>
          </a:prstGeom>
          <a:noFill/>
        </p:spPr>
        <p:txBody>
          <a:bodyPr wrap="square">
            <a:spAutoFit/>
          </a:bodyPr>
          <a:lstStyle/>
          <a:p>
            <a:pPr marL="457200" marR="0" lvl="0" indent="-406400" algn="l" defTabSz="914400" rtl="0" eaLnBrk="1" fontAlgn="auto" latinLnBrk="0" hangingPunct="1">
              <a:lnSpc>
                <a:spcPct val="100000"/>
              </a:lnSpc>
              <a:spcBef>
                <a:spcPts val="0"/>
              </a:spcBef>
              <a:spcAft>
                <a:spcPts val="0"/>
              </a:spcAft>
              <a:buClr>
                <a:srgbClr val="000000"/>
              </a:buClr>
              <a:buSzPts val="2800"/>
              <a:buFont typeface="Wingdings" panose="05000000000000000000" pitchFamily="2" charset="2"/>
              <a:buChar char="ü"/>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Instead of immediately developing the complete app:</a:t>
            </a:r>
          </a:p>
        </p:txBody>
      </p:sp>
    </p:spTree>
    <p:extLst>
      <p:ext uri="{BB962C8B-B14F-4D97-AF65-F5344CB8AC3E}">
        <p14:creationId xmlns:p14="http://schemas.microsoft.com/office/powerpoint/2010/main" val="471718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743F4-29EE-13A1-8807-4FC5D223A196}"/>
              </a:ext>
            </a:extLst>
          </p:cNvPr>
          <p:cNvSpPr>
            <a:spLocks noGrp="1"/>
          </p:cNvSpPr>
          <p:nvPr>
            <p:ph type="title"/>
          </p:nvPr>
        </p:nvSpPr>
        <p:spPr>
          <a:xfrm>
            <a:off x="302584" y="239092"/>
            <a:ext cx="11360700" cy="644486"/>
          </a:xfrm>
        </p:spPr>
        <p:txBody>
          <a:bodyPr/>
          <a:lstStyle/>
          <a:p>
            <a:pPr marL="457200" indent="-457200">
              <a:buFont typeface="Wingdings" panose="05000000000000000000" pitchFamily="2" charset="2"/>
              <a:buChar char="v"/>
            </a:pPr>
            <a:r>
              <a:rPr lang="en-US" sz="2800" dirty="0">
                <a:solidFill>
                  <a:srgbClr val="006600"/>
                </a:solidFill>
                <a:latin typeface="Times New Roman" panose="02020603050405020304" pitchFamily="18" charset="0"/>
                <a:cs typeface="Times New Roman" panose="02020603050405020304" pitchFamily="18" charset="0"/>
              </a:rPr>
              <a:t>Why Do We Create Prototypes?</a:t>
            </a:r>
            <a:endParaRPr lang="en-IN" sz="2800" dirty="0">
              <a:solidFill>
                <a:srgbClr val="0066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EC2D217-B2D6-474C-38AB-F63EE0D9DC82}"/>
              </a:ext>
            </a:extLst>
          </p:cNvPr>
          <p:cNvSpPr>
            <a:spLocks noGrp="1"/>
          </p:cNvSpPr>
          <p:nvPr>
            <p:ph type="body" idx="1"/>
          </p:nvPr>
        </p:nvSpPr>
        <p:spPr>
          <a:xfrm>
            <a:off x="415600" y="883579"/>
            <a:ext cx="11360700" cy="5208010"/>
          </a:xfrm>
        </p:spPr>
        <p:txBody>
          <a:bodyPr/>
          <a:lstStyle/>
          <a:p>
            <a:r>
              <a:rPr lang="en-US" sz="2400" dirty="0">
                <a:latin typeface="Times New Roman" panose="02020603050405020304" pitchFamily="18" charset="0"/>
                <a:cs typeface="Times New Roman" panose="02020603050405020304" pitchFamily="18" charset="0"/>
              </a:rPr>
              <a:t>Prototypes help designers answer important questions early.</a:t>
            </a:r>
          </a:p>
          <a:p>
            <a:pPr>
              <a:buNone/>
            </a:pPr>
            <a:endParaRPr lang="en-US" sz="24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A prototype can help us:</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Visualize an idea.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Communicate the solution to others.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Identify design problems.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Test assumptions.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Understand user interaction.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Gather feedback.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 the solution.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 the risk of developing an unsuitable final product.</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572BA21-808E-C909-06E0-1BDC595847B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a:t>
            </a:fld>
            <a:endParaRPr lang="en-GB"/>
          </a:p>
        </p:txBody>
      </p:sp>
    </p:spTree>
    <p:extLst>
      <p:ext uri="{BB962C8B-B14F-4D97-AF65-F5344CB8AC3E}">
        <p14:creationId xmlns:p14="http://schemas.microsoft.com/office/powerpoint/2010/main" val="571373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FEA21-1FF9-6DFD-7BDC-65CE4D3B1606}"/>
              </a:ext>
            </a:extLst>
          </p:cNvPr>
          <p:cNvSpPr>
            <a:spLocks noGrp="1"/>
          </p:cNvSpPr>
          <p:nvPr>
            <p:ph type="title"/>
          </p:nvPr>
        </p:nvSpPr>
        <p:spPr>
          <a:xfrm>
            <a:off x="415600" y="339111"/>
            <a:ext cx="5789991" cy="1140367"/>
          </a:xfrm>
        </p:spPr>
        <p:txBody>
          <a:bodyPr/>
          <a:lstStyle/>
          <a:p>
            <a:r>
              <a:rPr lang="en-US" sz="2800" dirty="0">
                <a:latin typeface="Times New Roman" panose="02020603050405020304" pitchFamily="18" charset="0"/>
                <a:cs typeface="Times New Roman" panose="02020603050405020304" pitchFamily="18" charset="0"/>
              </a:rPr>
              <a:t>Diagram: From Idea to Understanding</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E971669-D3A8-C241-C58D-6C1FCECF985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a:t>
            </a:fld>
            <a:endParaRPr lang="en-GB"/>
          </a:p>
        </p:txBody>
      </p:sp>
      <p:pic>
        <p:nvPicPr>
          <p:cNvPr id="6" name="Picture 5">
            <a:extLst>
              <a:ext uri="{FF2B5EF4-FFF2-40B4-BE49-F238E27FC236}">
                <a16:creationId xmlns:a16="http://schemas.microsoft.com/office/drawing/2014/main" id="{4E0598A4-11C3-FD72-7B87-3DF671D60A4F}"/>
              </a:ext>
            </a:extLst>
          </p:cNvPr>
          <p:cNvPicPr>
            <a:picLocks noChangeAspect="1"/>
          </p:cNvPicPr>
          <p:nvPr/>
        </p:nvPicPr>
        <p:blipFill>
          <a:blip r:embed="rId2"/>
          <a:stretch>
            <a:fillRect/>
          </a:stretch>
        </p:blipFill>
        <p:spPr>
          <a:xfrm>
            <a:off x="5732043" y="455340"/>
            <a:ext cx="5488357" cy="5755388"/>
          </a:xfrm>
          <a:prstGeom prst="rect">
            <a:avLst/>
          </a:prstGeom>
        </p:spPr>
      </p:pic>
    </p:spTree>
    <p:extLst>
      <p:ext uri="{BB962C8B-B14F-4D97-AF65-F5344CB8AC3E}">
        <p14:creationId xmlns:p14="http://schemas.microsoft.com/office/powerpoint/2010/main" val="3332376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6D4B0-32DC-90EE-8A7B-5C17D2A79785}"/>
              </a:ext>
            </a:extLst>
          </p:cNvPr>
          <p:cNvSpPr>
            <a:spLocks noGrp="1"/>
          </p:cNvSpPr>
          <p:nvPr>
            <p:ph type="title"/>
          </p:nvPr>
        </p:nvSpPr>
        <p:spPr>
          <a:xfrm>
            <a:off x="415600" y="347929"/>
            <a:ext cx="11360700" cy="763500"/>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Prototyping to Visualize Solutions</a:t>
            </a:r>
          </a:p>
        </p:txBody>
      </p:sp>
      <p:sp>
        <p:nvSpPr>
          <p:cNvPr id="3" name="Text Placeholder 2">
            <a:extLst>
              <a:ext uri="{FF2B5EF4-FFF2-40B4-BE49-F238E27FC236}">
                <a16:creationId xmlns:a16="http://schemas.microsoft.com/office/drawing/2014/main" id="{A56BAF84-0B6C-D11E-B791-F0FD96D5FB15}"/>
              </a:ext>
            </a:extLst>
          </p:cNvPr>
          <p:cNvSpPr>
            <a:spLocks noGrp="1"/>
          </p:cNvSpPr>
          <p:nvPr>
            <p:ph type="body" idx="1"/>
          </p:nvPr>
        </p:nvSpPr>
        <p:spPr>
          <a:xfrm>
            <a:off x="415600" y="998412"/>
            <a:ext cx="6653020" cy="5409951"/>
          </a:xfrm>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Sometimes an idea exists only in the designer's mind. Different people may imagine the idea differently.</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prototype makes the idea </a:t>
            </a:r>
            <a:r>
              <a:rPr lang="en-US" sz="2400" b="1" dirty="0">
                <a:latin typeface="Times New Roman" panose="02020603050405020304" pitchFamily="18" charset="0"/>
                <a:cs typeface="Times New Roman" panose="02020603050405020304" pitchFamily="18" charset="0"/>
              </a:rPr>
              <a:t>visible and concrete</a:t>
            </a:r>
            <a:r>
              <a:rPr lang="en-US" sz="2400" dirty="0">
                <a:latin typeface="Times New Roman" panose="02020603050405020304" pitchFamily="18" charset="0"/>
                <a:cs typeface="Times New Roman" panose="02020603050405020304" pitchFamily="18" charset="0"/>
              </a:rPr>
              <a:t>.</a:t>
            </a:r>
          </a:p>
          <a:p>
            <a:pPr>
              <a:buNone/>
            </a:pPr>
            <a:r>
              <a:rPr lang="en-US" sz="2400" b="1" dirty="0">
                <a:latin typeface="Times New Roman" panose="02020603050405020304" pitchFamily="18" charset="0"/>
                <a:cs typeface="Times New Roman" panose="02020603050405020304" pitchFamily="18" charset="0"/>
              </a:rPr>
              <a:t>Example: Smart Classroom Attendance System</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Suppose a team proposes:</a:t>
            </a:r>
          </a:p>
          <a:p>
            <a:pPr>
              <a:buNone/>
            </a:pPr>
            <a:r>
              <a:rPr lang="en-US" sz="2400" dirty="0">
                <a:solidFill>
                  <a:srgbClr val="FF5050"/>
                </a:solidFill>
                <a:latin typeface="Times New Roman" panose="02020603050405020304" pitchFamily="18" charset="0"/>
                <a:cs typeface="Times New Roman" panose="02020603050405020304" pitchFamily="18" charset="0"/>
              </a:rPr>
              <a:t>"We will create an AI-based smart attendance system."</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This statement alone does not clearly explain how the system works.</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 prototype can visualize the process.</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Now the idea becomes easier to understand and discuss.</a:t>
            </a:r>
          </a:p>
          <a:p>
            <a:endParaRPr lang="en-IN" dirty="0"/>
          </a:p>
        </p:txBody>
      </p:sp>
      <p:sp>
        <p:nvSpPr>
          <p:cNvPr id="4" name="Slide Number Placeholder 3">
            <a:extLst>
              <a:ext uri="{FF2B5EF4-FFF2-40B4-BE49-F238E27FC236}">
                <a16:creationId xmlns:a16="http://schemas.microsoft.com/office/drawing/2014/main" id="{52DFD8FD-119A-BDE7-306F-70140DAF5A1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9</a:t>
            </a:fld>
            <a:endParaRPr lang="en-GB"/>
          </a:p>
        </p:txBody>
      </p:sp>
      <p:sp>
        <p:nvSpPr>
          <p:cNvPr id="6" name="AutoShape 2" descr="Smart Attendance Flowchart">
            <a:extLst>
              <a:ext uri="{FF2B5EF4-FFF2-40B4-BE49-F238E27FC236}">
                <a16:creationId xmlns:a16="http://schemas.microsoft.com/office/drawing/2014/main" id="{F07CCCE2-250A-90FE-FC49-7BF6E7FB84A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8AC8A6FF-C7A0-C533-F2A3-17D0567F40F1}"/>
              </a:ext>
            </a:extLst>
          </p:cNvPr>
          <p:cNvPicPr>
            <a:picLocks noChangeAspect="1"/>
          </p:cNvPicPr>
          <p:nvPr/>
        </p:nvPicPr>
        <p:blipFill>
          <a:blip r:embed="rId2"/>
          <a:stretch>
            <a:fillRect/>
          </a:stretch>
        </p:blipFill>
        <p:spPr>
          <a:xfrm>
            <a:off x="7136460" y="451453"/>
            <a:ext cx="4904852" cy="5723315"/>
          </a:xfrm>
          <a:prstGeom prst="rect">
            <a:avLst/>
          </a:prstGeom>
        </p:spPr>
      </p:pic>
    </p:spTree>
    <p:extLst>
      <p:ext uri="{BB962C8B-B14F-4D97-AF65-F5344CB8AC3E}">
        <p14:creationId xmlns:p14="http://schemas.microsoft.com/office/powerpoint/2010/main" val="2499742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DD502-C605-5942-40AF-52224B8C8254}"/>
              </a:ext>
            </a:extLst>
          </p:cNvPr>
          <p:cNvSpPr>
            <a:spLocks noGrp="1"/>
          </p:cNvSpPr>
          <p:nvPr>
            <p:ph type="title"/>
          </p:nvPr>
        </p:nvSpPr>
        <p:spPr>
          <a:xfrm>
            <a:off x="333407" y="246555"/>
            <a:ext cx="11360700" cy="763500"/>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Prototyping to Communicate Solutions</a:t>
            </a:r>
          </a:p>
        </p:txBody>
      </p:sp>
      <p:sp>
        <p:nvSpPr>
          <p:cNvPr id="3" name="Text Placeholder 2">
            <a:extLst>
              <a:ext uri="{FF2B5EF4-FFF2-40B4-BE49-F238E27FC236}">
                <a16:creationId xmlns:a16="http://schemas.microsoft.com/office/drawing/2014/main" id="{75147DF3-AFF2-082D-5349-3DF8D21A34A4}"/>
              </a:ext>
            </a:extLst>
          </p:cNvPr>
          <p:cNvSpPr>
            <a:spLocks noGrp="1"/>
          </p:cNvSpPr>
          <p:nvPr>
            <p:ph type="body" idx="1"/>
          </p:nvPr>
        </p:nvSpPr>
        <p:spPr>
          <a:xfrm>
            <a:off x="333407" y="974916"/>
            <a:ext cx="6570827" cy="4806486"/>
          </a:xfrm>
        </p:spPr>
        <p:txBody>
          <a:bodyPr/>
          <a:lstStyle/>
          <a:p>
            <a:r>
              <a:rPr lang="en-US" sz="2400" dirty="0">
                <a:latin typeface="Times New Roman" panose="02020603050405020304" pitchFamily="18" charset="0"/>
                <a:cs typeface="Times New Roman" panose="02020603050405020304" pitchFamily="18" charset="0"/>
              </a:rPr>
              <a:t>A prototype acts as a common language between:</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A6D0974-807A-6E29-4C3B-082ED9FF98B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10</a:t>
            </a:fld>
            <a:endParaRPr lang="en-GB"/>
          </a:p>
        </p:txBody>
      </p:sp>
      <p:sp>
        <p:nvSpPr>
          <p:cNvPr id="6" name="TextBox 5">
            <a:extLst>
              <a:ext uri="{FF2B5EF4-FFF2-40B4-BE49-F238E27FC236}">
                <a16:creationId xmlns:a16="http://schemas.microsoft.com/office/drawing/2014/main" id="{602C41E3-918A-CA37-BC60-60C901BF79EE}"/>
              </a:ext>
            </a:extLst>
          </p:cNvPr>
          <p:cNvSpPr txBox="1"/>
          <p:nvPr/>
        </p:nvSpPr>
        <p:spPr>
          <a:xfrm>
            <a:off x="7060507" y="1257087"/>
            <a:ext cx="4891593" cy="4524315"/>
          </a:xfrm>
          <a:prstGeom prst="rect">
            <a:avLst/>
          </a:prstGeom>
          <a:noFill/>
        </p:spPr>
        <p:txBody>
          <a:bodyPr wrap="square">
            <a:spAutoFit/>
          </a:bodyPr>
          <a:lstStyle/>
          <a:p>
            <a:pPr>
              <a:buNone/>
            </a:pPr>
            <a:r>
              <a:rPr lang="en-US" sz="2400" dirty="0">
                <a:latin typeface="Times New Roman" panose="02020603050405020304" pitchFamily="18" charset="0"/>
                <a:cs typeface="Times New Roman" panose="02020603050405020304" pitchFamily="18" charset="0"/>
              </a:rPr>
              <a:t>Instead of explaining:</a:t>
            </a:r>
          </a:p>
          <a:p>
            <a:pPr>
              <a:buNone/>
            </a:pPr>
            <a:r>
              <a:rPr lang="en-US" sz="2400" dirty="0">
                <a:latin typeface="Times New Roman" panose="02020603050405020304" pitchFamily="18" charset="0"/>
                <a:cs typeface="Times New Roman" panose="02020603050405020304" pitchFamily="18" charset="0"/>
              </a:rPr>
              <a:t>"Imagine a dashboard with three sections, notifications, progress indicators, and recommendation features..."</a:t>
            </a:r>
          </a:p>
          <a:p>
            <a:pPr>
              <a:buNone/>
            </a:pPr>
            <a:r>
              <a:rPr lang="en-US" sz="2400" dirty="0">
                <a:latin typeface="Times New Roman" panose="02020603050405020304" pitchFamily="18" charset="0"/>
                <a:cs typeface="Times New Roman" panose="02020603050405020304" pitchFamily="18" charset="0"/>
              </a:rPr>
              <a:t>The designer can simply </a:t>
            </a:r>
            <a:r>
              <a:rPr lang="en-US" sz="2400" b="1" dirty="0">
                <a:latin typeface="Times New Roman" panose="02020603050405020304" pitchFamily="18" charset="0"/>
                <a:cs typeface="Times New Roman" panose="02020603050405020304" pitchFamily="18" charset="0"/>
              </a:rPr>
              <a:t>show the prototype</a:t>
            </a:r>
            <a:r>
              <a:rPr lang="en-US" sz="2400" dirty="0">
                <a:latin typeface="Times New Roman" panose="02020603050405020304" pitchFamily="18" charset="0"/>
                <a:cs typeface="Times New Roman" panose="02020603050405020304" pitchFamily="18" charset="0"/>
              </a:rPr>
              <a:t>.</a:t>
            </a:r>
          </a:p>
          <a:p>
            <a:pPr>
              <a:buNone/>
            </a:pPr>
            <a:r>
              <a:rPr lang="en-US" sz="2400" dirty="0">
                <a:latin typeface="Times New Roman" panose="02020603050405020304" pitchFamily="18" charset="0"/>
                <a:cs typeface="Times New Roman" panose="02020603050405020304" pitchFamily="18" charset="0"/>
              </a:rPr>
              <a:t>This makes communication:</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Faster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Clearer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More interactive </a:t>
            </a:r>
          </a:p>
          <a:p>
            <a:pPr marL="342900"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Easier to evaluate</a:t>
            </a:r>
          </a:p>
        </p:txBody>
      </p:sp>
      <p:pic>
        <p:nvPicPr>
          <p:cNvPr id="7" name="Picture 6">
            <a:extLst>
              <a:ext uri="{FF2B5EF4-FFF2-40B4-BE49-F238E27FC236}">
                <a16:creationId xmlns:a16="http://schemas.microsoft.com/office/drawing/2014/main" id="{FE36F128-E678-EC8A-4B7D-656A15959810}"/>
              </a:ext>
            </a:extLst>
          </p:cNvPr>
          <p:cNvPicPr>
            <a:picLocks noChangeAspect="1"/>
          </p:cNvPicPr>
          <p:nvPr/>
        </p:nvPicPr>
        <p:blipFill>
          <a:blip r:embed="rId2"/>
          <a:stretch>
            <a:fillRect/>
          </a:stretch>
        </p:blipFill>
        <p:spPr>
          <a:xfrm>
            <a:off x="1404563" y="2111234"/>
            <a:ext cx="5143500" cy="3950519"/>
          </a:xfrm>
          <a:prstGeom prst="rect">
            <a:avLst/>
          </a:prstGeom>
        </p:spPr>
      </p:pic>
    </p:spTree>
    <p:extLst>
      <p:ext uri="{BB962C8B-B14F-4D97-AF65-F5344CB8AC3E}">
        <p14:creationId xmlns:p14="http://schemas.microsoft.com/office/powerpoint/2010/main" val="1012866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B66D-7506-A982-87EF-81F7F73A3CA8}"/>
              </a:ext>
            </a:extLst>
          </p:cNvPr>
          <p:cNvSpPr>
            <a:spLocks noGrp="1"/>
          </p:cNvSpPr>
          <p:nvPr>
            <p:ph type="title"/>
          </p:nvPr>
        </p:nvSpPr>
        <p:spPr>
          <a:xfrm>
            <a:off x="323133" y="251319"/>
            <a:ext cx="11360700" cy="763500"/>
          </a:xfrm>
        </p:spPr>
        <p:txBody>
          <a:bodyPr/>
          <a:lstStyle/>
          <a:p>
            <a:pPr marL="457200" indent="-457200">
              <a:buFont typeface="Wingdings" panose="05000000000000000000" pitchFamily="2" charset="2"/>
              <a:buChar char="v"/>
            </a:pPr>
            <a:r>
              <a:rPr lang="en-IN" dirty="0">
                <a:solidFill>
                  <a:srgbClr val="006600"/>
                </a:solidFill>
                <a:latin typeface="Times New Roman" panose="02020603050405020304" pitchFamily="18" charset="0"/>
                <a:cs typeface="Times New Roman" panose="02020603050405020304" pitchFamily="18" charset="0"/>
              </a:rPr>
              <a:t>Levels of Prototypes</a:t>
            </a:r>
          </a:p>
        </p:txBody>
      </p:sp>
      <p:sp>
        <p:nvSpPr>
          <p:cNvPr id="3" name="Text Placeholder 2">
            <a:extLst>
              <a:ext uri="{FF2B5EF4-FFF2-40B4-BE49-F238E27FC236}">
                <a16:creationId xmlns:a16="http://schemas.microsoft.com/office/drawing/2014/main" id="{8E40BEF7-46B4-8E86-6F0E-22DD18981715}"/>
              </a:ext>
            </a:extLst>
          </p:cNvPr>
          <p:cNvSpPr>
            <a:spLocks noGrp="1"/>
          </p:cNvSpPr>
          <p:nvPr>
            <p:ph type="body" idx="1"/>
          </p:nvPr>
        </p:nvSpPr>
        <p:spPr>
          <a:xfrm>
            <a:off x="323133" y="916220"/>
            <a:ext cx="11360700" cy="5330468"/>
          </a:xfrm>
        </p:spPr>
        <p:txBody>
          <a:bodyPr/>
          <a:lstStyle/>
          <a:p>
            <a:r>
              <a:rPr lang="en-US" sz="2400" dirty="0">
                <a:latin typeface="Times New Roman" panose="02020603050405020304" pitchFamily="18" charset="0"/>
                <a:cs typeface="Times New Roman" panose="02020603050405020304" pitchFamily="18" charset="0"/>
              </a:rPr>
              <a:t>Prototypes can be developed at different </a:t>
            </a:r>
            <a:r>
              <a:rPr lang="en-US" sz="2400" b="1" dirty="0">
                <a:latin typeface="Times New Roman" panose="02020603050405020304" pitchFamily="18" charset="0"/>
                <a:cs typeface="Times New Roman" panose="02020603050405020304" pitchFamily="18" charset="0"/>
              </a:rPr>
              <a:t>levels of detail and functionality</a:t>
            </a:r>
            <a:r>
              <a:rPr lang="en-US" sz="2400" dirty="0">
                <a:latin typeface="Times New Roman" panose="02020603050405020304" pitchFamily="18" charset="0"/>
                <a:cs typeface="Times New Roman" panose="02020603050405020304" pitchFamily="18" charset="0"/>
              </a:rPr>
              <a:t>, depending on what the designer wants to communicate or test.</a:t>
            </a:r>
          </a:p>
          <a:p>
            <a:pPr>
              <a:buNone/>
            </a:pPr>
            <a:r>
              <a:rPr lang="en-US" sz="2400" b="1" dirty="0">
                <a:solidFill>
                  <a:srgbClr val="CC3399"/>
                </a:solidFill>
                <a:latin typeface="Times New Roman" panose="02020603050405020304" pitchFamily="18" charset="0"/>
                <a:cs typeface="Times New Roman" panose="02020603050405020304" pitchFamily="18" charset="0"/>
              </a:rPr>
              <a:t>1. Low-Fidelity Prototype</a:t>
            </a:r>
          </a:p>
          <a:p>
            <a:pPr>
              <a:buNone/>
            </a:pPr>
            <a:r>
              <a:rPr lang="en-US" sz="2400" dirty="0">
                <a:latin typeface="Times New Roman" panose="02020603050405020304" pitchFamily="18" charset="0"/>
                <a:cs typeface="Times New Roman" panose="02020603050405020304" pitchFamily="18" charset="0"/>
              </a:rPr>
              <a:t>A simple and quick representation of an idea.</a:t>
            </a:r>
          </a:p>
          <a:p>
            <a:pPr>
              <a:buNone/>
            </a:pPr>
            <a:r>
              <a:rPr lang="en-US" sz="2400" b="1" dirty="0">
                <a:latin typeface="Times New Roman" panose="02020603050405020304" pitchFamily="18" charset="0"/>
                <a:cs typeface="Times New Roman" panose="02020603050405020304" pitchFamily="18" charset="0"/>
              </a:rPr>
              <a:t>Examples: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Paper sketches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Hand-drawn screens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Storyboards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Simple wireframes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Paper models </a:t>
            </a:r>
          </a:p>
          <a:p>
            <a:pPr>
              <a:buNone/>
            </a:pPr>
            <a:r>
              <a:rPr lang="en-US" sz="2400" b="1" dirty="0">
                <a:latin typeface="Times New Roman" panose="02020603050405020304" pitchFamily="18" charset="0"/>
                <a:cs typeface="Times New Roman" panose="02020603050405020304" pitchFamily="18" charset="0"/>
              </a:rPr>
              <a:t>Purpose: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To explore ideas, structure, and basic user flow.</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C093254-6D7E-1645-C25F-C37F82E1C95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11</a:t>
            </a:fld>
            <a:endParaRPr lang="en-GB"/>
          </a:p>
        </p:txBody>
      </p:sp>
      <p:pic>
        <p:nvPicPr>
          <p:cNvPr id="6" name="Picture 5">
            <a:extLst>
              <a:ext uri="{FF2B5EF4-FFF2-40B4-BE49-F238E27FC236}">
                <a16:creationId xmlns:a16="http://schemas.microsoft.com/office/drawing/2014/main" id="{4C9C1A22-5CE0-6B92-CE03-7473ECA1197D}"/>
              </a:ext>
            </a:extLst>
          </p:cNvPr>
          <p:cNvPicPr>
            <a:picLocks noChangeAspect="1"/>
          </p:cNvPicPr>
          <p:nvPr/>
        </p:nvPicPr>
        <p:blipFill>
          <a:blip r:embed="rId2"/>
          <a:stretch>
            <a:fillRect/>
          </a:stretch>
        </p:blipFill>
        <p:spPr>
          <a:xfrm>
            <a:off x="9154275" y="2332234"/>
            <a:ext cx="1931542" cy="3030876"/>
          </a:xfrm>
          <a:prstGeom prst="rect">
            <a:avLst/>
          </a:prstGeom>
        </p:spPr>
      </p:pic>
    </p:spTree>
    <p:extLst>
      <p:ext uri="{BB962C8B-B14F-4D97-AF65-F5344CB8AC3E}">
        <p14:creationId xmlns:p14="http://schemas.microsoft.com/office/powerpoint/2010/main" val="3214894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C0E26-12EB-578B-0B48-D117214774FD}"/>
              </a:ext>
            </a:extLst>
          </p:cNvPr>
          <p:cNvSpPr>
            <a:spLocks noGrp="1"/>
          </p:cNvSpPr>
          <p:nvPr>
            <p:ph type="title"/>
          </p:nvPr>
        </p:nvSpPr>
        <p:spPr/>
        <p:txBody>
          <a:bodyPr/>
          <a:lstStyle/>
          <a:p>
            <a:r>
              <a:rPr kumimoji="0" lang="en-US" sz="2400" b="1" i="0" u="none" strike="noStrike" kern="0" cap="none" spc="0" normalizeH="0" baseline="0" noProof="0" dirty="0">
                <a:ln>
                  <a:noFill/>
                </a:ln>
                <a:solidFill>
                  <a:srgbClr val="CC3399"/>
                </a:solidFill>
                <a:effectLst/>
                <a:uLnTx/>
                <a:uFillTx/>
                <a:latin typeface="Times New Roman" panose="02020603050405020304" pitchFamily="18" charset="0"/>
                <a:cs typeface="Times New Roman" panose="02020603050405020304" pitchFamily="18" charset="0"/>
                <a:sym typeface="IBM Plex Sans Condensed"/>
              </a:rPr>
              <a:t>2. Medium-Fidelity Prototype</a:t>
            </a:r>
            <a:endParaRPr lang="en-IN" sz="2400" dirty="0">
              <a:solidFill>
                <a:srgbClr val="CC3399"/>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24CF9F1-AE81-6020-6209-E8EBDBF48457}"/>
              </a:ext>
            </a:extLst>
          </p:cNvPr>
          <p:cNvSpPr>
            <a:spLocks noGrp="1"/>
          </p:cNvSpPr>
          <p:nvPr>
            <p:ph type="body" idx="1"/>
          </p:nvPr>
        </p:nvSpPr>
        <p:spPr>
          <a:xfrm>
            <a:off x="415600" y="1092900"/>
            <a:ext cx="11360700" cy="4672200"/>
          </a:xfrm>
        </p:spPr>
        <p:txBody>
          <a:bodyPr/>
          <a:lstStyle/>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A more structured representation with greater detail, but without complete functionality.</a:t>
            </a:r>
          </a:p>
          <a:p>
            <a:pPr>
              <a:buNone/>
            </a:pPr>
            <a:r>
              <a:rPr lang="en-US" sz="2400" b="1" dirty="0">
                <a:solidFill>
                  <a:schemeClr val="tx1"/>
                </a:solidFill>
                <a:latin typeface="Times New Roman" panose="02020603050405020304" pitchFamily="18" charset="0"/>
                <a:cs typeface="Times New Roman" panose="02020603050405020304" pitchFamily="18" charset="0"/>
              </a:rPr>
              <a:t>Examples:</a:t>
            </a:r>
            <a:endParaRPr lang="en-US" sz="2400" dirty="0">
              <a:solidFill>
                <a:schemeClr val="tx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Digital wireframes </a:t>
            </a:r>
          </a:p>
          <a:p>
            <a:pP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Detailed screen layouts </a:t>
            </a:r>
          </a:p>
          <a:p>
            <a:pP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Basic clickable interfaces </a:t>
            </a:r>
          </a:p>
          <a:p>
            <a:pP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More realistic mockups </a:t>
            </a:r>
          </a:p>
          <a:p>
            <a:pPr>
              <a:buNone/>
            </a:pPr>
            <a:r>
              <a:rPr lang="en-US" sz="2400" b="1" dirty="0">
                <a:solidFill>
                  <a:schemeClr val="tx1"/>
                </a:solidFill>
                <a:latin typeface="Times New Roman" panose="02020603050405020304" pitchFamily="18" charset="0"/>
                <a:cs typeface="Times New Roman" panose="02020603050405020304" pitchFamily="18" charset="0"/>
              </a:rPr>
              <a:t>Purpose:</a:t>
            </a:r>
            <a:br>
              <a:rPr lang="en-US" sz="2400" dirty="0">
                <a:solidFill>
                  <a:schemeClr val="tx1"/>
                </a:solidFill>
                <a:latin typeface="Times New Roman" panose="02020603050405020304" pitchFamily="18" charset="0"/>
                <a:cs typeface="Times New Roman" panose="02020603050405020304" pitchFamily="18" charset="0"/>
              </a:rPr>
            </a:br>
            <a:r>
              <a:rPr lang="en-US" sz="2400" dirty="0">
                <a:solidFill>
                  <a:schemeClr val="tx1"/>
                </a:solidFill>
                <a:latin typeface="Times New Roman" panose="02020603050405020304" pitchFamily="18" charset="0"/>
                <a:cs typeface="Times New Roman" panose="02020603050405020304" pitchFamily="18" charset="0"/>
              </a:rPr>
              <a:t>To test </a:t>
            </a:r>
            <a:r>
              <a:rPr lang="en-US" sz="2400" b="1" dirty="0">
                <a:solidFill>
                  <a:schemeClr val="tx1"/>
                </a:solidFill>
                <a:latin typeface="Times New Roman" panose="02020603050405020304" pitchFamily="18" charset="0"/>
                <a:cs typeface="Times New Roman" panose="02020603050405020304" pitchFamily="18" charset="0"/>
              </a:rPr>
              <a:t>navigation, layout, interaction, and user flow</a:t>
            </a:r>
            <a:r>
              <a:rPr lang="en-US" sz="2400" dirty="0">
                <a:solidFill>
                  <a:schemeClr val="tx1"/>
                </a:solidFill>
                <a:latin typeface="Times New Roman" panose="02020603050405020304" pitchFamily="18" charset="0"/>
                <a:cs typeface="Times New Roman" panose="02020603050405020304" pitchFamily="18" charset="0"/>
              </a:rPr>
              <a:t>.</a:t>
            </a:r>
          </a:p>
          <a:p>
            <a:pPr>
              <a:buNone/>
            </a:pPr>
            <a:r>
              <a:rPr lang="en-US" sz="2400" b="1" dirty="0">
                <a:solidFill>
                  <a:schemeClr val="tx1"/>
                </a:solidFill>
                <a:latin typeface="Times New Roman" panose="02020603050405020304" pitchFamily="18" charset="0"/>
                <a:cs typeface="Times New Roman" panose="02020603050405020304" pitchFamily="18" charset="0"/>
              </a:rPr>
              <a:t>Example:</a:t>
            </a:r>
            <a:endParaRPr lang="en-US" sz="2400" dirty="0">
              <a:solidFill>
                <a:schemeClr val="tx1"/>
              </a:solidFill>
              <a:latin typeface="Times New Roman" panose="02020603050405020304" pitchFamily="18" charset="0"/>
              <a:cs typeface="Times New Roman" panose="02020603050405020304" pitchFamily="18" charset="0"/>
            </a:endParaRPr>
          </a:p>
          <a:p>
            <a:pPr marL="50800" indent="0">
              <a:buNone/>
            </a:pPr>
            <a:r>
              <a:rPr lang="en-US" sz="2400" dirty="0">
                <a:solidFill>
                  <a:schemeClr val="tx1"/>
                </a:solidFill>
                <a:latin typeface="Times New Roman" panose="02020603050405020304" pitchFamily="18" charset="0"/>
                <a:cs typeface="Times New Roman" panose="02020603050405020304" pitchFamily="18" charset="0"/>
              </a:rPr>
              <a:t>	Login → Home → Search → Results → Details</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09116B7-67BF-FFC1-49A3-93F6FFAA93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12</a:t>
            </a:fld>
            <a:endParaRPr lang="en-GB"/>
          </a:p>
        </p:txBody>
      </p:sp>
    </p:spTree>
    <p:extLst>
      <p:ext uri="{BB962C8B-B14F-4D97-AF65-F5344CB8AC3E}">
        <p14:creationId xmlns:p14="http://schemas.microsoft.com/office/powerpoint/2010/main" val="2436057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9E57F4A-D04C-C703-8352-7AC3EBBABC83}"/>
              </a:ext>
            </a:extLst>
          </p:cNvPr>
          <p:cNvSpPr>
            <a:spLocks noGrp="1"/>
          </p:cNvSpPr>
          <p:nvPr>
            <p:ph type="body" idx="1"/>
          </p:nvPr>
        </p:nvSpPr>
        <p:spPr>
          <a:xfrm>
            <a:off x="415650" y="400692"/>
            <a:ext cx="11360700" cy="5743254"/>
          </a:xfrm>
        </p:spPr>
        <p:txBody>
          <a:bodyPr/>
          <a:lstStyle/>
          <a:p>
            <a:pPr>
              <a:buNone/>
            </a:pPr>
            <a:r>
              <a:rPr lang="en-US" sz="2400" b="1" dirty="0">
                <a:solidFill>
                  <a:srgbClr val="CC3399"/>
                </a:solidFill>
                <a:latin typeface="Times New Roman" panose="02020603050405020304" pitchFamily="18" charset="0"/>
                <a:cs typeface="Times New Roman" panose="02020603050405020304" pitchFamily="18" charset="0"/>
              </a:rPr>
              <a:t>3.</a:t>
            </a:r>
            <a:r>
              <a:rPr lang="en-US" b="1" dirty="0">
                <a:solidFill>
                  <a:srgbClr val="CC3399"/>
                </a:solidFill>
              </a:rPr>
              <a:t> </a:t>
            </a:r>
            <a:r>
              <a:rPr lang="en-US" sz="2400" b="1" dirty="0">
                <a:solidFill>
                  <a:srgbClr val="CC3399"/>
                </a:solidFill>
                <a:latin typeface="Times New Roman" panose="02020603050405020304" pitchFamily="18" charset="0"/>
                <a:cs typeface="Times New Roman" panose="02020603050405020304" pitchFamily="18" charset="0"/>
              </a:rPr>
              <a:t>High-Fidelity Prototype</a:t>
            </a:r>
          </a:p>
          <a:p>
            <a:pPr>
              <a:buNone/>
            </a:pPr>
            <a:r>
              <a:rPr lang="en-US" sz="2400" dirty="0">
                <a:latin typeface="Times New Roman" panose="02020603050405020304" pitchFamily="18" charset="0"/>
                <a:cs typeface="Times New Roman" panose="02020603050405020304" pitchFamily="18" charset="0"/>
              </a:rPr>
              <a:t>A detailed and realistic representation that closely resembles the final product.</a:t>
            </a:r>
          </a:p>
          <a:p>
            <a:pPr>
              <a:buNone/>
            </a:pPr>
            <a:r>
              <a:rPr lang="en-US" sz="2400" b="1" dirty="0">
                <a:latin typeface="Times New Roman" panose="02020603050405020304" pitchFamily="18" charset="0"/>
                <a:cs typeface="Times New Roman" panose="02020603050405020304" pitchFamily="18" charset="0"/>
              </a:rPr>
              <a:t>Examples: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Interactive application prototype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Fully designed website prototype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Functional product model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Advanced digital prototype </a:t>
            </a:r>
          </a:p>
          <a:p>
            <a:pPr>
              <a:buNone/>
            </a:pPr>
            <a:r>
              <a:rPr lang="en-US" sz="2400" b="1" dirty="0">
                <a:latin typeface="Times New Roman" panose="02020603050405020304" pitchFamily="18" charset="0"/>
                <a:cs typeface="Times New Roman" panose="02020603050405020304" pitchFamily="18" charset="0"/>
              </a:rPr>
              <a:t>Purpose: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To test </a:t>
            </a:r>
            <a:r>
              <a:rPr lang="en-US" sz="2400" b="1" dirty="0">
                <a:latin typeface="Times New Roman" panose="02020603050405020304" pitchFamily="18" charset="0"/>
                <a:cs typeface="Times New Roman" panose="02020603050405020304" pitchFamily="18" charset="0"/>
              </a:rPr>
              <a:t>usability, interactions, visual design, and near-real functionality</a:t>
            </a:r>
            <a:r>
              <a:rPr lang="en-US" sz="2400" dirty="0">
                <a:latin typeface="Times New Roman" panose="02020603050405020304" pitchFamily="18" charset="0"/>
                <a:cs typeface="Times New Roman" panose="02020603050405020304" pitchFamily="18" charset="0"/>
              </a:rPr>
              <a:t>.</a:t>
            </a:r>
          </a:p>
          <a:p>
            <a:pPr>
              <a:buNone/>
            </a:pPr>
            <a:endParaRPr lang="en-US" sz="2400" dirty="0">
              <a:latin typeface="Times New Roman" panose="02020603050405020304" pitchFamily="18" charset="0"/>
              <a:cs typeface="Times New Roman" panose="02020603050405020304" pitchFamily="18" charset="0"/>
            </a:endParaRP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Key Point</a:t>
            </a:r>
          </a:p>
          <a:p>
            <a:pPr>
              <a:buNone/>
            </a:pPr>
            <a:r>
              <a:rPr lang="en-US" sz="2400" b="1" dirty="0">
                <a:latin typeface="Times New Roman" panose="02020603050405020304" pitchFamily="18" charset="0"/>
                <a:cs typeface="Times New Roman" panose="02020603050405020304" pitchFamily="18" charset="0"/>
              </a:rPr>
              <a:t>	Low fidelity → "What should we build?"</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Medium fidelity → "How should it work?"</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High fidelity → "Does it work well for the user?"</a:t>
            </a:r>
            <a:endParaRPr lang="en-US" sz="2400" dirty="0">
              <a:latin typeface="Times New Roman" panose="02020603050405020304" pitchFamily="18" charset="0"/>
              <a:cs typeface="Times New Roman" panose="02020603050405020304" pitchFamily="18" charset="0"/>
            </a:endParaRPr>
          </a:p>
          <a:p>
            <a:pPr>
              <a:buNone/>
            </a:pPr>
            <a:endParaRPr lang="en-US" sz="24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ECB1F9CB-9CF8-1185-AEAD-C4BAB6646B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13</a:t>
            </a:fld>
            <a:endParaRPr lang="en-GB"/>
          </a:p>
        </p:txBody>
      </p:sp>
    </p:spTree>
    <p:extLst>
      <p:ext uri="{BB962C8B-B14F-4D97-AF65-F5344CB8AC3E}">
        <p14:creationId xmlns:p14="http://schemas.microsoft.com/office/powerpoint/2010/main" val="2750656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DB0AB14-9938-D31B-D70C-DA77ADF7DA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14</a:t>
            </a:fld>
            <a:endParaRPr lang="en-GB"/>
          </a:p>
        </p:txBody>
      </p:sp>
      <p:pic>
        <p:nvPicPr>
          <p:cNvPr id="6" name="Picture 5">
            <a:extLst>
              <a:ext uri="{FF2B5EF4-FFF2-40B4-BE49-F238E27FC236}">
                <a16:creationId xmlns:a16="http://schemas.microsoft.com/office/drawing/2014/main" id="{E25CED0E-175E-A175-9AD7-B44EC8352BF6}"/>
              </a:ext>
            </a:extLst>
          </p:cNvPr>
          <p:cNvPicPr>
            <a:picLocks noChangeAspect="1"/>
          </p:cNvPicPr>
          <p:nvPr/>
        </p:nvPicPr>
        <p:blipFill>
          <a:blip r:embed="rId2"/>
          <a:stretch>
            <a:fillRect/>
          </a:stretch>
        </p:blipFill>
        <p:spPr>
          <a:xfrm>
            <a:off x="1219200" y="766762"/>
            <a:ext cx="9753600" cy="5324475"/>
          </a:xfrm>
          <a:prstGeom prst="rect">
            <a:avLst/>
          </a:prstGeom>
        </p:spPr>
      </p:pic>
    </p:spTree>
    <p:extLst>
      <p:ext uri="{BB962C8B-B14F-4D97-AF65-F5344CB8AC3E}">
        <p14:creationId xmlns:p14="http://schemas.microsoft.com/office/powerpoint/2010/main" val="3686065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17835-ACF6-1C91-0102-808491A81302}"/>
              </a:ext>
            </a:extLst>
          </p:cNvPr>
          <p:cNvSpPr>
            <a:spLocks noGrp="1"/>
          </p:cNvSpPr>
          <p:nvPr>
            <p:ph type="title"/>
          </p:nvPr>
        </p:nvSpPr>
        <p:spPr/>
        <p:txBody>
          <a:bodyPr/>
          <a:lstStyle/>
          <a:p>
            <a:r>
              <a:rPr lang="en-IN" sz="2800" dirty="0">
                <a:latin typeface="Times New Roman" panose="02020603050405020304" pitchFamily="18" charset="0"/>
                <a:cs typeface="Times New Roman" panose="02020603050405020304" pitchFamily="18" charset="0"/>
              </a:rPr>
              <a:t>Examples</a:t>
            </a:r>
          </a:p>
        </p:txBody>
      </p:sp>
      <p:sp>
        <p:nvSpPr>
          <p:cNvPr id="4" name="Slide Number Placeholder 3">
            <a:extLst>
              <a:ext uri="{FF2B5EF4-FFF2-40B4-BE49-F238E27FC236}">
                <a16:creationId xmlns:a16="http://schemas.microsoft.com/office/drawing/2014/main" id="{6718D55B-D9ED-9E18-1E1F-6F7DAE6CF0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15</a:t>
            </a:fld>
            <a:endParaRPr lang="en-GB"/>
          </a:p>
        </p:txBody>
      </p:sp>
      <p:graphicFrame>
        <p:nvGraphicFramePr>
          <p:cNvPr id="5" name="Table 4">
            <a:extLst>
              <a:ext uri="{FF2B5EF4-FFF2-40B4-BE49-F238E27FC236}">
                <a16:creationId xmlns:a16="http://schemas.microsoft.com/office/drawing/2014/main" id="{38E158DE-E71B-A19B-74CB-C1DD3FE38769}"/>
              </a:ext>
            </a:extLst>
          </p:cNvPr>
          <p:cNvGraphicFramePr>
            <a:graphicFrameLocks noGrp="1"/>
          </p:cNvGraphicFramePr>
          <p:nvPr>
            <p:extLst>
              <p:ext uri="{D42A27DB-BD31-4B8C-83A1-F6EECF244321}">
                <p14:modId xmlns:p14="http://schemas.microsoft.com/office/powerpoint/2010/main" val="1379535546"/>
              </p:ext>
            </p:extLst>
          </p:nvPr>
        </p:nvGraphicFramePr>
        <p:xfrm>
          <a:off x="2496620" y="1600200"/>
          <a:ext cx="7756990" cy="3657600"/>
        </p:xfrm>
        <a:graphic>
          <a:graphicData uri="http://schemas.openxmlformats.org/drawingml/2006/table">
            <a:tbl>
              <a:tblPr>
                <a:tableStyleId>{69C7853C-536D-4A76-A0AE-DD22124D55A5}</a:tableStyleId>
              </a:tblPr>
              <a:tblGrid>
                <a:gridCol w="2777533">
                  <a:extLst>
                    <a:ext uri="{9D8B030D-6E8A-4147-A177-3AD203B41FA5}">
                      <a16:colId xmlns:a16="http://schemas.microsoft.com/office/drawing/2014/main" val="3629227894"/>
                    </a:ext>
                  </a:extLst>
                </a:gridCol>
                <a:gridCol w="4979457">
                  <a:extLst>
                    <a:ext uri="{9D8B030D-6E8A-4147-A177-3AD203B41FA5}">
                      <a16:colId xmlns:a16="http://schemas.microsoft.com/office/drawing/2014/main" val="446675484"/>
                    </a:ext>
                  </a:extLst>
                </a:gridCol>
              </a:tblGrid>
              <a:tr h="294717">
                <a:tc>
                  <a:txBody>
                    <a:bodyPr/>
                    <a:lstStyle/>
                    <a:p>
                      <a:pPr>
                        <a:buNone/>
                      </a:pPr>
                      <a:r>
                        <a:rPr lang="en-IN" sz="2400" b="1" i="1">
                          <a:latin typeface="Times New Roman" panose="02020603050405020304" pitchFamily="18" charset="0"/>
                          <a:cs typeface="Times New Roman" panose="02020603050405020304" pitchFamily="18" charset="0"/>
                        </a:rPr>
                        <a:t>Prototype Type</a:t>
                      </a:r>
                    </a:p>
                  </a:txBody>
                  <a:tcPr anchor="ctr"/>
                </a:tc>
                <a:tc>
                  <a:txBody>
                    <a:bodyPr/>
                    <a:lstStyle/>
                    <a:p>
                      <a:pPr>
                        <a:buNone/>
                      </a:pPr>
                      <a:r>
                        <a:rPr lang="en-IN" sz="2400" b="1" i="1" dirty="0">
                          <a:latin typeface="Times New Roman" panose="02020603050405020304" pitchFamily="18" charset="0"/>
                          <a:cs typeface="Times New Roman" panose="02020603050405020304" pitchFamily="18" charset="0"/>
                        </a:rPr>
                        <a:t>Example</a:t>
                      </a:r>
                    </a:p>
                  </a:txBody>
                  <a:tcPr anchor="ctr"/>
                </a:tc>
                <a:extLst>
                  <a:ext uri="{0D108BD9-81ED-4DB2-BD59-A6C34878D82A}">
                    <a16:rowId xmlns:a16="http://schemas.microsoft.com/office/drawing/2014/main" val="3542577709"/>
                  </a:ext>
                </a:extLst>
              </a:tr>
              <a:tr h="294717">
                <a:tc>
                  <a:txBody>
                    <a:bodyPr/>
                    <a:lstStyle/>
                    <a:p>
                      <a:pPr>
                        <a:buNone/>
                      </a:pPr>
                      <a:r>
                        <a:rPr lang="en-IN" sz="2400">
                          <a:latin typeface="Times New Roman" panose="02020603050405020304" pitchFamily="18" charset="0"/>
                          <a:cs typeface="Times New Roman" panose="02020603050405020304" pitchFamily="18" charset="0"/>
                        </a:rPr>
                        <a:t>Sketch</a:t>
                      </a:r>
                    </a:p>
                  </a:txBody>
                  <a:tcPr anchor="ctr"/>
                </a:tc>
                <a:tc>
                  <a:txBody>
                    <a:bodyPr/>
                    <a:lstStyle/>
                    <a:p>
                      <a:pPr>
                        <a:buNone/>
                      </a:pPr>
                      <a:r>
                        <a:rPr lang="en-IN" sz="2400">
                          <a:latin typeface="Times New Roman" panose="02020603050405020304" pitchFamily="18" charset="0"/>
                          <a:cs typeface="Times New Roman" panose="02020603050405020304" pitchFamily="18" charset="0"/>
                        </a:rPr>
                        <a:t>Hand-drawn mobile screen</a:t>
                      </a:r>
                    </a:p>
                  </a:txBody>
                  <a:tcPr anchor="ctr"/>
                </a:tc>
                <a:extLst>
                  <a:ext uri="{0D108BD9-81ED-4DB2-BD59-A6C34878D82A}">
                    <a16:rowId xmlns:a16="http://schemas.microsoft.com/office/drawing/2014/main" val="2503165044"/>
                  </a:ext>
                </a:extLst>
              </a:tr>
              <a:tr h="294717">
                <a:tc>
                  <a:txBody>
                    <a:bodyPr/>
                    <a:lstStyle/>
                    <a:p>
                      <a:pPr>
                        <a:buNone/>
                      </a:pPr>
                      <a:r>
                        <a:rPr lang="en-IN" sz="2400">
                          <a:latin typeface="Times New Roman" panose="02020603050405020304" pitchFamily="18" charset="0"/>
                          <a:cs typeface="Times New Roman" panose="02020603050405020304" pitchFamily="18" charset="0"/>
                        </a:rPr>
                        <a:t>Paper Prototype</a:t>
                      </a:r>
                    </a:p>
                  </a:txBody>
                  <a:tcPr anchor="ctr"/>
                </a:tc>
                <a:tc>
                  <a:txBody>
                    <a:bodyPr/>
                    <a:lstStyle/>
                    <a:p>
                      <a:pPr>
                        <a:buNone/>
                      </a:pPr>
                      <a:r>
                        <a:rPr lang="en-IN" sz="2400">
                          <a:latin typeface="Times New Roman" panose="02020603050405020304" pitchFamily="18" charset="0"/>
                          <a:cs typeface="Times New Roman" panose="02020603050405020304" pitchFamily="18" charset="0"/>
                        </a:rPr>
                        <a:t>Paper buttons and screens</a:t>
                      </a:r>
                    </a:p>
                  </a:txBody>
                  <a:tcPr anchor="ctr"/>
                </a:tc>
                <a:extLst>
                  <a:ext uri="{0D108BD9-81ED-4DB2-BD59-A6C34878D82A}">
                    <a16:rowId xmlns:a16="http://schemas.microsoft.com/office/drawing/2014/main" val="3801454563"/>
                  </a:ext>
                </a:extLst>
              </a:tr>
              <a:tr h="294717">
                <a:tc>
                  <a:txBody>
                    <a:bodyPr/>
                    <a:lstStyle/>
                    <a:p>
                      <a:pPr>
                        <a:buNone/>
                      </a:pPr>
                      <a:r>
                        <a:rPr lang="en-IN" sz="2400">
                          <a:latin typeface="Times New Roman" panose="02020603050405020304" pitchFamily="18" charset="0"/>
                          <a:cs typeface="Times New Roman" panose="02020603050405020304" pitchFamily="18" charset="0"/>
                        </a:rPr>
                        <a:t>Storyboard</a:t>
                      </a:r>
                    </a:p>
                  </a:txBody>
                  <a:tcPr anchor="ctr"/>
                </a:tc>
                <a:tc>
                  <a:txBody>
                    <a:bodyPr/>
                    <a:lstStyle/>
                    <a:p>
                      <a:pPr>
                        <a:buNone/>
                      </a:pPr>
                      <a:r>
                        <a:rPr lang="en-IN" sz="2400">
                          <a:latin typeface="Times New Roman" panose="02020603050405020304" pitchFamily="18" charset="0"/>
                          <a:cs typeface="Times New Roman" panose="02020603050405020304" pitchFamily="18" charset="0"/>
                        </a:rPr>
                        <a:t>Sequence showing user interaction</a:t>
                      </a:r>
                    </a:p>
                  </a:txBody>
                  <a:tcPr anchor="ctr"/>
                </a:tc>
                <a:extLst>
                  <a:ext uri="{0D108BD9-81ED-4DB2-BD59-A6C34878D82A}">
                    <a16:rowId xmlns:a16="http://schemas.microsoft.com/office/drawing/2014/main" val="3281810691"/>
                  </a:ext>
                </a:extLst>
              </a:tr>
              <a:tr h="294717">
                <a:tc>
                  <a:txBody>
                    <a:bodyPr/>
                    <a:lstStyle/>
                    <a:p>
                      <a:pPr>
                        <a:buNone/>
                      </a:pPr>
                      <a:r>
                        <a:rPr lang="en-IN" sz="2400">
                          <a:latin typeface="Times New Roman" panose="02020603050405020304" pitchFamily="18" charset="0"/>
                          <a:cs typeface="Times New Roman" panose="02020603050405020304" pitchFamily="18" charset="0"/>
                        </a:rPr>
                        <a:t>Wireframe</a:t>
                      </a:r>
                    </a:p>
                  </a:txBody>
                  <a:tcPr anchor="ctr"/>
                </a:tc>
                <a:tc>
                  <a:txBody>
                    <a:bodyPr/>
                    <a:lstStyle/>
                    <a:p>
                      <a:pPr>
                        <a:buNone/>
                      </a:pPr>
                      <a:r>
                        <a:rPr lang="en-IN" sz="2400">
                          <a:latin typeface="Times New Roman" panose="02020603050405020304" pitchFamily="18" charset="0"/>
                          <a:cs typeface="Times New Roman" panose="02020603050405020304" pitchFamily="18" charset="0"/>
                        </a:rPr>
                        <a:t>Basic digital screen layout</a:t>
                      </a:r>
                    </a:p>
                  </a:txBody>
                  <a:tcPr anchor="ctr"/>
                </a:tc>
                <a:extLst>
                  <a:ext uri="{0D108BD9-81ED-4DB2-BD59-A6C34878D82A}">
                    <a16:rowId xmlns:a16="http://schemas.microsoft.com/office/drawing/2014/main" val="1796975264"/>
                  </a:ext>
                </a:extLst>
              </a:tr>
              <a:tr h="294717">
                <a:tc>
                  <a:txBody>
                    <a:bodyPr/>
                    <a:lstStyle/>
                    <a:p>
                      <a:pPr>
                        <a:buNone/>
                      </a:pPr>
                      <a:r>
                        <a:rPr lang="en-IN" sz="2400">
                          <a:latin typeface="Times New Roman" panose="02020603050405020304" pitchFamily="18" charset="0"/>
                          <a:cs typeface="Times New Roman" panose="02020603050405020304" pitchFamily="18" charset="0"/>
                        </a:rPr>
                        <a:t>Mockup</a:t>
                      </a:r>
                    </a:p>
                  </a:txBody>
                  <a:tcPr anchor="ctr"/>
                </a:tc>
                <a:tc>
                  <a:txBody>
                    <a:bodyPr/>
                    <a:lstStyle/>
                    <a:p>
                      <a:pPr>
                        <a:buNone/>
                      </a:pPr>
                      <a:r>
                        <a:rPr lang="en-IN" sz="2400">
                          <a:latin typeface="Times New Roman" panose="02020603050405020304" pitchFamily="18" charset="0"/>
                          <a:cs typeface="Times New Roman" panose="02020603050405020304" pitchFamily="18" charset="0"/>
                        </a:rPr>
                        <a:t>Detailed visual representation</a:t>
                      </a:r>
                    </a:p>
                  </a:txBody>
                  <a:tcPr anchor="ctr"/>
                </a:tc>
                <a:extLst>
                  <a:ext uri="{0D108BD9-81ED-4DB2-BD59-A6C34878D82A}">
                    <a16:rowId xmlns:a16="http://schemas.microsoft.com/office/drawing/2014/main" val="2884274800"/>
                  </a:ext>
                </a:extLst>
              </a:tr>
              <a:tr h="294717">
                <a:tc>
                  <a:txBody>
                    <a:bodyPr/>
                    <a:lstStyle/>
                    <a:p>
                      <a:pPr>
                        <a:buNone/>
                      </a:pPr>
                      <a:r>
                        <a:rPr lang="en-IN" sz="2400">
                          <a:latin typeface="Times New Roman" panose="02020603050405020304" pitchFamily="18" charset="0"/>
                          <a:cs typeface="Times New Roman" panose="02020603050405020304" pitchFamily="18" charset="0"/>
                        </a:rPr>
                        <a:t>Clickable Prototype</a:t>
                      </a:r>
                    </a:p>
                  </a:txBody>
                  <a:tcPr anchor="ctr"/>
                </a:tc>
                <a:tc>
                  <a:txBody>
                    <a:bodyPr/>
                    <a:lstStyle/>
                    <a:p>
                      <a:pPr>
                        <a:buNone/>
                      </a:pPr>
                      <a:r>
                        <a:rPr lang="en-IN" sz="2400">
                          <a:latin typeface="Times New Roman" panose="02020603050405020304" pitchFamily="18" charset="0"/>
                          <a:cs typeface="Times New Roman" panose="02020603050405020304" pitchFamily="18" charset="0"/>
                        </a:rPr>
                        <a:t>Interactive screens</a:t>
                      </a:r>
                    </a:p>
                  </a:txBody>
                  <a:tcPr anchor="ctr"/>
                </a:tc>
                <a:extLst>
                  <a:ext uri="{0D108BD9-81ED-4DB2-BD59-A6C34878D82A}">
                    <a16:rowId xmlns:a16="http://schemas.microsoft.com/office/drawing/2014/main" val="2185656709"/>
                  </a:ext>
                </a:extLst>
              </a:tr>
              <a:tr h="294717">
                <a:tc>
                  <a:txBody>
                    <a:bodyPr/>
                    <a:lstStyle/>
                    <a:p>
                      <a:pPr>
                        <a:buNone/>
                      </a:pPr>
                      <a:r>
                        <a:rPr lang="en-IN" sz="2400">
                          <a:latin typeface="Times New Roman" panose="02020603050405020304" pitchFamily="18" charset="0"/>
                          <a:cs typeface="Times New Roman" panose="02020603050405020304" pitchFamily="18" charset="0"/>
                        </a:rPr>
                        <a:t>Functional Prototype</a:t>
                      </a:r>
                    </a:p>
                  </a:txBody>
                  <a:tcPr anchor="ctr"/>
                </a:tc>
                <a:tc>
                  <a:txBody>
                    <a:bodyPr/>
                    <a:lstStyle/>
                    <a:p>
                      <a:pPr>
                        <a:buNone/>
                      </a:pPr>
                      <a:r>
                        <a:rPr lang="en-US" sz="2400" dirty="0">
                          <a:latin typeface="Times New Roman" panose="02020603050405020304" pitchFamily="18" charset="0"/>
                          <a:cs typeface="Times New Roman" panose="02020603050405020304" pitchFamily="18" charset="0"/>
                        </a:rPr>
                        <a:t>Working version of selected features</a:t>
                      </a:r>
                    </a:p>
                  </a:txBody>
                  <a:tcPr anchor="ctr"/>
                </a:tc>
                <a:extLst>
                  <a:ext uri="{0D108BD9-81ED-4DB2-BD59-A6C34878D82A}">
                    <a16:rowId xmlns:a16="http://schemas.microsoft.com/office/drawing/2014/main" val="79671590"/>
                  </a:ext>
                </a:extLst>
              </a:tr>
            </a:tbl>
          </a:graphicData>
        </a:graphic>
      </p:graphicFrame>
    </p:spTree>
    <p:extLst>
      <p:ext uri="{BB962C8B-B14F-4D97-AF65-F5344CB8AC3E}">
        <p14:creationId xmlns:p14="http://schemas.microsoft.com/office/powerpoint/2010/main" val="2941782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66BE9-BE7E-ACB5-997C-8FE47B452CDB}"/>
              </a:ext>
            </a:extLst>
          </p:cNvPr>
          <p:cNvSpPr>
            <a:spLocks noGrp="1"/>
          </p:cNvSpPr>
          <p:nvPr>
            <p:ph type="title"/>
          </p:nvPr>
        </p:nvSpPr>
        <p:spPr/>
        <p:txBody>
          <a:bodyPr/>
          <a:lstStyle/>
          <a:p>
            <a:r>
              <a:rPr lang="en-IN" sz="2800" dirty="0">
                <a:latin typeface="Times New Roman" panose="02020603050405020304" pitchFamily="18" charset="0"/>
                <a:cs typeface="Times New Roman" panose="02020603050405020304" pitchFamily="18" charset="0"/>
              </a:rPr>
              <a:t>Comparison</a:t>
            </a:r>
          </a:p>
        </p:txBody>
      </p:sp>
      <p:sp>
        <p:nvSpPr>
          <p:cNvPr id="4" name="Slide Number Placeholder 3">
            <a:extLst>
              <a:ext uri="{FF2B5EF4-FFF2-40B4-BE49-F238E27FC236}">
                <a16:creationId xmlns:a16="http://schemas.microsoft.com/office/drawing/2014/main" id="{507154AE-025A-1EDB-5219-C2359457B5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16</a:t>
            </a:fld>
            <a:endParaRPr lang="en-GB"/>
          </a:p>
        </p:txBody>
      </p:sp>
      <p:graphicFrame>
        <p:nvGraphicFramePr>
          <p:cNvPr id="5" name="Table 4">
            <a:extLst>
              <a:ext uri="{FF2B5EF4-FFF2-40B4-BE49-F238E27FC236}">
                <a16:creationId xmlns:a16="http://schemas.microsoft.com/office/drawing/2014/main" id="{6BF206B6-5F10-8F28-8E1A-A2389DA6A0B8}"/>
              </a:ext>
            </a:extLst>
          </p:cNvPr>
          <p:cNvGraphicFramePr>
            <a:graphicFrameLocks noGrp="1"/>
          </p:cNvGraphicFramePr>
          <p:nvPr>
            <p:extLst>
              <p:ext uri="{D42A27DB-BD31-4B8C-83A1-F6EECF244321}">
                <p14:modId xmlns:p14="http://schemas.microsoft.com/office/powerpoint/2010/main" val="282629060"/>
              </p:ext>
            </p:extLst>
          </p:nvPr>
        </p:nvGraphicFramePr>
        <p:xfrm>
          <a:off x="591951" y="1936679"/>
          <a:ext cx="10740446" cy="2926080"/>
        </p:xfrm>
        <a:graphic>
          <a:graphicData uri="http://schemas.openxmlformats.org/drawingml/2006/table">
            <a:tbl>
              <a:tblPr>
                <a:tableStyleId>{35758FB7-9AC5-4552-8A53-C91805E547FA}</a:tableStyleId>
              </a:tblPr>
              <a:tblGrid>
                <a:gridCol w="2656911">
                  <a:extLst>
                    <a:ext uri="{9D8B030D-6E8A-4147-A177-3AD203B41FA5}">
                      <a16:colId xmlns:a16="http://schemas.microsoft.com/office/drawing/2014/main" val="3973017620"/>
                    </a:ext>
                  </a:extLst>
                </a:gridCol>
                <a:gridCol w="1389059">
                  <a:extLst>
                    <a:ext uri="{9D8B030D-6E8A-4147-A177-3AD203B41FA5}">
                      <a16:colId xmlns:a16="http://schemas.microsoft.com/office/drawing/2014/main" val="3784128083"/>
                    </a:ext>
                  </a:extLst>
                </a:gridCol>
                <a:gridCol w="1631900">
                  <a:extLst>
                    <a:ext uri="{9D8B030D-6E8A-4147-A177-3AD203B41FA5}">
                      <a16:colId xmlns:a16="http://schemas.microsoft.com/office/drawing/2014/main" val="299119904"/>
                    </a:ext>
                  </a:extLst>
                </a:gridCol>
                <a:gridCol w="1719325">
                  <a:extLst>
                    <a:ext uri="{9D8B030D-6E8A-4147-A177-3AD203B41FA5}">
                      <a16:colId xmlns:a16="http://schemas.microsoft.com/office/drawing/2014/main" val="1791965784"/>
                    </a:ext>
                  </a:extLst>
                </a:gridCol>
                <a:gridCol w="3343251">
                  <a:extLst>
                    <a:ext uri="{9D8B030D-6E8A-4147-A177-3AD203B41FA5}">
                      <a16:colId xmlns:a16="http://schemas.microsoft.com/office/drawing/2014/main" val="918042344"/>
                    </a:ext>
                  </a:extLst>
                </a:gridCol>
              </a:tblGrid>
              <a:tr h="227573">
                <a:tc>
                  <a:txBody>
                    <a:bodyPr/>
                    <a:lstStyle/>
                    <a:p>
                      <a:pPr>
                        <a:buNone/>
                      </a:pPr>
                      <a:r>
                        <a:rPr lang="en-IN" sz="2400" b="1" i="1">
                          <a:latin typeface="Times New Roman" panose="02020603050405020304" pitchFamily="18" charset="0"/>
                          <a:cs typeface="Times New Roman" panose="02020603050405020304" pitchFamily="18" charset="0"/>
                        </a:rPr>
                        <a:t>Level</a:t>
                      </a:r>
                    </a:p>
                  </a:txBody>
                  <a:tcPr anchor="ctr"/>
                </a:tc>
                <a:tc>
                  <a:txBody>
                    <a:bodyPr/>
                    <a:lstStyle/>
                    <a:p>
                      <a:pPr>
                        <a:buNone/>
                      </a:pPr>
                      <a:r>
                        <a:rPr lang="en-IN" sz="2400" b="1" i="1" dirty="0">
                          <a:latin typeface="Times New Roman" panose="02020603050405020304" pitchFamily="18" charset="0"/>
                          <a:cs typeface="Times New Roman" panose="02020603050405020304" pitchFamily="18" charset="0"/>
                        </a:rPr>
                        <a:t>Detail</a:t>
                      </a:r>
                    </a:p>
                  </a:txBody>
                  <a:tcPr anchor="ctr"/>
                </a:tc>
                <a:tc>
                  <a:txBody>
                    <a:bodyPr/>
                    <a:lstStyle/>
                    <a:p>
                      <a:pPr>
                        <a:buNone/>
                      </a:pPr>
                      <a:r>
                        <a:rPr lang="en-IN" sz="2400" b="1" i="1">
                          <a:latin typeface="Times New Roman" panose="02020603050405020304" pitchFamily="18" charset="0"/>
                          <a:cs typeface="Times New Roman" panose="02020603050405020304" pitchFamily="18" charset="0"/>
                        </a:rPr>
                        <a:t>Cost</a:t>
                      </a:r>
                    </a:p>
                  </a:txBody>
                  <a:tcPr anchor="ctr"/>
                </a:tc>
                <a:tc>
                  <a:txBody>
                    <a:bodyPr/>
                    <a:lstStyle/>
                    <a:p>
                      <a:pPr>
                        <a:buNone/>
                      </a:pPr>
                      <a:r>
                        <a:rPr lang="en-IN" sz="2400" b="1" i="1">
                          <a:latin typeface="Times New Roman" panose="02020603050405020304" pitchFamily="18" charset="0"/>
                          <a:cs typeface="Times New Roman" panose="02020603050405020304" pitchFamily="18" charset="0"/>
                        </a:rPr>
                        <a:t>Time</a:t>
                      </a:r>
                    </a:p>
                  </a:txBody>
                  <a:tcPr anchor="ctr"/>
                </a:tc>
                <a:tc>
                  <a:txBody>
                    <a:bodyPr/>
                    <a:lstStyle/>
                    <a:p>
                      <a:pPr>
                        <a:buNone/>
                      </a:pPr>
                      <a:r>
                        <a:rPr lang="en-IN" sz="2400" b="1" i="1" dirty="0">
                          <a:latin typeface="Times New Roman" panose="02020603050405020304" pitchFamily="18" charset="0"/>
                          <a:cs typeface="Times New Roman" panose="02020603050405020304" pitchFamily="18" charset="0"/>
                        </a:rPr>
                        <a:t>Main Purpose</a:t>
                      </a:r>
                    </a:p>
                  </a:txBody>
                  <a:tcPr anchor="ctr"/>
                </a:tc>
                <a:extLst>
                  <a:ext uri="{0D108BD9-81ED-4DB2-BD59-A6C34878D82A}">
                    <a16:rowId xmlns:a16="http://schemas.microsoft.com/office/drawing/2014/main" val="2711267002"/>
                  </a:ext>
                </a:extLst>
              </a:tr>
              <a:tr h="0">
                <a:tc>
                  <a:txBody>
                    <a:bodyPr/>
                    <a:lstStyle/>
                    <a:p>
                      <a:pPr>
                        <a:buNone/>
                      </a:pPr>
                      <a:r>
                        <a:rPr lang="en-IN" sz="2400" b="1">
                          <a:latin typeface="Times New Roman" panose="02020603050405020304" pitchFamily="18" charset="0"/>
                          <a:cs typeface="Times New Roman" panose="02020603050405020304" pitchFamily="18" charset="0"/>
                        </a:rPr>
                        <a:t>Low-Fidelity</a:t>
                      </a:r>
                      <a:endParaRPr lang="en-IN" sz="2400">
                        <a:latin typeface="Times New Roman" panose="02020603050405020304" pitchFamily="18" charset="0"/>
                        <a:cs typeface="Times New Roman" panose="02020603050405020304" pitchFamily="18" charset="0"/>
                      </a:endParaRPr>
                    </a:p>
                  </a:txBody>
                  <a:tcPr anchor="ctr"/>
                </a:tc>
                <a:tc>
                  <a:txBody>
                    <a:bodyPr/>
                    <a:lstStyle/>
                    <a:p>
                      <a:pPr>
                        <a:buNone/>
                      </a:pPr>
                      <a:r>
                        <a:rPr lang="en-IN" sz="2400">
                          <a:latin typeface="Times New Roman" panose="02020603050405020304" pitchFamily="18" charset="0"/>
                          <a:cs typeface="Times New Roman" panose="02020603050405020304" pitchFamily="18" charset="0"/>
                        </a:rPr>
                        <a:t>Low</a:t>
                      </a:r>
                    </a:p>
                  </a:txBody>
                  <a:tcPr anchor="ctr"/>
                </a:tc>
                <a:tc>
                  <a:txBody>
                    <a:bodyPr/>
                    <a:lstStyle/>
                    <a:p>
                      <a:pPr>
                        <a:buNone/>
                      </a:pPr>
                      <a:r>
                        <a:rPr lang="en-IN" sz="2400">
                          <a:latin typeface="Times New Roman" panose="02020603050405020304" pitchFamily="18" charset="0"/>
                          <a:cs typeface="Times New Roman" panose="02020603050405020304" pitchFamily="18" charset="0"/>
                        </a:rPr>
                        <a:t>Low</a:t>
                      </a:r>
                    </a:p>
                  </a:txBody>
                  <a:tcPr anchor="ctr"/>
                </a:tc>
                <a:tc>
                  <a:txBody>
                    <a:bodyPr/>
                    <a:lstStyle/>
                    <a:p>
                      <a:pPr>
                        <a:buNone/>
                      </a:pPr>
                      <a:r>
                        <a:rPr lang="en-IN" sz="2400">
                          <a:latin typeface="Times New Roman" panose="02020603050405020304" pitchFamily="18" charset="0"/>
                          <a:cs typeface="Times New Roman" panose="02020603050405020304" pitchFamily="18" charset="0"/>
                        </a:rPr>
                        <a:t>Short</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Explore ideas</a:t>
                      </a:r>
                    </a:p>
                    <a:p>
                      <a:pPr>
                        <a:buNone/>
                      </a:pP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25876572"/>
                  </a:ext>
                </a:extLst>
              </a:tr>
              <a:tr h="0">
                <a:tc>
                  <a:txBody>
                    <a:bodyPr/>
                    <a:lstStyle/>
                    <a:p>
                      <a:pPr>
                        <a:buNone/>
                      </a:pPr>
                      <a:r>
                        <a:rPr lang="en-IN" sz="2400" b="1">
                          <a:latin typeface="Times New Roman" panose="02020603050405020304" pitchFamily="18" charset="0"/>
                          <a:cs typeface="Times New Roman" panose="02020603050405020304" pitchFamily="18" charset="0"/>
                        </a:rPr>
                        <a:t>Medium-Fidelity</a:t>
                      </a:r>
                      <a:endParaRPr lang="en-IN" sz="2400">
                        <a:latin typeface="Times New Roman" panose="02020603050405020304" pitchFamily="18" charset="0"/>
                        <a:cs typeface="Times New Roman" panose="02020603050405020304" pitchFamily="18" charset="0"/>
                      </a:endParaRPr>
                    </a:p>
                  </a:txBody>
                  <a:tcPr anchor="ctr"/>
                </a:tc>
                <a:tc>
                  <a:txBody>
                    <a:bodyPr/>
                    <a:lstStyle/>
                    <a:p>
                      <a:pPr>
                        <a:buNone/>
                      </a:pPr>
                      <a:r>
                        <a:rPr lang="en-IN" sz="2400">
                          <a:latin typeface="Times New Roman" panose="02020603050405020304" pitchFamily="18" charset="0"/>
                          <a:cs typeface="Times New Roman" panose="02020603050405020304" pitchFamily="18" charset="0"/>
                        </a:rPr>
                        <a:t>Moderate</a:t>
                      </a:r>
                    </a:p>
                  </a:txBody>
                  <a:tcPr anchor="ctr"/>
                </a:tc>
                <a:tc>
                  <a:txBody>
                    <a:bodyPr/>
                    <a:lstStyle/>
                    <a:p>
                      <a:pPr>
                        <a:buNone/>
                      </a:pPr>
                      <a:r>
                        <a:rPr lang="en-IN" sz="2400">
                          <a:latin typeface="Times New Roman" panose="02020603050405020304" pitchFamily="18" charset="0"/>
                          <a:cs typeface="Times New Roman" panose="02020603050405020304" pitchFamily="18" charset="0"/>
                        </a:rPr>
                        <a:t>Moderate</a:t>
                      </a:r>
                    </a:p>
                  </a:txBody>
                  <a:tcPr anchor="ctr"/>
                </a:tc>
                <a:tc>
                  <a:txBody>
                    <a:bodyPr/>
                    <a:lstStyle/>
                    <a:p>
                      <a:pPr>
                        <a:buNone/>
                      </a:pPr>
                      <a:r>
                        <a:rPr lang="en-IN" sz="2400">
                          <a:latin typeface="Times New Roman" panose="02020603050405020304" pitchFamily="18" charset="0"/>
                          <a:cs typeface="Times New Roman" panose="02020603050405020304" pitchFamily="18" charset="0"/>
                        </a:rPr>
                        <a:t>Moderate</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Test structure &amp; interaction</a:t>
                      </a:r>
                    </a:p>
                  </a:txBody>
                  <a:tcPr anchor="ctr"/>
                </a:tc>
                <a:extLst>
                  <a:ext uri="{0D108BD9-81ED-4DB2-BD59-A6C34878D82A}">
                    <a16:rowId xmlns:a16="http://schemas.microsoft.com/office/drawing/2014/main" val="256497763"/>
                  </a:ext>
                </a:extLst>
              </a:tr>
              <a:tr h="0">
                <a:tc>
                  <a:txBody>
                    <a:bodyPr/>
                    <a:lstStyle/>
                    <a:p>
                      <a:pPr>
                        <a:buNone/>
                      </a:pPr>
                      <a:r>
                        <a:rPr lang="en-IN" sz="2400" b="1">
                          <a:latin typeface="Times New Roman" panose="02020603050405020304" pitchFamily="18" charset="0"/>
                          <a:cs typeface="Times New Roman" panose="02020603050405020304" pitchFamily="18" charset="0"/>
                        </a:rPr>
                        <a:t>High-Fidelity</a:t>
                      </a:r>
                      <a:endParaRPr lang="en-IN" sz="2400">
                        <a:latin typeface="Times New Roman" panose="02020603050405020304" pitchFamily="18" charset="0"/>
                        <a:cs typeface="Times New Roman" panose="02020603050405020304" pitchFamily="18" charset="0"/>
                      </a:endParaRPr>
                    </a:p>
                  </a:txBody>
                  <a:tcPr anchor="ctr"/>
                </a:tc>
                <a:tc>
                  <a:txBody>
                    <a:bodyPr/>
                    <a:lstStyle/>
                    <a:p>
                      <a:pPr>
                        <a:buNone/>
                      </a:pPr>
                      <a:r>
                        <a:rPr lang="en-IN" sz="2400">
                          <a:latin typeface="Times New Roman" panose="02020603050405020304" pitchFamily="18" charset="0"/>
                          <a:cs typeface="Times New Roman" panose="02020603050405020304" pitchFamily="18" charset="0"/>
                        </a:rPr>
                        <a:t>High</a:t>
                      </a:r>
                    </a:p>
                  </a:txBody>
                  <a:tcPr anchor="ctr"/>
                </a:tc>
                <a:tc>
                  <a:txBody>
                    <a:bodyPr/>
                    <a:lstStyle/>
                    <a:p>
                      <a:pPr>
                        <a:buNone/>
                      </a:pPr>
                      <a:r>
                        <a:rPr lang="en-IN" sz="2400">
                          <a:latin typeface="Times New Roman" panose="02020603050405020304" pitchFamily="18" charset="0"/>
                          <a:cs typeface="Times New Roman" panose="02020603050405020304" pitchFamily="18" charset="0"/>
                        </a:rPr>
                        <a:t>Higher</a:t>
                      </a:r>
                    </a:p>
                  </a:txBody>
                  <a:tcPr anchor="ctr"/>
                </a:tc>
                <a:tc>
                  <a:txBody>
                    <a:bodyPr/>
                    <a:lstStyle/>
                    <a:p>
                      <a:pPr>
                        <a:buNone/>
                      </a:pPr>
                      <a:r>
                        <a:rPr lang="en-IN" sz="2400">
                          <a:latin typeface="Times New Roman" panose="02020603050405020304" pitchFamily="18" charset="0"/>
                          <a:cs typeface="Times New Roman" panose="02020603050405020304" pitchFamily="18" charset="0"/>
                        </a:rPr>
                        <a:t>Longer</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Test realistic experience</a:t>
                      </a:r>
                    </a:p>
                    <a:p>
                      <a:pPr>
                        <a:buNone/>
                      </a:pP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19895712"/>
                  </a:ext>
                </a:extLst>
              </a:tr>
            </a:tbl>
          </a:graphicData>
        </a:graphic>
      </p:graphicFrame>
    </p:spTree>
    <p:extLst>
      <p:ext uri="{BB962C8B-B14F-4D97-AF65-F5344CB8AC3E}">
        <p14:creationId xmlns:p14="http://schemas.microsoft.com/office/powerpoint/2010/main" val="2365164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68C82-2F83-9C2E-F5BA-DE05C5FFF1F3}"/>
              </a:ext>
            </a:extLst>
          </p:cNvPr>
          <p:cNvSpPr>
            <a:spLocks noGrp="1"/>
          </p:cNvSpPr>
          <p:nvPr>
            <p:ph type="title"/>
          </p:nvPr>
        </p:nvSpPr>
        <p:spPr>
          <a:xfrm>
            <a:off x="323133" y="239837"/>
            <a:ext cx="11360700" cy="594218"/>
          </a:xfrm>
        </p:spPr>
        <p:txBody>
          <a:bodyPr/>
          <a:lstStyle/>
          <a:p>
            <a:pPr marL="457200" indent="-457200">
              <a:buFont typeface="Wingdings" panose="05000000000000000000" pitchFamily="2" charset="2"/>
              <a:buChar char="v"/>
            </a:pPr>
            <a:r>
              <a:rPr lang="en-US" sz="2800" dirty="0">
                <a:solidFill>
                  <a:srgbClr val="006600"/>
                </a:solidFill>
                <a:latin typeface="Times New Roman" panose="02020603050405020304" pitchFamily="18" charset="0"/>
                <a:cs typeface="Times New Roman" panose="02020603050405020304" pitchFamily="18" charset="0"/>
              </a:rPr>
              <a:t>Prototype Fidelity Should Match the Learning Goal</a:t>
            </a:r>
            <a:endParaRPr lang="en-IN" sz="2800" dirty="0">
              <a:solidFill>
                <a:srgbClr val="0066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D3EF9D3-4178-8479-C252-ED55359D9E92}"/>
              </a:ext>
            </a:extLst>
          </p:cNvPr>
          <p:cNvSpPr>
            <a:spLocks noGrp="1"/>
          </p:cNvSpPr>
          <p:nvPr>
            <p:ph type="body" idx="1"/>
          </p:nvPr>
        </p:nvSpPr>
        <p:spPr>
          <a:xfrm>
            <a:off x="415599" y="760288"/>
            <a:ext cx="11656535" cy="5648076"/>
          </a:xfrm>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common mistake is assuming that every prototype must be highly detailed.</a:t>
            </a:r>
          </a:p>
          <a:p>
            <a:pPr>
              <a:buNone/>
            </a:pPr>
            <a:r>
              <a:rPr lang="en-US" sz="2400" dirty="0">
                <a:latin typeface="Times New Roman" panose="02020603050405020304" pitchFamily="18" charset="0"/>
                <a:cs typeface="Times New Roman" panose="02020603050405020304" pitchFamily="18" charset="0"/>
              </a:rPr>
              <a:t>Instead, ask: “</a:t>
            </a:r>
            <a:r>
              <a:rPr lang="en-US" sz="2400" b="1" dirty="0">
                <a:latin typeface="Times New Roman" panose="02020603050405020304" pitchFamily="18" charset="0"/>
                <a:cs typeface="Times New Roman" panose="02020603050405020304" pitchFamily="18" charset="0"/>
              </a:rPr>
              <a:t>What do we want to learn?”</a:t>
            </a: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Build only enough of the prototype to answer the question you are trying to investigate.</a:t>
            </a: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B7B49FB7-EDAB-DFBD-88E2-38229FF2214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17</a:t>
            </a:fld>
            <a:endParaRPr lang="en-GB"/>
          </a:p>
        </p:txBody>
      </p:sp>
      <p:graphicFrame>
        <p:nvGraphicFramePr>
          <p:cNvPr id="5" name="Table 4">
            <a:extLst>
              <a:ext uri="{FF2B5EF4-FFF2-40B4-BE49-F238E27FC236}">
                <a16:creationId xmlns:a16="http://schemas.microsoft.com/office/drawing/2014/main" id="{CE196262-9EDE-3AFA-6B2E-33A50721DF19}"/>
              </a:ext>
            </a:extLst>
          </p:cNvPr>
          <p:cNvGraphicFramePr>
            <a:graphicFrameLocks noGrp="1"/>
          </p:cNvGraphicFramePr>
          <p:nvPr>
            <p:extLst>
              <p:ext uri="{D42A27DB-BD31-4B8C-83A1-F6EECF244321}">
                <p14:modId xmlns:p14="http://schemas.microsoft.com/office/powerpoint/2010/main" val="134910222"/>
              </p:ext>
            </p:extLst>
          </p:nvPr>
        </p:nvGraphicFramePr>
        <p:xfrm>
          <a:off x="1736333" y="1853369"/>
          <a:ext cx="8106310" cy="3535680"/>
        </p:xfrm>
        <a:graphic>
          <a:graphicData uri="http://schemas.openxmlformats.org/drawingml/2006/table">
            <a:tbl>
              <a:tblPr>
                <a:tableStyleId>{284E427A-3D55-4303-BF80-6455036E1DE7}</a:tableStyleId>
              </a:tblPr>
              <a:tblGrid>
                <a:gridCol w="4053155">
                  <a:extLst>
                    <a:ext uri="{9D8B030D-6E8A-4147-A177-3AD203B41FA5}">
                      <a16:colId xmlns:a16="http://schemas.microsoft.com/office/drawing/2014/main" val="279365862"/>
                    </a:ext>
                  </a:extLst>
                </a:gridCol>
                <a:gridCol w="4053155">
                  <a:extLst>
                    <a:ext uri="{9D8B030D-6E8A-4147-A177-3AD203B41FA5}">
                      <a16:colId xmlns:a16="http://schemas.microsoft.com/office/drawing/2014/main" val="4002710878"/>
                    </a:ext>
                  </a:extLst>
                </a:gridCol>
              </a:tblGrid>
              <a:tr h="0">
                <a:tc>
                  <a:txBody>
                    <a:bodyPr/>
                    <a:lstStyle/>
                    <a:p>
                      <a:pPr>
                        <a:buNone/>
                      </a:pPr>
                      <a:r>
                        <a:rPr lang="en-IN" sz="2300" b="1" i="1">
                          <a:latin typeface="Times New Roman" panose="02020603050405020304" pitchFamily="18" charset="0"/>
                          <a:cs typeface="Times New Roman" panose="02020603050405020304" pitchFamily="18" charset="0"/>
                        </a:rPr>
                        <a:t>Learning Goal</a:t>
                      </a:r>
                    </a:p>
                  </a:txBody>
                  <a:tcPr anchor="ctr"/>
                </a:tc>
                <a:tc>
                  <a:txBody>
                    <a:bodyPr/>
                    <a:lstStyle/>
                    <a:p>
                      <a:pPr>
                        <a:buNone/>
                      </a:pPr>
                      <a:r>
                        <a:rPr lang="en-IN" sz="2300" b="1" i="1" dirty="0">
                          <a:latin typeface="Times New Roman" panose="02020603050405020304" pitchFamily="18" charset="0"/>
                          <a:cs typeface="Times New Roman" panose="02020603050405020304" pitchFamily="18" charset="0"/>
                        </a:rPr>
                        <a:t>Suitable Prototype</a:t>
                      </a:r>
                    </a:p>
                  </a:txBody>
                  <a:tcPr anchor="ctr"/>
                </a:tc>
                <a:extLst>
                  <a:ext uri="{0D108BD9-81ED-4DB2-BD59-A6C34878D82A}">
                    <a16:rowId xmlns:a16="http://schemas.microsoft.com/office/drawing/2014/main" val="878360670"/>
                  </a:ext>
                </a:extLst>
              </a:tr>
              <a:tr h="0">
                <a:tc>
                  <a:txBody>
                    <a:bodyPr/>
                    <a:lstStyle/>
                    <a:p>
                      <a:pPr>
                        <a:buNone/>
                      </a:pPr>
                      <a:r>
                        <a:rPr lang="en-IN" sz="2300">
                          <a:latin typeface="Times New Roman" panose="02020603050405020304" pitchFamily="18" charset="0"/>
                          <a:cs typeface="Times New Roman" panose="02020603050405020304" pitchFamily="18" charset="0"/>
                        </a:rPr>
                        <a:t>Explore an idea</a:t>
                      </a:r>
                    </a:p>
                  </a:txBody>
                  <a:tcPr anchor="ctr"/>
                </a:tc>
                <a:tc>
                  <a:txBody>
                    <a:bodyPr/>
                    <a:lstStyle/>
                    <a:p>
                      <a:pPr>
                        <a:buNone/>
                      </a:pPr>
                      <a:r>
                        <a:rPr lang="en-IN" sz="2300">
                          <a:latin typeface="Times New Roman" panose="02020603050405020304" pitchFamily="18" charset="0"/>
                          <a:cs typeface="Times New Roman" panose="02020603050405020304" pitchFamily="18" charset="0"/>
                        </a:rPr>
                        <a:t>Sketch</a:t>
                      </a:r>
                    </a:p>
                  </a:txBody>
                  <a:tcPr anchor="ctr"/>
                </a:tc>
                <a:extLst>
                  <a:ext uri="{0D108BD9-81ED-4DB2-BD59-A6C34878D82A}">
                    <a16:rowId xmlns:a16="http://schemas.microsoft.com/office/drawing/2014/main" val="3773725643"/>
                  </a:ext>
                </a:extLst>
              </a:tr>
              <a:tr h="0">
                <a:tc>
                  <a:txBody>
                    <a:bodyPr/>
                    <a:lstStyle/>
                    <a:p>
                      <a:pPr>
                        <a:buNone/>
                      </a:pPr>
                      <a:r>
                        <a:rPr lang="en-IN" sz="2300">
                          <a:latin typeface="Times New Roman" panose="02020603050405020304" pitchFamily="18" charset="0"/>
                          <a:cs typeface="Times New Roman" panose="02020603050405020304" pitchFamily="18" charset="0"/>
                        </a:rPr>
                        <a:t>Understand user journey</a:t>
                      </a:r>
                    </a:p>
                  </a:txBody>
                  <a:tcPr anchor="ctr"/>
                </a:tc>
                <a:tc>
                  <a:txBody>
                    <a:bodyPr/>
                    <a:lstStyle/>
                    <a:p>
                      <a:pPr>
                        <a:buNone/>
                      </a:pPr>
                      <a:r>
                        <a:rPr lang="en-IN" sz="2300">
                          <a:latin typeface="Times New Roman" panose="02020603050405020304" pitchFamily="18" charset="0"/>
                          <a:cs typeface="Times New Roman" panose="02020603050405020304" pitchFamily="18" charset="0"/>
                        </a:rPr>
                        <a:t>Storyboard</a:t>
                      </a:r>
                    </a:p>
                  </a:txBody>
                  <a:tcPr anchor="ctr"/>
                </a:tc>
                <a:extLst>
                  <a:ext uri="{0D108BD9-81ED-4DB2-BD59-A6C34878D82A}">
                    <a16:rowId xmlns:a16="http://schemas.microsoft.com/office/drawing/2014/main" val="1358607924"/>
                  </a:ext>
                </a:extLst>
              </a:tr>
              <a:tr h="0">
                <a:tc>
                  <a:txBody>
                    <a:bodyPr/>
                    <a:lstStyle/>
                    <a:p>
                      <a:pPr>
                        <a:buNone/>
                      </a:pPr>
                      <a:r>
                        <a:rPr lang="en-IN" sz="2300">
                          <a:latin typeface="Times New Roman" panose="02020603050405020304" pitchFamily="18" charset="0"/>
                          <a:cs typeface="Times New Roman" panose="02020603050405020304" pitchFamily="18" charset="0"/>
                        </a:rPr>
                        <a:t>Test layout</a:t>
                      </a:r>
                    </a:p>
                  </a:txBody>
                  <a:tcPr anchor="ctr"/>
                </a:tc>
                <a:tc>
                  <a:txBody>
                    <a:bodyPr/>
                    <a:lstStyle/>
                    <a:p>
                      <a:pPr>
                        <a:buNone/>
                      </a:pPr>
                      <a:r>
                        <a:rPr lang="en-IN" sz="2300">
                          <a:latin typeface="Times New Roman" panose="02020603050405020304" pitchFamily="18" charset="0"/>
                          <a:cs typeface="Times New Roman" panose="02020603050405020304" pitchFamily="18" charset="0"/>
                        </a:rPr>
                        <a:t>Wireframe</a:t>
                      </a:r>
                    </a:p>
                  </a:txBody>
                  <a:tcPr anchor="ctr"/>
                </a:tc>
                <a:extLst>
                  <a:ext uri="{0D108BD9-81ED-4DB2-BD59-A6C34878D82A}">
                    <a16:rowId xmlns:a16="http://schemas.microsoft.com/office/drawing/2014/main" val="837585130"/>
                  </a:ext>
                </a:extLst>
              </a:tr>
              <a:tr h="0">
                <a:tc>
                  <a:txBody>
                    <a:bodyPr/>
                    <a:lstStyle/>
                    <a:p>
                      <a:pPr>
                        <a:buNone/>
                      </a:pPr>
                      <a:r>
                        <a:rPr lang="en-IN" sz="2300" dirty="0">
                          <a:latin typeface="Times New Roman" panose="02020603050405020304" pitchFamily="18" charset="0"/>
                          <a:cs typeface="Times New Roman" panose="02020603050405020304" pitchFamily="18" charset="0"/>
                        </a:rPr>
                        <a:t>Evaluate appearance</a:t>
                      </a:r>
                    </a:p>
                  </a:txBody>
                  <a:tcPr anchor="ctr"/>
                </a:tc>
                <a:tc>
                  <a:txBody>
                    <a:bodyPr/>
                    <a:lstStyle/>
                    <a:p>
                      <a:pPr>
                        <a:buNone/>
                      </a:pPr>
                      <a:r>
                        <a:rPr lang="en-IN" sz="2300">
                          <a:latin typeface="Times New Roman" panose="02020603050405020304" pitchFamily="18" charset="0"/>
                          <a:cs typeface="Times New Roman" panose="02020603050405020304" pitchFamily="18" charset="0"/>
                        </a:rPr>
                        <a:t>Mockup</a:t>
                      </a:r>
                    </a:p>
                  </a:txBody>
                  <a:tcPr anchor="ctr"/>
                </a:tc>
                <a:extLst>
                  <a:ext uri="{0D108BD9-81ED-4DB2-BD59-A6C34878D82A}">
                    <a16:rowId xmlns:a16="http://schemas.microsoft.com/office/drawing/2014/main" val="1138568282"/>
                  </a:ext>
                </a:extLst>
              </a:tr>
              <a:tr h="0">
                <a:tc>
                  <a:txBody>
                    <a:bodyPr/>
                    <a:lstStyle/>
                    <a:p>
                      <a:pPr>
                        <a:buNone/>
                      </a:pPr>
                      <a:r>
                        <a:rPr lang="en-IN" sz="2300">
                          <a:latin typeface="Times New Roman" panose="02020603050405020304" pitchFamily="18" charset="0"/>
                          <a:cs typeface="Times New Roman" panose="02020603050405020304" pitchFamily="18" charset="0"/>
                        </a:rPr>
                        <a:t>Test navigation</a:t>
                      </a:r>
                    </a:p>
                  </a:txBody>
                  <a:tcPr anchor="ctr"/>
                </a:tc>
                <a:tc>
                  <a:txBody>
                    <a:bodyPr/>
                    <a:lstStyle/>
                    <a:p>
                      <a:pPr>
                        <a:buNone/>
                      </a:pPr>
                      <a:r>
                        <a:rPr lang="en-IN" sz="2300">
                          <a:latin typeface="Times New Roman" panose="02020603050405020304" pitchFamily="18" charset="0"/>
                          <a:cs typeface="Times New Roman" panose="02020603050405020304" pitchFamily="18" charset="0"/>
                        </a:rPr>
                        <a:t>Clickable prototype</a:t>
                      </a:r>
                    </a:p>
                  </a:txBody>
                  <a:tcPr anchor="ctr"/>
                </a:tc>
                <a:extLst>
                  <a:ext uri="{0D108BD9-81ED-4DB2-BD59-A6C34878D82A}">
                    <a16:rowId xmlns:a16="http://schemas.microsoft.com/office/drawing/2014/main" val="3991663688"/>
                  </a:ext>
                </a:extLst>
              </a:tr>
              <a:tr h="0">
                <a:tc>
                  <a:txBody>
                    <a:bodyPr/>
                    <a:lstStyle/>
                    <a:p>
                      <a:pPr>
                        <a:buNone/>
                      </a:pPr>
                      <a:r>
                        <a:rPr lang="en-IN" sz="2300">
                          <a:latin typeface="Times New Roman" panose="02020603050405020304" pitchFamily="18" charset="0"/>
                          <a:cs typeface="Times New Roman" panose="02020603050405020304" pitchFamily="18" charset="0"/>
                        </a:rPr>
                        <a:t>Test physical size</a:t>
                      </a:r>
                    </a:p>
                  </a:txBody>
                  <a:tcPr anchor="ctr"/>
                </a:tc>
                <a:tc>
                  <a:txBody>
                    <a:bodyPr/>
                    <a:lstStyle/>
                    <a:p>
                      <a:pPr>
                        <a:buNone/>
                      </a:pPr>
                      <a:r>
                        <a:rPr lang="en-IN" sz="2300">
                          <a:latin typeface="Times New Roman" panose="02020603050405020304" pitchFamily="18" charset="0"/>
                          <a:cs typeface="Times New Roman" panose="02020603050405020304" pitchFamily="18" charset="0"/>
                        </a:rPr>
                        <a:t>Physical model</a:t>
                      </a:r>
                    </a:p>
                  </a:txBody>
                  <a:tcPr anchor="ctr"/>
                </a:tc>
                <a:extLst>
                  <a:ext uri="{0D108BD9-81ED-4DB2-BD59-A6C34878D82A}">
                    <a16:rowId xmlns:a16="http://schemas.microsoft.com/office/drawing/2014/main" val="762763352"/>
                  </a:ext>
                </a:extLst>
              </a:tr>
              <a:tr h="0">
                <a:tc>
                  <a:txBody>
                    <a:bodyPr/>
                    <a:lstStyle/>
                    <a:p>
                      <a:pPr>
                        <a:buNone/>
                      </a:pPr>
                      <a:r>
                        <a:rPr lang="en-IN" sz="2300" dirty="0">
                          <a:latin typeface="Times New Roman" panose="02020603050405020304" pitchFamily="18" charset="0"/>
                          <a:cs typeface="Times New Roman" panose="02020603050405020304" pitchFamily="18" charset="0"/>
                        </a:rPr>
                        <a:t>Test functionality</a:t>
                      </a:r>
                    </a:p>
                  </a:txBody>
                  <a:tcPr anchor="ctr"/>
                </a:tc>
                <a:tc>
                  <a:txBody>
                    <a:bodyPr/>
                    <a:lstStyle/>
                    <a:p>
                      <a:pPr>
                        <a:buNone/>
                      </a:pPr>
                      <a:r>
                        <a:rPr lang="en-IN" sz="2300" dirty="0">
                          <a:latin typeface="Times New Roman" panose="02020603050405020304" pitchFamily="18" charset="0"/>
                          <a:cs typeface="Times New Roman" panose="02020603050405020304" pitchFamily="18" charset="0"/>
                        </a:rPr>
                        <a:t>Functional prototype</a:t>
                      </a:r>
                    </a:p>
                  </a:txBody>
                  <a:tcPr anchor="ctr"/>
                </a:tc>
                <a:extLst>
                  <a:ext uri="{0D108BD9-81ED-4DB2-BD59-A6C34878D82A}">
                    <a16:rowId xmlns:a16="http://schemas.microsoft.com/office/drawing/2014/main" val="34502555"/>
                  </a:ext>
                </a:extLst>
              </a:tr>
            </a:tbl>
          </a:graphicData>
        </a:graphic>
      </p:graphicFrame>
    </p:spTree>
    <p:extLst>
      <p:ext uri="{BB962C8B-B14F-4D97-AF65-F5344CB8AC3E}">
        <p14:creationId xmlns:p14="http://schemas.microsoft.com/office/powerpoint/2010/main" val="696682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67BF32-B86B-90F7-C7C0-D0E2C387CFFD}"/>
              </a:ext>
            </a:extLst>
          </p:cNvPr>
          <p:cNvSpPr>
            <a:spLocks noGrp="1"/>
          </p:cNvSpPr>
          <p:nvPr>
            <p:ph type="body" idx="1"/>
          </p:nvPr>
        </p:nvSpPr>
        <p:spPr>
          <a:xfrm>
            <a:off x="239900" y="179007"/>
            <a:ext cx="11360700" cy="6499986"/>
          </a:xfrm>
        </p:spPr>
        <p:txBody>
          <a:bodyPr/>
          <a:lstStyle/>
          <a:p>
            <a:pPr>
              <a:buNone/>
            </a:pPr>
            <a:r>
              <a:rPr lang="en-US" sz="2400" b="1" dirty="0">
                <a:latin typeface="Times New Roman" panose="02020603050405020304" pitchFamily="18" charset="0"/>
                <a:cs typeface="Times New Roman" panose="02020603050405020304" pitchFamily="18" charset="0"/>
              </a:rPr>
              <a:t>Classroom Activity: Low-Fidelity Prototype Challenge</a:t>
            </a:r>
          </a:p>
          <a:p>
            <a:pPr>
              <a:buNone/>
            </a:pPr>
            <a:r>
              <a:rPr lang="en-US" sz="2400" b="1" dirty="0">
                <a:latin typeface="Times New Roman" panose="02020603050405020304" pitchFamily="18" charset="0"/>
                <a:cs typeface="Times New Roman" panose="02020603050405020304" pitchFamily="18" charset="0"/>
              </a:rPr>
              <a:t>Problem Statement:</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Students often waste time searching for available classrooms, laboratories, or study spaces on campus. Design a solution that helps students quickly identify and locate an available space.</a:t>
            </a:r>
          </a:p>
          <a:p>
            <a:pPr>
              <a:buNone/>
            </a:pPr>
            <a:r>
              <a:rPr lang="en-US" sz="2400" b="1" dirty="0">
                <a:latin typeface="Times New Roman" panose="02020603050405020304" pitchFamily="18" charset="0"/>
                <a:cs typeface="Times New Roman" panose="02020603050405020304" pitchFamily="18" charset="0"/>
              </a:rPr>
              <a:t>Task: </a:t>
            </a:r>
            <a:r>
              <a:rPr lang="en-US" sz="2400" dirty="0">
                <a:latin typeface="Times New Roman" panose="02020603050405020304" pitchFamily="18" charset="0"/>
                <a:cs typeface="Times New Roman" panose="02020603050405020304" pitchFamily="18" charset="0"/>
              </a:rPr>
              <a:t>Form teams of </a:t>
            </a:r>
            <a:r>
              <a:rPr lang="en-US" sz="2400" b="1" dirty="0">
                <a:latin typeface="Times New Roman" panose="02020603050405020304" pitchFamily="18" charset="0"/>
                <a:cs typeface="Times New Roman" panose="02020603050405020304" pitchFamily="18" charset="0"/>
              </a:rPr>
              <a:t>4–5 students</a:t>
            </a:r>
            <a:r>
              <a:rPr lang="en-US" sz="2400" dirty="0">
                <a:latin typeface="Times New Roman" panose="02020603050405020304" pitchFamily="18" charset="0"/>
                <a:cs typeface="Times New Roman" panose="02020603050405020304" pitchFamily="18" charset="0"/>
              </a:rPr>
              <a:t>.</a:t>
            </a:r>
          </a:p>
          <a:p>
            <a:pPr>
              <a:buNone/>
            </a:pPr>
            <a:r>
              <a:rPr lang="en-US" sz="2400" dirty="0">
                <a:latin typeface="Times New Roman" panose="02020603050405020304" pitchFamily="18" charset="0"/>
                <a:cs typeface="Times New Roman" panose="02020603050405020304" pitchFamily="18" charset="0"/>
              </a:rPr>
              <a:t>Each team should:</a:t>
            </a:r>
          </a:p>
          <a:p>
            <a:pPr marL="965200" lvl="1" indent="-457200">
              <a:spcBef>
                <a:spcPts val="0"/>
              </a:spcBef>
              <a:buSzPct val="100000"/>
              <a:buFont typeface="+mj-lt"/>
              <a:buAutoNum type="arabicParenR"/>
            </a:pPr>
            <a:r>
              <a:rPr lang="en-US" sz="2200" dirty="0">
                <a:latin typeface="Times New Roman" panose="02020603050405020304" pitchFamily="18" charset="0"/>
                <a:cs typeface="Times New Roman" panose="02020603050405020304" pitchFamily="18" charset="0"/>
              </a:rPr>
              <a:t>Understand the problem. </a:t>
            </a:r>
          </a:p>
          <a:p>
            <a:pPr marL="965200" lvl="1" indent="-457200">
              <a:spcBef>
                <a:spcPts val="0"/>
              </a:spcBef>
              <a:buSzPct val="100000"/>
              <a:buFont typeface="+mj-lt"/>
              <a:buAutoNum type="arabicParenR"/>
            </a:pPr>
            <a:r>
              <a:rPr lang="en-US" sz="2200" dirty="0">
                <a:latin typeface="Times New Roman" panose="02020603050405020304" pitchFamily="18" charset="0"/>
                <a:cs typeface="Times New Roman" panose="02020603050405020304" pitchFamily="18" charset="0"/>
              </a:rPr>
              <a:t>Identify the user's needs. </a:t>
            </a:r>
          </a:p>
          <a:p>
            <a:pPr marL="965200" lvl="1" indent="-457200">
              <a:spcBef>
                <a:spcPts val="0"/>
              </a:spcBef>
              <a:buSzPct val="100000"/>
              <a:buFont typeface="+mj-lt"/>
              <a:buAutoNum type="arabicParenR"/>
            </a:pPr>
            <a:r>
              <a:rPr lang="en-US" sz="2200" dirty="0">
                <a:latin typeface="Times New Roman" panose="02020603050405020304" pitchFamily="18" charset="0"/>
                <a:cs typeface="Times New Roman" panose="02020603050405020304" pitchFamily="18" charset="0"/>
              </a:rPr>
              <a:t>Generate possible solutions. </a:t>
            </a:r>
          </a:p>
          <a:p>
            <a:pPr marL="965200" lvl="1" indent="-457200">
              <a:spcBef>
                <a:spcPts val="0"/>
              </a:spcBef>
              <a:buSzPct val="100000"/>
              <a:buFont typeface="+mj-lt"/>
              <a:buAutoNum type="arabicParenR"/>
            </a:pPr>
            <a:r>
              <a:rPr lang="en-US" sz="2200" dirty="0">
                <a:latin typeface="Times New Roman" panose="02020603050405020304" pitchFamily="18" charset="0"/>
                <a:cs typeface="Times New Roman" panose="02020603050405020304" pitchFamily="18" charset="0"/>
              </a:rPr>
              <a:t>Select one solution. </a:t>
            </a:r>
          </a:p>
          <a:p>
            <a:pPr marL="965200" lvl="1" indent="-457200">
              <a:spcBef>
                <a:spcPts val="0"/>
              </a:spcBef>
              <a:buSzPct val="100000"/>
              <a:buFont typeface="+mj-lt"/>
              <a:buAutoNum type="arabicParenR"/>
            </a:pPr>
            <a:r>
              <a:rPr lang="en-US" sz="2200" dirty="0">
                <a:latin typeface="Times New Roman" panose="02020603050405020304" pitchFamily="18" charset="0"/>
                <a:cs typeface="Times New Roman" panose="02020603050405020304" pitchFamily="18" charset="0"/>
              </a:rPr>
              <a:t>Create a low-fidelity prototype. </a:t>
            </a:r>
          </a:p>
          <a:p>
            <a:pPr marL="965200" lvl="1" indent="-457200">
              <a:spcBef>
                <a:spcPts val="0"/>
              </a:spcBef>
              <a:buSzPct val="100000"/>
              <a:buFont typeface="+mj-lt"/>
              <a:buAutoNum type="arabicParenR"/>
            </a:pPr>
            <a:r>
              <a:rPr lang="en-US" sz="2200" dirty="0">
                <a:latin typeface="Times New Roman" panose="02020603050405020304" pitchFamily="18" charset="0"/>
                <a:cs typeface="Times New Roman" panose="02020603050405020304" pitchFamily="18" charset="0"/>
              </a:rPr>
              <a:t>Explain how the user interacts with it. </a:t>
            </a:r>
          </a:p>
          <a:p>
            <a:pPr marL="965200" lvl="1" indent="-457200">
              <a:spcBef>
                <a:spcPts val="0"/>
              </a:spcBef>
              <a:buSzPct val="100000"/>
              <a:buFont typeface="+mj-lt"/>
              <a:buAutoNum type="arabicParenR"/>
            </a:pPr>
            <a:r>
              <a:rPr lang="en-US" sz="2200" dirty="0">
                <a:latin typeface="Times New Roman" panose="02020603050405020304" pitchFamily="18" charset="0"/>
                <a:cs typeface="Times New Roman" panose="02020603050405020304" pitchFamily="18" charset="0"/>
              </a:rPr>
              <a:t>Present it to another team. </a:t>
            </a:r>
          </a:p>
          <a:p>
            <a:pPr marL="965200" lvl="1" indent="-457200">
              <a:spcBef>
                <a:spcPts val="0"/>
              </a:spcBef>
              <a:buSzPct val="100000"/>
              <a:buFont typeface="+mj-lt"/>
              <a:buAutoNum type="arabicParenR"/>
            </a:pPr>
            <a:r>
              <a:rPr lang="en-US" sz="2200" dirty="0">
                <a:latin typeface="Times New Roman" panose="02020603050405020304" pitchFamily="18" charset="0"/>
                <a:cs typeface="Times New Roman" panose="02020603050405020304" pitchFamily="18" charset="0"/>
              </a:rPr>
              <a:t>Collect feedback. </a:t>
            </a:r>
          </a:p>
          <a:p>
            <a:pPr marL="965200" lvl="1" indent="-457200">
              <a:spcBef>
                <a:spcPts val="0"/>
              </a:spcBef>
              <a:buSzPct val="100000"/>
              <a:buFont typeface="+mj-lt"/>
              <a:buAutoNum type="arabicParenR"/>
            </a:pPr>
            <a:r>
              <a:rPr lang="en-US" sz="2200" dirty="0">
                <a:latin typeface="Times New Roman" panose="02020603050405020304" pitchFamily="18" charset="0"/>
                <a:cs typeface="Times New Roman" panose="02020603050405020304" pitchFamily="18" charset="0"/>
              </a:rPr>
              <a:t>Improve the prototype. </a:t>
            </a:r>
          </a:p>
          <a:p>
            <a:endParaRPr lang="en-IN" dirty="0"/>
          </a:p>
        </p:txBody>
      </p:sp>
      <p:sp>
        <p:nvSpPr>
          <p:cNvPr id="4" name="Slide Number Placeholder 3">
            <a:extLst>
              <a:ext uri="{FF2B5EF4-FFF2-40B4-BE49-F238E27FC236}">
                <a16:creationId xmlns:a16="http://schemas.microsoft.com/office/drawing/2014/main" id="{8E217572-790B-2653-0195-EA8FCDE119A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18</a:t>
            </a:fld>
            <a:endParaRPr lang="en-GB"/>
          </a:p>
        </p:txBody>
      </p:sp>
      <p:sp>
        <p:nvSpPr>
          <p:cNvPr id="5" name="TextBox 4">
            <a:extLst>
              <a:ext uri="{FF2B5EF4-FFF2-40B4-BE49-F238E27FC236}">
                <a16:creationId xmlns:a16="http://schemas.microsoft.com/office/drawing/2014/main" id="{7AF784BA-75CC-5C45-2BEC-3549FA9988D5}"/>
              </a:ext>
            </a:extLst>
          </p:cNvPr>
          <p:cNvSpPr txBox="1"/>
          <p:nvPr/>
        </p:nvSpPr>
        <p:spPr>
          <a:xfrm>
            <a:off x="8116584" y="2743200"/>
            <a:ext cx="3328827" cy="3046988"/>
          </a:xfrm>
          <a:prstGeom prst="rect">
            <a:avLst/>
          </a:prstGeom>
          <a:noFill/>
        </p:spPr>
        <p:txBody>
          <a:bodyPr wrap="square" rtlCol="0">
            <a:spAutoFit/>
          </a:bodyPr>
          <a:lstStyle/>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Materials</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Arial" panose="020B0604020202020204" pitchFamily="34" charset="0"/>
              <a:buChar char="•"/>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A4 sheets </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Arial" panose="020B0604020202020204" pitchFamily="34" charset="0"/>
              <a:buChar char="•"/>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Chart paper </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Arial" panose="020B0604020202020204" pitchFamily="34" charset="0"/>
              <a:buChar char="•"/>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Sticky notes </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Arial" panose="020B0604020202020204" pitchFamily="34" charset="0"/>
              <a:buChar char="•"/>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Pens </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Arial" panose="020B0604020202020204" pitchFamily="34" charset="0"/>
              <a:buChar char="•"/>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Markers </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Arial" panose="020B0604020202020204" pitchFamily="34" charset="0"/>
              <a:buChar char="•"/>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Scissors </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Arial" panose="020B0604020202020204" pitchFamily="34" charset="0"/>
              <a:buChar char="•"/>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Tape/glue</a:t>
            </a:r>
          </a:p>
        </p:txBody>
      </p:sp>
    </p:spTree>
    <p:extLst>
      <p:ext uri="{BB962C8B-B14F-4D97-AF65-F5344CB8AC3E}">
        <p14:creationId xmlns:p14="http://schemas.microsoft.com/office/powerpoint/2010/main" val="3596626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BD24F-1FC0-6E11-718D-D9CEA5274A54}"/>
              </a:ext>
            </a:extLst>
          </p:cNvPr>
          <p:cNvSpPr>
            <a:spLocks noGrp="1"/>
          </p:cNvSpPr>
          <p:nvPr>
            <p:ph type="title"/>
          </p:nvPr>
        </p:nvSpPr>
        <p:spPr>
          <a:xfrm>
            <a:off x="343681" y="267192"/>
            <a:ext cx="11360700" cy="636933"/>
          </a:xfrm>
        </p:spPr>
        <p:txBody>
          <a:bodyPr/>
          <a:lstStyle/>
          <a:p>
            <a:r>
              <a:rPr kumimoji="0" lang="en-US" b="1" i="0" u="none" strike="noStrike" kern="100" cap="none" spc="0" normalizeH="0" baseline="0" noProof="0" dirty="0">
                <a:ln>
                  <a:noFill/>
                </a:ln>
                <a:solidFill>
                  <a:srgbClr val="0066FF"/>
                </a:solidFill>
                <a:effectLst/>
                <a:uLnTx/>
                <a:uFillTx/>
                <a:latin typeface="Times New Roman" panose="02020603050405020304" pitchFamily="18" charset="0"/>
                <a:ea typeface="Book Antiqua" panose="02040602050305030304" pitchFamily="18" charset="0"/>
                <a:cs typeface="Times New Roman" panose="02020603050405020304" pitchFamily="18" charset="0"/>
                <a:sym typeface="IBM Plex Sans Condensed"/>
              </a:rPr>
              <a:t>II.</a:t>
            </a:r>
            <a:r>
              <a:rPr kumimoji="0" lang="en-US" b="1" i="0" u="none" strike="noStrike" kern="100" cap="none" spc="0" normalizeH="0" baseline="0" noProof="0" dirty="0">
                <a:ln>
                  <a:noFill/>
                </a:ln>
                <a:solidFill>
                  <a:srgbClr val="FF00FF"/>
                </a:solidFill>
                <a:effectLst/>
                <a:uLnTx/>
                <a:uFillTx/>
                <a:latin typeface="Times New Roman" panose="02020603050405020304" pitchFamily="18" charset="0"/>
                <a:ea typeface="Book Antiqua" panose="02040602050305030304" pitchFamily="18" charset="0"/>
                <a:cs typeface="Times New Roman" panose="02020603050405020304" pitchFamily="18" charset="0"/>
                <a:sym typeface="IBM Plex Sans Condensed"/>
              </a:rPr>
              <a:t> </a:t>
            </a:r>
            <a:r>
              <a:rPr kumimoji="0" lang="en-US" b="1" i="0" u="none" strike="noStrike" kern="0" cap="none" spc="0" normalizeH="0" baseline="0" noProof="0" dirty="0">
                <a:ln>
                  <a:noFill/>
                </a:ln>
                <a:solidFill>
                  <a:srgbClr val="FF00FF"/>
                </a:solidFill>
                <a:effectLst/>
                <a:uLnTx/>
                <a:uFillTx/>
                <a:latin typeface="Times New Roman" panose="02020603050405020304" pitchFamily="18" charset="0"/>
                <a:ea typeface="Book Antiqua" panose="02040602050305030304" pitchFamily="18" charset="0"/>
                <a:cs typeface="Times New Roman" panose="02020603050405020304" pitchFamily="18" charset="0"/>
                <a:sym typeface="IBM Plex Sans Condensed"/>
              </a:rPr>
              <a:t>Iterative design process: Testing, feedback, and refinement</a:t>
            </a:r>
            <a:br>
              <a:rPr kumimoji="0" lang="en-US" b="1" i="0" u="none" strike="noStrike" kern="0" cap="none" spc="0" normalizeH="0" baseline="0" noProof="0" dirty="0">
                <a:ln>
                  <a:noFill/>
                </a:ln>
                <a:solidFill>
                  <a:srgbClr val="FF00FF"/>
                </a:solidFill>
                <a:effectLst/>
                <a:uLnTx/>
                <a:uFillTx/>
                <a:latin typeface="Times New Roman" panose="02020603050405020304" pitchFamily="18" charset="0"/>
                <a:ea typeface="Book Antiqua" panose="02040602050305030304" pitchFamily="18" charset="0"/>
                <a:cs typeface="Times New Roman" panose="02020603050405020304" pitchFamily="18" charset="0"/>
                <a:sym typeface="IBM Plex Sans Condensed"/>
              </a:rPr>
            </a:br>
            <a:endParaRPr lang="en-IN" dirty="0"/>
          </a:p>
        </p:txBody>
      </p:sp>
      <p:sp>
        <p:nvSpPr>
          <p:cNvPr id="3" name="Text Placeholder 2">
            <a:extLst>
              <a:ext uri="{FF2B5EF4-FFF2-40B4-BE49-F238E27FC236}">
                <a16:creationId xmlns:a16="http://schemas.microsoft.com/office/drawing/2014/main" id="{4292E8E1-02C9-D656-6238-4B93BCD6929E}"/>
              </a:ext>
            </a:extLst>
          </p:cNvPr>
          <p:cNvSpPr>
            <a:spLocks noGrp="1"/>
          </p:cNvSpPr>
          <p:nvPr>
            <p:ph type="body" idx="1"/>
          </p:nvPr>
        </p:nvSpPr>
        <p:spPr>
          <a:xfrm>
            <a:off x="415650" y="1092899"/>
            <a:ext cx="11360700" cy="5102418"/>
          </a:xfrm>
        </p:spPr>
        <p:txBody>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Design Thinking, designing a product, service, system, or solution is not a one-time activity. A designer rarely develops the perfect solution on the first attempt. Instead, the solution is </a:t>
            </a:r>
            <a:r>
              <a:rPr lang="en-US" sz="2400" b="1" dirty="0">
                <a:latin typeface="Times New Roman" panose="02020603050405020304" pitchFamily="18" charset="0"/>
                <a:cs typeface="Times New Roman" panose="02020603050405020304" pitchFamily="18" charset="0"/>
              </a:rPr>
              <a:t>tested, evaluated, improved, and tested again</a:t>
            </a:r>
            <a:r>
              <a:rPr lang="en-US" sz="2400" dirty="0">
                <a:latin typeface="Times New Roman" panose="02020603050405020304" pitchFamily="18" charset="0"/>
                <a:cs typeface="Times New Roman" panose="02020603050405020304" pitchFamily="18" charset="0"/>
              </a:rPr>
              <a:t>. This continuous cycle is called the </a:t>
            </a:r>
            <a:r>
              <a:rPr lang="en-US" sz="2400" b="1" dirty="0">
                <a:latin typeface="Times New Roman" panose="02020603050405020304" pitchFamily="18" charset="0"/>
                <a:cs typeface="Times New Roman" panose="02020603050405020304" pitchFamily="18" charset="0"/>
              </a:rPr>
              <a:t>iterative design process</a:t>
            </a:r>
            <a:r>
              <a:rPr lang="en-US" sz="2400"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Iterative design</a:t>
            </a:r>
            <a:r>
              <a:rPr lang="en-US" sz="2400" dirty="0">
                <a:latin typeface="Times New Roman" panose="02020603050405020304" pitchFamily="18" charset="0"/>
                <a:cs typeface="Times New Roman" panose="02020603050405020304" pitchFamily="18" charset="0"/>
              </a:rPr>
              <a:t> is a systematic process of repeatedly testing a design, collecting feedback, identifying problems, making improvements, and testing the improved design until it better satisfies the needs of users.</a:t>
            </a:r>
          </a:p>
          <a:p>
            <a:pPr marL="50800" indent="0">
              <a:buSzPct val="100000"/>
              <a:buNone/>
            </a:pPr>
            <a:endParaRPr lang="en-US" sz="2400" dirty="0">
              <a:latin typeface="Times New Roman" panose="02020603050405020304" pitchFamily="18" charset="0"/>
              <a:cs typeface="Times New Roman" panose="02020603050405020304" pitchFamily="18" charset="0"/>
            </a:endParaRPr>
          </a:p>
          <a:p>
            <a:pPr marL="50800" indent="0">
              <a:buSzPct val="100000"/>
              <a:buNone/>
            </a:pPr>
            <a:r>
              <a:rPr lang="en-US" sz="2400" dirty="0">
                <a:latin typeface="Times New Roman" panose="02020603050405020304" pitchFamily="18" charset="0"/>
                <a:cs typeface="Times New Roman" panose="02020603050405020304" pitchFamily="18" charset="0"/>
              </a:rPr>
              <a:t>The three major activities are:</a:t>
            </a:r>
          </a:p>
          <a:p>
            <a:pPr marL="508000" indent="-457200">
              <a:buSzPct val="90000"/>
              <a:buFont typeface="+mj-lt"/>
              <a:buAutoNum type="arabicPeriod"/>
            </a:pPr>
            <a:r>
              <a:rPr lang="en-US" sz="2400" b="1" dirty="0">
                <a:latin typeface="Times New Roman" panose="02020603050405020304" pitchFamily="18" charset="0"/>
                <a:cs typeface="Times New Roman" panose="02020603050405020304" pitchFamily="18" charset="0"/>
              </a:rPr>
              <a:t>Testing</a:t>
            </a:r>
            <a:r>
              <a:rPr lang="en-US" sz="2400" dirty="0">
                <a:latin typeface="Times New Roman" panose="02020603050405020304" pitchFamily="18" charset="0"/>
                <a:cs typeface="Times New Roman" panose="02020603050405020304" pitchFamily="18" charset="0"/>
              </a:rPr>
              <a:t> – checking how well a proposed solution works with users. </a:t>
            </a:r>
          </a:p>
          <a:p>
            <a:pPr marL="508000" indent="-457200">
              <a:buSzPct val="90000"/>
              <a:buFont typeface="+mj-lt"/>
              <a:buAutoNum type="arabicPeriod"/>
            </a:pPr>
            <a:r>
              <a:rPr lang="en-US" sz="2400" b="1" dirty="0">
                <a:latin typeface="Times New Roman" panose="02020603050405020304" pitchFamily="18" charset="0"/>
                <a:cs typeface="Times New Roman" panose="02020603050405020304" pitchFamily="18" charset="0"/>
              </a:rPr>
              <a:t>Feedback</a:t>
            </a:r>
            <a:r>
              <a:rPr lang="en-US" sz="2400" dirty="0">
                <a:latin typeface="Times New Roman" panose="02020603050405020304" pitchFamily="18" charset="0"/>
                <a:cs typeface="Times New Roman" panose="02020603050405020304" pitchFamily="18" charset="0"/>
              </a:rPr>
              <a:t> – collecting observations, opinions, difficulties, and suggestions from users and stakeholders. </a:t>
            </a:r>
          </a:p>
          <a:p>
            <a:pPr marL="508000" indent="-457200">
              <a:buSzPct val="90000"/>
              <a:buFont typeface="+mj-lt"/>
              <a:buAutoNum type="arabicPeriod"/>
            </a:pPr>
            <a:r>
              <a:rPr lang="en-US" sz="2400" b="1" dirty="0">
                <a:latin typeface="Times New Roman" panose="02020603050405020304" pitchFamily="18" charset="0"/>
                <a:cs typeface="Times New Roman" panose="02020603050405020304" pitchFamily="18" charset="0"/>
              </a:rPr>
              <a:t>Refinement</a:t>
            </a:r>
            <a:r>
              <a:rPr lang="en-US" sz="2400" dirty="0">
                <a:latin typeface="Times New Roman" panose="02020603050405020304" pitchFamily="18" charset="0"/>
                <a:cs typeface="Times New Roman" panose="02020603050405020304" pitchFamily="18" charset="0"/>
              </a:rPr>
              <a:t> – modifying and improving the solution based on the feedback.</a:t>
            </a:r>
          </a:p>
          <a:p>
            <a:pPr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20A80B1-9438-D6E3-8AB2-08C18D1AE6C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19</a:t>
            </a:fld>
            <a:endParaRPr lang="en-GB"/>
          </a:p>
        </p:txBody>
      </p:sp>
    </p:spTree>
    <p:extLst>
      <p:ext uri="{BB962C8B-B14F-4D97-AF65-F5344CB8AC3E}">
        <p14:creationId xmlns:p14="http://schemas.microsoft.com/office/powerpoint/2010/main" val="4031519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3D9849D-BC2C-67F9-2426-44BB292C9930}"/>
              </a:ext>
            </a:extLst>
          </p:cNvPr>
          <p:cNvSpPr>
            <a:spLocks noGrp="1"/>
          </p:cNvSpPr>
          <p:nvPr>
            <p:ph type="body" idx="1"/>
          </p:nvPr>
        </p:nvSpPr>
        <p:spPr>
          <a:xfrm>
            <a:off x="415600" y="452063"/>
            <a:ext cx="11360700" cy="5639525"/>
          </a:xfrm>
        </p:spPr>
        <p:txBody>
          <a:bodyPr/>
          <a:lstStyle/>
          <a:p>
            <a:pPr>
              <a:buNone/>
            </a:pPr>
            <a:r>
              <a:rPr lang="en-IN" sz="2400" dirty="0">
                <a:latin typeface="Times New Roman" panose="02020603050405020304" pitchFamily="18" charset="0"/>
                <a:cs typeface="Times New Roman" panose="02020603050405020304" pitchFamily="18" charset="0"/>
              </a:rPr>
              <a:t>Basic idea:</a:t>
            </a:r>
          </a:p>
          <a:p>
            <a:pPr>
              <a:buNone/>
            </a:pPr>
            <a:r>
              <a:rPr lang="en-IN" sz="2400" dirty="0">
                <a:latin typeface="Times New Roman" panose="02020603050405020304" pitchFamily="18" charset="0"/>
                <a:cs typeface="Times New Roman" panose="02020603050405020304" pitchFamily="18" charset="0"/>
              </a:rPr>
              <a:t>Design → Prototype → Test → Feedback → Refine → Retest → Improved Solution</a:t>
            </a:r>
          </a:p>
          <a:p>
            <a:pPr>
              <a:buNone/>
            </a:pPr>
            <a:endParaRPr lang="en-IN" sz="24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C7996AA4-979E-DCA7-87F1-5DFEC36481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20</a:t>
            </a:fld>
            <a:endParaRPr lang="en-GB"/>
          </a:p>
        </p:txBody>
      </p:sp>
      <p:sp>
        <p:nvSpPr>
          <p:cNvPr id="5" name="AutoShape 2" descr="Iterative Design: How Instagram Perfected UX with Feedback 🚀 | by Anusha Patil | Medium">
            <a:extLst>
              <a:ext uri="{FF2B5EF4-FFF2-40B4-BE49-F238E27FC236}">
                <a16:creationId xmlns:a16="http://schemas.microsoft.com/office/drawing/2014/main" id="{58C8EAE3-3A4D-5A38-C4B3-2DAF5597B7D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E84DAF4D-17CE-D3BF-559A-569AF5C5F296}"/>
              </a:ext>
            </a:extLst>
          </p:cNvPr>
          <p:cNvPicPr>
            <a:picLocks noChangeAspect="1"/>
          </p:cNvPicPr>
          <p:nvPr/>
        </p:nvPicPr>
        <p:blipFill>
          <a:blip r:embed="rId2"/>
          <a:stretch>
            <a:fillRect/>
          </a:stretch>
        </p:blipFill>
        <p:spPr>
          <a:xfrm>
            <a:off x="2262241" y="1555548"/>
            <a:ext cx="7972318" cy="4536040"/>
          </a:xfrm>
          <a:prstGeom prst="rect">
            <a:avLst/>
          </a:prstGeom>
        </p:spPr>
      </p:pic>
    </p:spTree>
    <p:extLst>
      <p:ext uri="{BB962C8B-B14F-4D97-AF65-F5344CB8AC3E}">
        <p14:creationId xmlns:p14="http://schemas.microsoft.com/office/powerpoint/2010/main" val="267169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DF43-05EC-7FB0-EB44-B7172297ECE5}"/>
              </a:ext>
            </a:extLst>
          </p:cNvPr>
          <p:cNvSpPr>
            <a:spLocks noGrp="1"/>
          </p:cNvSpPr>
          <p:nvPr>
            <p:ph type="title"/>
          </p:nvPr>
        </p:nvSpPr>
        <p:spPr>
          <a:xfrm>
            <a:off x="415600" y="205548"/>
            <a:ext cx="11360700" cy="647207"/>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Meaning of Iterative Design</a:t>
            </a:r>
          </a:p>
        </p:txBody>
      </p:sp>
      <p:sp>
        <p:nvSpPr>
          <p:cNvPr id="3" name="Text Placeholder 2">
            <a:extLst>
              <a:ext uri="{FF2B5EF4-FFF2-40B4-BE49-F238E27FC236}">
                <a16:creationId xmlns:a16="http://schemas.microsoft.com/office/drawing/2014/main" id="{28856542-C3FB-26FE-21A3-703501058153}"/>
              </a:ext>
            </a:extLst>
          </p:cNvPr>
          <p:cNvSpPr>
            <a:spLocks noGrp="1"/>
          </p:cNvSpPr>
          <p:nvPr>
            <p:ph type="body" idx="1"/>
          </p:nvPr>
        </p:nvSpPr>
        <p:spPr>
          <a:xfrm>
            <a:off x="415600" y="852755"/>
            <a:ext cx="11360700" cy="5455577"/>
          </a:xfrm>
        </p:spPr>
        <p:txBody>
          <a:bodyPr/>
          <a:lstStyle/>
          <a:p>
            <a:pPr>
              <a:buSzPct val="10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word </a:t>
            </a:r>
            <a:r>
              <a:rPr lang="en-US" sz="2400" b="1" dirty="0">
                <a:latin typeface="Times New Roman" panose="02020603050405020304" pitchFamily="18" charset="0"/>
                <a:cs typeface="Times New Roman" panose="02020603050405020304" pitchFamily="18" charset="0"/>
              </a:rPr>
              <a:t>iteration</a:t>
            </a:r>
            <a:r>
              <a:rPr lang="en-US" sz="2400" dirty="0">
                <a:latin typeface="Times New Roman" panose="02020603050405020304" pitchFamily="18" charset="0"/>
                <a:cs typeface="Times New Roman" panose="02020603050405020304" pitchFamily="18" charset="0"/>
              </a:rPr>
              <a:t> means </a:t>
            </a:r>
            <a:r>
              <a:rPr lang="en-US" sz="2400" b="1" dirty="0">
                <a:latin typeface="Times New Roman" panose="02020603050405020304" pitchFamily="18" charset="0"/>
                <a:cs typeface="Times New Roman" panose="02020603050405020304" pitchFamily="18" charset="0"/>
              </a:rPr>
              <a:t>repeating a process to achieve improvement</a:t>
            </a:r>
            <a:r>
              <a:rPr lang="en-US" sz="2400" dirty="0">
                <a:latin typeface="Times New Roman" panose="02020603050405020304" pitchFamily="18" charset="0"/>
                <a:cs typeface="Times New Roman" panose="02020603050405020304" pitchFamily="18" charset="0"/>
              </a:rPr>
              <a:t>.</a:t>
            </a:r>
          </a:p>
          <a:p>
            <a:pPr>
              <a:buSzPct val="10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 design thinking, an initial idea is treated as a </a:t>
            </a:r>
            <a:r>
              <a:rPr lang="en-US" sz="2400" b="1" dirty="0">
                <a:latin typeface="Times New Roman" panose="02020603050405020304" pitchFamily="18" charset="0"/>
                <a:cs typeface="Times New Roman" panose="02020603050405020304" pitchFamily="18" charset="0"/>
              </a:rPr>
              <a:t>starting point rather than a final answer</a:t>
            </a:r>
            <a:r>
              <a:rPr lang="en-US" sz="2400" dirty="0">
                <a:latin typeface="Times New Roman" panose="02020603050405020304" pitchFamily="18" charset="0"/>
                <a:cs typeface="Times New Roman" panose="02020603050405020304" pitchFamily="18" charset="0"/>
              </a:rPr>
              <a:t>. Designers create a prototype, expose it to users, learn from the users' experiences, make changes, and repeat the process.</a:t>
            </a:r>
          </a:p>
          <a:p>
            <a:pPr>
              <a:buNone/>
            </a:pPr>
            <a:r>
              <a:rPr lang="en-US" sz="2400" b="1" dirty="0">
                <a:latin typeface="Times New Roman" panose="02020603050405020304" pitchFamily="18" charset="0"/>
                <a:cs typeface="Times New Roman" panose="02020603050405020304" pitchFamily="18" charset="0"/>
              </a:rPr>
              <a:t>Definition: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Iterative design is an approach in which a design is repeatedly developed, tested, evaluated, and modified based on user feedback.</a:t>
            </a:r>
          </a:p>
          <a:p>
            <a:pPr>
              <a:buNone/>
            </a:pPr>
            <a:r>
              <a:rPr lang="en-US" sz="2400" dirty="0">
                <a:latin typeface="Times New Roman" panose="02020603050405020304" pitchFamily="18" charset="0"/>
                <a:cs typeface="Times New Roman" panose="02020603050405020304" pitchFamily="18" charset="0"/>
              </a:rPr>
              <a:t>The purpose is not simply to find errors. It is to develop a solution that is:</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Useful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Usable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Desirable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Feasible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Effective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Suitable for the target users</a:t>
            </a:r>
          </a:p>
          <a:p>
            <a:endParaRPr lang="en-IN" dirty="0"/>
          </a:p>
        </p:txBody>
      </p:sp>
      <p:sp>
        <p:nvSpPr>
          <p:cNvPr id="4" name="Slide Number Placeholder 3">
            <a:extLst>
              <a:ext uri="{FF2B5EF4-FFF2-40B4-BE49-F238E27FC236}">
                <a16:creationId xmlns:a16="http://schemas.microsoft.com/office/drawing/2014/main" id="{C8020A34-727E-4D10-D835-F5D7237523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21</a:t>
            </a:fld>
            <a:endParaRPr lang="en-GB"/>
          </a:p>
        </p:txBody>
      </p:sp>
    </p:spTree>
    <p:extLst>
      <p:ext uri="{BB962C8B-B14F-4D97-AF65-F5344CB8AC3E}">
        <p14:creationId xmlns:p14="http://schemas.microsoft.com/office/powerpoint/2010/main" val="278229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9DADB-C479-6A99-396B-E2616A6E0195}"/>
              </a:ext>
            </a:extLst>
          </p:cNvPr>
          <p:cNvSpPr>
            <a:spLocks noGrp="1"/>
          </p:cNvSpPr>
          <p:nvPr>
            <p:ph type="title"/>
          </p:nvPr>
        </p:nvSpPr>
        <p:spPr>
          <a:xfrm>
            <a:off x="323132" y="327380"/>
            <a:ext cx="11360700" cy="601133"/>
          </a:xfrm>
        </p:spPr>
        <p:txBody>
          <a:bodyPr/>
          <a:lstStyle/>
          <a:p>
            <a:pPr marL="457200" indent="-457200">
              <a:buFont typeface="Wingdings" panose="05000000000000000000" pitchFamily="2" charset="2"/>
              <a:buChar char="v"/>
            </a:pPr>
            <a:r>
              <a:rPr lang="en-US" sz="2800" dirty="0">
                <a:solidFill>
                  <a:srgbClr val="006600"/>
                </a:solidFill>
                <a:latin typeface="Times New Roman" panose="02020603050405020304" pitchFamily="18" charset="0"/>
                <a:cs typeface="Times New Roman" panose="02020603050405020304" pitchFamily="18" charset="0"/>
              </a:rPr>
              <a:t>Why Is Iteration Important in Design Thinking?</a:t>
            </a:r>
            <a:endParaRPr lang="en-IN" sz="2800" dirty="0">
              <a:solidFill>
                <a:srgbClr val="0066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8E07997-FFB3-1E3D-A874-B46F70E2EC24}"/>
              </a:ext>
            </a:extLst>
          </p:cNvPr>
          <p:cNvSpPr>
            <a:spLocks noGrp="1"/>
          </p:cNvSpPr>
          <p:nvPr>
            <p:ph type="body" idx="1"/>
          </p:nvPr>
        </p:nvSpPr>
        <p:spPr>
          <a:xfrm>
            <a:off x="415600" y="1092900"/>
            <a:ext cx="11360700" cy="4672200"/>
          </a:xfrm>
        </p:spPr>
        <p:txBody>
          <a:bodyPr/>
          <a:lstStyle/>
          <a:p>
            <a:pPr>
              <a:buSzPct val="9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Iteration is important because designers often make assumptions about what users need. Some of these assumptions may be incorrect.</a:t>
            </a:r>
          </a:p>
          <a:p>
            <a:pPr>
              <a:buSzPct val="9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For example, a designer may think:</a:t>
            </a:r>
          </a:p>
          <a:p>
            <a:pPr marL="50800" indent="0">
              <a:buSzPct val="90000"/>
              <a:buNone/>
            </a:pPr>
            <a:r>
              <a:rPr lang="en-US" sz="2400" dirty="0">
                <a:latin typeface="Times New Roman" panose="02020603050405020304" pitchFamily="18" charset="0"/>
                <a:cs typeface="Times New Roman" panose="02020603050405020304" pitchFamily="18" charset="0"/>
              </a:rPr>
              <a:t>		"Users need more features."</a:t>
            </a:r>
          </a:p>
          <a:p>
            <a:pPr>
              <a:buSzPct val="9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After testing, users may actually say:</a:t>
            </a:r>
          </a:p>
          <a:p>
            <a:pPr marL="50800" indent="0">
              <a:buSzPct val="90000"/>
              <a:buNone/>
            </a:pPr>
            <a:r>
              <a:rPr lang="en-US" sz="2400" dirty="0">
                <a:latin typeface="Times New Roman" panose="02020603050405020304" pitchFamily="18" charset="0"/>
                <a:cs typeface="Times New Roman" panose="02020603050405020304" pitchFamily="18" charset="0"/>
              </a:rPr>
              <a:t>  		"There are too many features. The product is confusing."</a:t>
            </a:r>
          </a:p>
          <a:p>
            <a:pPr>
              <a:buSzPct val="9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testing process reveals the difference between </a:t>
            </a:r>
            <a:r>
              <a:rPr lang="en-US" sz="2400" b="1" dirty="0">
                <a:latin typeface="Times New Roman" panose="02020603050405020304" pitchFamily="18" charset="0"/>
                <a:cs typeface="Times New Roman" panose="02020603050405020304" pitchFamily="18" charset="0"/>
              </a:rPr>
              <a:t>what designers assume</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what users actually experience</a:t>
            </a:r>
            <a:r>
              <a:rPr lang="en-US" sz="2400" dirty="0">
                <a:latin typeface="Times New Roman" panose="02020603050405020304" pitchFamily="18" charset="0"/>
                <a:cs typeface="Times New Roman" panose="02020603050405020304" pitchFamily="18" charset="0"/>
              </a:rPr>
              <a:t>.</a:t>
            </a:r>
          </a:p>
          <a:p>
            <a:endParaRPr lang="en-IN" dirty="0"/>
          </a:p>
        </p:txBody>
      </p:sp>
      <p:sp>
        <p:nvSpPr>
          <p:cNvPr id="4" name="Slide Number Placeholder 3">
            <a:extLst>
              <a:ext uri="{FF2B5EF4-FFF2-40B4-BE49-F238E27FC236}">
                <a16:creationId xmlns:a16="http://schemas.microsoft.com/office/drawing/2014/main" id="{5AC4C46F-FD3F-4D4B-4AE3-1891D0C242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22</a:t>
            </a:fld>
            <a:endParaRPr lang="en-GB"/>
          </a:p>
        </p:txBody>
      </p:sp>
    </p:spTree>
    <p:extLst>
      <p:ext uri="{BB962C8B-B14F-4D97-AF65-F5344CB8AC3E}">
        <p14:creationId xmlns:p14="http://schemas.microsoft.com/office/powerpoint/2010/main" val="2212391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BEB97F-4088-7955-1BCE-DF0531678A61}"/>
              </a:ext>
            </a:extLst>
          </p:cNvPr>
          <p:cNvSpPr>
            <a:spLocks noGrp="1"/>
          </p:cNvSpPr>
          <p:nvPr>
            <p:ph type="body" idx="1"/>
          </p:nvPr>
        </p:nvSpPr>
        <p:spPr>
          <a:xfrm>
            <a:off x="174661" y="320053"/>
            <a:ext cx="11856377" cy="5916360"/>
          </a:xfrm>
        </p:spPr>
        <p:txBody>
          <a:bodyPr/>
          <a:lstStyle/>
          <a:p>
            <a:pPr>
              <a:buNone/>
            </a:pPr>
            <a:r>
              <a:rPr lang="en-US" sz="2300" b="1" dirty="0">
                <a:solidFill>
                  <a:srgbClr val="0070C0"/>
                </a:solidFill>
                <a:latin typeface="Times New Roman" panose="02020603050405020304" pitchFamily="18" charset="0"/>
                <a:cs typeface="Times New Roman" panose="02020603050405020304" pitchFamily="18" charset="0"/>
              </a:rPr>
              <a:t>Importance of iteration</a:t>
            </a:r>
          </a:p>
          <a:p>
            <a:pPr>
              <a:buNone/>
            </a:pPr>
            <a:r>
              <a:rPr lang="en-US" sz="2300" b="1" dirty="0">
                <a:latin typeface="Times New Roman" panose="02020603050405020304" pitchFamily="18" charset="0"/>
                <a:cs typeface="Times New Roman" panose="02020603050405020304" pitchFamily="18" charset="0"/>
              </a:rPr>
              <a:t>1. Identifies problems early</a:t>
            </a:r>
          </a:p>
          <a:p>
            <a:pPr>
              <a:buNone/>
            </a:pPr>
            <a:r>
              <a:rPr lang="en-US" sz="2300" dirty="0">
                <a:latin typeface="Times New Roman" panose="02020603050405020304" pitchFamily="18" charset="0"/>
                <a:cs typeface="Times New Roman" panose="02020603050405020304" pitchFamily="18" charset="0"/>
              </a:rPr>
              <a:t>Testing a prototype can reveal usability problems before the final product is developed.</a:t>
            </a:r>
          </a:p>
          <a:p>
            <a:pPr>
              <a:buNone/>
            </a:pPr>
            <a:r>
              <a:rPr lang="en-US" sz="2300" b="1" dirty="0">
                <a:latin typeface="Times New Roman" panose="02020603050405020304" pitchFamily="18" charset="0"/>
                <a:cs typeface="Times New Roman" panose="02020603050405020304" pitchFamily="18" charset="0"/>
              </a:rPr>
              <a:t>2. Reduces the risk of failure</a:t>
            </a:r>
          </a:p>
          <a:p>
            <a:pPr>
              <a:buNone/>
            </a:pPr>
            <a:r>
              <a:rPr lang="en-US" sz="2300" dirty="0">
                <a:latin typeface="Times New Roman" panose="02020603050405020304" pitchFamily="18" charset="0"/>
                <a:cs typeface="Times New Roman" panose="02020603050405020304" pitchFamily="18" charset="0"/>
              </a:rPr>
              <a:t>Instead of investing heavily in an untested idea, designers experiment with small prototypes.</a:t>
            </a:r>
          </a:p>
          <a:p>
            <a:pPr>
              <a:buNone/>
            </a:pPr>
            <a:r>
              <a:rPr lang="en-US" sz="2300" b="1" dirty="0">
                <a:latin typeface="Times New Roman" panose="02020603050405020304" pitchFamily="18" charset="0"/>
                <a:cs typeface="Times New Roman" panose="02020603050405020304" pitchFamily="18" charset="0"/>
              </a:rPr>
              <a:t>3. Improves user satisfaction</a:t>
            </a:r>
          </a:p>
          <a:p>
            <a:pPr>
              <a:buNone/>
            </a:pPr>
            <a:r>
              <a:rPr lang="en-US" sz="2300" dirty="0">
                <a:latin typeface="Times New Roman" panose="02020603050405020304" pitchFamily="18" charset="0"/>
                <a:cs typeface="Times New Roman" panose="02020603050405020304" pitchFamily="18" charset="0"/>
              </a:rPr>
              <a:t>Users directly influence the improvement of the solution.</a:t>
            </a:r>
          </a:p>
          <a:p>
            <a:pPr>
              <a:buNone/>
            </a:pPr>
            <a:r>
              <a:rPr lang="en-US" sz="2300" b="1" dirty="0">
                <a:latin typeface="Times New Roman" panose="02020603050405020304" pitchFamily="18" charset="0"/>
                <a:cs typeface="Times New Roman" panose="02020603050405020304" pitchFamily="18" charset="0"/>
              </a:rPr>
              <a:t>4. Encourages learning</a:t>
            </a:r>
          </a:p>
          <a:p>
            <a:pPr>
              <a:buNone/>
            </a:pPr>
            <a:r>
              <a:rPr lang="en-US" sz="2300" dirty="0">
                <a:latin typeface="Times New Roman" panose="02020603050405020304" pitchFamily="18" charset="0"/>
                <a:cs typeface="Times New Roman" panose="02020603050405020304" pitchFamily="18" charset="0"/>
              </a:rPr>
              <a:t>Every test provides new information about the problem and the proposed solution.</a:t>
            </a:r>
          </a:p>
          <a:p>
            <a:pPr>
              <a:buNone/>
            </a:pPr>
            <a:r>
              <a:rPr lang="en-US" sz="2300" b="1" dirty="0">
                <a:latin typeface="Times New Roman" panose="02020603050405020304" pitchFamily="18" charset="0"/>
                <a:cs typeface="Times New Roman" panose="02020603050405020304" pitchFamily="18" charset="0"/>
              </a:rPr>
              <a:t>5. Challenges assumptions</a:t>
            </a:r>
          </a:p>
          <a:p>
            <a:pPr>
              <a:buNone/>
            </a:pPr>
            <a:r>
              <a:rPr lang="en-US" sz="2300" dirty="0">
                <a:latin typeface="Times New Roman" panose="02020603050405020304" pitchFamily="18" charset="0"/>
                <a:cs typeface="Times New Roman" panose="02020603050405020304" pitchFamily="18" charset="0"/>
              </a:rPr>
              <a:t>Testing helps determine whether the designer's assumptions are correct.</a:t>
            </a:r>
          </a:p>
          <a:p>
            <a:pPr>
              <a:buNone/>
            </a:pPr>
            <a:r>
              <a:rPr lang="en-US" sz="2300" b="1" dirty="0">
                <a:latin typeface="Times New Roman" panose="02020603050405020304" pitchFamily="18" charset="0"/>
                <a:cs typeface="Times New Roman" panose="02020603050405020304" pitchFamily="18" charset="0"/>
              </a:rPr>
              <a:t>6. Produces better solutions</a:t>
            </a:r>
          </a:p>
          <a:p>
            <a:pPr>
              <a:buNone/>
            </a:pPr>
            <a:r>
              <a:rPr lang="en-US" sz="2300" dirty="0">
                <a:latin typeface="Times New Roman" panose="02020603050405020304" pitchFamily="18" charset="0"/>
                <a:cs typeface="Times New Roman" panose="02020603050405020304" pitchFamily="18" charset="0"/>
              </a:rPr>
              <a:t>Repeated improvement generally results in a solution that is more closely aligned with user needs.</a:t>
            </a:r>
          </a:p>
          <a:p>
            <a:pPr>
              <a:buNone/>
            </a:pPr>
            <a:r>
              <a:rPr lang="en-US" sz="2300" b="1" dirty="0">
                <a:latin typeface="Times New Roman" panose="02020603050405020304" pitchFamily="18" charset="0"/>
                <a:cs typeface="Times New Roman" panose="02020603050405020304" pitchFamily="18" charset="0"/>
              </a:rPr>
              <a:t>7. Supports innovation</a:t>
            </a:r>
          </a:p>
          <a:p>
            <a:pPr>
              <a:buNone/>
            </a:pPr>
            <a:r>
              <a:rPr lang="en-US" sz="2300" dirty="0">
                <a:latin typeface="Times New Roman" panose="02020603050405020304" pitchFamily="18" charset="0"/>
                <a:cs typeface="Times New Roman" panose="02020603050405020304" pitchFamily="18" charset="0"/>
              </a:rPr>
              <a:t>Designers can experiment with different alternatives instead of becoming attached to the first idea.</a:t>
            </a:r>
          </a:p>
          <a:p>
            <a:endParaRPr lang="en-IN" dirty="0"/>
          </a:p>
        </p:txBody>
      </p:sp>
      <p:sp>
        <p:nvSpPr>
          <p:cNvPr id="4" name="Slide Number Placeholder 3">
            <a:extLst>
              <a:ext uri="{FF2B5EF4-FFF2-40B4-BE49-F238E27FC236}">
                <a16:creationId xmlns:a16="http://schemas.microsoft.com/office/drawing/2014/main" id="{8E8EB0FE-F71D-44CA-AE7B-37BDEDF3C4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23</a:t>
            </a:fld>
            <a:endParaRPr lang="en-GB"/>
          </a:p>
        </p:txBody>
      </p:sp>
    </p:spTree>
    <p:extLst>
      <p:ext uri="{BB962C8B-B14F-4D97-AF65-F5344CB8AC3E}">
        <p14:creationId xmlns:p14="http://schemas.microsoft.com/office/powerpoint/2010/main" val="2929163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40570-9D6D-D42E-9ABE-B44EE74289BC}"/>
              </a:ext>
            </a:extLst>
          </p:cNvPr>
          <p:cNvSpPr>
            <a:spLocks noGrp="1"/>
          </p:cNvSpPr>
          <p:nvPr>
            <p:ph type="title"/>
          </p:nvPr>
        </p:nvSpPr>
        <p:spPr>
          <a:xfrm>
            <a:off x="225550" y="168243"/>
            <a:ext cx="11360700" cy="663964"/>
          </a:xfrm>
        </p:spPr>
        <p:txBody>
          <a:bodyPr/>
          <a:lstStyle/>
          <a:p>
            <a:pPr marL="457200" indent="-457200">
              <a:buFont typeface="Wingdings" panose="05000000000000000000" pitchFamily="2" charset="2"/>
              <a:buChar char="v"/>
            </a:pPr>
            <a:r>
              <a:rPr lang="en-US" sz="2800" dirty="0">
                <a:solidFill>
                  <a:srgbClr val="006600"/>
                </a:solidFill>
                <a:latin typeface="Times New Roman" panose="02020603050405020304" pitchFamily="18" charset="0"/>
                <a:cs typeface="Times New Roman" panose="02020603050405020304" pitchFamily="18" charset="0"/>
              </a:rPr>
              <a:t>Iterative Design in the Design Thinking Process</a:t>
            </a:r>
            <a:endParaRPr lang="en-IN" sz="2800" dirty="0">
              <a:solidFill>
                <a:srgbClr val="0066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01656F8-8B68-5818-823C-EAF96217D082}"/>
              </a:ext>
            </a:extLst>
          </p:cNvPr>
          <p:cNvSpPr>
            <a:spLocks noGrp="1"/>
          </p:cNvSpPr>
          <p:nvPr>
            <p:ph type="body" idx="1"/>
          </p:nvPr>
        </p:nvSpPr>
        <p:spPr>
          <a:xfrm>
            <a:off x="415600" y="931743"/>
            <a:ext cx="11360700" cy="4833357"/>
          </a:xfrm>
        </p:spPr>
        <p:txBody>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commonly used Design Thinking process consists of:</a:t>
            </a:r>
          </a:p>
          <a:p>
            <a:pPr marL="50800" indent="0">
              <a:buNone/>
            </a:pPr>
            <a:r>
              <a:rPr lang="en-US" sz="2400" b="1" dirty="0">
                <a:latin typeface="Times New Roman" panose="02020603050405020304" pitchFamily="18" charset="0"/>
                <a:cs typeface="Times New Roman" panose="02020603050405020304" pitchFamily="18" charset="0"/>
              </a:rPr>
              <a:t>	Empathize → Define → Ideate → Prototype → Test</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Iteration is particularly visible between the </a:t>
            </a:r>
            <a:r>
              <a:rPr lang="en-US" sz="2400" b="1" dirty="0">
                <a:latin typeface="Times New Roman" panose="02020603050405020304" pitchFamily="18" charset="0"/>
                <a:cs typeface="Times New Roman" panose="02020603050405020304" pitchFamily="18" charset="0"/>
              </a:rPr>
              <a:t>Prototype</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Test</a:t>
            </a:r>
            <a:r>
              <a:rPr lang="en-US" sz="2400" dirty="0">
                <a:latin typeface="Times New Roman" panose="02020603050405020304" pitchFamily="18" charset="0"/>
                <a:cs typeface="Times New Roman" panose="02020603050405020304" pitchFamily="18" charset="0"/>
              </a:rPr>
              <a:t> stages, but it can actually occur throughout the entire process.</a:t>
            </a:r>
          </a:p>
          <a:p>
            <a:endParaRPr lang="en-IN" dirty="0"/>
          </a:p>
          <a:p>
            <a:endParaRPr lang="en-IN" dirty="0"/>
          </a:p>
        </p:txBody>
      </p:sp>
      <p:sp>
        <p:nvSpPr>
          <p:cNvPr id="4" name="Slide Number Placeholder 3">
            <a:extLst>
              <a:ext uri="{FF2B5EF4-FFF2-40B4-BE49-F238E27FC236}">
                <a16:creationId xmlns:a16="http://schemas.microsoft.com/office/drawing/2014/main" id="{2450B485-C94B-3304-3035-44AC8C107C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24</a:t>
            </a:fld>
            <a:endParaRPr lang="en-GB"/>
          </a:p>
        </p:txBody>
      </p:sp>
      <p:pic>
        <p:nvPicPr>
          <p:cNvPr id="5" name="Picture 4">
            <a:extLst>
              <a:ext uri="{FF2B5EF4-FFF2-40B4-BE49-F238E27FC236}">
                <a16:creationId xmlns:a16="http://schemas.microsoft.com/office/drawing/2014/main" id="{35209C6C-FB60-F794-33B7-0343534673F5}"/>
              </a:ext>
            </a:extLst>
          </p:cNvPr>
          <p:cNvPicPr>
            <a:picLocks noChangeAspect="1"/>
          </p:cNvPicPr>
          <p:nvPr/>
        </p:nvPicPr>
        <p:blipFill>
          <a:blip r:embed="rId2"/>
          <a:stretch>
            <a:fillRect/>
          </a:stretch>
        </p:blipFill>
        <p:spPr>
          <a:xfrm>
            <a:off x="3041149" y="3061698"/>
            <a:ext cx="7181637" cy="3152235"/>
          </a:xfrm>
          <a:prstGeom prst="rect">
            <a:avLst/>
          </a:prstGeom>
        </p:spPr>
      </p:pic>
    </p:spTree>
    <p:extLst>
      <p:ext uri="{BB962C8B-B14F-4D97-AF65-F5344CB8AC3E}">
        <p14:creationId xmlns:p14="http://schemas.microsoft.com/office/powerpoint/2010/main" val="5406519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2297F72-8B77-DCE0-25B3-990AC9B7FCD5}"/>
              </a:ext>
            </a:extLst>
          </p:cNvPr>
          <p:cNvSpPr>
            <a:spLocks noGrp="1"/>
          </p:cNvSpPr>
          <p:nvPr>
            <p:ph type="body" idx="1"/>
          </p:nvPr>
        </p:nvSpPr>
        <p:spPr>
          <a:xfrm>
            <a:off x="415600" y="236306"/>
            <a:ext cx="11360700" cy="6172058"/>
          </a:xfrm>
        </p:spPr>
        <p:txBody>
          <a:bodyPr/>
          <a:lstStyle/>
          <a:p>
            <a:pPr>
              <a:buNone/>
            </a:pPr>
            <a:r>
              <a:rPr lang="en-IN" sz="2400" dirty="0">
                <a:latin typeface="Times New Roman" panose="02020603050405020304" pitchFamily="18" charset="0"/>
                <a:cs typeface="Times New Roman" panose="02020603050405020304" pitchFamily="18" charset="0"/>
              </a:rPr>
              <a:t>For example:</a:t>
            </a:r>
          </a:p>
          <a:p>
            <a:pPr>
              <a:buNone/>
            </a:pPr>
            <a:r>
              <a:rPr lang="en-IN" sz="2400" b="1" dirty="0">
                <a:latin typeface="Times New Roman" panose="02020603050405020304" pitchFamily="18" charset="0"/>
                <a:cs typeface="Times New Roman" panose="02020603050405020304" pitchFamily="18" charset="0"/>
              </a:rPr>
              <a:t>Empathize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Understand users</a:t>
            </a:r>
          </a:p>
          <a:p>
            <a:pPr>
              <a:buNone/>
            </a:pPr>
            <a:r>
              <a:rPr lang="en-IN" sz="2400" b="1" dirty="0">
                <a:latin typeface="Times New Roman" panose="02020603050405020304" pitchFamily="18" charset="0"/>
                <a:cs typeface="Times New Roman" panose="02020603050405020304" pitchFamily="18" charset="0"/>
              </a:rPr>
              <a:t>Define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Identify the problem</a:t>
            </a:r>
          </a:p>
          <a:p>
            <a:pPr>
              <a:buNone/>
            </a:pPr>
            <a:r>
              <a:rPr lang="en-IN" sz="2400" b="1" dirty="0">
                <a:latin typeface="Times New Roman" panose="02020603050405020304" pitchFamily="18" charset="0"/>
                <a:cs typeface="Times New Roman" panose="02020603050405020304" pitchFamily="18" charset="0"/>
              </a:rPr>
              <a:t>Ideate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Generate possible solutions</a:t>
            </a:r>
          </a:p>
          <a:p>
            <a:pPr>
              <a:buNone/>
            </a:pPr>
            <a:r>
              <a:rPr lang="en-IN" sz="2400" b="1" dirty="0">
                <a:latin typeface="Times New Roman" panose="02020603050405020304" pitchFamily="18" charset="0"/>
                <a:cs typeface="Times New Roman" panose="02020603050405020304" pitchFamily="18" charset="0"/>
              </a:rPr>
              <a:t>Prototype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Create an initial version</a:t>
            </a:r>
          </a:p>
          <a:p>
            <a:pPr>
              <a:buNone/>
            </a:pPr>
            <a:r>
              <a:rPr lang="en-IN" sz="2400" b="1" dirty="0">
                <a:latin typeface="Times New Roman" panose="02020603050405020304" pitchFamily="18" charset="0"/>
                <a:cs typeface="Times New Roman" panose="02020603050405020304" pitchFamily="18" charset="0"/>
              </a:rPr>
              <a:t>Test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Observe users</a:t>
            </a:r>
          </a:p>
          <a:p>
            <a:endParaRPr lang="en-IN" dirty="0"/>
          </a:p>
        </p:txBody>
      </p:sp>
      <p:sp>
        <p:nvSpPr>
          <p:cNvPr id="4" name="Slide Number Placeholder 3">
            <a:extLst>
              <a:ext uri="{FF2B5EF4-FFF2-40B4-BE49-F238E27FC236}">
                <a16:creationId xmlns:a16="http://schemas.microsoft.com/office/drawing/2014/main" id="{F4A7023B-4F98-E1C6-4372-F1C0A8B2DB2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25</a:t>
            </a:fld>
            <a:endParaRPr lang="en-GB"/>
          </a:p>
        </p:txBody>
      </p:sp>
      <p:sp>
        <p:nvSpPr>
          <p:cNvPr id="5" name="TextBox 4">
            <a:extLst>
              <a:ext uri="{FF2B5EF4-FFF2-40B4-BE49-F238E27FC236}">
                <a16:creationId xmlns:a16="http://schemas.microsoft.com/office/drawing/2014/main" id="{117F98D8-50D7-3999-FB7E-663E2BBDD98D}"/>
              </a:ext>
            </a:extLst>
          </p:cNvPr>
          <p:cNvSpPr txBox="1"/>
          <p:nvPr/>
        </p:nvSpPr>
        <p:spPr>
          <a:xfrm>
            <a:off x="7892669" y="801385"/>
            <a:ext cx="3544584" cy="4154984"/>
          </a:xfrm>
          <a:prstGeom prst="rect">
            <a:avLst/>
          </a:prstGeom>
          <a:noFill/>
        </p:spPr>
        <p:txBody>
          <a:bodyPr wrap="square" rtlCol="0">
            <a:spAutoFit/>
          </a:bodyPr>
          <a:lstStyle/>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IN" sz="2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Feedback</a:t>
            </a:r>
            <a:b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b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a:t>
            </a:r>
            <a:b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b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Identify problems and opportunities</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IN" sz="2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Refine</a:t>
            </a:r>
            <a:b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b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a:t>
            </a:r>
            <a:b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b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Improve the prototype</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IN" sz="2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Retest</a:t>
            </a:r>
            <a:b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b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a:t>
            </a:r>
            <a:b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b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Check whether the changes worked</a:t>
            </a:r>
          </a:p>
        </p:txBody>
      </p:sp>
      <p:sp>
        <p:nvSpPr>
          <p:cNvPr id="6" name="TextBox 5">
            <a:extLst>
              <a:ext uri="{FF2B5EF4-FFF2-40B4-BE49-F238E27FC236}">
                <a16:creationId xmlns:a16="http://schemas.microsoft.com/office/drawing/2014/main" id="{183E2532-729A-710A-106A-7255B0C895A6}"/>
              </a:ext>
            </a:extLst>
          </p:cNvPr>
          <p:cNvSpPr txBox="1"/>
          <p:nvPr/>
        </p:nvSpPr>
        <p:spPr>
          <a:xfrm>
            <a:off x="5097122" y="5444341"/>
            <a:ext cx="6854978"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process can then move backward to an earlier stage if testing reveals that the problem itself was incorrectly defined.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0839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9446D-608C-BC31-C8BB-FE0DF9D45AD6}"/>
              </a:ext>
            </a:extLst>
          </p:cNvPr>
          <p:cNvSpPr>
            <a:spLocks noGrp="1"/>
          </p:cNvSpPr>
          <p:nvPr>
            <p:ph type="title"/>
          </p:nvPr>
        </p:nvSpPr>
        <p:spPr>
          <a:xfrm>
            <a:off x="302585" y="265736"/>
            <a:ext cx="11360700" cy="610845"/>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The Iterative Design Cycle</a:t>
            </a:r>
          </a:p>
        </p:txBody>
      </p:sp>
      <p:sp>
        <p:nvSpPr>
          <p:cNvPr id="3" name="Text Placeholder 2">
            <a:extLst>
              <a:ext uri="{FF2B5EF4-FFF2-40B4-BE49-F238E27FC236}">
                <a16:creationId xmlns:a16="http://schemas.microsoft.com/office/drawing/2014/main" id="{E6C98D48-7670-DB67-0101-78ECAA1310F2}"/>
              </a:ext>
            </a:extLst>
          </p:cNvPr>
          <p:cNvSpPr>
            <a:spLocks noGrp="1"/>
          </p:cNvSpPr>
          <p:nvPr>
            <p:ph type="body" idx="1"/>
          </p:nvPr>
        </p:nvSpPr>
        <p:spPr>
          <a:xfrm>
            <a:off x="415600" y="876581"/>
            <a:ext cx="7765362" cy="5339283"/>
          </a:xfrm>
        </p:spPr>
        <p:txBody>
          <a:bodyPr/>
          <a:lstStyle/>
          <a:p>
            <a:pPr>
              <a:buSzPct val="100000"/>
            </a:pPr>
            <a:r>
              <a:rPr lang="en-US" sz="2400" dirty="0">
                <a:latin typeface="Times New Roman" panose="02020603050405020304" pitchFamily="18" charset="0"/>
                <a:cs typeface="Times New Roman" panose="02020603050405020304" pitchFamily="18" charset="0"/>
              </a:rPr>
              <a:t>A simple iterative design cycle can be represented as:</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a:buSzPct val="1000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output of one iteration becomes</a:t>
            </a:r>
          </a:p>
          <a:p>
            <a:pPr>
              <a:buSzPct val="1000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the input for the next iteration.</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71F1C14-A63F-0BFE-0183-B5988D508B1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26</a:t>
            </a:fld>
            <a:endParaRPr lang="en-GB"/>
          </a:p>
        </p:txBody>
      </p:sp>
      <p:sp>
        <p:nvSpPr>
          <p:cNvPr id="5" name="AutoShape 2">
            <a:extLst>
              <a:ext uri="{FF2B5EF4-FFF2-40B4-BE49-F238E27FC236}">
                <a16:creationId xmlns:a16="http://schemas.microsoft.com/office/drawing/2014/main" id="{49B2967A-651D-55D7-1458-5128BB5A575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ECD9F9AD-692A-1DD6-0BAB-CC1E331FFEF0}"/>
              </a:ext>
            </a:extLst>
          </p:cNvPr>
          <p:cNvPicPr>
            <a:picLocks noChangeAspect="1"/>
          </p:cNvPicPr>
          <p:nvPr/>
        </p:nvPicPr>
        <p:blipFill>
          <a:blip r:embed="rId2"/>
          <a:stretch>
            <a:fillRect/>
          </a:stretch>
        </p:blipFill>
        <p:spPr>
          <a:xfrm>
            <a:off x="5636577" y="1417677"/>
            <a:ext cx="5034665" cy="4798187"/>
          </a:xfrm>
          <a:prstGeom prst="rect">
            <a:avLst/>
          </a:prstGeom>
        </p:spPr>
      </p:pic>
    </p:spTree>
    <p:extLst>
      <p:ext uri="{BB962C8B-B14F-4D97-AF65-F5344CB8AC3E}">
        <p14:creationId xmlns:p14="http://schemas.microsoft.com/office/powerpoint/2010/main" val="29338110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2209A-1C2C-2411-CFCB-0204A950BFE4}"/>
              </a:ext>
            </a:extLst>
          </p:cNvPr>
          <p:cNvSpPr>
            <a:spLocks noGrp="1"/>
          </p:cNvSpPr>
          <p:nvPr>
            <p:ph type="title"/>
          </p:nvPr>
        </p:nvSpPr>
        <p:spPr>
          <a:xfrm>
            <a:off x="415600" y="119205"/>
            <a:ext cx="11360700" cy="678029"/>
          </a:xfrm>
        </p:spPr>
        <p:txBody>
          <a:bodyPr/>
          <a:lstStyle/>
          <a:p>
            <a:pPr marL="457200" indent="-457200">
              <a:buFont typeface="Wingdings" panose="05000000000000000000" pitchFamily="2" charset="2"/>
              <a:buChar char="v"/>
            </a:pPr>
            <a:r>
              <a:rPr lang="en-IN" sz="2800" dirty="0">
                <a:solidFill>
                  <a:srgbClr val="6600FF"/>
                </a:solidFill>
                <a:latin typeface="Times New Roman" panose="02020603050405020304" pitchFamily="18" charset="0"/>
                <a:cs typeface="Times New Roman" panose="02020603050405020304" pitchFamily="18" charset="0"/>
              </a:rPr>
              <a:t>Stage 1: Testing</a:t>
            </a:r>
          </a:p>
        </p:txBody>
      </p:sp>
      <p:sp>
        <p:nvSpPr>
          <p:cNvPr id="3" name="Text Placeholder 2">
            <a:extLst>
              <a:ext uri="{FF2B5EF4-FFF2-40B4-BE49-F238E27FC236}">
                <a16:creationId xmlns:a16="http://schemas.microsoft.com/office/drawing/2014/main" id="{04C9D27C-2859-DECF-1F0A-4EF97CE247BA}"/>
              </a:ext>
            </a:extLst>
          </p:cNvPr>
          <p:cNvSpPr>
            <a:spLocks noGrp="1"/>
          </p:cNvSpPr>
          <p:nvPr>
            <p:ph type="body" idx="1"/>
          </p:nvPr>
        </p:nvSpPr>
        <p:spPr>
          <a:xfrm>
            <a:off x="415600" y="797235"/>
            <a:ext cx="11360700" cy="5263532"/>
          </a:xfrm>
        </p:spPr>
        <p:txBody>
          <a:bodyPr/>
          <a:lstStyle/>
          <a:p>
            <a:pPr>
              <a:buSzPct val="1000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Testing</a:t>
            </a:r>
            <a:r>
              <a:rPr lang="en-US" sz="2400" dirty="0">
                <a:latin typeface="Times New Roman" panose="02020603050405020304" pitchFamily="18" charset="0"/>
                <a:cs typeface="Times New Roman" panose="02020603050405020304" pitchFamily="18" charset="0"/>
              </a:rPr>
              <a:t> is the process of exposing a prototype or proposed solution to real or representative users to determine how well it meets their needs.</a:t>
            </a:r>
          </a:p>
          <a:p>
            <a:pPr>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Testing helps answer questions such as:</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users understand the solution?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users use it without difficulty?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Does it solve the intended problem?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Where do users experience confusion?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features work well?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needs improvement?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Does the solution meet user expectations? </a:t>
            </a:r>
          </a:p>
          <a:p>
            <a:pPr>
              <a:buSzPct val="1000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buSzPct val="1000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Testing should be performed as early as possible because discovering a problem early is usually less costly than discovering it after the final product is developed.</a:t>
            </a:r>
          </a:p>
          <a:p>
            <a:endParaRPr lang="en-IN" dirty="0"/>
          </a:p>
        </p:txBody>
      </p:sp>
      <p:sp>
        <p:nvSpPr>
          <p:cNvPr id="4" name="Slide Number Placeholder 3">
            <a:extLst>
              <a:ext uri="{FF2B5EF4-FFF2-40B4-BE49-F238E27FC236}">
                <a16:creationId xmlns:a16="http://schemas.microsoft.com/office/drawing/2014/main" id="{F592B5E9-BB6B-DB85-1048-6FB2F3B159A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27</a:t>
            </a:fld>
            <a:endParaRPr lang="en-GB"/>
          </a:p>
        </p:txBody>
      </p:sp>
    </p:spTree>
    <p:extLst>
      <p:ext uri="{BB962C8B-B14F-4D97-AF65-F5344CB8AC3E}">
        <p14:creationId xmlns:p14="http://schemas.microsoft.com/office/powerpoint/2010/main" val="17873392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3058C-D304-1603-40C8-1026CB6A6158}"/>
              </a:ext>
            </a:extLst>
          </p:cNvPr>
          <p:cNvSpPr>
            <a:spLocks noGrp="1"/>
          </p:cNvSpPr>
          <p:nvPr>
            <p:ph type="title"/>
          </p:nvPr>
        </p:nvSpPr>
        <p:spPr>
          <a:xfrm>
            <a:off x="415600" y="339112"/>
            <a:ext cx="11360700" cy="523917"/>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Objectives of Testing</a:t>
            </a:r>
          </a:p>
        </p:txBody>
      </p:sp>
      <p:sp>
        <p:nvSpPr>
          <p:cNvPr id="3" name="Text Placeholder 2">
            <a:extLst>
              <a:ext uri="{FF2B5EF4-FFF2-40B4-BE49-F238E27FC236}">
                <a16:creationId xmlns:a16="http://schemas.microsoft.com/office/drawing/2014/main" id="{8FD41C24-382A-C4C9-86EB-4826823C7669}"/>
              </a:ext>
            </a:extLst>
          </p:cNvPr>
          <p:cNvSpPr>
            <a:spLocks noGrp="1"/>
          </p:cNvSpPr>
          <p:nvPr>
            <p:ph type="body" idx="1"/>
          </p:nvPr>
        </p:nvSpPr>
        <p:spPr>
          <a:xfrm>
            <a:off x="415600" y="863029"/>
            <a:ext cx="11360700" cy="5228559"/>
          </a:xfrm>
        </p:spPr>
        <p:txBody>
          <a:bodyPr/>
          <a:lstStyle/>
          <a:p>
            <a:pPr>
              <a:buNone/>
            </a:pPr>
            <a:r>
              <a:rPr lang="en-US" sz="2400" dirty="0">
                <a:latin typeface="Times New Roman" panose="02020603050405020304" pitchFamily="18" charset="0"/>
                <a:cs typeface="Times New Roman" panose="02020603050405020304" pitchFamily="18" charset="0"/>
              </a:rPr>
              <a:t>The major objectives of testing are:</a:t>
            </a:r>
          </a:p>
          <a:p>
            <a:pPr>
              <a:buNone/>
            </a:pPr>
            <a:r>
              <a:rPr lang="en-US" sz="2400" b="1" dirty="0">
                <a:latin typeface="Times New Roman" panose="02020603050405020304" pitchFamily="18" charset="0"/>
                <a:cs typeface="Times New Roman" panose="02020603050405020304" pitchFamily="18" charset="0"/>
              </a:rPr>
              <a:t>1. Validate the design</a:t>
            </a:r>
          </a:p>
          <a:p>
            <a:pPr>
              <a:buNone/>
            </a:pPr>
            <a:r>
              <a:rPr lang="en-US" sz="2400" dirty="0">
                <a:latin typeface="Times New Roman" panose="02020603050405020304" pitchFamily="18" charset="0"/>
                <a:cs typeface="Times New Roman" panose="02020603050405020304" pitchFamily="18" charset="0"/>
              </a:rPr>
              <a:t>Determine whether the proposed solution actually addresses the identified problem.</a:t>
            </a:r>
          </a:p>
          <a:p>
            <a:pPr>
              <a:buNone/>
            </a:pPr>
            <a:r>
              <a:rPr lang="en-US" sz="2400" b="1" dirty="0">
                <a:latin typeface="Times New Roman" panose="02020603050405020304" pitchFamily="18" charset="0"/>
                <a:cs typeface="Times New Roman" panose="02020603050405020304" pitchFamily="18" charset="0"/>
              </a:rPr>
              <a:t>2. Identify usability problems</a:t>
            </a:r>
          </a:p>
          <a:p>
            <a:pPr>
              <a:buNone/>
            </a:pPr>
            <a:r>
              <a:rPr lang="en-US" sz="2400" dirty="0">
                <a:latin typeface="Times New Roman" panose="02020603050405020304" pitchFamily="18" charset="0"/>
                <a:cs typeface="Times New Roman" panose="02020603050405020304" pitchFamily="18" charset="0"/>
              </a:rPr>
              <a:t>Find areas where users struggle, become confused, or make mistakes.</a:t>
            </a:r>
          </a:p>
          <a:p>
            <a:pPr>
              <a:buNone/>
            </a:pPr>
            <a:r>
              <a:rPr lang="en-US" sz="2400" b="1" dirty="0">
                <a:latin typeface="Times New Roman" panose="02020603050405020304" pitchFamily="18" charset="0"/>
                <a:cs typeface="Times New Roman" panose="02020603050405020304" pitchFamily="18" charset="0"/>
              </a:rPr>
              <a:t>3. Understand user </a:t>
            </a:r>
            <a:r>
              <a:rPr lang="en-US" sz="2400" b="1" dirty="0" err="1">
                <a:latin typeface="Times New Roman" panose="02020603050405020304" pitchFamily="18" charset="0"/>
                <a:cs typeface="Times New Roman" panose="02020603050405020304" pitchFamily="18" charset="0"/>
              </a:rPr>
              <a:t>behaviour</a:t>
            </a:r>
            <a:endParaRPr lang="en-US" sz="2400" b="1"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Observe what users </a:t>
            </a:r>
            <a:r>
              <a:rPr lang="en-US" sz="2400" b="1" dirty="0">
                <a:latin typeface="Times New Roman" panose="02020603050405020304" pitchFamily="18" charset="0"/>
                <a:cs typeface="Times New Roman" panose="02020603050405020304" pitchFamily="18" charset="0"/>
              </a:rPr>
              <a:t>actually do</a:t>
            </a:r>
            <a:r>
              <a:rPr lang="en-US" sz="2400" dirty="0">
                <a:latin typeface="Times New Roman" panose="02020603050405020304" pitchFamily="18" charset="0"/>
                <a:cs typeface="Times New Roman" panose="02020603050405020304" pitchFamily="18" charset="0"/>
              </a:rPr>
              <a:t>, rather than relying only on what they say.</a:t>
            </a:r>
          </a:p>
          <a:p>
            <a:pPr>
              <a:buNone/>
            </a:pPr>
            <a:r>
              <a:rPr lang="en-US" sz="2400" b="1" dirty="0">
                <a:latin typeface="Times New Roman" panose="02020603050405020304" pitchFamily="18" charset="0"/>
                <a:cs typeface="Times New Roman" panose="02020603050405020304" pitchFamily="18" charset="0"/>
              </a:rPr>
              <a:t>4. Evaluate assumptions</a:t>
            </a:r>
          </a:p>
          <a:p>
            <a:pPr>
              <a:buNone/>
            </a:pPr>
            <a:r>
              <a:rPr lang="en-US" sz="2400" dirty="0">
                <a:latin typeface="Times New Roman" panose="02020603050405020304" pitchFamily="18" charset="0"/>
                <a:cs typeface="Times New Roman" panose="02020603050405020304" pitchFamily="18" charset="0"/>
              </a:rPr>
              <a:t>Determine whether assumptions made during ideation and prototyping are correct.</a:t>
            </a:r>
          </a:p>
          <a:p>
            <a:pPr>
              <a:buNone/>
            </a:pPr>
            <a:r>
              <a:rPr lang="en-US" sz="2400" b="1" dirty="0">
                <a:latin typeface="Times New Roman" panose="02020603050405020304" pitchFamily="18" charset="0"/>
                <a:cs typeface="Times New Roman" panose="02020603050405020304" pitchFamily="18" charset="0"/>
              </a:rPr>
              <a:t>5. Compare alternatives</a:t>
            </a:r>
          </a:p>
          <a:p>
            <a:pPr>
              <a:buNone/>
            </a:pPr>
            <a:r>
              <a:rPr lang="en-US" sz="2400" dirty="0">
                <a:latin typeface="Times New Roman" panose="02020603050405020304" pitchFamily="18" charset="0"/>
                <a:cs typeface="Times New Roman" panose="02020603050405020304" pitchFamily="18" charset="0"/>
              </a:rPr>
              <a:t>Test different versions of a solution and determine which performs better.</a:t>
            </a:r>
          </a:p>
          <a:p>
            <a:pPr>
              <a:buNone/>
            </a:pPr>
            <a:r>
              <a:rPr lang="en-US" sz="2400" b="1" dirty="0">
                <a:latin typeface="Times New Roman" panose="02020603050405020304" pitchFamily="18" charset="0"/>
                <a:cs typeface="Times New Roman" panose="02020603050405020304" pitchFamily="18" charset="0"/>
              </a:rPr>
              <a:t>6. Discover unexpected needs</a:t>
            </a:r>
          </a:p>
          <a:p>
            <a:pPr>
              <a:buNone/>
            </a:pPr>
            <a:r>
              <a:rPr lang="en-US" sz="2400" dirty="0">
                <a:latin typeface="Times New Roman" panose="02020603050405020304" pitchFamily="18" charset="0"/>
                <a:cs typeface="Times New Roman" panose="02020603050405020304" pitchFamily="18" charset="0"/>
              </a:rPr>
              <a:t>Users may reveal requirements that designers did not initially consider.</a:t>
            </a:r>
          </a:p>
          <a:p>
            <a:endParaRPr lang="en-IN" dirty="0"/>
          </a:p>
        </p:txBody>
      </p:sp>
      <p:sp>
        <p:nvSpPr>
          <p:cNvPr id="4" name="Slide Number Placeholder 3">
            <a:extLst>
              <a:ext uri="{FF2B5EF4-FFF2-40B4-BE49-F238E27FC236}">
                <a16:creationId xmlns:a16="http://schemas.microsoft.com/office/drawing/2014/main" id="{5BDFA1E0-974B-2883-00A8-249C952CFB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28</a:t>
            </a:fld>
            <a:endParaRPr lang="en-GB"/>
          </a:p>
        </p:txBody>
      </p:sp>
    </p:spTree>
    <p:extLst>
      <p:ext uri="{BB962C8B-B14F-4D97-AF65-F5344CB8AC3E}">
        <p14:creationId xmlns:p14="http://schemas.microsoft.com/office/powerpoint/2010/main" val="7899789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396F5-4328-9DBE-43BA-ACB5A08DFCC8}"/>
              </a:ext>
            </a:extLst>
          </p:cNvPr>
          <p:cNvSpPr>
            <a:spLocks noGrp="1"/>
          </p:cNvSpPr>
          <p:nvPr>
            <p:ph type="title"/>
          </p:nvPr>
        </p:nvSpPr>
        <p:spPr>
          <a:xfrm>
            <a:off x="415600" y="339112"/>
            <a:ext cx="11360700" cy="657481"/>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Types of Testing</a:t>
            </a:r>
          </a:p>
        </p:txBody>
      </p:sp>
      <p:sp>
        <p:nvSpPr>
          <p:cNvPr id="3" name="Text Placeholder 2">
            <a:extLst>
              <a:ext uri="{FF2B5EF4-FFF2-40B4-BE49-F238E27FC236}">
                <a16:creationId xmlns:a16="http://schemas.microsoft.com/office/drawing/2014/main" id="{7FF4C43A-9C63-4D15-B0D5-EF8652E6FB06}"/>
              </a:ext>
            </a:extLst>
          </p:cNvPr>
          <p:cNvSpPr>
            <a:spLocks noGrp="1"/>
          </p:cNvSpPr>
          <p:nvPr>
            <p:ph type="body" idx="1"/>
          </p:nvPr>
        </p:nvSpPr>
        <p:spPr>
          <a:xfrm>
            <a:off x="415600" y="996593"/>
            <a:ext cx="11360700" cy="5094995"/>
          </a:xfrm>
        </p:spPr>
        <p:txBody>
          <a:bodyPr/>
          <a:lstStyle/>
          <a:p>
            <a:pPr>
              <a:buNone/>
            </a:pPr>
            <a:r>
              <a:rPr lang="en-US" sz="2400" b="1" dirty="0">
                <a:solidFill>
                  <a:srgbClr val="FF5050"/>
                </a:solidFill>
                <a:latin typeface="Times New Roman" panose="02020603050405020304" pitchFamily="18" charset="0"/>
                <a:cs typeface="Times New Roman" panose="02020603050405020304" pitchFamily="18" charset="0"/>
              </a:rPr>
              <a:t>A. Usability Testing</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Users are asked to perform specific tasks using the prototype.</a:t>
            </a:r>
          </a:p>
          <a:p>
            <a:pPr>
              <a:buNone/>
            </a:pPr>
            <a:endParaRPr lang="en-US" sz="2400" b="1"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Example</a:t>
            </a:r>
          </a:p>
          <a:p>
            <a:pPr>
              <a:buNone/>
            </a:pPr>
            <a:r>
              <a:rPr lang="en-US" sz="2400" dirty="0">
                <a:latin typeface="Times New Roman" panose="02020603050405020304" pitchFamily="18" charset="0"/>
                <a:cs typeface="Times New Roman" panose="02020603050405020304" pitchFamily="18" charset="0"/>
              </a:rPr>
              <a:t>For a mobile banking application:</a:t>
            </a:r>
          </a:p>
          <a:p>
            <a:pPr>
              <a:buNone/>
            </a:pPr>
            <a:r>
              <a:rPr lang="en-US" sz="2400" dirty="0">
                <a:latin typeface="Times New Roman" panose="02020603050405020304" pitchFamily="18" charset="0"/>
                <a:cs typeface="Times New Roman" panose="02020603050405020304" pitchFamily="18" charset="0"/>
              </a:rPr>
              <a:t>		"Transfer ₹1,000 to another account."</a:t>
            </a:r>
          </a:p>
          <a:p>
            <a:pPr>
              <a:buNone/>
            </a:pPr>
            <a:r>
              <a:rPr lang="en-US" sz="2400" dirty="0">
                <a:latin typeface="Times New Roman" panose="02020603050405020304" pitchFamily="18" charset="0"/>
                <a:cs typeface="Times New Roman" panose="02020603050405020304" pitchFamily="18" charset="0"/>
              </a:rPr>
              <a:t>The designer observes: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 quickly the user completes the task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Where the user hesitates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Whether the user makes errors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Whether instructions are clear</a:t>
            </a:r>
          </a:p>
          <a:p>
            <a:endParaRPr lang="en-IN" dirty="0"/>
          </a:p>
        </p:txBody>
      </p:sp>
      <p:sp>
        <p:nvSpPr>
          <p:cNvPr id="4" name="Slide Number Placeholder 3">
            <a:extLst>
              <a:ext uri="{FF2B5EF4-FFF2-40B4-BE49-F238E27FC236}">
                <a16:creationId xmlns:a16="http://schemas.microsoft.com/office/drawing/2014/main" id="{010E1679-9117-B990-F4CC-233647A47C2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29</a:t>
            </a:fld>
            <a:endParaRPr lang="en-GB"/>
          </a:p>
        </p:txBody>
      </p:sp>
    </p:spTree>
    <p:extLst>
      <p:ext uri="{BB962C8B-B14F-4D97-AF65-F5344CB8AC3E}">
        <p14:creationId xmlns:p14="http://schemas.microsoft.com/office/powerpoint/2010/main" val="33780127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7EFC57D-A809-D3A4-A434-22B8BF971276}"/>
              </a:ext>
            </a:extLst>
          </p:cNvPr>
          <p:cNvSpPr>
            <a:spLocks noGrp="1"/>
          </p:cNvSpPr>
          <p:nvPr>
            <p:ph type="body" idx="1"/>
          </p:nvPr>
        </p:nvSpPr>
        <p:spPr>
          <a:xfrm>
            <a:off x="415650" y="236304"/>
            <a:ext cx="11360700" cy="6172059"/>
          </a:xfrm>
        </p:spPr>
        <p:txBody>
          <a:bodyPr/>
          <a:lstStyle/>
          <a:p>
            <a:pPr>
              <a:buNone/>
            </a:pPr>
            <a:r>
              <a:rPr lang="en-US" sz="2200" b="1" dirty="0">
                <a:solidFill>
                  <a:srgbClr val="FF5050"/>
                </a:solidFill>
                <a:latin typeface="Times New Roman" panose="02020603050405020304" pitchFamily="18" charset="0"/>
                <a:cs typeface="Times New Roman" panose="02020603050405020304" pitchFamily="18" charset="0"/>
              </a:rPr>
              <a:t>B. User Interviews</a:t>
            </a:r>
          </a:p>
          <a:p>
            <a:pPr>
              <a:buNone/>
            </a:pPr>
            <a:r>
              <a:rPr lang="en-US" sz="2200" dirty="0">
                <a:latin typeface="Times New Roman" panose="02020603050405020304" pitchFamily="18" charset="0"/>
                <a:cs typeface="Times New Roman" panose="02020603050405020304" pitchFamily="18" charset="0"/>
              </a:rPr>
              <a:t>Users are asked questions about their experience with the prototype.</a:t>
            </a:r>
          </a:p>
          <a:p>
            <a:pPr>
              <a:buNone/>
            </a:pPr>
            <a:r>
              <a:rPr lang="en-US" sz="2200" dirty="0">
                <a:latin typeface="Times New Roman" panose="02020603050405020304" pitchFamily="18" charset="0"/>
                <a:cs typeface="Times New Roman" panose="02020603050405020304" pitchFamily="18" charset="0"/>
              </a:rPr>
              <a:t>Example questions:</a:t>
            </a:r>
          </a:p>
          <a:p>
            <a:pPr lvl="1">
              <a:spcBef>
                <a:spcPts val="0"/>
              </a:spcBef>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What did you like? </a:t>
            </a:r>
          </a:p>
          <a:p>
            <a:pPr lvl="1">
              <a:spcBef>
                <a:spcPts val="0"/>
              </a:spcBef>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What was difficult? </a:t>
            </a:r>
          </a:p>
          <a:p>
            <a:pPr lvl="1">
              <a:spcBef>
                <a:spcPts val="0"/>
              </a:spcBef>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What was confusing? </a:t>
            </a:r>
          </a:p>
          <a:p>
            <a:pPr lvl="1">
              <a:spcBef>
                <a:spcPts val="0"/>
              </a:spcBef>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What would you change? </a:t>
            </a:r>
          </a:p>
          <a:p>
            <a:pPr lvl="1">
              <a:spcBef>
                <a:spcPts val="0"/>
              </a:spcBef>
              <a:buFont typeface="Courier New" panose="02070309020205020404" pitchFamily="49" charset="0"/>
              <a:buChar char="o"/>
            </a:pPr>
            <a:r>
              <a:rPr lang="en-US" sz="2200" dirty="0">
                <a:latin typeface="Times New Roman" panose="02020603050405020304" pitchFamily="18" charset="0"/>
                <a:cs typeface="Times New Roman" panose="02020603050405020304" pitchFamily="18" charset="0"/>
              </a:rPr>
              <a:t>What feature was most useful?</a:t>
            </a:r>
          </a:p>
          <a:p>
            <a:pPr>
              <a:buNone/>
            </a:pPr>
            <a:r>
              <a:rPr lang="en-US" sz="2200" b="1" dirty="0">
                <a:solidFill>
                  <a:srgbClr val="FF5050"/>
                </a:solidFill>
                <a:latin typeface="Times New Roman" panose="02020603050405020304" pitchFamily="18" charset="0"/>
                <a:cs typeface="Times New Roman" panose="02020603050405020304" pitchFamily="18" charset="0"/>
              </a:rPr>
              <a:t>C. Observation</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designer observes users interacting with the product or service.</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Observation is important because users may not always be able to explain why they experience a problem.</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200" b="1" i="0" u="none" strike="noStrike" kern="0" cap="none" spc="0" normalizeH="0" baseline="0" noProof="0" dirty="0">
                <a:ln>
                  <a:noFill/>
                </a:ln>
                <a:solidFill>
                  <a:srgbClr val="FF5050"/>
                </a:solidFill>
                <a:effectLst/>
                <a:uLnTx/>
                <a:uFillTx/>
                <a:latin typeface="Times New Roman" panose="02020603050405020304" pitchFamily="18" charset="0"/>
                <a:cs typeface="Times New Roman" panose="02020603050405020304" pitchFamily="18" charset="0"/>
                <a:sym typeface="IBM Plex Sans Condensed"/>
              </a:rPr>
              <a:t>D. A/B Testing</a:t>
            </a:r>
          </a:p>
          <a:p>
            <a:pPr marL="457200" marR="0" lvl="0" indent="-406400" algn="l" defTabSz="914400" rtl="0" eaLnBrk="1" fontAlgn="auto" latinLnBrk="0" hangingPunct="1">
              <a:lnSpc>
                <a:spcPct val="100000"/>
              </a:lnSpc>
              <a:spcBef>
                <a:spcPts val="0"/>
              </a:spcBef>
              <a:spcAft>
                <a:spcPts val="0"/>
              </a:spcAft>
              <a:buClr>
                <a:srgbClr val="000000"/>
              </a:buClr>
              <a:buSzPct val="100000"/>
              <a:buFont typeface="Wingdings" panose="05000000000000000000" pitchFamily="2" charset="2"/>
              <a:buChar char="Ø"/>
              <a:tabLst/>
              <a:defRPr/>
            </a:pP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Two versions of a design are presented to different groups of users.</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For example:</a:t>
            </a:r>
          </a:p>
          <a:p>
            <a:pPr marL="914400" marR="0" lvl="1" indent="-393700" algn="l" defTabSz="914400" rtl="0" eaLnBrk="1" fontAlgn="auto" latinLnBrk="0" hangingPunct="1">
              <a:lnSpc>
                <a:spcPct val="100000"/>
              </a:lnSpc>
              <a:spcBef>
                <a:spcPts val="0"/>
              </a:spcBef>
              <a:spcAft>
                <a:spcPts val="0"/>
              </a:spcAft>
              <a:buClr>
                <a:srgbClr val="000000"/>
              </a:buClr>
              <a:buSzPts val="2600"/>
              <a:buFont typeface="Arial" panose="020B0604020202020204" pitchFamily="34" charset="0"/>
              <a:buChar char="•"/>
              <a:tabLst/>
              <a:defRPr/>
            </a:pP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Version A: "Buy Now" </a:t>
            </a:r>
          </a:p>
          <a:p>
            <a:pPr marL="914400" marR="0" lvl="1" indent="-393700" algn="l" defTabSz="914400" rtl="0" eaLnBrk="1" fontAlgn="auto" latinLnBrk="0" hangingPunct="1">
              <a:lnSpc>
                <a:spcPct val="100000"/>
              </a:lnSpc>
              <a:spcBef>
                <a:spcPts val="0"/>
              </a:spcBef>
              <a:spcAft>
                <a:spcPts val="0"/>
              </a:spcAft>
              <a:buClr>
                <a:srgbClr val="000000"/>
              </a:buClr>
              <a:buSzPts val="2600"/>
              <a:buFont typeface="Arial" panose="020B0604020202020204" pitchFamily="34" charset="0"/>
              <a:buChar char="•"/>
              <a:tabLst/>
              <a:defRPr/>
            </a:pP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Version B: "Purchase" </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Wingdings" panose="05000000000000000000" pitchFamily="2" charset="2"/>
              <a:buChar char="ü"/>
              <a:tabLst/>
              <a:defRPr/>
            </a:pP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The designer compares user responses or </a:t>
            </a:r>
            <a:r>
              <a:rPr kumimoji="0" lang="en-US" sz="22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behaviour</a:t>
            </a: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a:t>
            </a:r>
          </a:p>
          <a:p>
            <a:endParaRPr lang="en-IN" dirty="0"/>
          </a:p>
        </p:txBody>
      </p:sp>
      <p:sp>
        <p:nvSpPr>
          <p:cNvPr id="4" name="Slide Number Placeholder 3">
            <a:extLst>
              <a:ext uri="{FF2B5EF4-FFF2-40B4-BE49-F238E27FC236}">
                <a16:creationId xmlns:a16="http://schemas.microsoft.com/office/drawing/2014/main" id="{D3584804-EB8C-C831-82E3-6A989B3F633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30</a:t>
            </a:fld>
            <a:endParaRPr lang="en-GB"/>
          </a:p>
        </p:txBody>
      </p:sp>
    </p:spTree>
    <p:extLst>
      <p:ext uri="{BB962C8B-B14F-4D97-AF65-F5344CB8AC3E}">
        <p14:creationId xmlns:p14="http://schemas.microsoft.com/office/powerpoint/2010/main" val="16048989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3640D22-FE4A-09F7-F9F0-282224D7F62F}"/>
              </a:ext>
            </a:extLst>
          </p:cNvPr>
          <p:cNvSpPr>
            <a:spLocks noGrp="1"/>
          </p:cNvSpPr>
          <p:nvPr>
            <p:ph type="body" idx="1"/>
          </p:nvPr>
        </p:nvSpPr>
        <p:spPr>
          <a:xfrm>
            <a:off x="415600" y="359596"/>
            <a:ext cx="11360700" cy="6048768"/>
          </a:xfrm>
        </p:spPr>
        <p:txBody>
          <a:bodyPr/>
          <a:lstStyle/>
          <a:p>
            <a:pPr>
              <a:buNone/>
            </a:pPr>
            <a:r>
              <a:rPr lang="en-US" sz="2400" b="1" dirty="0">
                <a:solidFill>
                  <a:srgbClr val="FF5050"/>
                </a:solidFill>
                <a:latin typeface="Times New Roman" panose="02020603050405020304" pitchFamily="18" charset="0"/>
                <a:cs typeface="Times New Roman" panose="02020603050405020304" pitchFamily="18" charset="0"/>
              </a:rPr>
              <a:t>E. Prototype Testing</a:t>
            </a:r>
          </a:p>
          <a:p>
            <a:pPr>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low-fidelity or high-fidelity prototype is tested before full development.</a:t>
            </a:r>
          </a:p>
          <a:p>
            <a:pPr>
              <a:buNone/>
            </a:pPr>
            <a:r>
              <a:rPr lang="en-US" sz="2400" dirty="0">
                <a:latin typeface="Times New Roman" panose="02020603050405020304" pitchFamily="18" charset="0"/>
                <a:cs typeface="Times New Roman" panose="02020603050405020304" pitchFamily="18" charset="0"/>
              </a:rPr>
              <a:t>Examples include:</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Paper prototypes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Wireframes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Clickable interfaces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Physical models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Role-playing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Storyboards</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endParaRPr kumimoji="0" lang="en-US" sz="2400" b="1" i="0" u="none" strike="noStrike" kern="0" cap="none" spc="0" normalizeH="0" baseline="0" noProof="0" dirty="0">
              <a:ln>
                <a:noFill/>
              </a:ln>
              <a:solidFill>
                <a:srgbClr val="FF5050"/>
              </a:solidFill>
              <a:effectLst/>
              <a:uLnTx/>
              <a:uFillTx/>
              <a:latin typeface="Times New Roman" panose="02020603050405020304" pitchFamily="18" charset="0"/>
              <a:cs typeface="Times New Roman" panose="02020603050405020304" pitchFamily="18" charset="0"/>
              <a:sym typeface="IBM Plex Sans Condensed"/>
            </a:endParaRP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400" b="1" i="0" u="none" strike="noStrike" kern="0" cap="none" spc="0" normalizeH="0" baseline="0" noProof="0" dirty="0">
                <a:ln>
                  <a:noFill/>
                </a:ln>
                <a:solidFill>
                  <a:srgbClr val="FF5050"/>
                </a:solidFill>
                <a:effectLst/>
                <a:uLnTx/>
                <a:uFillTx/>
                <a:latin typeface="Times New Roman" panose="02020603050405020304" pitchFamily="18" charset="0"/>
                <a:cs typeface="Times New Roman" panose="02020603050405020304" pitchFamily="18" charset="0"/>
                <a:sym typeface="IBM Plex Sans Condensed"/>
              </a:rPr>
              <a:t>F. Field Testing</a:t>
            </a:r>
          </a:p>
          <a:p>
            <a:pPr marL="457200" marR="0" lvl="0" indent="-406400" algn="l" defTabSz="914400" rtl="0" eaLnBrk="1" fontAlgn="auto" latinLnBrk="0" hangingPunct="1">
              <a:lnSpc>
                <a:spcPct val="100000"/>
              </a:lnSpc>
              <a:spcBef>
                <a:spcPts val="0"/>
              </a:spcBef>
              <a:spcAft>
                <a:spcPts val="0"/>
              </a:spcAft>
              <a:buClr>
                <a:srgbClr val="000000"/>
              </a:buClr>
              <a:buSzPct val="100000"/>
              <a:buFont typeface="Wingdings" panose="05000000000000000000" pitchFamily="2" charset="2"/>
              <a:buChar char="Ø"/>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The solution is tested in the environment where it will actually be used.</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Wingdings" panose="05000000000000000000" pitchFamily="2" charset="2"/>
              <a:buChar char="§"/>
              <a:tabLst/>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For example, a public transportation application could be tested by passengers during actual travel.</a:t>
            </a:r>
          </a:p>
          <a:p>
            <a:endParaRPr lang="en-IN" dirty="0"/>
          </a:p>
        </p:txBody>
      </p:sp>
      <p:sp>
        <p:nvSpPr>
          <p:cNvPr id="4" name="Slide Number Placeholder 3">
            <a:extLst>
              <a:ext uri="{FF2B5EF4-FFF2-40B4-BE49-F238E27FC236}">
                <a16:creationId xmlns:a16="http://schemas.microsoft.com/office/drawing/2014/main" id="{1557F4D4-0A86-A045-3DA7-83CBA0FB07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31</a:t>
            </a:fld>
            <a:endParaRPr lang="en-GB"/>
          </a:p>
        </p:txBody>
      </p:sp>
    </p:spTree>
    <p:extLst>
      <p:ext uri="{BB962C8B-B14F-4D97-AF65-F5344CB8AC3E}">
        <p14:creationId xmlns:p14="http://schemas.microsoft.com/office/powerpoint/2010/main" val="21427198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84C3D-F52E-FC55-95AE-2DD9684DF275}"/>
              </a:ext>
            </a:extLst>
          </p:cNvPr>
          <p:cNvSpPr>
            <a:spLocks noGrp="1"/>
          </p:cNvSpPr>
          <p:nvPr>
            <p:ph type="title"/>
          </p:nvPr>
        </p:nvSpPr>
        <p:spPr>
          <a:xfrm>
            <a:off x="415600" y="337654"/>
            <a:ext cx="11360700" cy="535649"/>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Principles of Effective Testing</a:t>
            </a:r>
          </a:p>
        </p:txBody>
      </p:sp>
      <p:sp>
        <p:nvSpPr>
          <p:cNvPr id="3" name="Text Placeholder 2">
            <a:extLst>
              <a:ext uri="{FF2B5EF4-FFF2-40B4-BE49-F238E27FC236}">
                <a16:creationId xmlns:a16="http://schemas.microsoft.com/office/drawing/2014/main" id="{8ABFF94A-5771-13EC-8699-FFE0A24B6FF9}"/>
              </a:ext>
            </a:extLst>
          </p:cNvPr>
          <p:cNvSpPr>
            <a:spLocks noGrp="1"/>
          </p:cNvSpPr>
          <p:nvPr>
            <p:ph type="body" idx="1"/>
          </p:nvPr>
        </p:nvSpPr>
        <p:spPr>
          <a:xfrm>
            <a:off x="415600" y="1047964"/>
            <a:ext cx="11360700" cy="5250094"/>
          </a:xfrm>
        </p:spPr>
        <p:txBody>
          <a:bodyPr/>
          <a:lstStyle/>
          <a:p>
            <a:pPr>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Good testing should be:</a:t>
            </a:r>
          </a:p>
          <a:p>
            <a:pPr>
              <a:buNone/>
            </a:pPr>
            <a:r>
              <a:rPr lang="en-US" sz="2400" b="1" dirty="0">
                <a:latin typeface="Times New Roman" panose="02020603050405020304" pitchFamily="18" charset="0"/>
                <a:cs typeface="Times New Roman" panose="02020603050405020304" pitchFamily="18" charset="0"/>
              </a:rPr>
              <a:t>User-</a:t>
            </a:r>
            <a:r>
              <a:rPr lang="en-US" sz="2400" b="1" dirty="0" err="1">
                <a:latin typeface="Times New Roman" panose="02020603050405020304" pitchFamily="18" charset="0"/>
                <a:cs typeface="Times New Roman" panose="02020603050405020304" pitchFamily="18" charset="0"/>
              </a:rPr>
              <a:t>centred</a:t>
            </a:r>
            <a:endParaRPr lang="en-US" sz="2400" b="1"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Test with actual or representative users rather than only designers.</a:t>
            </a:r>
          </a:p>
          <a:p>
            <a:pPr>
              <a:buNone/>
            </a:pPr>
            <a:r>
              <a:rPr lang="en-US" sz="2400" b="1" dirty="0">
                <a:latin typeface="Times New Roman" panose="02020603050405020304" pitchFamily="18" charset="0"/>
                <a:cs typeface="Times New Roman" panose="02020603050405020304" pitchFamily="18" charset="0"/>
              </a:rPr>
              <a:t>Objective</a:t>
            </a:r>
          </a:p>
          <a:p>
            <a:pPr>
              <a:buNone/>
            </a:pPr>
            <a:r>
              <a:rPr lang="en-US" sz="2400" dirty="0">
                <a:latin typeface="Times New Roman" panose="02020603050405020304" pitchFamily="18" charset="0"/>
                <a:cs typeface="Times New Roman" panose="02020603050405020304" pitchFamily="18" charset="0"/>
              </a:rPr>
              <a:t>	Designers should avoid influencing users toward a particular answer.</a:t>
            </a:r>
          </a:p>
          <a:p>
            <a:pPr>
              <a:buNone/>
            </a:pPr>
            <a:r>
              <a:rPr lang="en-US" sz="2400" b="1" dirty="0">
                <a:latin typeface="Times New Roman" panose="02020603050405020304" pitchFamily="18" charset="0"/>
                <a:cs typeface="Times New Roman" panose="02020603050405020304" pitchFamily="18" charset="0"/>
              </a:rPr>
              <a:t>Task-oriented</a:t>
            </a:r>
          </a:p>
          <a:p>
            <a:pPr>
              <a:buNone/>
            </a:pPr>
            <a:r>
              <a:rPr lang="en-US" sz="2400" dirty="0">
                <a:latin typeface="Times New Roman" panose="02020603050405020304" pitchFamily="18" charset="0"/>
                <a:cs typeface="Times New Roman" panose="02020603050405020304" pitchFamily="18" charset="0"/>
              </a:rPr>
              <a:t>	Users should be given realistic tasks.</a:t>
            </a:r>
          </a:p>
          <a:p>
            <a:pPr>
              <a:buNone/>
            </a:pPr>
            <a:r>
              <a:rPr lang="en-US" sz="2400" b="1" dirty="0">
                <a:latin typeface="Times New Roman" panose="02020603050405020304" pitchFamily="18" charset="0"/>
                <a:cs typeface="Times New Roman" panose="02020603050405020304" pitchFamily="18" charset="0"/>
              </a:rPr>
              <a:t>Observational</a:t>
            </a:r>
          </a:p>
          <a:p>
            <a:pPr>
              <a:buNone/>
            </a:pPr>
            <a:r>
              <a:rPr lang="en-US" sz="2400" dirty="0">
                <a:latin typeface="Times New Roman" panose="02020603050405020304" pitchFamily="18" charset="0"/>
                <a:cs typeface="Times New Roman" panose="02020603050405020304" pitchFamily="18" charset="0"/>
              </a:rPr>
              <a:t>	Designers should observe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not just collect opinions.</a:t>
            </a:r>
          </a:p>
          <a:p>
            <a:pPr>
              <a:buNone/>
            </a:pPr>
            <a:r>
              <a:rPr lang="en-US" sz="2400" b="1" dirty="0">
                <a:latin typeface="Times New Roman" panose="02020603050405020304" pitchFamily="18" charset="0"/>
                <a:cs typeface="Times New Roman" panose="02020603050405020304" pitchFamily="18" charset="0"/>
              </a:rPr>
              <a:t>Repeated</a:t>
            </a:r>
          </a:p>
          <a:p>
            <a:pPr>
              <a:buNone/>
            </a:pPr>
            <a:r>
              <a:rPr lang="en-US" sz="2400" dirty="0">
                <a:latin typeface="Times New Roman" panose="02020603050405020304" pitchFamily="18" charset="0"/>
                <a:cs typeface="Times New Roman" panose="02020603050405020304" pitchFamily="18" charset="0"/>
              </a:rPr>
              <a:t>	One test is rarely sufficient.</a:t>
            </a:r>
          </a:p>
          <a:p>
            <a:pPr>
              <a:buNone/>
            </a:pPr>
            <a:r>
              <a:rPr lang="en-US" sz="2400" b="1" dirty="0">
                <a:latin typeface="Times New Roman" panose="02020603050405020304" pitchFamily="18" charset="0"/>
                <a:cs typeface="Times New Roman" panose="02020603050405020304" pitchFamily="18" charset="0"/>
              </a:rPr>
              <a:t>Evidence-based</a:t>
            </a:r>
          </a:p>
          <a:p>
            <a:pPr>
              <a:buNone/>
            </a:pPr>
            <a:r>
              <a:rPr lang="en-US" sz="2400" dirty="0">
                <a:latin typeface="Times New Roman" panose="02020603050405020304" pitchFamily="18" charset="0"/>
                <a:cs typeface="Times New Roman" panose="02020603050405020304" pitchFamily="18" charset="0"/>
              </a:rPr>
              <a:t>	Design decisions should be based on evidence collected during testing.</a:t>
            </a:r>
          </a:p>
          <a:p>
            <a:endParaRPr lang="en-IN" dirty="0"/>
          </a:p>
        </p:txBody>
      </p:sp>
      <p:sp>
        <p:nvSpPr>
          <p:cNvPr id="4" name="Slide Number Placeholder 3">
            <a:extLst>
              <a:ext uri="{FF2B5EF4-FFF2-40B4-BE49-F238E27FC236}">
                <a16:creationId xmlns:a16="http://schemas.microsoft.com/office/drawing/2014/main" id="{0A16A12F-9A8E-B926-625C-2159FCF429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32</a:t>
            </a:fld>
            <a:endParaRPr lang="en-GB"/>
          </a:p>
        </p:txBody>
      </p:sp>
    </p:spTree>
    <p:extLst>
      <p:ext uri="{BB962C8B-B14F-4D97-AF65-F5344CB8AC3E}">
        <p14:creationId xmlns:p14="http://schemas.microsoft.com/office/powerpoint/2010/main" val="14465763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46E01-2F1A-9EA5-E315-1CA8958064CB}"/>
              </a:ext>
            </a:extLst>
          </p:cNvPr>
          <p:cNvSpPr>
            <a:spLocks noGrp="1"/>
          </p:cNvSpPr>
          <p:nvPr>
            <p:ph type="title"/>
          </p:nvPr>
        </p:nvSpPr>
        <p:spPr>
          <a:xfrm>
            <a:off x="415600" y="337654"/>
            <a:ext cx="11360700" cy="610845"/>
          </a:xfrm>
        </p:spPr>
        <p:txBody>
          <a:bodyPr/>
          <a:lstStyle/>
          <a:p>
            <a:pPr marL="457200" indent="-457200">
              <a:buFont typeface="Wingdings" panose="05000000000000000000" pitchFamily="2" charset="2"/>
              <a:buChar char="v"/>
            </a:pPr>
            <a:r>
              <a:rPr lang="en-IN" sz="2800" dirty="0">
                <a:solidFill>
                  <a:srgbClr val="6600FF"/>
                </a:solidFill>
                <a:latin typeface="Times New Roman" panose="02020603050405020304" pitchFamily="18" charset="0"/>
                <a:cs typeface="Times New Roman" panose="02020603050405020304" pitchFamily="18" charset="0"/>
              </a:rPr>
              <a:t>Stage 2: Feedback</a:t>
            </a:r>
          </a:p>
        </p:txBody>
      </p:sp>
      <p:sp>
        <p:nvSpPr>
          <p:cNvPr id="3" name="Text Placeholder 2">
            <a:extLst>
              <a:ext uri="{FF2B5EF4-FFF2-40B4-BE49-F238E27FC236}">
                <a16:creationId xmlns:a16="http://schemas.microsoft.com/office/drawing/2014/main" id="{1D4AD8DE-EC66-CF73-908E-8C717047E13A}"/>
              </a:ext>
            </a:extLst>
          </p:cNvPr>
          <p:cNvSpPr>
            <a:spLocks noGrp="1"/>
          </p:cNvSpPr>
          <p:nvPr>
            <p:ph type="body" idx="1"/>
          </p:nvPr>
        </p:nvSpPr>
        <p:spPr>
          <a:xfrm>
            <a:off x="415600" y="948499"/>
            <a:ext cx="11360700" cy="5571847"/>
          </a:xfrm>
        </p:spPr>
        <p:txBody>
          <a:bodyPr/>
          <a:lstStyle/>
          <a:p>
            <a:pPr>
              <a:buSzPct val="1000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Feedback</a:t>
            </a:r>
            <a:r>
              <a:rPr lang="en-US" sz="2400" dirty="0">
                <a:latin typeface="Times New Roman" panose="02020603050405020304" pitchFamily="18" charset="0"/>
                <a:cs typeface="Times New Roman" panose="02020603050405020304" pitchFamily="18" charset="0"/>
              </a:rPr>
              <a:t> is information obtained from users, stakeholders, observations, measurements, and testing results about the strengths and weaknesses of a design.</a:t>
            </a:r>
          </a:p>
          <a:p>
            <a:pPr>
              <a:buNone/>
            </a:pPr>
            <a:r>
              <a:rPr lang="en-US" sz="2400" dirty="0">
                <a:latin typeface="Times New Roman" panose="02020603050405020304" pitchFamily="18" charset="0"/>
                <a:cs typeface="Times New Roman" panose="02020603050405020304" pitchFamily="18" charset="0"/>
              </a:rPr>
              <a:t>Feedback answers:</a:t>
            </a:r>
          </a:p>
          <a:p>
            <a:pPr>
              <a:buNone/>
            </a:pPr>
            <a:r>
              <a:rPr lang="en-US" sz="2400" b="1" dirty="0">
                <a:latin typeface="Times New Roman" panose="02020603050405020304" pitchFamily="18" charset="0"/>
                <a:cs typeface="Times New Roman" panose="02020603050405020304" pitchFamily="18" charset="0"/>
              </a:rPr>
              <a:t>	What is working, what is not working, and what should change?</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Feedback can be:</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Positive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Negative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Neutral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Quantitative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Qualitative</a:t>
            </a:r>
          </a:p>
          <a:p>
            <a:endParaRPr lang="en-IN" dirty="0"/>
          </a:p>
        </p:txBody>
      </p:sp>
      <p:sp>
        <p:nvSpPr>
          <p:cNvPr id="4" name="Slide Number Placeholder 3">
            <a:extLst>
              <a:ext uri="{FF2B5EF4-FFF2-40B4-BE49-F238E27FC236}">
                <a16:creationId xmlns:a16="http://schemas.microsoft.com/office/drawing/2014/main" id="{81EE3186-BE89-EACE-F03E-DE4DEFD6FBD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33</a:t>
            </a:fld>
            <a:endParaRPr lang="en-GB"/>
          </a:p>
        </p:txBody>
      </p:sp>
    </p:spTree>
    <p:extLst>
      <p:ext uri="{BB962C8B-B14F-4D97-AF65-F5344CB8AC3E}">
        <p14:creationId xmlns:p14="http://schemas.microsoft.com/office/powerpoint/2010/main" val="14468612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44230-DEB4-3AAE-875D-C7C4450A8B23}"/>
              </a:ext>
            </a:extLst>
          </p:cNvPr>
          <p:cNvSpPr>
            <a:spLocks noGrp="1"/>
          </p:cNvSpPr>
          <p:nvPr>
            <p:ph type="title"/>
          </p:nvPr>
        </p:nvSpPr>
        <p:spPr>
          <a:xfrm>
            <a:off x="415600" y="255461"/>
            <a:ext cx="11360700" cy="510951"/>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Sources of Feedback</a:t>
            </a:r>
          </a:p>
        </p:txBody>
      </p:sp>
      <p:sp>
        <p:nvSpPr>
          <p:cNvPr id="3" name="Text Placeholder 2">
            <a:extLst>
              <a:ext uri="{FF2B5EF4-FFF2-40B4-BE49-F238E27FC236}">
                <a16:creationId xmlns:a16="http://schemas.microsoft.com/office/drawing/2014/main" id="{BB07B23B-293E-D064-52D6-F08C66AAC129}"/>
              </a:ext>
            </a:extLst>
          </p:cNvPr>
          <p:cNvSpPr>
            <a:spLocks noGrp="1"/>
          </p:cNvSpPr>
          <p:nvPr>
            <p:ph type="body" idx="1"/>
          </p:nvPr>
        </p:nvSpPr>
        <p:spPr>
          <a:xfrm>
            <a:off x="415600" y="766412"/>
            <a:ext cx="11360700" cy="5325176"/>
          </a:xfrm>
        </p:spPr>
        <p:txBody>
          <a:bodyPr/>
          <a:lstStyle/>
          <a:p>
            <a:pPr>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Feedback can come from many sources.</a:t>
            </a:r>
          </a:p>
          <a:p>
            <a:pPr>
              <a:buSzPct val="1000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34A7DA1-7FF0-E788-5989-FDD77FB06B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34</a:t>
            </a:fld>
            <a:endParaRPr lang="en-GB"/>
          </a:p>
        </p:txBody>
      </p:sp>
      <p:graphicFrame>
        <p:nvGraphicFramePr>
          <p:cNvPr id="5" name="Table 4">
            <a:extLst>
              <a:ext uri="{FF2B5EF4-FFF2-40B4-BE49-F238E27FC236}">
                <a16:creationId xmlns:a16="http://schemas.microsoft.com/office/drawing/2014/main" id="{62DB37E9-E7AF-0C5E-2B82-AB085F8E2876}"/>
              </a:ext>
            </a:extLst>
          </p:cNvPr>
          <p:cNvGraphicFramePr>
            <a:graphicFrameLocks noGrp="1"/>
          </p:cNvGraphicFramePr>
          <p:nvPr>
            <p:extLst>
              <p:ext uri="{D42A27DB-BD31-4B8C-83A1-F6EECF244321}">
                <p14:modId xmlns:p14="http://schemas.microsoft.com/office/powerpoint/2010/main" val="2754751716"/>
              </p:ext>
            </p:extLst>
          </p:nvPr>
        </p:nvGraphicFramePr>
        <p:xfrm>
          <a:off x="2188394" y="1403656"/>
          <a:ext cx="8126859" cy="4114800"/>
        </p:xfrm>
        <a:graphic>
          <a:graphicData uri="http://schemas.openxmlformats.org/drawingml/2006/table">
            <a:tbl>
              <a:tblPr>
                <a:tableStyleId>{3C2FFA5D-87B4-456A-9821-1D502468CF0F}</a:tableStyleId>
              </a:tblPr>
              <a:tblGrid>
                <a:gridCol w="2214618">
                  <a:extLst>
                    <a:ext uri="{9D8B030D-6E8A-4147-A177-3AD203B41FA5}">
                      <a16:colId xmlns:a16="http://schemas.microsoft.com/office/drawing/2014/main" val="3825902947"/>
                    </a:ext>
                  </a:extLst>
                </a:gridCol>
                <a:gridCol w="5912241">
                  <a:extLst>
                    <a:ext uri="{9D8B030D-6E8A-4147-A177-3AD203B41FA5}">
                      <a16:colId xmlns:a16="http://schemas.microsoft.com/office/drawing/2014/main" val="1603551750"/>
                    </a:ext>
                  </a:extLst>
                </a:gridCol>
              </a:tblGrid>
              <a:tr h="0">
                <a:tc>
                  <a:txBody>
                    <a:bodyPr/>
                    <a:lstStyle/>
                    <a:p>
                      <a:pPr>
                        <a:buNone/>
                      </a:pPr>
                      <a:r>
                        <a:rPr lang="en-IN" sz="2400" b="1" i="1">
                          <a:latin typeface="Times New Roman" panose="02020603050405020304" pitchFamily="18" charset="0"/>
                          <a:cs typeface="Times New Roman" panose="02020603050405020304" pitchFamily="18" charset="0"/>
                        </a:rPr>
                        <a:t>Source</a:t>
                      </a:r>
                    </a:p>
                  </a:txBody>
                  <a:tcPr anchor="ctr"/>
                </a:tc>
                <a:tc>
                  <a:txBody>
                    <a:bodyPr/>
                    <a:lstStyle/>
                    <a:p>
                      <a:pPr>
                        <a:buNone/>
                      </a:pPr>
                      <a:r>
                        <a:rPr lang="en-IN" sz="2400" b="1" i="1" dirty="0">
                          <a:latin typeface="Times New Roman" panose="02020603050405020304" pitchFamily="18" charset="0"/>
                          <a:cs typeface="Times New Roman" panose="02020603050405020304" pitchFamily="18" charset="0"/>
                        </a:rPr>
                        <a:t>Example</a:t>
                      </a:r>
                    </a:p>
                  </a:txBody>
                  <a:tcPr anchor="ctr"/>
                </a:tc>
                <a:extLst>
                  <a:ext uri="{0D108BD9-81ED-4DB2-BD59-A6C34878D82A}">
                    <a16:rowId xmlns:a16="http://schemas.microsoft.com/office/drawing/2014/main" val="3364982613"/>
                  </a:ext>
                </a:extLst>
              </a:tr>
              <a:tr h="0">
                <a:tc>
                  <a:txBody>
                    <a:bodyPr/>
                    <a:lstStyle/>
                    <a:p>
                      <a:pPr>
                        <a:buNone/>
                      </a:pPr>
                      <a:r>
                        <a:rPr lang="en-IN" sz="2400">
                          <a:latin typeface="Times New Roman" panose="02020603050405020304" pitchFamily="18" charset="0"/>
                          <a:cs typeface="Times New Roman" panose="02020603050405020304" pitchFamily="18" charset="0"/>
                        </a:rPr>
                        <a:t>Users</a:t>
                      </a:r>
                    </a:p>
                  </a:txBody>
                  <a:tcPr anchor="ctr"/>
                </a:tc>
                <a:tc>
                  <a:txBody>
                    <a:bodyPr/>
                    <a:lstStyle/>
                    <a:p>
                      <a:pPr>
                        <a:buNone/>
                      </a:pPr>
                      <a:r>
                        <a:rPr lang="en-US" sz="2400">
                          <a:latin typeface="Times New Roman" panose="02020603050405020304" pitchFamily="18" charset="0"/>
                          <a:cs typeface="Times New Roman" panose="02020603050405020304" pitchFamily="18" charset="0"/>
                        </a:rPr>
                        <a:t>Comments about difficulty using a product</a:t>
                      </a:r>
                    </a:p>
                  </a:txBody>
                  <a:tcPr anchor="ctr"/>
                </a:tc>
                <a:extLst>
                  <a:ext uri="{0D108BD9-81ED-4DB2-BD59-A6C34878D82A}">
                    <a16:rowId xmlns:a16="http://schemas.microsoft.com/office/drawing/2014/main" val="3580148567"/>
                  </a:ext>
                </a:extLst>
              </a:tr>
              <a:tr h="0">
                <a:tc>
                  <a:txBody>
                    <a:bodyPr/>
                    <a:lstStyle/>
                    <a:p>
                      <a:pPr>
                        <a:buNone/>
                      </a:pPr>
                      <a:r>
                        <a:rPr lang="en-IN" sz="2400">
                          <a:latin typeface="Times New Roman" panose="02020603050405020304" pitchFamily="18" charset="0"/>
                          <a:cs typeface="Times New Roman" panose="02020603050405020304" pitchFamily="18" charset="0"/>
                        </a:rPr>
                        <a:t>Customers</a:t>
                      </a:r>
                    </a:p>
                  </a:txBody>
                  <a:tcPr anchor="ctr"/>
                </a:tc>
                <a:tc>
                  <a:txBody>
                    <a:bodyPr/>
                    <a:lstStyle/>
                    <a:p>
                      <a:pPr>
                        <a:buNone/>
                      </a:pPr>
                      <a:r>
                        <a:rPr lang="en-IN" sz="2400">
                          <a:latin typeface="Times New Roman" panose="02020603050405020304" pitchFamily="18" charset="0"/>
                          <a:cs typeface="Times New Roman" panose="02020603050405020304" pitchFamily="18" charset="0"/>
                        </a:rPr>
                        <a:t>Satisfaction or complaints</a:t>
                      </a:r>
                    </a:p>
                  </a:txBody>
                  <a:tcPr anchor="ctr"/>
                </a:tc>
                <a:extLst>
                  <a:ext uri="{0D108BD9-81ED-4DB2-BD59-A6C34878D82A}">
                    <a16:rowId xmlns:a16="http://schemas.microsoft.com/office/drawing/2014/main" val="476675670"/>
                  </a:ext>
                </a:extLst>
              </a:tr>
              <a:tr h="0">
                <a:tc>
                  <a:txBody>
                    <a:bodyPr/>
                    <a:lstStyle/>
                    <a:p>
                      <a:pPr>
                        <a:buNone/>
                      </a:pPr>
                      <a:r>
                        <a:rPr lang="en-IN" sz="2400">
                          <a:latin typeface="Times New Roman" panose="02020603050405020304" pitchFamily="18" charset="0"/>
                          <a:cs typeface="Times New Roman" panose="02020603050405020304" pitchFamily="18" charset="0"/>
                        </a:rPr>
                        <a:t>Designers</a:t>
                      </a:r>
                    </a:p>
                  </a:txBody>
                  <a:tcPr anchor="ctr"/>
                </a:tc>
                <a:tc>
                  <a:txBody>
                    <a:bodyPr/>
                    <a:lstStyle/>
                    <a:p>
                      <a:pPr>
                        <a:buNone/>
                      </a:pPr>
                      <a:r>
                        <a:rPr lang="en-IN" sz="2400">
                          <a:latin typeface="Times New Roman" panose="02020603050405020304" pitchFamily="18" charset="0"/>
                          <a:cs typeface="Times New Roman" panose="02020603050405020304" pitchFamily="18" charset="0"/>
                        </a:rPr>
                        <a:t>Design observations</a:t>
                      </a:r>
                    </a:p>
                  </a:txBody>
                  <a:tcPr anchor="ctr"/>
                </a:tc>
                <a:extLst>
                  <a:ext uri="{0D108BD9-81ED-4DB2-BD59-A6C34878D82A}">
                    <a16:rowId xmlns:a16="http://schemas.microsoft.com/office/drawing/2014/main" val="3536192200"/>
                  </a:ext>
                </a:extLst>
              </a:tr>
              <a:tr h="0">
                <a:tc>
                  <a:txBody>
                    <a:bodyPr/>
                    <a:lstStyle/>
                    <a:p>
                      <a:pPr>
                        <a:buNone/>
                      </a:pPr>
                      <a:r>
                        <a:rPr lang="en-IN" sz="2400">
                          <a:latin typeface="Times New Roman" panose="02020603050405020304" pitchFamily="18" charset="0"/>
                          <a:cs typeface="Times New Roman" panose="02020603050405020304" pitchFamily="18" charset="0"/>
                        </a:rPr>
                        <a:t>Developers</a:t>
                      </a:r>
                    </a:p>
                  </a:txBody>
                  <a:tcPr anchor="ctr"/>
                </a:tc>
                <a:tc>
                  <a:txBody>
                    <a:bodyPr/>
                    <a:lstStyle/>
                    <a:p>
                      <a:pPr>
                        <a:buNone/>
                      </a:pPr>
                      <a:r>
                        <a:rPr lang="en-IN" sz="2400">
                          <a:latin typeface="Times New Roman" panose="02020603050405020304" pitchFamily="18" charset="0"/>
                          <a:cs typeface="Times New Roman" panose="02020603050405020304" pitchFamily="18" charset="0"/>
                        </a:rPr>
                        <a:t>Technical limitations</a:t>
                      </a:r>
                    </a:p>
                  </a:txBody>
                  <a:tcPr anchor="ctr"/>
                </a:tc>
                <a:extLst>
                  <a:ext uri="{0D108BD9-81ED-4DB2-BD59-A6C34878D82A}">
                    <a16:rowId xmlns:a16="http://schemas.microsoft.com/office/drawing/2014/main" val="1985354935"/>
                  </a:ext>
                </a:extLst>
              </a:tr>
              <a:tr h="0">
                <a:tc>
                  <a:txBody>
                    <a:bodyPr/>
                    <a:lstStyle/>
                    <a:p>
                      <a:pPr>
                        <a:buNone/>
                      </a:pPr>
                      <a:r>
                        <a:rPr lang="en-IN" sz="2400">
                          <a:latin typeface="Times New Roman" panose="02020603050405020304" pitchFamily="18" charset="0"/>
                          <a:cs typeface="Times New Roman" panose="02020603050405020304" pitchFamily="18" charset="0"/>
                        </a:rPr>
                        <a:t>Stakeholders</a:t>
                      </a:r>
                    </a:p>
                  </a:txBody>
                  <a:tcPr anchor="ctr"/>
                </a:tc>
                <a:tc>
                  <a:txBody>
                    <a:bodyPr/>
                    <a:lstStyle/>
                    <a:p>
                      <a:pPr>
                        <a:buNone/>
                      </a:pPr>
                      <a:r>
                        <a:rPr lang="en-IN" sz="2400">
                          <a:latin typeface="Times New Roman" panose="02020603050405020304" pitchFamily="18" charset="0"/>
                          <a:cs typeface="Times New Roman" panose="02020603050405020304" pitchFamily="18" charset="0"/>
                        </a:rPr>
                        <a:t>Business requirements</a:t>
                      </a:r>
                    </a:p>
                  </a:txBody>
                  <a:tcPr anchor="ctr"/>
                </a:tc>
                <a:extLst>
                  <a:ext uri="{0D108BD9-81ED-4DB2-BD59-A6C34878D82A}">
                    <a16:rowId xmlns:a16="http://schemas.microsoft.com/office/drawing/2014/main" val="2859010874"/>
                  </a:ext>
                </a:extLst>
              </a:tr>
              <a:tr h="0">
                <a:tc>
                  <a:txBody>
                    <a:bodyPr/>
                    <a:lstStyle/>
                    <a:p>
                      <a:pPr>
                        <a:buNone/>
                      </a:pPr>
                      <a:r>
                        <a:rPr lang="en-IN" sz="2400">
                          <a:latin typeface="Times New Roman" panose="02020603050405020304" pitchFamily="18" charset="0"/>
                          <a:cs typeface="Times New Roman" panose="02020603050405020304" pitchFamily="18" charset="0"/>
                        </a:rPr>
                        <a:t>Experts</a:t>
                      </a:r>
                    </a:p>
                  </a:txBody>
                  <a:tcPr anchor="ctr"/>
                </a:tc>
                <a:tc>
                  <a:txBody>
                    <a:bodyPr/>
                    <a:lstStyle/>
                    <a:p>
                      <a:pPr>
                        <a:buNone/>
                      </a:pPr>
                      <a:r>
                        <a:rPr lang="en-IN" sz="2400">
                          <a:latin typeface="Times New Roman" panose="02020603050405020304" pitchFamily="18" charset="0"/>
                          <a:cs typeface="Times New Roman" panose="02020603050405020304" pitchFamily="18" charset="0"/>
                        </a:rPr>
                        <a:t>Professional evaluation</a:t>
                      </a:r>
                    </a:p>
                  </a:txBody>
                  <a:tcPr anchor="ctr"/>
                </a:tc>
                <a:extLst>
                  <a:ext uri="{0D108BD9-81ED-4DB2-BD59-A6C34878D82A}">
                    <a16:rowId xmlns:a16="http://schemas.microsoft.com/office/drawing/2014/main" val="96826019"/>
                  </a:ext>
                </a:extLst>
              </a:tr>
              <a:tr h="0">
                <a:tc>
                  <a:txBody>
                    <a:bodyPr/>
                    <a:lstStyle/>
                    <a:p>
                      <a:pPr>
                        <a:buNone/>
                      </a:pPr>
                      <a:r>
                        <a:rPr lang="en-IN" sz="2400">
                          <a:latin typeface="Times New Roman" panose="02020603050405020304" pitchFamily="18" charset="0"/>
                          <a:cs typeface="Times New Roman" panose="02020603050405020304" pitchFamily="18" charset="0"/>
                        </a:rPr>
                        <a:t>Support teams</a:t>
                      </a:r>
                    </a:p>
                  </a:txBody>
                  <a:tcPr anchor="ctr"/>
                </a:tc>
                <a:tc>
                  <a:txBody>
                    <a:bodyPr/>
                    <a:lstStyle/>
                    <a:p>
                      <a:pPr>
                        <a:buNone/>
                      </a:pPr>
                      <a:r>
                        <a:rPr lang="en-IN" sz="2400">
                          <a:latin typeface="Times New Roman" panose="02020603050405020304" pitchFamily="18" charset="0"/>
                          <a:cs typeface="Times New Roman" panose="02020603050405020304" pitchFamily="18" charset="0"/>
                        </a:rPr>
                        <a:t>Frequently reported problems</a:t>
                      </a:r>
                    </a:p>
                  </a:txBody>
                  <a:tcPr anchor="ctr"/>
                </a:tc>
                <a:extLst>
                  <a:ext uri="{0D108BD9-81ED-4DB2-BD59-A6C34878D82A}">
                    <a16:rowId xmlns:a16="http://schemas.microsoft.com/office/drawing/2014/main" val="2751680406"/>
                  </a:ext>
                </a:extLst>
              </a:tr>
              <a:tr h="0">
                <a:tc>
                  <a:txBody>
                    <a:bodyPr/>
                    <a:lstStyle/>
                    <a:p>
                      <a:pPr>
                        <a:buNone/>
                      </a:pPr>
                      <a:r>
                        <a:rPr lang="en-IN" sz="2400">
                          <a:latin typeface="Times New Roman" panose="02020603050405020304" pitchFamily="18" charset="0"/>
                          <a:cs typeface="Times New Roman" panose="02020603050405020304" pitchFamily="18" charset="0"/>
                        </a:rPr>
                        <a:t>Analytics</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Usage and drop-off data</a:t>
                      </a:r>
                    </a:p>
                  </a:txBody>
                  <a:tcPr anchor="ctr"/>
                </a:tc>
                <a:extLst>
                  <a:ext uri="{0D108BD9-81ED-4DB2-BD59-A6C34878D82A}">
                    <a16:rowId xmlns:a16="http://schemas.microsoft.com/office/drawing/2014/main" val="110321803"/>
                  </a:ext>
                </a:extLst>
              </a:tr>
            </a:tbl>
          </a:graphicData>
        </a:graphic>
      </p:graphicFrame>
    </p:spTree>
    <p:extLst>
      <p:ext uri="{BB962C8B-B14F-4D97-AF65-F5344CB8AC3E}">
        <p14:creationId xmlns:p14="http://schemas.microsoft.com/office/powerpoint/2010/main" val="6878054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6E278-EDC8-6A70-D1EB-847A50292F59}"/>
              </a:ext>
            </a:extLst>
          </p:cNvPr>
          <p:cNvSpPr>
            <a:spLocks noGrp="1"/>
          </p:cNvSpPr>
          <p:nvPr>
            <p:ph type="title"/>
          </p:nvPr>
        </p:nvSpPr>
        <p:spPr>
          <a:xfrm>
            <a:off x="282036" y="327381"/>
            <a:ext cx="11360700" cy="610845"/>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Qualitative and Quantitative Feedback</a:t>
            </a:r>
          </a:p>
        </p:txBody>
      </p:sp>
      <p:sp>
        <p:nvSpPr>
          <p:cNvPr id="3" name="Text Placeholder 2">
            <a:extLst>
              <a:ext uri="{FF2B5EF4-FFF2-40B4-BE49-F238E27FC236}">
                <a16:creationId xmlns:a16="http://schemas.microsoft.com/office/drawing/2014/main" id="{40568D1B-87AB-0790-6C27-3B96A1FBD7B3}"/>
              </a:ext>
            </a:extLst>
          </p:cNvPr>
          <p:cNvSpPr>
            <a:spLocks noGrp="1"/>
          </p:cNvSpPr>
          <p:nvPr>
            <p:ph type="body" idx="1"/>
          </p:nvPr>
        </p:nvSpPr>
        <p:spPr>
          <a:xfrm>
            <a:off x="415600" y="938226"/>
            <a:ext cx="4937236" cy="5329010"/>
          </a:xfrm>
          <a:ln>
            <a:solidFill>
              <a:schemeClr val="accent4">
                <a:lumMod val="75000"/>
              </a:schemeClr>
            </a:solidFill>
          </a:ln>
        </p:spPr>
        <p:txBody>
          <a:bodyPr/>
          <a:lstStyle/>
          <a:p>
            <a:pPr>
              <a:buNone/>
            </a:pPr>
            <a:r>
              <a:rPr lang="en-US" sz="2400" b="1" dirty="0">
                <a:solidFill>
                  <a:srgbClr val="FF5050"/>
                </a:solidFill>
                <a:latin typeface="Times New Roman" panose="02020603050405020304" pitchFamily="18" charset="0"/>
                <a:cs typeface="Times New Roman" panose="02020603050405020304" pitchFamily="18" charset="0"/>
              </a:rPr>
              <a:t>a) Qualitative Feedback</a:t>
            </a:r>
          </a:p>
          <a:p>
            <a:pPr>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Qualitative feedback describes </a:t>
            </a:r>
            <a:r>
              <a:rPr lang="en-US" sz="2400" b="1" dirty="0">
                <a:latin typeface="Times New Roman" panose="02020603050405020304" pitchFamily="18" charset="0"/>
                <a:cs typeface="Times New Roman" panose="02020603050405020304" pitchFamily="18" charset="0"/>
              </a:rPr>
              <a:t>experiences, opinions, emotions, and reasons</a:t>
            </a:r>
            <a:r>
              <a:rPr lang="en-US" sz="2400" dirty="0">
                <a:latin typeface="Times New Roman" panose="02020603050405020304" pitchFamily="18" charset="0"/>
                <a:cs typeface="Times New Roman" panose="02020603050405020304" pitchFamily="18" charset="0"/>
              </a:rPr>
              <a:t>.</a:t>
            </a:r>
          </a:p>
          <a:p>
            <a:pPr>
              <a:buNone/>
            </a:pPr>
            <a:r>
              <a:rPr lang="en-US" sz="2400" dirty="0">
                <a:latin typeface="Times New Roman" panose="02020603050405020304" pitchFamily="18" charset="0"/>
                <a:cs typeface="Times New Roman" panose="02020603050405020304" pitchFamily="18" charset="0"/>
              </a:rPr>
              <a:t>Example:</a:t>
            </a:r>
          </a:p>
          <a:p>
            <a:pPr>
              <a:buNone/>
            </a:pPr>
            <a:r>
              <a:rPr lang="en-US" sz="2400" dirty="0">
                <a:latin typeface="Times New Roman" panose="02020603050405020304" pitchFamily="18" charset="0"/>
                <a:cs typeface="Times New Roman" panose="02020603050405020304" pitchFamily="18" charset="0"/>
              </a:rPr>
              <a:t>	"I don't understand what this button does."</a:t>
            </a:r>
          </a:p>
          <a:p>
            <a:pPr>
              <a:buNone/>
            </a:pPr>
            <a:r>
              <a:rPr lang="en-US" sz="2400" dirty="0">
                <a:latin typeface="Times New Roman" panose="02020603050405020304" pitchFamily="18" charset="0"/>
                <a:cs typeface="Times New Roman" panose="02020603050405020304" pitchFamily="18" charset="0"/>
              </a:rPr>
              <a:t>It explains </a:t>
            </a:r>
            <a:r>
              <a:rPr lang="en-US" sz="2400" b="1" dirty="0">
                <a:latin typeface="Times New Roman" panose="02020603050405020304" pitchFamily="18" charset="0"/>
                <a:cs typeface="Times New Roman" panose="02020603050405020304" pitchFamily="18" charset="0"/>
              </a:rPr>
              <a:t>why</a:t>
            </a:r>
            <a:r>
              <a:rPr lang="en-US" sz="2400" dirty="0">
                <a:latin typeface="Times New Roman" panose="02020603050405020304" pitchFamily="18" charset="0"/>
                <a:cs typeface="Times New Roman" panose="02020603050405020304" pitchFamily="18" charset="0"/>
              </a:rPr>
              <a:t> a problem occurs.</a:t>
            </a:r>
          </a:p>
          <a:p>
            <a:pPr>
              <a:buNone/>
            </a:pPr>
            <a:r>
              <a:rPr lang="en-US" sz="2400" b="1" dirty="0">
                <a:latin typeface="Times New Roman" panose="02020603050405020304" pitchFamily="18" charset="0"/>
                <a:cs typeface="Times New Roman" panose="02020603050405020304" pitchFamily="18" charset="0"/>
              </a:rPr>
              <a:t>Methods</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Interviews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Open-ended questions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Observation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Focus groups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 comments</a:t>
            </a:r>
          </a:p>
          <a:p>
            <a:endParaRPr lang="en-IN" dirty="0"/>
          </a:p>
        </p:txBody>
      </p:sp>
      <p:sp>
        <p:nvSpPr>
          <p:cNvPr id="4" name="Slide Number Placeholder 3">
            <a:extLst>
              <a:ext uri="{FF2B5EF4-FFF2-40B4-BE49-F238E27FC236}">
                <a16:creationId xmlns:a16="http://schemas.microsoft.com/office/drawing/2014/main" id="{2D5897F5-F859-DADC-9BF6-1640E353EB0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35</a:t>
            </a:fld>
            <a:endParaRPr lang="en-GB"/>
          </a:p>
        </p:txBody>
      </p:sp>
      <p:sp>
        <p:nvSpPr>
          <p:cNvPr id="5" name="Text Placeholder 2">
            <a:extLst>
              <a:ext uri="{FF2B5EF4-FFF2-40B4-BE49-F238E27FC236}">
                <a16:creationId xmlns:a16="http://schemas.microsoft.com/office/drawing/2014/main" id="{82974936-4A9D-2900-F7F3-58C1B4F8D93F}"/>
              </a:ext>
            </a:extLst>
          </p:cNvPr>
          <p:cNvSpPr txBox="1">
            <a:spLocks/>
          </p:cNvSpPr>
          <p:nvPr/>
        </p:nvSpPr>
        <p:spPr>
          <a:xfrm>
            <a:off x="6583349" y="890353"/>
            <a:ext cx="5368751" cy="5424756"/>
          </a:xfrm>
          <a:prstGeom prst="rect">
            <a:avLst/>
          </a:prstGeom>
          <a:noFill/>
          <a:ln>
            <a:solidFill>
              <a:schemeClr val="accent4">
                <a:lumMod val="75000"/>
              </a:schemeClr>
            </a:solid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0"/>
              </a:spcBef>
              <a:spcAft>
                <a:spcPts val="0"/>
              </a:spcAft>
              <a:buClr>
                <a:srgbClr val="000000"/>
              </a:buClr>
              <a:buSzPts val="2800"/>
              <a:buFont typeface="IBM Plex Sans Condensed"/>
              <a:buChar char="●"/>
              <a:defRPr sz="2800" b="0" i="0" u="none" strike="noStrike" cap="none">
                <a:solidFill>
                  <a:srgbClr val="000000"/>
                </a:solidFill>
                <a:latin typeface="IBM Plex Sans Condensed"/>
                <a:ea typeface="IBM Plex Sans Condensed"/>
                <a:cs typeface="IBM Plex Sans Condensed"/>
                <a:sym typeface="IBM Plex Sans Condensed"/>
              </a:defRPr>
            </a:lvl1pPr>
            <a:lvl2pPr marL="914400" marR="0" lvl="1" indent="-393700" algn="l" rtl="0">
              <a:lnSpc>
                <a:spcPct val="100000"/>
              </a:lnSpc>
              <a:spcBef>
                <a:spcPts val="800"/>
              </a:spcBef>
              <a:spcAft>
                <a:spcPts val="0"/>
              </a:spcAft>
              <a:buClr>
                <a:srgbClr val="000000"/>
              </a:buClr>
              <a:buSzPts val="2600"/>
              <a:buFont typeface="IBM Plex Sans Condensed"/>
              <a:buChar char="○"/>
              <a:defRPr sz="2600" b="0" i="0" u="none" strike="noStrike" cap="none">
                <a:solidFill>
                  <a:srgbClr val="000000"/>
                </a:solidFill>
                <a:latin typeface="IBM Plex Sans Condensed"/>
                <a:ea typeface="IBM Plex Sans Condensed"/>
                <a:cs typeface="IBM Plex Sans Condensed"/>
                <a:sym typeface="IBM Plex Sans Condensed"/>
              </a:defRPr>
            </a:lvl2pPr>
            <a:lvl3pPr marL="1371600" marR="0" lvl="2" indent="-381000" algn="l" rtl="0">
              <a:lnSpc>
                <a:spcPct val="100000"/>
              </a:lnSpc>
              <a:spcBef>
                <a:spcPts val="800"/>
              </a:spcBef>
              <a:spcAft>
                <a:spcPts val="0"/>
              </a:spcAft>
              <a:buClr>
                <a:srgbClr val="000000"/>
              </a:buClr>
              <a:buSzPts val="2400"/>
              <a:buFont typeface="IBM Plex Sans Condensed"/>
              <a:buChar char="■"/>
              <a:defRPr sz="2400" b="0" i="0" u="none" strike="noStrike" cap="none">
                <a:solidFill>
                  <a:srgbClr val="000000"/>
                </a:solidFill>
                <a:latin typeface="IBM Plex Sans Condensed"/>
                <a:ea typeface="IBM Plex Sans Condensed"/>
                <a:cs typeface="IBM Plex Sans Condensed"/>
                <a:sym typeface="IBM Plex Sans Condensed"/>
              </a:defRPr>
            </a:lvl3pPr>
            <a:lvl4pPr marL="1828800" marR="0" lvl="3" indent="-381000" algn="l" rtl="0">
              <a:lnSpc>
                <a:spcPct val="100000"/>
              </a:lnSpc>
              <a:spcBef>
                <a:spcPts val="800"/>
              </a:spcBef>
              <a:spcAft>
                <a:spcPts val="0"/>
              </a:spcAft>
              <a:buClr>
                <a:srgbClr val="000000"/>
              </a:buClr>
              <a:buSzPts val="2400"/>
              <a:buFont typeface="IBM Plex Sans Condensed"/>
              <a:buChar char="●"/>
              <a:defRPr sz="2400" b="0" i="0" u="none" strike="noStrike" cap="none">
                <a:solidFill>
                  <a:srgbClr val="000000"/>
                </a:solidFill>
                <a:latin typeface="IBM Plex Sans Condensed"/>
                <a:ea typeface="IBM Plex Sans Condensed"/>
                <a:cs typeface="IBM Plex Sans Condensed"/>
                <a:sym typeface="IBM Plex Sans Condensed"/>
              </a:defRPr>
            </a:lvl4pPr>
            <a:lvl5pPr marL="2286000" marR="0" lvl="4" indent="-381000" algn="l" rtl="0">
              <a:lnSpc>
                <a:spcPct val="100000"/>
              </a:lnSpc>
              <a:spcBef>
                <a:spcPts val="800"/>
              </a:spcBef>
              <a:spcAft>
                <a:spcPts val="0"/>
              </a:spcAft>
              <a:buClr>
                <a:srgbClr val="000000"/>
              </a:buClr>
              <a:buSzPts val="2400"/>
              <a:buFont typeface="IBM Plex Sans Condensed"/>
              <a:buChar char="○"/>
              <a:defRPr sz="2400" b="0" i="0" u="none" strike="noStrike" cap="none">
                <a:solidFill>
                  <a:srgbClr val="000000"/>
                </a:solidFill>
                <a:latin typeface="IBM Plex Sans Condensed"/>
                <a:ea typeface="IBM Plex Sans Condensed"/>
                <a:cs typeface="IBM Plex Sans Condensed"/>
                <a:sym typeface="IBM Plex Sans Condensed"/>
              </a:defRPr>
            </a:lvl5pPr>
            <a:lvl6pPr marL="2743200" marR="0" lvl="5" indent="-381000" algn="l" rtl="0">
              <a:lnSpc>
                <a:spcPct val="100000"/>
              </a:lnSpc>
              <a:spcBef>
                <a:spcPts val="800"/>
              </a:spcBef>
              <a:spcAft>
                <a:spcPts val="0"/>
              </a:spcAft>
              <a:buClr>
                <a:srgbClr val="000000"/>
              </a:buClr>
              <a:buSzPts val="2400"/>
              <a:buFont typeface="IBM Plex Sans Condensed"/>
              <a:buChar char="■"/>
              <a:defRPr sz="2400" b="0" i="0" u="none" strike="noStrike" cap="none">
                <a:solidFill>
                  <a:srgbClr val="000000"/>
                </a:solidFill>
                <a:latin typeface="IBM Plex Sans Condensed"/>
                <a:ea typeface="IBM Plex Sans Condensed"/>
                <a:cs typeface="IBM Plex Sans Condensed"/>
                <a:sym typeface="IBM Plex Sans Condensed"/>
              </a:defRPr>
            </a:lvl6pPr>
            <a:lvl7pPr marL="3200400" marR="0" lvl="6" indent="-381000" algn="l" rtl="0">
              <a:lnSpc>
                <a:spcPct val="100000"/>
              </a:lnSpc>
              <a:spcBef>
                <a:spcPts val="800"/>
              </a:spcBef>
              <a:spcAft>
                <a:spcPts val="0"/>
              </a:spcAft>
              <a:buClr>
                <a:srgbClr val="000000"/>
              </a:buClr>
              <a:buSzPts val="2400"/>
              <a:buFont typeface="IBM Plex Sans Condensed"/>
              <a:buChar char="●"/>
              <a:defRPr sz="2400" b="0" i="0" u="none" strike="noStrike" cap="none">
                <a:solidFill>
                  <a:srgbClr val="000000"/>
                </a:solidFill>
                <a:latin typeface="IBM Plex Sans Condensed"/>
                <a:ea typeface="IBM Plex Sans Condensed"/>
                <a:cs typeface="IBM Plex Sans Condensed"/>
                <a:sym typeface="IBM Plex Sans Condensed"/>
              </a:defRPr>
            </a:lvl7pPr>
            <a:lvl8pPr marL="3657600" marR="0" lvl="7" indent="-381000" algn="l" rtl="0">
              <a:lnSpc>
                <a:spcPct val="100000"/>
              </a:lnSpc>
              <a:spcBef>
                <a:spcPts val="800"/>
              </a:spcBef>
              <a:spcAft>
                <a:spcPts val="0"/>
              </a:spcAft>
              <a:buClr>
                <a:srgbClr val="000000"/>
              </a:buClr>
              <a:buSzPts val="2400"/>
              <a:buFont typeface="IBM Plex Sans Condensed"/>
              <a:buChar char="○"/>
              <a:defRPr sz="2400" b="0" i="0" u="none" strike="noStrike" cap="none">
                <a:solidFill>
                  <a:srgbClr val="000000"/>
                </a:solidFill>
                <a:latin typeface="IBM Plex Sans Condensed"/>
                <a:ea typeface="IBM Plex Sans Condensed"/>
                <a:cs typeface="IBM Plex Sans Condensed"/>
                <a:sym typeface="IBM Plex Sans Condensed"/>
              </a:defRPr>
            </a:lvl8pPr>
            <a:lvl9pPr marL="4114800" marR="0" lvl="8" indent="-381000" algn="l" rtl="0">
              <a:lnSpc>
                <a:spcPct val="100000"/>
              </a:lnSpc>
              <a:spcBef>
                <a:spcPts val="800"/>
              </a:spcBef>
              <a:spcAft>
                <a:spcPts val="800"/>
              </a:spcAft>
              <a:buClr>
                <a:srgbClr val="000000"/>
              </a:buClr>
              <a:buSzPts val="2400"/>
              <a:buFont typeface="IBM Plex Sans Condensed"/>
              <a:buChar char="■"/>
              <a:defRPr sz="2400" b="0" i="0" u="none" strike="noStrike" cap="none">
                <a:solidFill>
                  <a:srgbClr val="000000"/>
                </a:solidFill>
                <a:latin typeface="IBM Plex Sans Condensed"/>
                <a:ea typeface="IBM Plex Sans Condensed"/>
                <a:cs typeface="IBM Plex Sans Condensed"/>
                <a:sym typeface="IBM Plex Sans Condensed"/>
              </a:defRPr>
            </a:lvl9pPr>
          </a:lstStyle>
          <a:p>
            <a:pPr>
              <a:buFont typeface="IBM Plex Sans Condensed"/>
              <a:buNone/>
            </a:pPr>
            <a:r>
              <a:rPr lang="en-US" sz="2400" b="1" dirty="0">
                <a:solidFill>
                  <a:srgbClr val="FF5050"/>
                </a:solidFill>
                <a:latin typeface="Times New Roman" panose="02020603050405020304" pitchFamily="18" charset="0"/>
                <a:cs typeface="Times New Roman" panose="02020603050405020304" pitchFamily="18" charset="0"/>
              </a:rPr>
              <a:t>b) Quantitative Feedback</a:t>
            </a:r>
          </a:p>
          <a:p>
            <a:pPr>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Quantitative feedback is expressed using </a:t>
            </a:r>
            <a:r>
              <a:rPr lang="en-US" sz="2400" b="1" dirty="0">
                <a:latin typeface="Times New Roman" panose="02020603050405020304" pitchFamily="18" charset="0"/>
                <a:cs typeface="Times New Roman" panose="02020603050405020304" pitchFamily="18" charset="0"/>
              </a:rPr>
              <a:t>numbers and measurable data</a:t>
            </a:r>
            <a:r>
              <a:rPr lang="en-US" sz="2400" dirty="0">
                <a:latin typeface="Times New Roman" panose="02020603050405020304" pitchFamily="18" charset="0"/>
                <a:cs typeface="Times New Roman" panose="02020603050405020304" pitchFamily="18" charset="0"/>
              </a:rPr>
              <a:t>.</a:t>
            </a:r>
          </a:p>
          <a:p>
            <a:pPr>
              <a:buFont typeface="IBM Plex Sans Condensed"/>
              <a:buNone/>
            </a:pPr>
            <a:r>
              <a:rPr lang="en-US" sz="2400" dirty="0">
                <a:latin typeface="Times New Roman" panose="02020603050405020304" pitchFamily="18" charset="0"/>
                <a:cs typeface="Times New Roman" panose="02020603050405020304" pitchFamily="18" charset="0"/>
              </a:rPr>
              <a:t>Examples: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80% of users completed the task.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Average task completion time = 45 seconds.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6 out of 10 users made an error.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Customer satisfaction score = 4.2/5.</a:t>
            </a:r>
          </a:p>
          <a:p>
            <a:pPr marL="50800" indent="0">
              <a:buNone/>
            </a:pPr>
            <a:r>
              <a:rPr lang="en-US" sz="2400" dirty="0">
                <a:latin typeface="Times New Roman" panose="02020603050405020304" pitchFamily="18" charset="0"/>
                <a:cs typeface="Times New Roman" panose="02020603050405020304" pitchFamily="18" charset="0"/>
              </a:rPr>
              <a:t> </a:t>
            </a:r>
          </a:p>
          <a:p>
            <a:pPr>
              <a:buSzPct val="1000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Quantitative data helps measure </a:t>
            </a:r>
            <a:r>
              <a:rPr lang="en-US" sz="2400" b="1" dirty="0">
                <a:latin typeface="Times New Roman" panose="02020603050405020304" pitchFamily="18" charset="0"/>
                <a:cs typeface="Times New Roman" panose="02020603050405020304" pitchFamily="18" charset="0"/>
              </a:rPr>
              <a:t>how much</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how often</a:t>
            </a:r>
            <a:r>
              <a:rPr lang="en-US" sz="2400" dirty="0">
                <a:latin typeface="Times New Roman" panose="02020603050405020304" pitchFamily="18" charset="0"/>
                <a:cs typeface="Times New Roman" panose="02020603050405020304" pitchFamily="18" charset="0"/>
              </a:rPr>
              <a:t> something happens.</a:t>
            </a:r>
          </a:p>
          <a:p>
            <a:endParaRPr lang="en-IN" dirty="0"/>
          </a:p>
        </p:txBody>
      </p:sp>
    </p:spTree>
    <p:extLst>
      <p:ext uri="{BB962C8B-B14F-4D97-AF65-F5344CB8AC3E}">
        <p14:creationId xmlns:p14="http://schemas.microsoft.com/office/powerpoint/2010/main" val="13234525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3919C-747D-BA8E-5B63-72D496C9E3FD}"/>
              </a:ext>
            </a:extLst>
          </p:cNvPr>
          <p:cNvSpPr>
            <a:spLocks noGrp="1"/>
          </p:cNvSpPr>
          <p:nvPr>
            <p:ph type="title"/>
          </p:nvPr>
        </p:nvSpPr>
        <p:spPr>
          <a:xfrm>
            <a:off x="415600" y="327381"/>
            <a:ext cx="11360700" cy="515100"/>
          </a:xfrm>
        </p:spPr>
        <p:txBody>
          <a:bodyPr/>
          <a:lstStyle/>
          <a:p>
            <a:pPr marL="457200" indent="-457200">
              <a:buFont typeface="Wingdings" panose="05000000000000000000" pitchFamily="2" charset="2"/>
              <a:buChar char="v"/>
            </a:pPr>
            <a:r>
              <a:rPr lang="en-US" sz="2800" dirty="0">
                <a:solidFill>
                  <a:srgbClr val="006600"/>
                </a:solidFill>
                <a:latin typeface="Times New Roman" panose="02020603050405020304" pitchFamily="18" charset="0"/>
                <a:cs typeface="Times New Roman" panose="02020603050405020304" pitchFamily="18" charset="0"/>
              </a:rPr>
              <a:t>Good Feedback vs. Poor Feedback</a:t>
            </a:r>
            <a:endParaRPr lang="en-IN" sz="2800" dirty="0">
              <a:solidFill>
                <a:srgbClr val="0066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C3387E7-461D-5E6E-612E-12E94D8F8BAB}"/>
              </a:ext>
            </a:extLst>
          </p:cNvPr>
          <p:cNvSpPr>
            <a:spLocks noGrp="1"/>
          </p:cNvSpPr>
          <p:nvPr>
            <p:ph type="body" idx="1"/>
          </p:nvPr>
        </p:nvSpPr>
        <p:spPr>
          <a:xfrm>
            <a:off x="415600" y="976045"/>
            <a:ext cx="11360700" cy="5432319"/>
          </a:xfrm>
        </p:spPr>
        <p:txBody>
          <a:bodyPr/>
          <a:lstStyle/>
          <a:p>
            <a:pPr>
              <a:buNone/>
            </a:pPr>
            <a:r>
              <a:rPr lang="en-US" sz="2400" b="1" dirty="0">
                <a:latin typeface="Times New Roman" panose="02020603050405020304" pitchFamily="18" charset="0"/>
                <a:cs typeface="Times New Roman" panose="02020603050405020304" pitchFamily="18" charset="0"/>
              </a:rPr>
              <a:t>Poor feedback</a:t>
            </a:r>
          </a:p>
          <a:p>
            <a:pPr>
              <a:buNone/>
            </a:pPr>
            <a:r>
              <a:rPr lang="en-US" sz="2400" dirty="0">
                <a:latin typeface="Times New Roman" panose="02020603050405020304" pitchFamily="18" charset="0"/>
                <a:cs typeface="Times New Roman" panose="02020603050405020304" pitchFamily="18" charset="0"/>
              </a:rPr>
              <a:t>		"The app is bad."</a:t>
            </a:r>
          </a:p>
          <a:p>
            <a:pPr>
              <a:buNone/>
            </a:pPr>
            <a:r>
              <a:rPr lang="en-US" sz="2400" dirty="0">
                <a:latin typeface="Times New Roman" panose="02020603050405020304" pitchFamily="18" charset="0"/>
                <a:cs typeface="Times New Roman" panose="02020603050405020304" pitchFamily="18" charset="0"/>
              </a:rPr>
              <a:t>This is too general.</a:t>
            </a:r>
          </a:p>
          <a:p>
            <a:pPr>
              <a:buNone/>
            </a:pPr>
            <a:endParaRPr lang="en-US" sz="2400" b="1"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Useful feedback</a:t>
            </a:r>
          </a:p>
          <a:p>
            <a:pPr>
              <a:buNone/>
            </a:pPr>
            <a:r>
              <a:rPr lang="en-US" sz="2400" dirty="0">
                <a:latin typeface="Times New Roman" panose="02020603050405020304" pitchFamily="18" charset="0"/>
                <a:cs typeface="Times New Roman" panose="02020603050405020304" pitchFamily="18" charset="0"/>
              </a:rPr>
              <a:t>	"Seven out of ten users could not find the payment-history option within one minute."</a:t>
            </a:r>
          </a:p>
          <a:p>
            <a:pPr>
              <a:buNone/>
            </a:pPr>
            <a:r>
              <a:rPr lang="en-US" sz="2400" dirty="0">
                <a:latin typeface="Times New Roman" panose="02020603050405020304" pitchFamily="18" charset="0"/>
                <a:cs typeface="Times New Roman" panose="02020603050405020304" pitchFamily="18" charset="0"/>
              </a:rPr>
              <a:t>This identifies:</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problem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frequency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affected users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measurable situation </a:t>
            </a: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Therefore, good feedback should be:</a:t>
            </a:r>
          </a:p>
          <a:p>
            <a:pPr>
              <a:buNone/>
            </a:pPr>
            <a:r>
              <a:rPr lang="en-US" sz="2400" b="1" dirty="0">
                <a:latin typeface="Times New Roman" panose="02020603050405020304" pitchFamily="18" charset="0"/>
                <a:cs typeface="Times New Roman" panose="02020603050405020304" pitchFamily="18" charset="0"/>
              </a:rPr>
              <a:t>	Specific + Relevant + Evidence-based + Actionable</a:t>
            </a:r>
            <a:endParaRPr lang="en-US" sz="24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A9B363D6-28A3-E607-2BD5-4781A974D2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36</a:t>
            </a:fld>
            <a:endParaRPr lang="en-GB"/>
          </a:p>
        </p:txBody>
      </p:sp>
    </p:spTree>
    <p:extLst>
      <p:ext uri="{BB962C8B-B14F-4D97-AF65-F5344CB8AC3E}">
        <p14:creationId xmlns:p14="http://schemas.microsoft.com/office/powerpoint/2010/main" val="17478068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17083-FDA6-E307-840D-EED31F28A756}"/>
              </a:ext>
            </a:extLst>
          </p:cNvPr>
          <p:cNvSpPr>
            <a:spLocks noGrp="1"/>
          </p:cNvSpPr>
          <p:nvPr>
            <p:ph type="title"/>
          </p:nvPr>
        </p:nvSpPr>
        <p:spPr>
          <a:xfrm>
            <a:off x="415600" y="306833"/>
            <a:ext cx="11360700" cy="610845"/>
          </a:xfrm>
        </p:spPr>
        <p:txBody>
          <a:bodyPr/>
          <a:lstStyle/>
          <a:p>
            <a:pPr marL="457200" indent="-457200">
              <a:buFont typeface="Wingdings" panose="05000000000000000000" pitchFamily="2" charset="2"/>
              <a:buChar char="v"/>
            </a:pPr>
            <a:r>
              <a:rPr lang="en-IN" sz="2800" dirty="0">
                <a:solidFill>
                  <a:srgbClr val="6600FF"/>
                </a:solidFill>
                <a:latin typeface="Times New Roman" panose="02020603050405020304" pitchFamily="18" charset="0"/>
                <a:cs typeface="Times New Roman" panose="02020603050405020304" pitchFamily="18" charset="0"/>
              </a:rPr>
              <a:t>Stage 3: Refinement</a:t>
            </a:r>
          </a:p>
        </p:txBody>
      </p:sp>
      <p:sp>
        <p:nvSpPr>
          <p:cNvPr id="3" name="Text Placeholder 2">
            <a:extLst>
              <a:ext uri="{FF2B5EF4-FFF2-40B4-BE49-F238E27FC236}">
                <a16:creationId xmlns:a16="http://schemas.microsoft.com/office/drawing/2014/main" id="{707345DE-380A-82AF-27F4-4CA38FE722CC}"/>
              </a:ext>
            </a:extLst>
          </p:cNvPr>
          <p:cNvSpPr>
            <a:spLocks noGrp="1"/>
          </p:cNvSpPr>
          <p:nvPr>
            <p:ph type="body" idx="1"/>
          </p:nvPr>
        </p:nvSpPr>
        <p:spPr>
          <a:xfrm>
            <a:off x="415600" y="917678"/>
            <a:ext cx="11360700" cy="5173910"/>
          </a:xfrm>
        </p:spPr>
        <p:txBody>
          <a:bodyPr/>
          <a:lstStyle/>
          <a:p>
            <a:pPr>
              <a:buSzPct val="1000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Refinement</a:t>
            </a:r>
            <a:r>
              <a:rPr lang="en-US" sz="2400" dirty="0">
                <a:latin typeface="Times New Roman" panose="02020603050405020304" pitchFamily="18" charset="0"/>
                <a:cs typeface="Times New Roman" panose="02020603050405020304" pitchFamily="18" charset="0"/>
              </a:rPr>
              <a:t> is the process of modifying and improving a design based on evidence obtained through testing and feedback.</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Refinement may involve:</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Removing unnecessary features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Adding missing features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Changing the interface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Simplifying instructions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Improving accessibility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Changing the physical form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Improving functionality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Changing the sequence of tasks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Correcting errors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Improving visual design</a:t>
            </a:r>
          </a:p>
          <a:p>
            <a:endParaRPr lang="en-IN" dirty="0"/>
          </a:p>
        </p:txBody>
      </p:sp>
      <p:sp>
        <p:nvSpPr>
          <p:cNvPr id="4" name="Slide Number Placeholder 3">
            <a:extLst>
              <a:ext uri="{FF2B5EF4-FFF2-40B4-BE49-F238E27FC236}">
                <a16:creationId xmlns:a16="http://schemas.microsoft.com/office/drawing/2014/main" id="{AE9A4A45-7388-F4BF-F77B-169F6DF4E8F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37</a:t>
            </a:fld>
            <a:endParaRPr lang="en-GB"/>
          </a:p>
        </p:txBody>
      </p:sp>
    </p:spTree>
    <p:extLst>
      <p:ext uri="{BB962C8B-B14F-4D97-AF65-F5344CB8AC3E}">
        <p14:creationId xmlns:p14="http://schemas.microsoft.com/office/powerpoint/2010/main" val="30432797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65C02-5915-390B-E1A6-B94E3E139993}"/>
              </a:ext>
            </a:extLst>
          </p:cNvPr>
          <p:cNvSpPr>
            <a:spLocks noGrp="1"/>
          </p:cNvSpPr>
          <p:nvPr>
            <p:ph type="title"/>
          </p:nvPr>
        </p:nvSpPr>
        <p:spPr>
          <a:xfrm>
            <a:off x="415600" y="216126"/>
            <a:ext cx="11360700" cy="550286"/>
          </a:xfrm>
        </p:spPr>
        <p:txBody>
          <a:bodyPr/>
          <a:lstStyle/>
          <a:p>
            <a:r>
              <a:rPr lang="en-IN" sz="2800" dirty="0">
                <a:latin typeface="Times New Roman" panose="02020603050405020304" pitchFamily="18" charset="0"/>
                <a:cs typeface="Times New Roman" panose="02020603050405020304" pitchFamily="18" charset="0"/>
              </a:rPr>
              <a:t>Example of Refinement</a:t>
            </a:r>
          </a:p>
        </p:txBody>
      </p:sp>
      <p:sp>
        <p:nvSpPr>
          <p:cNvPr id="3" name="Text Placeholder 2">
            <a:extLst>
              <a:ext uri="{FF2B5EF4-FFF2-40B4-BE49-F238E27FC236}">
                <a16:creationId xmlns:a16="http://schemas.microsoft.com/office/drawing/2014/main" id="{73B7FDAD-7B8A-B966-3D14-DE6787D24C21}"/>
              </a:ext>
            </a:extLst>
          </p:cNvPr>
          <p:cNvSpPr>
            <a:spLocks noGrp="1"/>
          </p:cNvSpPr>
          <p:nvPr>
            <p:ph type="body" idx="1"/>
          </p:nvPr>
        </p:nvSpPr>
        <p:spPr>
          <a:xfrm>
            <a:off x="415600" y="904126"/>
            <a:ext cx="11360700" cy="5187462"/>
          </a:xfrm>
        </p:spPr>
        <p:txBody>
          <a:bodyPr/>
          <a:lstStyle/>
          <a:p>
            <a:pPr>
              <a:buNone/>
            </a:pPr>
            <a:r>
              <a:rPr lang="en-US" sz="2400" dirty="0">
                <a:latin typeface="Times New Roman" panose="02020603050405020304" pitchFamily="18" charset="0"/>
                <a:cs typeface="Times New Roman" panose="02020603050405020304" pitchFamily="18" charset="0"/>
              </a:rPr>
              <a:t>Suppose a designer develops an online food-ordering application.</a:t>
            </a:r>
          </a:p>
          <a:p>
            <a:pPr>
              <a:buNone/>
            </a:pPr>
            <a:r>
              <a:rPr lang="en-US" sz="2400" b="1" dirty="0">
                <a:latin typeface="Times New Roman" panose="02020603050405020304" pitchFamily="18" charset="0"/>
                <a:cs typeface="Times New Roman" panose="02020603050405020304" pitchFamily="18" charset="0"/>
              </a:rPr>
              <a:t>Initial design</a:t>
            </a:r>
          </a:p>
          <a:p>
            <a:pPr>
              <a:buNone/>
            </a:pPr>
            <a:r>
              <a:rPr lang="en-US" sz="2400" dirty="0">
                <a:latin typeface="Times New Roman" panose="02020603050405020304" pitchFamily="18" charset="0"/>
                <a:cs typeface="Times New Roman" panose="02020603050405020304" pitchFamily="18" charset="0"/>
              </a:rPr>
              <a:t>The home screen contains: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15 categories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10 promotional banners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Multiple navigation buttons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Several pop-up messages </a:t>
            </a:r>
          </a:p>
          <a:p>
            <a:pPr>
              <a:buNone/>
            </a:pPr>
            <a:r>
              <a:rPr lang="en-US" sz="2400" b="1" dirty="0">
                <a:latin typeface="Times New Roman" panose="02020603050405020304" pitchFamily="18" charset="0"/>
                <a:cs typeface="Times New Roman" panose="02020603050405020304" pitchFamily="18" charset="0"/>
              </a:rPr>
              <a:t>Testing result</a:t>
            </a:r>
          </a:p>
          <a:p>
            <a:pPr>
              <a:buNone/>
            </a:pPr>
            <a:r>
              <a:rPr lang="en-US" sz="2400" dirty="0">
                <a:latin typeface="Times New Roman" panose="02020603050405020304" pitchFamily="18" charset="0"/>
                <a:cs typeface="Times New Roman" panose="02020603050405020304" pitchFamily="18" charset="0"/>
              </a:rPr>
              <a:t>Users report: "There is too much information and I don't know where to start."</a:t>
            </a:r>
          </a:p>
          <a:p>
            <a:pPr>
              <a:buNone/>
            </a:pPr>
            <a:r>
              <a:rPr lang="en-US" sz="2400" b="1" dirty="0">
                <a:latin typeface="Times New Roman" panose="02020603050405020304" pitchFamily="18" charset="0"/>
                <a:cs typeface="Times New Roman" panose="02020603050405020304" pitchFamily="18" charset="0"/>
              </a:rPr>
              <a:t>Feedback</a:t>
            </a:r>
          </a:p>
          <a:p>
            <a:pPr>
              <a:buNone/>
            </a:pPr>
            <a:r>
              <a:rPr lang="en-US" sz="2400" dirty="0">
                <a:latin typeface="Times New Roman" panose="02020603050405020304" pitchFamily="18" charset="0"/>
                <a:cs typeface="Times New Roman" panose="02020603050405020304" pitchFamily="18" charset="0"/>
              </a:rPr>
              <a:t>The main problem is </a:t>
            </a:r>
            <a:r>
              <a:rPr lang="en-US" sz="2400" b="1" dirty="0">
                <a:latin typeface="Times New Roman" panose="02020603050405020304" pitchFamily="18" charset="0"/>
                <a:cs typeface="Times New Roman" panose="02020603050405020304" pitchFamily="18" charset="0"/>
              </a:rPr>
              <a:t>information overload</a:t>
            </a:r>
            <a:r>
              <a:rPr lang="en-US" sz="2400" dirty="0">
                <a:latin typeface="Times New Roman" panose="02020603050405020304" pitchFamily="18" charset="0"/>
                <a:cs typeface="Times New Roman" panose="02020603050405020304" pitchFamily="18" charset="0"/>
              </a:rPr>
              <a:t>.</a:t>
            </a:r>
          </a:p>
          <a:p>
            <a:endParaRPr lang="en-IN" dirty="0"/>
          </a:p>
        </p:txBody>
      </p:sp>
      <p:sp>
        <p:nvSpPr>
          <p:cNvPr id="4" name="Slide Number Placeholder 3">
            <a:extLst>
              <a:ext uri="{FF2B5EF4-FFF2-40B4-BE49-F238E27FC236}">
                <a16:creationId xmlns:a16="http://schemas.microsoft.com/office/drawing/2014/main" id="{704159D4-2794-B07D-D5F6-1EC7B12026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38</a:t>
            </a:fld>
            <a:endParaRPr lang="en-GB"/>
          </a:p>
        </p:txBody>
      </p:sp>
    </p:spTree>
    <p:extLst>
      <p:ext uri="{BB962C8B-B14F-4D97-AF65-F5344CB8AC3E}">
        <p14:creationId xmlns:p14="http://schemas.microsoft.com/office/powerpoint/2010/main" val="24047836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97D71F3-4693-7D9F-A4FD-AFC9B6DE1F7E}"/>
              </a:ext>
            </a:extLst>
          </p:cNvPr>
          <p:cNvSpPr>
            <a:spLocks noGrp="1"/>
          </p:cNvSpPr>
          <p:nvPr>
            <p:ph type="body" idx="1"/>
          </p:nvPr>
        </p:nvSpPr>
        <p:spPr>
          <a:xfrm>
            <a:off x="415600" y="760288"/>
            <a:ext cx="11360700" cy="5331300"/>
          </a:xfrm>
        </p:spPr>
        <p:txBody>
          <a:bodyPr/>
          <a:lstStyle/>
          <a:p>
            <a:pPr>
              <a:buNone/>
            </a:pPr>
            <a:r>
              <a:rPr lang="en-US" sz="2400" b="1" dirty="0">
                <a:latin typeface="Times New Roman" panose="02020603050405020304" pitchFamily="18" charset="0"/>
                <a:cs typeface="Times New Roman" panose="02020603050405020304" pitchFamily="18" charset="0"/>
              </a:rPr>
              <a:t>Refinement</a:t>
            </a:r>
          </a:p>
          <a:p>
            <a:pPr>
              <a:buNone/>
            </a:pPr>
            <a:r>
              <a:rPr lang="en-US" sz="2400" dirty="0">
                <a:latin typeface="Times New Roman" panose="02020603050405020304" pitchFamily="18" charset="0"/>
                <a:cs typeface="Times New Roman" panose="02020603050405020304" pitchFamily="18" charset="0"/>
              </a:rPr>
              <a:t>The designer:</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the number of categories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Removes unnecessary banners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Highlights search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Simplifies navigation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Places frequently ordered items prominently </a:t>
            </a:r>
          </a:p>
          <a:p>
            <a:pPr>
              <a:buNone/>
            </a:pPr>
            <a:r>
              <a:rPr lang="en-US" sz="2400" b="1" dirty="0">
                <a:latin typeface="Times New Roman" panose="02020603050405020304" pitchFamily="18" charset="0"/>
                <a:cs typeface="Times New Roman" panose="02020603050405020304" pitchFamily="18" charset="0"/>
              </a:rPr>
              <a:t>Retesting</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Users now find restaurants more quickly.</a:t>
            </a: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This demonstrates:</a:t>
            </a:r>
          </a:p>
          <a:p>
            <a:pPr>
              <a:buNone/>
            </a:pPr>
            <a:r>
              <a:rPr lang="en-US" sz="2400" b="1" dirty="0">
                <a:latin typeface="Times New Roman" panose="02020603050405020304" pitchFamily="18" charset="0"/>
                <a:cs typeface="Times New Roman" panose="02020603050405020304" pitchFamily="18" charset="0"/>
              </a:rPr>
              <a:t>Test → Feedback → Refine → Retest</a:t>
            </a:r>
            <a:endParaRPr lang="en-US" sz="24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A43A4AC5-5AE7-7EAE-3AE8-CD3B4B1CBBB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39</a:t>
            </a:fld>
            <a:endParaRPr lang="en-GB"/>
          </a:p>
        </p:txBody>
      </p:sp>
    </p:spTree>
    <p:extLst>
      <p:ext uri="{BB962C8B-B14F-4D97-AF65-F5344CB8AC3E}">
        <p14:creationId xmlns:p14="http://schemas.microsoft.com/office/powerpoint/2010/main" val="1275372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A55C4-44FA-4F04-31CB-D2E321AE9124}"/>
              </a:ext>
            </a:extLst>
          </p:cNvPr>
          <p:cNvSpPr>
            <a:spLocks noGrp="1"/>
          </p:cNvSpPr>
          <p:nvPr>
            <p:ph type="title"/>
          </p:nvPr>
        </p:nvSpPr>
        <p:spPr>
          <a:xfrm>
            <a:off x="333407" y="317106"/>
            <a:ext cx="11360700" cy="610845"/>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The Complete Iterative Process</a:t>
            </a:r>
          </a:p>
        </p:txBody>
      </p:sp>
      <p:sp>
        <p:nvSpPr>
          <p:cNvPr id="3" name="Text Placeholder 2">
            <a:extLst>
              <a:ext uri="{FF2B5EF4-FFF2-40B4-BE49-F238E27FC236}">
                <a16:creationId xmlns:a16="http://schemas.microsoft.com/office/drawing/2014/main" id="{526DA916-AFF1-BC6F-0235-F4235F02FD98}"/>
              </a:ext>
            </a:extLst>
          </p:cNvPr>
          <p:cNvSpPr>
            <a:spLocks noGrp="1"/>
          </p:cNvSpPr>
          <p:nvPr>
            <p:ph type="body" idx="1"/>
          </p:nvPr>
        </p:nvSpPr>
        <p:spPr>
          <a:xfrm>
            <a:off x="415600" y="927951"/>
            <a:ext cx="5598208" cy="5163637"/>
          </a:xfrm>
          <a:ln>
            <a:solidFill>
              <a:srgbClr val="6600FF"/>
            </a:solidFill>
          </a:ln>
        </p:spPr>
        <p:txBody>
          <a:bodyPr/>
          <a:lstStyle/>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 process can be divided into the following steps.</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Step 1: Establish the design goal</a:t>
            </a:r>
          </a:p>
          <a:p>
            <a:pPr>
              <a:buNone/>
            </a:pPr>
            <a:r>
              <a:rPr lang="en-US" sz="2000" dirty="0">
                <a:latin typeface="Times New Roman" panose="02020603050405020304" pitchFamily="18" charset="0"/>
                <a:cs typeface="Times New Roman" panose="02020603050405020304" pitchFamily="18" charset="0"/>
              </a:rPr>
              <a:t>Clearly identify what the solution is expected to accomplish.</a:t>
            </a:r>
          </a:p>
          <a:p>
            <a:pPr>
              <a:buNone/>
            </a:pPr>
            <a:r>
              <a:rPr lang="en-US" sz="2000" b="1" dirty="0">
                <a:latin typeface="Times New Roman" panose="02020603050405020304" pitchFamily="18" charset="0"/>
                <a:cs typeface="Times New Roman" panose="02020603050405020304" pitchFamily="18" charset="0"/>
              </a:rPr>
              <a:t>Step 2: Develop a prototype</a:t>
            </a:r>
          </a:p>
          <a:p>
            <a:pPr>
              <a:buNone/>
            </a:pPr>
            <a:r>
              <a:rPr lang="en-US" sz="2000" dirty="0">
                <a:latin typeface="Times New Roman" panose="02020603050405020304" pitchFamily="18" charset="0"/>
                <a:cs typeface="Times New Roman" panose="02020603050405020304" pitchFamily="18" charset="0"/>
              </a:rPr>
              <a:t>Create a representation of the proposed solution.</a:t>
            </a:r>
          </a:p>
          <a:p>
            <a:pPr>
              <a:buNone/>
            </a:pPr>
            <a:r>
              <a:rPr lang="en-US" sz="2000" b="1" dirty="0">
                <a:latin typeface="Times New Roman" panose="02020603050405020304" pitchFamily="18" charset="0"/>
                <a:cs typeface="Times New Roman" panose="02020603050405020304" pitchFamily="18" charset="0"/>
              </a:rPr>
              <a:t>Step 3: Select users</a:t>
            </a:r>
          </a:p>
          <a:p>
            <a:pPr>
              <a:buNone/>
            </a:pPr>
            <a:r>
              <a:rPr lang="en-US" sz="2000" dirty="0">
                <a:latin typeface="Times New Roman" panose="02020603050405020304" pitchFamily="18" charset="0"/>
                <a:cs typeface="Times New Roman" panose="02020603050405020304" pitchFamily="18" charset="0"/>
              </a:rPr>
              <a:t>Choose users who represent the target audience.</a:t>
            </a:r>
          </a:p>
          <a:p>
            <a:pPr>
              <a:buNone/>
            </a:pPr>
            <a:r>
              <a:rPr lang="en-US" sz="2000" b="1" dirty="0">
                <a:latin typeface="Times New Roman" panose="02020603050405020304" pitchFamily="18" charset="0"/>
                <a:cs typeface="Times New Roman" panose="02020603050405020304" pitchFamily="18" charset="0"/>
              </a:rPr>
              <a:t>Step 4: Conduct testing</a:t>
            </a:r>
          </a:p>
          <a:p>
            <a:pPr>
              <a:buNone/>
            </a:pPr>
            <a:r>
              <a:rPr lang="en-US" sz="2000" dirty="0">
                <a:latin typeface="Times New Roman" panose="02020603050405020304" pitchFamily="18" charset="0"/>
                <a:cs typeface="Times New Roman" panose="02020603050405020304" pitchFamily="18" charset="0"/>
              </a:rPr>
              <a:t>Ask users to interact with the prototype or perform realistic tasks.</a:t>
            </a:r>
          </a:p>
          <a:p>
            <a:endParaRPr lang="en-IN" dirty="0"/>
          </a:p>
        </p:txBody>
      </p:sp>
      <p:sp>
        <p:nvSpPr>
          <p:cNvPr id="4" name="Slide Number Placeholder 3">
            <a:extLst>
              <a:ext uri="{FF2B5EF4-FFF2-40B4-BE49-F238E27FC236}">
                <a16:creationId xmlns:a16="http://schemas.microsoft.com/office/drawing/2014/main" id="{AB58C9F7-DA9B-DA49-F663-1693884F4B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40</a:t>
            </a:fld>
            <a:endParaRPr lang="en-GB"/>
          </a:p>
        </p:txBody>
      </p:sp>
      <p:sp>
        <p:nvSpPr>
          <p:cNvPr id="6" name="TextBox 5">
            <a:extLst>
              <a:ext uri="{FF2B5EF4-FFF2-40B4-BE49-F238E27FC236}">
                <a16:creationId xmlns:a16="http://schemas.microsoft.com/office/drawing/2014/main" id="{085F7505-AF97-D951-A3F6-CFC5F61FE8F6}"/>
              </a:ext>
            </a:extLst>
          </p:cNvPr>
          <p:cNvSpPr txBox="1"/>
          <p:nvPr/>
        </p:nvSpPr>
        <p:spPr>
          <a:xfrm>
            <a:off x="6178193" y="317106"/>
            <a:ext cx="5851636" cy="5940088"/>
          </a:xfrm>
          <a:prstGeom prst="rect">
            <a:avLst/>
          </a:prstGeom>
          <a:noFill/>
          <a:ln>
            <a:solidFill>
              <a:srgbClr val="CC0000"/>
            </a:solidFill>
          </a:ln>
        </p:spPr>
        <p:txBody>
          <a:bodyPr wrap="square" rtlCol="0">
            <a:spAutoFit/>
          </a:bodyPr>
          <a:lstStyle/>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Step 5: Collect evidence</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Record:</a:t>
            </a:r>
          </a:p>
          <a:p>
            <a:pPr marL="914400" marR="0" lvl="1" indent="-393700" algn="l" defTabSz="914400" rtl="0" eaLnBrk="1" fontAlgn="auto" latinLnBrk="0" hangingPunct="1">
              <a:lnSpc>
                <a:spcPct val="100000"/>
              </a:lnSpc>
              <a:spcBef>
                <a:spcPts val="0"/>
              </a:spcBef>
              <a:spcAft>
                <a:spcPts val="0"/>
              </a:spcAft>
              <a:buClr>
                <a:srgbClr val="000000"/>
              </a:buClr>
              <a:buSzPts val="2600"/>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Errors </a:t>
            </a:r>
          </a:p>
          <a:p>
            <a:pPr marL="914400" marR="0" lvl="1" indent="-393700" algn="l" defTabSz="914400" rtl="0" eaLnBrk="1" fontAlgn="auto" latinLnBrk="0" hangingPunct="1">
              <a:lnSpc>
                <a:spcPct val="100000"/>
              </a:lnSpc>
              <a:spcBef>
                <a:spcPts val="0"/>
              </a:spcBef>
              <a:spcAft>
                <a:spcPts val="0"/>
              </a:spcAft>
              <a:buClr>
                <a:srgbClr val="000000"/>
              </a:buClr>
              <a:buSzPts val="2600"/>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Completion time </a:t>
            </a:r>
          </a:p>
          <a:p>
            <a:pPr marL="914400" marR="0" lvl="1" indent="-393700" algn="l" defTabSz="914400" rtl="0" eaLnBrk="1" fontAlgn="auto" latinLnBrk="0" hangingPunct="1">
              <a:lnSpc>
                <a:spcPct val="100000"/>
              </a:lnSpc>
              <a:spcBef>
                <a:spcPts val="0"/>
              </a:spcBef>
              <a:spcAft>
                <a:spcPts val="0"/>
              </a:spcAft>
              <a:buClr>
                <a:srgbClr val="000000"/>
              </a:buClr>
              <a:buSzPts val="2600"/>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User comments </a:t>
            </a:r>
          </a:p>
          <a:p>
            <a:pPr marL="914400" marR="0" lvl="1" indent="-393700" algn="l" defTabSz="914400" rtl="0" eaLnBrk="1" fontAlgn="auto" latinLnBrk="0" hangingPunct="1">
              <a:lnSpc>
                <a:spcPct val="100000"/>
              </a:lnSpc>
              <a:spcBef>
                <a:spcPts val="0"/>
              </a:spcBef>
              <a:spcAft>
                <a:spcPts val="0"/>
              </a:spcAft>
              <a:buClr>
                <a:srgbClr val="000000"/>
              </a:buClr>
              <a:buSzPts val="2600"/>
              <a:buFont typeface="Arial" panose="020B0604020202020204" pitchFamily="34" charset="0"/>
              <a:buChar char="•"/>
              <a:tabLst/>
              <a:defRPr/>
            </a:pPr>
            <a:r>
              <a:rPr kumimoji="0" lang="en-US" sz="20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Behaviour</a:t>
            </a: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 </a:t>
            </a:r>
          </a:p>
          <a:p>
            <a:pPr marL="914400" marR="0" lvl="1" indent="-393700" algn="l" defTabSz="914400" rtl="0" eaLnBrk="1" fontAlgn="auto" latinLnBrk="0" hangingPunct="1">
              <a:lnSpc>
                <a:spcPct val="100000"/>
              </a:lnSpc>
              <a:spcBef>
                <a:spcPts val="0"/>
              </a:spcBef>
              <a:spcAft>
                <a:spcPts val="0"/>
              </a:spcAft>
              <a:buClr>
                <a:srgbClr val="000000"/>
              </a:buClr>
              <a:buSzPts val="2600"/>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Satisfaction </a:t>
            </a:r>
          </a:p>
          <a:p>
            <a:pPr marL="914400" marR="0" lvl="1" indent="-393700" algn="l" defTabSz="914400" rtl="0" eaLnBrk="1" fontAlgn="auto" latinLnBrk="0" hangingPunct="1">
              <a:lnSpc>
                <a:spcPct val="100000"/>
              </a:lnSpc>
              <a:spcBef>
                <a:spcPts val="0"/>
              </a:spcBef>
              <a:spcAft>
                <a:spcPts val="0"/>
              </a:spcAft>
              <a:buClr>
                <a:srgbClr val="000000"/>
              </a:buClr>
              <a:buSzPts val="2600"/>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Confusion </a:t>
            </a:r>
          </a:p>
          <a:p>
            <a:pPr marL="914400" marR="0" lvl="1" indent="-393700" algn="l" defTabSz="914400" rtl="0" eaLnBrk="1" fontAlgn="auto" latinLnBrk="0" hangingPunct="1">
              <a:lnSpc>
                <a:spcPct val="100000"/>
              </a:lnSpc>
              <a:spcBef>
                <a:spcPts val="0"/>
              </a:spcBef>
              <a:spcAft>
                <a:spcPts val="0"/>
              </a:spcAft>
              <a:buClr>
                <a:srgbClr val="000000"/>
              </a:buClr>
              <a:buSzPts val="2600"/>
              <a:buFont typeface="Arial" panose="020B0604020202020204" pitchFamily="34" charset="0"/>
              <a:buChar char="•"/>
              <a:tabLst/>
              <a:defRPr/>
            </a:pP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Suggestions </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Step 6: </a:t>
            </a:r>
            <a:r>
              <a:rPr kumimoji="0" lang="en-US" sz="2000" b="1"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Analyse</a:t>
            </a:r>
            <a:r>
              <a:rPr kumimoji="0" 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 feedback</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Identify patterns and major problems.</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Step 7: Prioritize problems</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Not every problem needs to be fixed immediately.</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Step 8: Refine the design</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Modify the prototype based on important findings.</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Step 9: Retest</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Test the improved version with users.</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Step 10: Repeat</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Continue until the solution meets the required goals.</a:t>
            </a:r>
          </a:p>
        </p:txBody>
      </p:sp>
    </p:spTree>
    <p:extLst>
      <p:ext uri="{BB962C8B-B14F-4D97-AF65-F5344CB8AC3E}">
        <p14:creationId xmlns:p14="http://schemas.microsoft.com/office/powerpoint/2010/main" val="22131112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10F1-03AA-9B1D-13B6-529F1EA05D15}"/>
              </a:ext>
            </a:extLst>
          </p:cNvPr>
          <p:cNvSpPr>
            <a:spLocks noGrp="1"/>
          </p:cNvSpPr>
          <p:nvPr>
            <p:ph type="title"/>
          </p:nvPr>
        </p:nvSpPr>
        <p:spPr>
          <a:xfrm>
            <a:off x="415600" y="292408"/>
            <a:ext cx="11360700" cy="474004"/>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Prioritizing Feedback</a:t>
            </a:r>
          </a:p>
        </p:txBody>
      </p:sp>
      <p:sp>
        <p:nvSpPr>
          <p:cNvPr id="3" name="Text Placeholder 2">
            <a:extLst>
              <a:ext uri="{FF2B5EF4-FFF2-40B4-BE49-F238E27FC236}">
                <a16:creationId xmlns:a16="http://schemas.microsoft.com/office/drawing/2014/main" id="{1099DAB2-FD20-6EA8-9B1D-86A7C76FAF51}"/>
              </a:ext>
            </a:extLst>
          </p:cNvPr>
          <p:cNvSpPr>
            <a:spLocks noGrp="1"/>
          </p:cNvSpPr>
          <p:nvPr>
            <p:ph type="body" idx="1"/>
          </p:nvPr>
        </p:nvSpPr>
        <p:spPr>
          <a:xfrm>
            <a:off x="415600" y="893852"/>
            <a:ext cx="11360700" cy="5197736"/>
          </a:xfrm>
        </p:spPr>
        <p:txBody>
          <a:bodyPr/>
          <a:lstStyle/>
          <a:p>
            <a:pPr>
              <a:buSzPct val="1000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Designers may receive hundreds of comments. They cannot necessarily implement all of them.</a:t>
            </a:r>
          </a:p>
          <a:p>
            <a:pPr>
              <a:buNone/>
            </a:pPr>
            <a:r>
              <a:rPr lang="en-US" sz="2400" dirty="0">
                <a:latin typeface="Times New Roman" panose="02020603050405020304" pitchFamily="18" charset="0"/>
                <a:cs typeface="Times New Roman" panose="02020603050405020304" pitchFamily="18" charset="0"/>
              </a:rPr>
              <a:t>Feedback can therefore be classified according to:</a:t>
            </a:r>
          </a:p>
          <a:p>
            <a:pPr>
              <a:buNone/>
            </a:pPr>
            <a:r>
              <a:rPr lang="en-US" sz="2400" b="1" dirty="0">
                <a:latin typeface="Times New Roman" panose="02020603050405020304" pitchFamily="18" charset="0"/>
                <a:cs typeface="Times New Roman" panose="02020603050405020304" pitchFamily="18" charset="0"/>
              </a:rPr>
              <a:t>Impact</a:t>
            </a:r>
          </a:p>
          <a:p>
            <a:pPr>
              <a:buNone/>
            </a:pPr>
            <a:r>
              <a:rPr lang="en-US" sz="2400" dirty="0">
                <a:latin typeface="Times New Roman" panose="02020603050405020304" pitchFamily="18" charset="0"/>
                <a:cs typeface="Times New Roman" panose="02020603050405020304" pitchFamily="18" charset="0"/>
              </a:rPr>
              <a:t>How seriously does the problem affect the user?</a:t>
            </a:r>
          </a:p>
          <a:p>
            <a:pPr>
              <a:buNone/>
            </a:pPr>
            <a:r>
              <a:rPr lang="en-US" sz="2400" b="1" dirty="0">
                <a:latin typeface="Times New Roman" panose="02020603050405020304" pitchFamily="18" charset="0"/>
                <a:cs typeface="Times New Roman" panose="02020603050405020304" pitchFamily="18" charset="0"/>
              </a:rPr>
              <a:t>Frequency</a:t>
            </a:r>
          </a:p>
          <a:p>
            <a:pPr>
              <a:buNone/>
            </a:pPr>
            <a:r>
              <a:rPr lang="en-US" sz="2400" dirty="0">
                <a:latin typeface="Times New Roman" panose="02020603050405020304" pitchFamily="18" charset="0"/>
                <a:cs typeface="Times New Roman" panose="02020603050405020304" pitchFamily="18" charset="0"/>
              </a:rPr>
              <a:t>How many users experience it?</a:t>
            </a:r>
          </a:p>
          <a:p>
            <a:pPr>
              <a:buNone/>
            </a:pPr>
            <a:r>
              <a:rPr lang="en-US" sz="2400" b="1" dirty="0">
                <a:latin typeface="Times New Roman" panose="02020603050405020304" pitchFamily="18" charset="0"/>
                <a:cs typeface="Times New Roman" panose="02020603050405020304" pitchFamily="18" charset="0"/>
              </a:rPr>
              <a:t>Severity</a:t>
            </a:r>
          </a:p>
          <a:p>
            <a:pPr>
              <a:buNone/>
            </a:pPr>
            <a:r>
              <a:rPr lang="en-US" sz="2400" dirty="0">
                <a:latin typeface="Times New Roman" panose="02020603050405020304" pitchFamily="18" charset="0"/>
                <a:cs typeface="Times New Roman" panose="02020603050405020304" pitchFamily="18" charset="0"/>
              </a:rPr>
              <a:t>Does it cause inconvenience, confusion, or complete task failure?</a:t>
            </a:r>
          </a:p>
          <a:p>
            <a:pPr>
              <a:buNone/>
            </a:pPr>
            <a:r>
              <a:rPr lang="en-US" sz="2400" b="1" dirty="0">
                <a:latin typeface="Times New Roman" panose="02020603050405020304" pitchFamily="18" charset="0"/>
                <a:cs typeface="Times New Roman" panose="02020603050405020304" pitchFamily="18" charset="0"/>
              </a:rPr>
              <a:t>Feasibility</a:t>
            </a:r>
          </a:p>
          <a:p>
            <a:pPr>
              <a:buNone/>
            </a:pPr>
            <a:r>
              <a:rPr lang="en-US" sz="2400" dirty="0">
                <a:latin typeface="Times New Roman" panose="02020603050405020304" pitchFamily="18" charset="0"/>
                <a:cs typeface="Times New Roman" panose="02020603050405020304" pitchFamily="18" charset="0"/>
              </a:rPr>
              <a:t>How difficult or expensive is it to fix?</a:t>
            </a:r>
          </a:p>
          <a:p>
            <a:pPr>
              <a:buNone/>
            </a:pPr>
            <a:r>
              <a:rPr lang="en-US" sz="2400" b="1" dirty="0">
                <a:latin typeface="Times New Roman" panose="02020603050405020304" pitchFamily="18" charset="0"/>
                <a:cs typeface="Times New Roman" panose="02020603050405020304" pitchFamily="18" charset="0"/>
              </a:rPr>
              <a:t>Importance</a:t>
            </a:r>
          </a:p>
          <a:p>
            <a:pPr>
              <a:buNone/>
            </a:pPr>
            <a:r>
              <a:rPr lang="en-US" sz="2400" dirty="0">
                <a:latin typeface="Times New Roman" panose="02020603050405020304" pitchFamily="18" charset="0"/>
                <a:cs typeface="Times New Roman" panose="02020603050405020304" pitchFamily="18" charset="0"/>
              </a:rPr>
              <a:t>Does fixing it contribute significantly to the main design objective?</a:t>
            </a:r>
          </a:p>
          <a:p>
            <a:endParaRPr lang="en-IN" dirty="0"/>
          </a:p>
        </p:txBody>
      </p:sp>
      <p:sp>
        <p:nvSpPr>
          <p:cNvPr id="4" name="Slide Number Placeholder 3">
            <a:extLst>
              <a:ext uri="{FF2B5EF4-FFF2-40B4-BE49-F238E27FC236}">
                <a16:creationId xmlns:a16="http://schemas.microsoft.com/office/drawing/2014/main" id="{F2AFE3D9-941A-0FFF-4493-DC1CBE574FA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41</a:t>
            </a:fld>
            <a:endParaRPr lang="en-GB"/>
          </a:p>
        </p:txBody>
      </p:sp>
    </p:spTree>
    <p:extLst>
      <p:ext uri="{BB962C8B-B14F-4D97-AF65-F5344CB8AC3E}">
        <p14:creationId xmlns:p14="http://schemas.microsoft.com/office/powerpoint/2010/main" val="25316867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878718D-8AE2-D263-AAD9-A961E08CC0AB}"/>
              </a:ext>
            </a:extLst>
          </p:cNvPr>
          <p:cNvSpPr>
            <a:spLocks noGrp="1"/>
          </p:cNvSpPr>
          <p:nvPr>
            <p:ph type="body" idx="1"/>
          </p:nvPr>
        </p:nvSpPr>
        <p:spPr>
          <a:xfrm>
            <a:off x="415600" y="565079"/>
            <a:ext cx="11360700" cy="5526509"/>
          </a:xfrm>
        </p:spPr>
        <p:txBody>
          <a:bodyPr/>
          <a:lstStyle/>
          <a:p>
            <a:pPr>
              <a:buNone/>
            </a:pPr>
            <a:r>
              <a:rPr lang="en-US" sz="2400" dirty="0">
                <a:latin typeface="Times New Roman" panose="02020603050405020304" pitchFamily="18" charset="0"/>
                <a:cs typeface="Times New Roman" panose="02020603050405020304" pitchFamily="18" charset="0"/>
              </a:rPr>
              <a:t>A useful prioritization approach is:</a:t>
            </a:r>
          </a:p>
          <a:p>
            <a:endParaRPr lang="en-IN" dirty="0"/>
          </a:p>
        </p:txBody>
      </p:sp>
      <p:sp>
        <p:nvSpPr>
          <p:cNvPr id="4" name="Slide Number Placeholder 3">
            <a:extLst>
              <a:ext uri="{FF2B5EF4-FFF2-40B4-BE49-F238E27FC236}">
                <a16:creationId xmlns:a16="http://schemas.microsoft.com/office/drawing/2014/main" id="{465BE488-D1BC-3947-4467-21040A1E093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42</a:t>
            </a:fld>
            <a:endParaRPr lang="en-GB"/>
          </a:p>
        </p:txBody>
      </p:sp>
      <p:graphicFrame>
        <p:nvGraphicFramePr>
          <p:cNvPr id="5" name="Table 4">
            <a:extLst>
              <a:ext uri="{FF2B5EF4-FFF2-40B4-BE49-F238E27FC236}">
                <a16:creationId xmlns:a16="http://schemas.microsoft.com/office/drawing/2014/main" id="{55DF73B1-EABD-15CB-2CC6-787A86DADEBE}"/>
              </a:ext>
            </a:extLst>
          </p:cNvPr>
          <p:cNvGraphicFramePr>
            <a:graphicFrameLocks noGrp="1"/>
          </p:cNvGraphicFramePr>
          <p:nvPr>
            <p:extLst>
              <p:ext uri="{D42A27DB-BD31-4B8C-83A1-F6EECF244321}">
                <p14:modId xmlns:p14="http://schemas.microsoft.com/office/powerpoint/2010/main" val="2987401117"/>
              </p:ext>
            </p:extLst>
          </p:nvPr>
        </p:nvGraphicFramePr>
        <p:xfrm>
          <a:off x="1701559" y="1860856"/>
          <a:ext cx="9518841" cy="2560320"/>
        </p:xfrm>
        <a:graphic>
          <a:graphicData uri="http://schemas.openxmlformats.org/drawingml/2006/table">
            <a:tbl>
              <a:tblPr>
                <a:tableStyleId>{284E427A-3D55-4303-BF80-6455036E1DE7}</a:tableStyleId>
              </a:tblPr>
              <a:tblGrid>
                <a:gridCol w="1699259">
                  <a:extLst>
                    <a:ext uri="{9D8B030D-6E8A-4147-A177-3AD203B41FA5}">
                      <a16:colId xmlns:a16="http://schemas.microsoft.com/office/drawing/2014/main" val="2290002187"/>
                    </a:ext>
                  </a:extLst>
                </a:gridCol>
                <a:gridCol w="4277957">
                  <a:extLst>
                    <a:ext uri="{9D8B030D-6E8A-4147-A177-3AD203B41FA5}">
                      <a16:colId xmlns:a16="http://schemas.microsoft.com/office/drawing/2014/main" val="3869076488"/>
                    </a:ext>
                  </a:extLst>
                </a:gridCol>
                <a:gridCol w="3541625">
                  <a:extLst>
                    <a:ext uri="{9D8B030D-6E8A-4147-A177-3AD203B41FA5}">
                      <a16:colId xmlns:a16="http://schemas.microsoft.com/office/drawing/2014/main" val="3631809810"/>
                    </a:ext>
                  </a:extLst>
                </a:gridCol>
              </a:tblGrid>
              <a:tr h="304800">
                <a:tc>
                  <a:txBody>
                    <a:bodyPr/>
                    <a:lstStyle/>
                    <a:p>
                      <a:pPr>
                        <a:buNone/>
                      </a:pPr>
                      <a:r>
                        <a:rPr lang="en-IN" sz="2400" b="1" i="1">
                          <a:latin typeface="Times New Roman" panose="02020603050405020304" pitchFamily="18" charset="0"/>
                          <a:cs typeface="Times New Roman" panose="02020603050405020304" pitchFamily="18" charset="0"/>
                        </a:rPr>
                        <a:t>Priority</a:t>
                      </a:r>
                    </a:p>
                  </a:txBody>
                  <a:tcPr anchor="ctr"/>
                </a:tc>
                <a:tc>
                  <a:txBody>
                    <a:bodyPr/>
                    <a:lstStyle/>
                    <a:p>
                      <a:pPr>
                        <a:buNone/>
                      </a:pPr>
                      <a:r>
                        <a:rPr lang="en-IN" sz="2400" b="1" i="1">
                          <a:latin typeface="Times New Roman" panose="02020603050405020304" pitchFamily="18" charset="0"/>
                          <a:cs typeface="Times New Roman" panose="02020603050405020304" pitchFamily="18" charset="0"/>
                        </a:rPr>
                        <a:t>Description</a:t>
                      </a:r>
                    </a:p>
                  </a:txBody>
                  <a:tcPr anchor="ctr"/>
                </a:tc>
                <a:tc>
                  <a:txBody>
                    <a:bodyPr/>
                    <a:lstStyle/>
                    <a:p>
                      <a:pPr>
                        <a:buNone/>
                      </a:pPr>
                      <a:r>
                        <a:rPr lang="en-IN" sz="2400" b="1" i="1" dirty="0">
                          <a:latin typeface="Times New Roman" panose="02020603050405020304" pitchFamily="18" charset="0"/>
                          <a:cs typeface="Times New Roman" panose="02020603050405020304" pitchFamily="18" charset="0"/>
                        </a:rPr>
                        <a:t>Action</a:t>
                      </a:r>
                    </a:p>
                  </a:txBody>
                  <a:tcPr anchor="ctr"/>
                </a:tc>
                <a:extLst>
                  <a:ext uri="{0D108BD9-81ED-4DB2-BD59-A6C34878D82A}">
                    <a16:rowId xmlns:a16="http://schemas.microsoft.com/office/drawing/2014/main" val="1050110558"/>
                  </a:ext>
                </a:extLst>
              </a:tr>
              <a:tr h="518160">
                <a:tc>
                  <a:txBody>
                    <a:bodyPr/>
                    <a:lstStyle/>
                    <a:p>
                      <a:pPr>
                        <a:buNone/>
                      </a:pPr>
                      <a:r>
                        <a:rPr lang="en-IN" sz="2400">
                          <a:latin typeface="Times New Roman" panose="02020603050405020304" pitchFamily="18" charset="0"/>
                          <a:cs typeface="Times New Roman" panose="02020603050405020304" pitchFamily="18" charset="0"/>
                        </a:rPr>
                        <a:t>High</a:t>
                      </a:r>
                    </a:p>
                  </a:txBody>
                  <a:tcPr anchor="ctr"/>
                </a:tc>
                <a:tc>
                  <a:txBody>
                    <a:bodyPr/>
                    <a:lstStyle/>
                    <a:p>
                      <a:pPr>
                        <a:buNone/>
                      </a:pPr>
                      <a:r>
                        <a:rPr lang="en-US" sz="2400">
                          <a:latin typeface="Times New Roman" panose="02020603050405020304" pitchFamily="18" charset="0"/>
                          <a:cs typeface="Times New Roman" panose="02020603050405020304" pitchFamily="18" charset="0"/>
                        </a:rPr>
                        <a:t>Prevents users from completing important tasks</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Fix immediately</a:t>
                      </a:r>
                    </a:p>
                  </a:txBody>
                  <a:tcPr anchor="ctr"/>
                </a:tc>
                <a:extLst>
                  <a:ext uri="{0D108BD9-81ED-4DB2-BD59-A6C34878D82A}">
                    <a16:rowId xmlns:a16="http://schemas.microsoft.com/office/drawing/2014/main" val="1927999998"/>
                  </a:ext>
                </a:extLst>
              </a:tr>
              <a:tr h="304800">
                <a:tc>
                  <a:txBody>
                    <a:bodyPr/>
                    <a:lstStyle/>
                    <a:p>
                      <a:pPr>
                        <a:buNone/>
                      </a:pPr>
                      <a:r>
                        <a:rPr lang="en-IN" sz="2400">
                          <a:latin typeface="Times New Roman" panose="02020603050405020304" pitchFamily="18" charset="0"/>
                          <a:cs typeface="Times New Roman" panose="02020603050405020304" pitchFamily="18" charset="0"/>
                        </a:rPr>
                        <a:t>Medium</a:t>
                      </a:r>
                    </a:p>
                  </a:txBody>
                  <a:tcPr anchor="ctr"/>
                </a:tc>
                <a:tc>
                  <a:txBody>
                    <a:bodyPr/>
                    <a:lstStyle/>
                    <a:p>
                      <a:pPr>
                        <a:buNone/>
                      </a:pPr>
                      <a:r>
                        <a:rPr lang="en-US" sz="2400">
                          <a:latin typeface="Times New Roman" panose="02020603050405020304" pitchFamily="18" charset="0"/>
                          <a:cs typeface="Times New Roman" panose="02020603050405020304" pitchFamily="18" charset="0"/>
                        </a:rPr>
                        <a:t>Causes difficulty but users can continue</a:t>
                      </a:r>
                    </a:p>
                  </a:txBody>
                  <a:tcPr anchor="ctr"/>
                </a:tc>
                <a:tc>
                  <a:txBody>
                    <a:bodyPr/>
                    <a:lstStyle/>
                    <a:p>
                      <a:pPr>
                        <a:buNone/>
                      </a:pPr>
                      <a:r>
                        <a:rPr lang="en-IN" sz="2400">
                          <a:latin typeface="Times New Roman" panose="02020603050405020304" pitchFamily="18" charset="0"/>
                          <a:cs typeface="Times New Roman" panose="02020603050405020304" pitchFamily="18" charset="0"/>
                        </a:rPr>
                        <a:t>Improve</a:t>
                      </a:r>
                    </a:p>
                  </a:txBody>
                  <a:tcPr anchor="ctr"/>
                </a:tc>
                <a:extLst>
                  <a:ext uri="{0D108BD9-81ED-4DB2-BD59-A6C34878D82A}">
                    <a16:rowId xmlns:a16="http://schemas.microsoft.com/office/drawing/2014/main" val="391606705"/>
                  </a:ext>
                </a:extLst>
              </a:tr>
              <a:tr h="304800">
                <a:tc>
                  <a:txBody>
                    <a:bodyPr/>
                    <a:lstStyle/>
                    <a:p>
                      <a:pPr>
                        <a:buNone/>
                      </a:pPr>
                      <a:r>
                        <a:rPr lang="en-IN" sz="2400">
                          <a:latin typeface="Times New Roman" panose="02020603050405020304" pitchFamily="18" charset="0"/>
                          <a:cs typeface="Times New Roman" panose="02020603050405020304" pitchFamily="18" charset="0"/>
                        </a:rPr>
                        <a:t>Low</a:t>
                      </a:r>
                    </a:p>
                  </a:txBody>
                  <a:tcPr anchor="ctr"/>
                </a:tc>
                <a:tc>
                  <a:txBody>
                    <a:bodyPr/>
                    <a:lstStyle/>
                    <a:p>
                      <a:pPr>
                        <a:buNone/>
                      </a:pPr>
                      <a:r>
                        <a:rPr lang="en-IN" sz="2400">
                          <a:latin typeface="Times New Roman" panose="02020603050405020304" pitchFamily="18" charset="0"/>
                          <a:cs typeface="Times New Roman" panose="02020603050405020304" pitchFamily="18" charset="0"/>
                        </a:rPr>
                        <a:t>Minor inconvenience</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Consider later</a:t>
                      </a:r>
                    </a:p>
                  </a:txBody>
                  <a:tcPr anchor="ctr"/>
                </a:tc>
                <a:extLst>
                  <a:ext uri="{0D108BD9-81ED-4DB2-BD59-A6C34878D82A}">
                    <a16:rowId xmlns:a16="http://schemas.microsoft.com/office/drawing/2014/main" val="313541512"/>
                  </a:ext>
                </a:extLst>
              </a:tr>
            </a:tbl>
          </a:graphicData>
        </a:graphic>
      </p:graphicFrame>
    </p:spTree>
    <p:extLst>
      <p:ext uri="{BB962C8B-B14F-4D97-AF65-F5344CB8AC3E}">
        <p14:creationId xmlns:p14="http://schemas.microsoft.com/office/powerpoint/2010/main" val="30871623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307B5-836A-18A3-EAD1-98D9BF3CC351}"/>
              </a:ext>
            </a:extLst>
          </p:cNvPr>
          <p:cNvSpPr>
            <a:spLocks noGrp="1"/>
          </p:cNvSpPr>
          <p:nvPr>
            <p:ph type="title"/>
          </p:nvPr>
        </p:nvSpPr>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Iteration and Prototyping</a:t>
            </a:r>
          </a:p>
        </p:txBody>
      </p:sp>
      <p:sp>
        <p:nvSpPr>
          <p:cNvPr id="3" name="Text Placeholder 2">
            <a:extLst>
              <a:ext uri="{FF2B5EF4-FFF2-40B4-BE49-F238E27FC236}">
                <a16:creationId xmlns:a16="http://schemas.microsoft.com/office/drawing/2014/main" id="{60E88C39-FDAB-BD45-4BB1-834261AA5B30}"/>
              </a:ext>
            </a:extLst>
          </p:cNvPr>
          <p:cNvSpPr>
            <a:spLocks noGrp="1"/>
          </p:cNvSpPr>
          <p:nvPr>
            <p:ph type="body" idx="1"/>
          </p:nvPr>
        </p:nvSpPr>
        <p:spPr>
          <a:xfrm>
            <a:off x="415600" y="1419388"/>
            <a:ext cx="6456716" cy="4672200"/>
          </a:xfrm>
        </p:spPr>
        <p:txBody>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Prototyping and iteration are closely connected.</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prototype provides something that users can interact with.</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Without a prototype, designers often discuss ideas theoretically.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With a prototype, designers can ask:</a:t>
            </a:r>
          </a:p>
          <a:p>
            <a:pPr marL="50800" indent="0">
              <a:buNone/>
            </a:pPr>
            <a:r>
              <a:rPr lang="en-US" sz="2400" dirty="0">
                <a:latin typeface="Times New Roman" panose="02020603050405020304" pitchFamily="18" charset="0"/>
                <a:cs typeface="Times New Roman" panose="02020603050405020304" pitchFamily="18" charset="0"/>
              </a:rPr>
              <a:t>	"Show me what happens when you use it."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generates stronger evidence.</a:t>
            </a:r>
          </a:p>
          <a:p>
            <a:pPr>
              <a:buNone/>
            </a:pPr>
            <a:r>
              <a:rPr lang="en-US" sz="2400" b="1" dirty="0">
                <a:latin typeface="Times New Roman" panose="02020603050405020304" pitchFamily="18" charset="0"/>
                <a:cs typeface="Times New Roman" panose="02020603050405020304" pitchFamily="18" charset="0"/>
              </a:rPr>
              <a:t>		Prototype → Test → Learn → Improve</a:t>
            </a:r>
          </a:p>
          <a:p>
            <a:endParaRPr lang="en-IN" dirty="0"/>
          </a:p>
        </p:txBody>
      </p:sp>
      <p:sp>
        <p:nvSpPr>
          <p:cNvPr id="4" name="Slide Number Placeholder 3">
            <a:extLst>
              <a:ext uri="{FF2B5EF4-FFF2-40B4-BE49-F238E27FC236}">
                <a16:creationId xmlns:a16="http://schemas.microsoft.com/office/drawing/2014/main" id="{B961CA99-5A83-91D4-F2F1-D5D7C8B5D60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43</a:t>
            </a:fld>
            <a:endParaRPr lang="en-GB"/>
          </a:p>
        </p:txBody>
      </p:sp>
      <p:pic>
        <p:nvPicPr>
          <p:cNvPr id="5" name="Picture 4">
            <a:extLst>
              <a:ext uri="{FF2B5EF4-FFF2-40B4-BE49-F238E27FC236}">
                <a16:creationId xmlns:a16="http://schemas.microsoft.com/office/drawing/2014/main" id="{77FA68E9-21C1-D005-73E7-192F79D39132}"/>
              </a:ext>
            </a:extLst>
          </p:cNvPr>
          <p:cNvPicPr>
            <a:picLocks noChangeAspect="1"/>
          </p:cNvPicPr>
          <p:nvPr/>
        </p:nvPicPr>
        <p:blipFill>
          <a:blip r:embed="rId2"/>
          <a:stretch>
            <a:fillRect/>
          </a:stretch>
        </p:blipFill>
        <p:spPr>
          <a:xfrm>
            <a:off x="7561780" y="1274489"/>
            <a:ext cx="4523884" cy="4309022"/>
          </a:xfrm>
          <a:prstGeom prst="rect">
            <a:avLst/>
          </a:prstGeom>
        </p:spPr>
      </p:pic>
    </p:spTree>
    <p:extLst>
      <p:ext uri="{BB962C8B-B14F-4D97-AF65-F5344CB8AC3E}">
        <p14:creationId xmlns:p14="http://schemas.microsoft.com/office/powerpoint/2010/main" val="17252101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34D950D-540A-27E6-413D-021A87A59E0C}"/>
              </a:ext>
            </a:extLst>
          </p:cNvPr>
          <p:cNvSpPr>
            <a:spLocks noGrp="1"/>
          </p:cNvSpPr>
          <p:nvPr>
            <p:ph type="body" idx="1"/>
          </p:nvPr>
        </p:nvSpPr>
        <p:spPr>
          <a:xfrm>
            <a:off x="415600" y="452063"/>
            <a:ext cx="11360700" cy="5639525"/>
          </a:xfrm>
        </p:spPr>
        <p:txBody>
          <a:bodyPr/>
          <a:lstStyle/>
          <a:p>
            <a:pPr>
              <a:buNone/>
            </a:pPr>
            <a:r>
              <a:rPr lang="en-US" sz="2400" b="1" dirty="0">
                <a:latin typeface="Times New Roman" panose="02020603050405020304" pitchFamily="18" charset="0"/>
                <a:cs typeface="Times New Roman" panose="02020603050405020304" pitchFamily="18" charset="0"/>
              </a:rPr>
              <a:t>Example: Designing a College Student App</a:t>
            </a:r>
          </a:p>
          <a:p>
            <a:pPr>
              <a:buNone/>
            </a:pPr>
            <a:r>
              <a:rPr lang="en-US" sz="2400" dirty="0">
                <a:latin typeface="Times New Roman" panose="02020603050405020304" pitchFamily="18" charset="0"/>
                <a:cs typeface="Times New Roman" panose="02020603050405020304" pitchFamily="18" charset="0"/>
              </a:rPr>
              <a:t>Consider a design team developing an app for college students.</a:t>
            </a:r>
          </a:p>
          <a:p>
            <a:pPr>
              <a:buNone/>
            </a:pPr>
            <a:r>
              <a:rPr lang="en-US" sz="2400" b="1" dirty="0">
                <a:latin typeface="Times New Roman" panose="02020603050405020304" pitchFamily="18" charset="0"/>
                <a:cs typeface="Times New Roman" panose="02020603050405020304" pitchFamily="18" charset="0"/>
              </a:rPr>
              <a:t>Problem</a:t>
            </a:r>
          </a:p>
          <a:p>
            <a:pPr>
              <a:buNone/>
            </a:pPr>
            <a:r>
              <a:rPr lang="en-US" sz="2400" dirty="0">
                <a:latin typeface="Times New Roman" panose="02020603050405020304" pitchFamily="18" charset="0"/>
                <a:cs typeface="Times New Roman" panose="02020603050405020304" pitchFamily="18" charset="0"/>
              </a:rPr>
              <a:t>Students have difficulty finding information about classes, events, and assignments.</a:t>
            </a:r>
          </a:p>
          <a:p>
            <a:pPr>
              <a:buNone/>
            </a:pPr>
            <a:r>
              <a:rPr lang="en-US" sz="2400" b="1" dirty="0">
                <a:latin typeface="Times New Roman" panose="02020603050405020304" pitchFamily="18" charset="0"/>
                <a:cs typeface="Times New Roman" panose="02020603050405020304" pitchFamily="18" charset="0"/>
              </a:rPr>
              <a:t>First prototype</a:t>
            </a:r>
          </a:p>
          <a:p>
            <a:pPr>
              <a:buNone/>
            </a:pPr>
            <a:r>
              <a:rPr lang="en-US" sz="2400" dirty="0">
                <a:latin typeface="Times New Roman" panose="02020603050405020304" pitchFamily="18" charset="0"/>
                <a:cs typeface="Times New Roman" panose="02020603050405020304" pitchFamily="18" charset="0"/>
              </a:rPr>
              <a:t>The team creates a simple mobile interface.</a:t>
            </a:r>
          </a:p>
          <a:p>
            <a:pPr>
              <a:buNone/>
            </a:pPr>
            <a:r>
              <a:rPr lang="en-US" sz="2400" b="1" dirty="0">
                <a:latin typeface="Times New Roman" panose="02020603050405020304" pitchFamily="18" charset="0"/>
                <a:cs typeface="Times New Roman" panose="02020603050405020304" pitchFamily="18" charset="0"/>
              </a:rPr>
              <a:t>Testing</a:t>
            </a:r>
          </a:p>
          <a:p>
            <a:pPr>
              <a:buNone/>
            </a:pPr>
            <a:r>
              <a:rPr lang="en-US" sz="2400" dirty="0">
                <a:latin typeface="Times New Roman" panose="02020603050405020304" pitchFamily="18" charset="0"/>
                <a:cs typeface="Times New Roman" panose="02020603050405020304" pitchFamily="18" charset="0"/>
              </a:rPr>
              <a:t>Students attempt to:</a:t>
            </a:r>
          </a:p>
          <a:p>
            <a:pPr>
              <a:buSzPct val="90000"/>
              <a:buFont typeface="+mj-lt"/>
              <a:buAutoNum type="arabicPeriod"/>
            </a:pPr>
            <a:r>
              <a:rPr lang="en-US" sz="2400" dirty="0">
                <a:latin typeface="Times New Roman" panose="02020603050405020304" pitchFamily="18" charset="0"/>
                <a:cs typeface="Times New Roman" panose="02020603050405020304" pitchFamily="18" charset="0"/>
              </a:rPr>
              <a:t>Find today's timetable. </a:t>
            </a:r>
          </a:p>
          <a:p>
            <a:pPr>
              <a:buSzPct val="90000"/>
              <a:buFont typeface="+mj-lt"/>
              <a:buAutoNum type="arabicPeriod"/>
            </a:pPr>
            <a:r>
              <a:rPr lang="en-US" sz="2400" dirty="0">
                <a:latin typeface="Times New Roman" panose="02020603050405020304" pitchFamily="18" charset="0"/>
                <a:cs typeface="Times New Roman" panose="02020603050405020304" pitchFamily="18" charset="0"/>
              </a:rPr>
              <a:t>Locate an assignment deadline. </a:t>
            </a:r>
          </a:p>
          <a:p>
            <a:pPr>
              <a:buSzPct val="90000"/>
              <a:buFont typeface="+mj-lt"/>
              <a:buAutoNum type="arabicPeriod"/>
            </a:pPr>
            <a:r>
              <a:rPr lang="en-US" sz="2400" dirty="0">
                <a:latin typeface="Times New Roman" panose="02020603050405020304" pitchFamily="18" charset="0"/>
                <a:cs typeface="Times New Roman" panose="02020603050405020304" pitchFamily="18" charset="0"/>
              </a:rPr>
              <a:t>Find a college event.</a:t>
            </a:r>
          </a:p>
          <a:p>
            <a:endParaRPr lang="en-IN" dirty="0"/>
          </a:p>
        </p:txBody>
      </p:sp>
      <p:sp>
        <p:nvSpPr>
          <p:cNvPr id="4" name="Slide Number Placeholder 3">
            <a:extLst>
              <a:ext uri="{FF2B5EF4-FFF2-40B4-BE49-F238E27FC236}">
                <a16:creationId xmlns:a16="http://schemas.microsoft.com/office/drawing/2014/main" id="{CFC02C6E-782E-9443-F1EB-7758E1D56F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44</a:t>
            </a:fld>
            <a:endParaRPr lang="en-GB"/>
          </a:p>
        </p:txBody>
      </p:sp>
    </p:spTree>
    <p:extLst>
      <p:ext uri="{BB962C8B-B14F-4D97-AF65-F5344CB8AC3E}">
        <p14:creationId xmlns:p14="http://schemas.microsoft.com/office/powerpoint/2010/main" val="3763227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98D9B81-2249-B6C5-54AC-62E3AC2789A9}"/>
              </a:ext>
            </a:extLst>
          </p:cNvPr>
          <p:cNvSpPr>
            <a:spLocks noGrp="1"/>
          </p:cNvSpPr>
          <p:nvPr>
            <p:ph type="body" idx="1"/>
          </p:nvPr>
        </p:nvSpPr>
        <p:spPr>
          <a:xfrm>
            <a:off x="415650" y="208264"/>
            <a:ext cx="11360700" cy="6287784"/>
          </a:xfrm>
        </p:spPr>
        <p:txBody>
          <a:bodyPr/>
          <a:lstStyle/>
          <a:p>
            <a:pPr>
              <a:buNone/>
            </a:pPr>
            <a:r>
              <a:rPr lang="en-US" sz="2200" b="1" dirty="0">
                <a:latin typeface="Times New Roman" panose="02020603050405020304" pitchFamily="18" charset="0"/>
                <a:cs typeface="Times New Roman" panose="02020603050405020304" pitchFamily="18" charset="0"/>
              </a:rPr>
              <a:t>Findings</a:t>
            </a:r>
          </a:p>
          <a:p>
            <a:pPr>
              <a:buNone/>
            </a:pPr>
            <a:r>
              <a:rPr lang="en-US" sz="2200" dirty="0">
                <a:latin typeface="Times New Roman" panose="02020603050405020304" pitchFamily="18" charset="0"/>
                <a:cs typeface="Times New Roman" panose="02020603050405020304" pitchFamily="18" charset="0"/>
              </a:rPr>
              <a:t>Students successfully find events but struggle to locate assignments.</a:t>
            </a:r>
          </a:p>
          <a:p>
            <a:pPr>
              <a:buNone/>
            </a:pPr>
            <a:r>
              <a:rPr lang="en-US" sz="2200" b="1" dirty="0">
                <a:latin typeface="Times New Roman" panose="02020603050405020304" pitchFamily="18" charset="0"/>
                <a:cs typeface="Times New Roman" panose="02020603050405020304" pitchFamily="18" charset="0"/>
              </a:rPr>
              <a:t>Feedback</a:t>
            </a:r>
          </a:p>
          <a:p>
            <a:pPr>
              <a:buNone/>
            </a:pPr>
            <a:r>
              <a:rPr lang="en-US" sz="2200" dirty="0">
                <a:latin typeface="Times New Roman" panose="02020603050405020304" pitchFamily="18" charset="0"/>
                <a:cs typeface="Times New Roman" panose="02020603050405020304" pitchFamily="18" charset="0"/>
              </a:rPr>
              <a:t>Students say: "Assignments should be visible directly on the home screen."</a:t>
            </a:r>
          </a:p>
          <a:p>
            <a:pPr>
              <a:buNone/>
            </a:pPr>
            <a:r>
              <a:rPr lang="en-US" sz="2200" b="1" dirty="0">
                <a:latin typeface="Times New Roman" panose="02020603050405020304" pitchFamily="18" charset="0"/>
                <a:cs typeface="Times New Roman" panose="02020603050405020304" pitchFamily="18" charset="0"/>
              </a:rPr>
              <a:t>Refinement</a:t>
            </a:r>
          </a:p>
          <a:p>
            <a:pPr>
              <a:buNone/>
            </a:pPr>
            <a:r>
              <a:rPr lang="en-US" sz="2200" dirty="0">
                <a:latin typeface="Times New Roman" panose="02020603050405020304" pitchFamily="18" charset="0"/>
                <a:cs typeface="Times New Roman" panose="02020603050405020304" pitchFamily="18" charset="0"/>
              </a:rPr>
              <a:t>The designers add an </a:t>
            </a:r>
            <a:r>
              <a:rPr lang="en-US" sz="2200" b="1" dirty="0">
                <a:latin typeface="Times New Roman" panose="02020603050405020304" pitchFamily="18" charset="0"/>
                <a:cs typeface="Times New Roman" panose="02020603050405020304" pitchFamily="18" charset="0"/>
              </a:rPr>
              <a:t>Upcoming Assignments</a:t>
            </a:r>
            <a:r>
              <a:rPr lang="en-US" sz="2200" dirty="0">
                <a:latin typeface="Times New Roman" panose="02020603050405020304" pitchFamily="18" charset="0"/>
                <a:cs typeface="Times New Roman" panose="02020603050405020304" pitchFamily="18" charset="0"/>
              </a:rPr>
              <a:t> section to the home screen.</a:t>
            </a:r>
          </a:p>
          <a:p>
            <a:pPr>
              <a:buNone/>
            </a:pPr>
            <a:r>
              <a:rPr lang="en-US" sz="2200" b="1" dirty="0">
                <a:latin typeface="Times New Roman" panose="02020603050405020304" pitchFamily="18" charset="0"/>
                <a:cs typeface="Times New Roman" panose="02020603050405020304" pitchFamily="18" charset="0"/>
              </a:rPr>
              <a:t>Second test</a:t>
            </a:r>
          </a:p>
          <a:p>
            <a:pPr>
              <a:buNone/>
            </a:pPr>
            <a:r>
              <a:rPr lang="en-US" sz="2200" dirty="0">
                <a:latin typeface="Times New Roman" panose="02020603050405020304" pitchFamily="18" charset="0"/>
                <a:cs typeface="Times New Roman" panose="02020603050405020304" pitchFamily="18" charset="0"/>
              </a:rPr>
              <a:t>	Students locate assignments more quickly.</a:t>
            </a:r>
          </a:p>
          <a:p>
            <a:pPr>
              <a:buNone/>
            </a:pPr>
            <a:r>
              <a:rPr lang="en-US" sz="2200" b="1" dirty="0">
                <a:latin typeface="Times New Roman" panose="02020603050405020304" pitchFamily="18" charset="0"/>
                <a:cs typeface="Times New Roman" panose="02020603050405020304" pitchFamily="18" charset="0"/>
              </a:rPr>
              <a:t>Further feedback</a:t>
            </a:r>
          </a:p>
          <a:p>
            <a:pPr>
              <a:buNone/>
            </a:pPr>
            <a:r>
              <a:rPr lang="en-US" sz="2200" dirty="0">
                <a:latin typeface="Times New Roman" panose="02020603050405020304" pitchFamily="18" charset="0"/>
                <a:cs typeface="Times New Roman" panose="02020603050405020304" pitchFamily="18" charset="0"/>
              </a:rPr>
              <a:t>	Students request notifications for approaching deadlines.</a:t>
            </a:r>
          </a:p>
          <a:p>
            <a:pPr>
              <a:buNone/>
            </a:pPr>
            <a:r>
              <a:rPr lang="en-US" sz="2200" b="1" dirty="0">
                <a:latin typeface="Times New Roman" panose="02020603050405020304" pitchFamily="18" charset="0"/>
                <a:cs typeface="Times New Roman" panose="02020603050405020304" pitchFamily="18" charset="0"/>
              </a:rPr>
              <a:t>Second refinement</a:t>
            </a:r>
          </a:p>
          <a:p>
            <a:pPr>
              <a:buNone/>
            </a:pPr>
            <a:r>
              <a:rPr lang="en-US" sz="2200" dirty="0">
                <a:latin typeface="Times New Roman" panose="02020603050405020304" pitchFamily="18" charset="0"/>
                <a:cs typeface="Times New Roman" panose="02020603050405020304" pitchFamily="18" charset="0"/>
              </a:rPr>
              <a:t>	The team introduces deadline notifications.</a:t>
            </a:r>
          </a:p>
          <a:p>
            <a:pPr>
              <a:buNone/>
            </a:pPr>
            <a:r>
              <a:rPr lang="en-IN" sz="2200" dirty="0">
                <a:latin typeface="Times New Roman" panose="02020603050405020304" pitchFamily="18" charset="0"/>
                <a:cs typeface="Times New Roman" panose="02020603050405020304" pitchFamily="18" charset="0"/>
              </a:rPr>
              <a:t>This creates another iteration.</a:t>
            </a:r>
          </a:p>
          <a:p>
            <a:pPr>
              <a:buNone/>
            </a:pPr>
            <a:r>
              <a:rPr lang="en-IN" sz="2200" b="1" dirty="0">
                <a:latin typeface="Times New Roman" panose="02020603050405020304" pitchFamily="18" charset="0"/>
                <a:cs typeface="Times New Roman" panose="02020603050405020304" pitchFamily="18" charset="0"/>
              </a:rPr>
              <a:t>Iteration 1:</a:t>
            </a:r>
            <a:endParaRPr lang="en-IN" sz="2200" dirty="0">
              <a:latin typeface="Times New Roman" panose="02020603050405020304" pitchFamily="18" charset="0"/>
              <a:cs typeface="Times New Roman" panose="02020603050405020304" pitchFamily="18" charset="0"/>
            </a:endParaRPr>
          </a:p>
          <a:p>
            <a:pPr>
              <a:buNone/>
            </a:pPr>
            <a:r>
              <a:rPr lang="en-IN" sz="2200" dirty="0">
                <a:latin typeface="Times New Roman" panose="02020603050405020304" pitchFamily="18" charset="0"/>
                <a:cs typeface="Times New Roman" panose="02020603050405020304" pitchFamily="18" charset="0"/>
              </a:rPr>
              <a:t>	Prototype → Test → Feedback → Improve</a:t>
            </a:r>
          </a:p>
          <a:p>
            <a:pPr>
              <a:buNone/>
            </a:pPr>
            <a:r>
              <a:rPr lang="en-IN" sz="2200" b="1" dirty="0">
                <a:latin typeface="Times New Roman" panose="02020603050405020304" pitchFamily="18" charset="0"/>
                <a:cs typeface="Times New Roman" panose="02020603050405020304" pitchFamily="18" charset="0"/>
              </a:rPr>
              <a:t>Iteration 2:</a:t>
            </a:r>
            <a:endParaRPr lang="en-IN" sz="2200" dirty="0">
              <a:latin typeface="Times New Roman" panose="02020603050405020304" pitchFamily="18" charset="0"/>
              <a:cs typeface="Times New Roman" panose="02020603050405020304" pitchFamily="18" charset="0"/>
            </a:endParaRPr>
          </a:p>
          <a:p>
            <a:pPr>
              <a:buNone/>
            </a:pPr>
            <a:r>
              <a:rPr lang="en-IN" sz="2200" dirty="0">
                <a:latin typeface="Times New Roman" panose="02020603050405020304" pitchFamily="18" charset="0"/>
                <a:cs typeface="Times New Roman" panose="02020603050405020304" pitchFamily="18" charset="0"/>
              </a:rPr>
              <a:t>	Improved prototype → Test → Feedback → Improve</a:t>
            </a:r>
          </a:p>
          <a:p>
            <a:endParaRPr lang="en-IN" dirty="0"/>
          </a:p>
        </p:txBody>
      </p:sp>
      <p:sp>
        <p:nvSpPr>
          <p:cNvPr id="4" name="Slide Number Placeholder 3">
            <a:extLst>
              <a:ext uri="{FF2B5EF4-FFF2-40B4-BE49-F238E27FC236}">
                <a16:creationId xmlns:a16="http://schemas.microsoft.com/office/drawing/2014/main" id="{18E79853-157F-A3BF-B6B7-C281599FAB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45</a:t>
            </a:fld>
            <a:endParaRPr lang="en-GB"/>
          </a:p>
        </p:txBody>
      </p:sp>
    </p:spTree>
    <p:extLst>
      <p:ext uri="{BB962C8B-B14F-4D97-AF65-F5344CB8AC3E}">
        <p14:creationId xmlns:p14="http://schemas.microsoft.com/office/powerpoint/2010/main" val="20115246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060CA-E6F5-42BB-9E38-BADD7EC5721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Activity</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1598FB79-BBE2-8316-8893-2C6EB84A5ED6}"/>
              </a:ext>
            </a:extLst>
          </p:cNvPr>
          <p:cNvSpPr>
            <a:spLocks noGrp="1"/>
          </p:cNvSpPr>
          <p:nvPr>
            <p:ph type="body" idx="1"/>
          </p:nvPr>
        </p:nvSpPr>
        <p:spPr/>
        <p:txBody>
          <a:bodyPr/>
          <a:lstStyle/>
          <a:p>
            <a:pPr>
              <a:buNone/>
            </a:pPr>
            <a:r>
              <a:rPr lang="en-US" sz="2400" b="1" dirty="0">
                <a:latin typeface="Times New Roman" panose="02020603050405020304" pitchFamily="18" charset="0"/>
                <a:cs typeface="Times New Roman" panose="02020603050405020304" pitchFamily="18" charset="0"/>
              </a:rPr>
              <a:t>Physical Product Design</a:t>
            </a:r>
          </a:p>
          <a:p>
            <a:pPr>
              <a:buNone/>
            </a:pPr>
            <a:r>
              <a:rPr lang="en-US" sz="2400" dirty="0">
                <a:latin typeface="Times New Roman" panose="02020603050405020304" pitchFamily="18" charset="0"/>
                <a:cs typeface="Times New Roman" panose="02020603050405020304" pitchFamily="18" charset="0"/>
              </a:rPr>
              <a:t>Suppose a company is designing a reusable water bottle.</a:t>
            </a:r>
          </a:p>
          <a:p>
            <a:pPr>
              <a:buNone/>
            </a:pPr>
            <a:endParaRPr lang="en-US" sz="2400" dirty="0">
              <a:latin typeface="Times New Roman" panose="02020603050405020304" pitchFamily="18" charset="0"/>
              <a:cs typeface="Times New Roman" panose="02020603050405020304" pitchFamily="18" charset="0"/>
            </a:endParaRP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Website Design</a:t>
            </a:r>
          </a:p>
          <a:p>
            <a:pPr>
              <a:buNone/>
            </a:pPr>
            <a:r>
              <a:rPr lang="en-US" sz="2400" b="1" dirty="0">
                <a:latin typeface="Times New Roman" panose="02020603050405020304" pitchFamily="18" charset="0"/>
                <a:cs typeface="Times New Roman" panose="02020603050405020304" pitchFamily="18" charset="0"/>
              </a:rPr>
              <a:t>Initial assumption</a:t>
            </a:r>
          </a:p>
          <a:p>
            <a:pPr>
              <a:buNone/>
            </a:pPr>
            <a:r>
              <a:rPr lang="en-US" sz="2400" dirty="0">
                <a:latin typeface="Times New Roman" panose="02020603050405020304" pitchFamily="18" charset="0"/>
                <a:cs typeface="Times New Roman" panose="02020603050405020304" pitchFamily="18" charset="0"/>
              </a:rPr>
              <a:t>Users want many navigation options.</a:t>
            </a:r>
          </a:p>
          <a:p>
            <a:pPr>
              <a:buNone/>
            </a:pPr>
            <a:endParaRPr lang="en-US" sz="24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E74C7E56-9EBA-1CE4-A170-344E138436D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46</a:t>
            </a:fld>
            <a:endParaRPr lang="en-GB"/>
          </a:p>
        </p:txBody>
      </p:sp>
    </p:spTree>
    <p:extLst>
      <p:ext uri="{BB962C8B-B14F-4D97-AF65-F5344CB8AC3E}">
        <p14:creationId xmlns:p14="http://schemas.microsoft.com/office/powerpoint/2010/main" val="19279838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1B4F8-0D6B-75C8-3649-BAFD78B2C56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F789FEF-44F0-8876-1011-EBB2C04DA72C}"/>
              </a:ext>
            </a:extLst>
          </p:cNvPr>
          <p:cNvSpPr>
            <a:spLocks noGrp="1"/>
          </p:cNvSpPr>
          <p:nvPr>
            <p:ph type="body" idx="1"/>
          </p:nvPr>
        </p:nvSpPr>
        <p:spPr>
          <a:xfrm>
            <a:off x="697127" y="410967"/>
            <a:ext cx="10797745" cy="5856269"/>
          </a:xfrm>
        </p:spPr>
        <p:txBody>
          <a:bodyPr/>
          <a:lstStyle/>
          <a:p>
            <a:pPr marL="50800" indent="0">
              <a:spcAft>
                <a:spcPts val="1200"/>
              </a:spcAft>
              <a:buNone/>
            </a:pPr>
            <a:r>
              <a:rPr lang="en-US" sz="3200" b="1" dirty="0">
                <a:latin typeface="Times New Roman" panose="02020603050405020304" pitchFamily="18" charset="0"/>
                <a:cs typeface="Times New Roman" panose="02020603050405020304" pitchFamily="18" charset="0"/>
              </a:rPr>
              <a:t>UNIT-4: </a:t>
            </a:r>
            <a:r>
              <a:rPr lang="en-IN" sz="3200" b="1" dirty="0">
                <a:effectLst/>
                <a:latin typeface="Book Antiqua" panose="02040602050305030304" pitchFamily="18" charset="0"/>
                <a:ea typeface="Book Antiqua" panose="02040602050305030304" pitchFamily="18" charset="0"/>
                <a:cs typeface="Book Antiqua" panose="02040602050305030304" pitchFamily="18" charset="0"/>
              </a:rPr>
              <a:t>Prototype &amp; Test – Iterative Design</a:t>
            </a:r>
            <a:endParaRPr lang="en-US" sz="3200" b="1" dirty="0">
              <a:latin typeface="Times New Roman" panose="02020603050405020304" pitchFamily="18" charset="0"/>
              <a:cs typeface="Times New Roman" panose="02020603050405020304" pitchFamily="18" charset="0"/>
            </a:endParaRPr>
          </a:p>
          <a:p>
            <a:pPr algn="l">
              <a:lnSpc>
                <a:spcPct val="115000"/>
              </a:lnSpc>
              <a:spcAft>
                <a:spcPts val="800"/>
              </a:spcAft>
              <a:buNone/>
            </a:pPr>
            <a:r>
              <a:rPr lang="en-IN" sz="2800" b="1" i="1" kern="100" dirty="0">
                <a:effectLst/>
                <a:latin typeface="Times New Roman" panose="02020603050405020304" pitchFamily="18" charset="0"/>
                <a:ea typeface="Book Antiqua" panose="02040602050305030304" pitchFamily="18" charset="0"/>
                <a:cs typeface="Times New Roman" panose="02020603050405020304" pitchFamily="18" charset="0"/>
              </a:rPr>
              <a:t>Syllabus</a:t>
            </a:r>
          </a:p>
          <a:p>
            <a:pPr marL="50800" indent="0" algn="just">
              <a:lnSpc>
                <a:spcPct val="115000"/>
              </a:lnSpc>
              <a:spcAft>
                <a:spcPts val="800"/>
              </a:spcAft>
              <a:buNone/>
            </a:pPr>
            <a:r>
              <a:rPr lang="en-IN" sz="2800" b="1" dirty="0">
                <a:solidFill>
                  <a:schemeClr val="tx1"/>
                </a:solidFill>
                <a:effectLst/>
                <a:latin typeface="Times New Roman" panose="02020603050405020304" pitchFamily="18" charset="0"/>
                <a:ea typeface="Book Antiqua" panose="02040602050305030304" pitchFamily="18" charset="0"/>
                <a:cs typeface="Times New Roman" panose="02020603050405020304" pitchFamily="18" charset="0"/>
              </a:rPr>
              <a:t>Creating prototypes </a:t>
            </a:r>
            <a:r>
              <a:rPr lang="en-IN" sz="2800" dirty="0">
                <a:solidFill>
                  <a:schemeClr val="tx1"/>
                </a:solidFill>
                <a:effectLst/>
                <a:latin typeface="Times New Roman" panose="02020603050405020304" pitchFamily="18" charset="0"/>
                <a:ea typeface="Book Antiqua" panose="02040602050305030304" pitchFamily="18" charset="0"/>
                <a:cs typeface="Times New Roman" panose="02020603050405020304" pitchFamily="18" charset="0"/>
              </a:rPr>
              <a:t>to visualize and communicate solutions.</a:t>
            </a:r>
          </a:p>
          <a:p>
            <a:pPr marL="50800" indent="0" algn="just">
              <a:lnSpc>
                <a:spcPct val="115000"/>
              </a:lnSpc>
              <a:spcAft>
                <a:spcPts val="800"/>
              </a:spcAft>
              <a:buNone/>
            </a:pPr>
            <a:r>
              <a:rPr lang="en-IN" sz="2800" b="1" dirty="0">
                <a:solidFill>
                  <a:schemeClr val="tx1"/>
                </a:solidFill>
                <a:effectLst/>
                <a:latin typeface="Times New Roman" panose="02020603050405020304" pitchFamily="18" charset="0"/>
                <a:ea typeface="Book Antiqua" panose="02040602050305030304" pitchFamily="18" charset="0"/>
                <a:cs typeface="Times New Roman" panose="02020603050405020304" pitchFamily="18" charset="0"/>
              </a:rPr>
              <a:t>Iterative design process</a:t>
            </a:r>
            <a:r>
              <a:rPr lang="en-IN" sz="2800" dirty="0">
                <a:solidFill>
                  <a:schemeClr val="tx1"/>
                </a:solidFill>
                <a:effectLst/>
                <a:latin typeface="Times New Roman" panose="02020603050405020304" pitchFamily="18" charset="0"/>
                <a:ea typeface="Book Antiqua" panose="02040602050305030304" pitchFamily="18" charset="0"/>
                <a:cs typeface="Times New Roman" panose="02020603050405020304" pitchFamily="18" charset="0"/>
              </a:rPr>
              <a:t>: Testing, feedback, and refinement. </a:t>
            </a:r>
          </a:p>
          <a:p>
            <a:pPr marL="50800" indent="0" algn="just">
              <a:lnSpc>
                <a:spcPct val="115000"/>
              </a:lnSpc>
              <a:spcAft>
                <a:spcPts val="800"/>
              </a:spcAft>
              <a:buNone/>
            </a:pPr>
            <a:r>
              <a:rPr lang="en-IN" sz="2800" b="1" dirty="0">
                <a:solidFill>
                  <a:srgbClr val="C00000"/>
                </a:solidFill>
                <a:effectLst/>
                <a:latin typeface="Times New Roman" panose="02020603050405020304" pitchFamily="18" charset="0"/>
                <a:ea typeface="Book Antiqua" panose="02040602050305030304" pitchFamily="18" charset="0"/>
                <a:cs typeface="Times New Roman" panose="02020603050405020304" pitchFamily="18" charset="0"/>
              </a:rPr>
              <a:t>Rapid prototyping techniques</a:t>
            </a:r>
            <a:r>
              <a:rPr lang="en-IN" sz="2800" dirty="0">
                <a:solidFill>
                  <a:srgbClr val="C00000"/>
                </a:solidFill>
                <a:effectLst/>
                <a:latin typeface="Times New Roman" panose="02020603050405020304" pitchFamily="18" charset="0"/>
                <a:ea typeface="Book Antiqua" panose="02040602050305030304" pitchFamily="18" charset="0"/>
                <a:cs typeface="Times New Roman" panose="02020603050405020304" pitchFamily="18" charset="0"/>
              </a:rPr>
              <a:t>: Paper prototypes, digital mock-ups, and wireframes. </a:t>
            </a:r>
          </a:p>
          <a:p>
            <a:pPr marL="50800" indent="0" algn="just">
              <a:lnSpc>
                <a:spcPct val="115000"/>
              </a:lnSpc>
              <a:spcAft>
                <a:spcPts val="800"/>
              </a:spcAft>
              <a:buNone/>
            </a:pPr>
            <a:r>
              <a:rPr lang="en-IN" sz="2800" b="1" dirty="0">
                <a:solidFill>
                  <a:srgbClr val="C00000"/>
                </a:solidFill>
                <a:effectLst/>
                <a:latin typeface="Times New Roman" panose="02020603050405020304" pitchFamily="18" charset="0"/>
                <a:ea typeface="Book Antiqua" panose="02040602050305030304" pitchFamily="18" charset="0"/>
                <a:cs typeface="Times New Roman" panose="02020603050405020304" pitchFamily="18" charset="0"/>
              </a:rPr>
              <a:t>Conducting user testing and incorporating feedback </a:t>
            </a:r>
            <a:r>
              <a:rPr lang="en-IN" sz="2800" dirty="0">
                <a:solidFill>
                  <a:srgbClr val="C00000"/>
                </a:solidFill>
                <a:effectLst/>
                <a:latin typeface="Times New Roman" panose="02020603050405020304" pitchFamily="18" charset="0"/>
                <a:ea typeface="Book Antiqua" panose="02040602050305030304" pitchFamily="18" charset="0"/>
                <a:cs typeface="Times New Roman" panose="02020603050405020304" pitchFamily="18" charset="0"/>
              </a:rPr>
              <a:t>for design improvement.</a:t>
            </a:r>
            <a:endParaRPr lang="en-US" kern="100" dirty="0">
              <a:solidFill>
                <a:srgbClr val="C00000"/>
              </a:solidFill>
              <a:effectLst/>
              <a:latin typeface="Times New Roman" panose="02020603050405020304" pitchFamily="18" charset="0"/>
              <a:ea typeface="Book Antiqua" panose="02040602050305030304" pitchFamily="18" charset="0"/>
              <a:cs typeface="Times New Roman" panose="02020603050405020304" pitchFamily="18" charset="0"/>
            </a:endParaRPr>
          </a:p>
          <a:p>
            <a:pPr algn="l">
              <a:lnSpc>
                <a:spcPct val="115000"/>
              </a:lnSpc>
              <a:spcAft>
                <a:spcPts val="800"/>
              </a:spcAft>
              <a:buNone/>
            </a:pPr>
            <a:endParaRPr lang="en-US" dirty="0"/>
          </a:p>
        </p:txBody>
      </p:sp>
      <p:sp>
        <p:nvSpPr>
          <p:cNvPr id="4" name="Slide Number Placeholder 3">
            <a:extLst>
              <a:ext uri="{FF2B5EF4-FFF2-40B4-BE49-F238E27FC236}">
                <a16:creationId xmlns:a16="http://schemas.microsoft.com/office/drawing/2014/main" id="{D61B28B9-2DB5-6AB3-656A-39231579516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47</a:t>
            </a:fld>
            <a:endParaRPr lang="en-GB"/>
          </a:p>
        </p:txBody>
      </p:sp>
    </p:spTree>
    <p:extLst>
      <p:ext uri="{BB962C8B-B14F-4D97-AF65-F5344CB8AC3E}">
        <p14:creationId xmlns:p14="http://schemas.microsoft.com/office/powerpoint/2010/main" val="27906585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6064D-7558-D4B7-EAE5-84CAD8F8EABC}"/>
              </a:ext>
            </a:extLst>
          </p:cNvPr>
          <p:cNvSpPr>
            <a:spLocks noGrp="1"/>
          </p:cNvSpPr>
          <p:nvPr>
            <p:ph type="title"/>
          </p:nvPr>
        </p:nvSpPr>
        <p:spPr>
          <a:xfrm>
            <a:off x="415600" y="276010"/>
            <a:ext cx="11360700" cy="763500"/>
          </a:xfrm>
        </p:spPr>
        <p:txBody>
          <a:bodyPr/>
          <a:lstStyle/>
          <a:p>
            <a:pPr marL="50800" marR="0" lvl="0" defTabSz="914400" rtl="0" eaLnBrk="1" fontAlgn="auto" latinLnBrk="0" hangingPunct="1">
              <a:lnSpc>
                <a:spcPct val="100000"/>
              </a:lnSpc>
              <a:spcBef>
                <a:spcPts val="0"/>
              </a:spcBef>
              <a:spcAft>
                <a:spcPts val="0"/>
              </a:spcAft>
              <a:buClr>
                <a:srgbClr val="0066FF"/>
              </a:buClr>
              <a:tabLst/>
              <a:defRPr/>
            </a:pPr>
            <a:r>
              <a:rPr kumimoji="0" lang="en-US" sz="2800" b="1" i="0" u="none" strike="noStrike" kern="100" cap="none" spc="0" normalizeH="0" baseline="0" noProof="0" dirty="0">
                <a:ln>
                  <a:noFill/>
                </a:ln>
                <a:solidFill>
                  <a:srgbClr val="0066FF"/>
                </a:solidFill>
                <a:effectLst/>
                <a:uLnTx/>
                <a:uFillTx/>
                <a:latin typeface="Times New Roman" panose="02020603050405020304" pitchFamily="18" charset="0"/>
                <a:ea typeface="Book Antiqua" panose="02040602050305030304" pitchFamily="18" charset="0"/>
                <a:cs typeface="Times New Roman" panose="02020603050405020304" pitchFamily="18" charset="0"/>
                <a:sym typeface="IBM Plex Sans Condensed"/>
              </a:rPr>
              <a:t>I.</a:t>
            </a:r>
            <a:r>
              <a:rPr kumimoji="0" lang="en-US" sz="2800" b="1" i="0" u="none" strike="noStrike" kern="100" cap="none" spc="0" normalizeH="0" baseline="0" noProof="0" dirty="0">
                <a:ln>
                  <a:noFill/>
                </a:ln>
                <a:solidFill>
                  <a:srgbClr val="FF00FF"/>
                </a:solidFill>
                <a:effectLst/>
                <a:uLnTx/>
                <a:uFillTx/>
                <a:latin typeface="Times New Roman" panose="02020603050405020304" pitchFamily="18" charset="0"/>
                <a:ea typeface="Book Antiqua" panose="02040602050305030304" pitchFamily="18" charset="0"/>
                <a:cs typeface="Times New Roman" panose="02020603050405020304" pitchFamily="18" charset="0"/>
                <a:sym typeface="IBM Plex Sans Condensed"/>
              </a:rPr>
              <a:t> </a:t>
            </a:r>
            <a:r>
              <a:rPr kumimoji="0" lang="en-IN" sz="2800" i="0" u="none" strike="noStrike" kern="0" cap="none" spc="0" normalizeH="0" baseline="0" noProof="0" dirty="0">
                <a:ln>
                  <a:noFill/>
                </a:ln>
                <a:solidFill>
                  <a:srgbClr val="FF00FF"/>
                </a:solidFill>
                <a:effectLst/>
                <a:uLnTx/>
                <a:uFillTx/>
                <a:latin typeface="Times New Roman" panose="02020603050405020304" pitchFamily="18" charset="0"/>
                <a:ea typeface="Book Antiqua" panose="02040602050305030304" pitchFamily="18" charset="0"/>
                <a:cs typeface="Times New Roman" panose="02020603050405020304" pitchFamily="18" charset="0"/>
                <a:sym typeface="IBM Plex Sans Condensed"/>
              </a:rPr>
              <a:t>Rapid Prototyping techniques</a:t>
            </a:r>
            <a:br>
              <a:rPr kumimoji="0" lang="en-US" sz="2800" b="1" i="0" u="none" strike="noStrike" kern="0" cap="none" spc="0" normalizeH="0" baseline="0" noProof="0" dirty="0">
                <a:ln>
                  <a:noFill/>
                </a:ln>
                <a:solidFill>
                  <a:srgbClr val="000000"/>
                </a:solidFill>
                <a:effectLst/>
                <a:uLnTx/>
                <a:uFillTx/>
                <a:latin typeface="IBM Plex Sans Condensed"/>
                <a:sym typeface="IBM Plex Sans Condensed"/>
              </a:rPr>
            </a:br>
            <a:endParaRPr lang="en-IN" dirty="0"/>
          </a:p>
        </p:txBody>
      </p:sp>
      <p:sp>
        <p:nvSpPr>
          <p:cNvPr id="3" name="Text Placeholder 2">
            <a:extLst>
              <a:ext uri="{FF2B5EF4-FFF2-40B4-BE49-F238E27FC236}">
                <a16:creationId xmlns:a16="http://schemas.microsoft.com/office/drawing/2014/main" id="{50F8068C-28C7-D2AD-9F33-BD72834BB070}"/>
              </a:ext>
            </a:extLst>
          </p:cNvPr>
          <p:cNvSpPr>
            <a:spLocks noGrp="1"/>
          </p:cNvSpPr>
          <p:nvPr>
            <p:ph type="body" idx="1"/>
          </p:nvPr>
        </p:nvSpPr>
        <p:spPr>
          <a:xfrm>
            <a:off x="509207" y="1114470"/>
            <a:ext cx="5586793" cy="5110966"/>
          </a:xfrm>
        </p:spPr>
        <p:txBody>
          <a:bodyPr/>
          <a:lstStyle/>
          <a:p>
            <a:pPr>
              <a:buSzPct val="1000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Rapid prototyping</a:t>
            </a:r>
            <a:r>
              <a:rPr lang="en-US" sz="2400" dirty="0">
                <a:latin typeface="Times New Roman" panose="02020603050405020304" pitchFamily="18" charset="0"/>
                <a:cs typeface="Times New Roman" panose="02020603050405020304" pitchFamily="18" charset="0"/>
              </a:rPr>
              <a:t> is a design technique used to quickly create a simplified version of a product, service, website, or application so that ideas can be </a:t>
            </a:r>
            <a:r>
              <a:rPr lang="en-US" sz="2400" b="1" dirty="0">
                <a:latin typeface="Times New Roman" panose="02020603050405020304" pitchFamily="18" charset="0"/>
                <a:cs typeface="Times New Roman" panose="02020603050405020304" pitchFamily="18" charset="0"/>
              </a:rPr>
              <a:t>visualized, tested, evaluated, and improved</a:t>
            </a:r>
            <a:r>
              <a:rPr lang="en-US" sz="2400" dirty="0">
                <a:latin typeface="Times New Roman" panose="02020603050405020304" pitchFamily="18" charset="0"/>
                <a:cs typeface="Times New Roman" panose="02020603050405020304" pitchFamily="18" charset="0"/>
              </a:rPr>
              <a:t> before developing the final product.</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main objective is </a:t>
            </a:r>
            <a:r>
              <a:rPr lang="en-US" sz="2400" b="1" dirty="0">
                <a:latin typeface="Times New Roman" panose="02020603050405020304" pitchFamily="18" charset="0"/>
                <a:cs typeface="Times New Roman" panose="02020603050405020304" pitchFamily="18" charset="0"/>
              </a:rPr>
              <a:t>not to build the final product</a:t>
            </a:r>
            <a:r>
              <a:rPr lang="en-US" sz="2400" dirty="0">
                <a:latin typeface="Times New Roman" panose="02020603050405020304" pitchFamily="18" charset="0"/>
                <a:cs typeface="Times New Roman" panose="02020603050405020304" pitchFamily="18" charset="0"/>
              </a:rPr>
              <a:t>, but to learn quickly from users and identify problems early.</a:t>
            </a:r>
          </a:p>
          <a:p>
            <a:pPr>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algn="just">
              <a:buSzPct val="80000"/>
              <a:buFont typeface="Wingdings" panose="05000000000000000000" pitchFamily="2" charset="2"/>
              <a:buChar char="ü"/>
            </a:pPr>
            <a:r>
              <a:rPr lang="en-US" sz="2400" b="0" i="0" dirty="0">
                <a:solidFill>
                  <a:srgbClr val="212529"/>
                </a:solidFill>
                <a:effectLst/>
                <a:latin typeface="Times New Roman" panose="02020603050405020304" pitchFamily="18" charset="0"/>
                <a:cs typeface="Times New Roman" panose="02020603050405020304" pitchFamily="18" charset="0"/>
              </a:rPr>
              <a:t>Key idea: </a:t>
            </a:r>
          </a:p>
          <a:p>
            <a:pPr marL="50800" indent="0" algn="just">
              <a:buSzPct val="80000"/>
              <a:buNone/>
            </a:pPr>
            <a:r>
              <a:rPr lang="en-US" sz="2400" dirty="0">
                <a:solidFill>
                  <a:srgbClr val="212529"/>
                </a:solidFill>
                <a:latin typeface="Times New Roman" panose="02020603050405020304" pitchFamily="18" charset="0"/>
                <a:cs typeface="Times New Roman" panose="02020603050405020304" pitchFamily="18" charset="0"/>
              </a:rPr>
              <a:t>	</a:t>
            </a:r>
            <a:r>
              <a:rPr lang="en-US" sz="2400" b="0" i="0" dirty="0">
                <a:solidFill>
                  <a:srgbClr val="212529"/>
                </a:solidFill>
                <a:effectLst/>
                <a:latin typeface="Times New Roman" panose="02020603050405020304" pitchFamily="18" charset="0"/>
                <a:cs typeface="Times New Roman" panose="02020603050405020304" pitchFamily="18" charset="0"/>
              </a:rPr>
              <a:t>Build → Test → Learn → Improve.</a:t>
            </a:r>
          </a:p>
        </p:txBody>
      </p:sp>
      <p:sp>
        <p:nvSpPr>
          <p:cNvPr id="4" name="Slide Number Placeholder 3">
            <a:extLst>
              <a:ext uri="{FF2B5EF4-FFF2-40B4-BE49-F238E27FC236}">
                <a16:creationId xmlns:a16="http://schemas.microsoft.com/office/drawing/2014/main" id="{63259E53-EAC7-B352-0F18-7E50D7BC6B5D}"/>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GB" sz="1200" b="0" i="0" u="none" strike="noStrike" kern="0" cap="none" spc="0" normalizeH="0" baseline="0" noProof="0" smtClean="0">
                <a:ln>
                  <a:noFill/>
                </a:ln>
                <a:solidFill>
                  <a:srgbClr val="FFFFFF"/>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48</a:t>
            </a:fld>
            <a:endParaRPr kumimoji="0" lang="en-GB" sz="1200" b="0" i="0" u="none" strike="noStrike" kern="0" cap="none" spc="0" normalizeH="0" baseline="0" noProof="0">
              <a:ln>
                <a:noFill/>
              </a:ln>
              <a:solidFill>
                <a:srgbClr val="FFFFFF"/>
              </a:solidFill>
              <a:effectLst/>
              <a:uLnTx/>
              <a:uFillTx/>
              <a:latin typeface="Arial"/>
              <a:cs typeface="Arial"/>
              <a:sym typeface="Arial"/>
            </a:endParaRPr>
          </a:p>
        </p:txBody>
      </p:sp>
      <p:cxnSp>
        <p:nvCxnSpPr>
          <p:cNvPr id="5" name="Straight Connector 4">
            <a:extLst>
              <a:ext uri="{FF2B5EF4-FFF2-40B4-BE49-F238E27FC236}">
                <a16:creationId xmlns:a16="http://schemas.microsoft.com/office/drawing/2014/main" id="{3AB9DB15-9C87-8EEF-FE4F-64A7C8E73994}"/>
              </a:ext>
            </a:extLst>
          </p:cNvPr>
          <p:cNvCxnSpPr/>
          <p:nvPr/>
        </p:nvCxnSpPr>
        <p:spPr>
          <a:xfrm>
            <a:off x="302584" y="873517"/>
            <a:ext cx="11473716" cy="0"/>
          </a:xfrm>
          <a:prstGeom prst="line">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6" name="AutoShape 2" descr="Idea to New Prototype Flowchart">
            <a:extLst>
              <a:ext uri="{FF2B5EF4-FFF2-40B4-BE49-F238E27FC236}">
                <a16:creationId xmlns:a16="http://schemas.microsoft.com/office/drawing/2014/main" id="{6D4A7E2B-A2C8-14EB-1103-5DD3C165E46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2" descr="Generated image: Design Process Flowchart with Repeat Loop">
            <a:extLst>
              <a:ext uri="{FF2B5EF4-FFF2-40B4-BE49-F238E27FC236}">
                <a16:creationId xmlns:a16="http://schemas.microsoft.com/office/drawing/2014/main" id="{C60A45D6-1B18-8EB9-3B52-BE34FE7162A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9F726250-061A-D9D1-74A0-CF15433263C9}"/>
              </a:ext>
            </a:extLst>
          </p:cNvPr>
          <p:cNvPicPr>
            <a:picLocks noChangeAspect="1"/>
          </p:cNvPicPr>
          <p:nvPr/>
        </p:nvPicPr>
        <p:blipFill>
          <a:blip r:embed="rId2"/>
          <a:stretch>
            <a:fillRect/>
          </a:stretch>
        </p:blipFill>
        <p:spPr>
          <a:xfrm>
            <a:off x="6958393" y="1039510"/>
            <a:ext cx="4572000" cy="5110966"/>
          </a:xfrm>
          <a:prstGeom prst="rect">
            <a:avLst/>
          </a:prstGeom>
        </p:spPr>
      </p:pic>
    </p:spTree>
    <p:extLst>
      <p:ext uri="{BB962C8B-B14F-4D97-AF65-F5344CB8AC3E}">
        <p14:creationId xmlns:p14="http://schemas.microsoft.com/office/powerpoint/2010/main" val="4738413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647B2-ECCB-E7C6-FA43-6256C0EF34E1}"/>
              </a:ext>
            </a:extLst>
          </p:cNvPr>
          <p:cNvSpPr>
            <a:spLocks noGrp="1"/>
          </p:cNvSpPr>
          <p:nvPr>
            <p:ph type="title"/>
          </p:nvPr>
        </p:nvSpPr>
        <p:spPr>
          <a:xfrm>
            <a:off x="300039" y="245883"/>
            <a:ext cx="5736081" cy="763500"/>
          </a:xfrm>
        </p:spPr>
        <p:txBody>
          <a:bodyPr/>
          <a:lstStyle/>
          <a:p>
            <a:pPr marL="457200" indent="-457200">
              <a:buFont typeface="Wingdings" panose="05000000000000000000" pitchFamily="2" charset="2"/>
              <a:buChar char="v"/>
            </a:pPr>
            <a:r>
              <a:rPr lang="en-IN" dirty="0">
                <a:solidFill>
                  <a:srgbClr val="006600"/>
                </a:solidFill>
                <a:latin typeface="Times New Roman" panose="02020603050405020304" pitchFamily="18" charset="0"/>
                <a:cs typeface="Times New Roman" panose="02020603050405020304" pitchFamily="18" charset="0"/>
              </a:rPr>
              <a:t>Types of Rapid Prototyping</a:t>
            </a:r>
          </a:p>
        </p:txBody>
      </p:sp>
      <p:sp>
        <p:nvSpPr>
          <p:cNvPr id="3" name="Text Placeholder 2">
            <a:extLst>
              <a:ext uri="{FF2B5EF4-FFF2-40B4-BE49-F238E27FC236}">
                <a16:creationId xmlns:a16="http://schemas.microsoft.com/office/drawing/2014/main" id="{A8BDB771-29DA-8CE2-664B-64B9B0D576F0}"/>
              </a:ext>
            </a:extLst>
          </p:cNvPr>
          <p:cNvSpPr>
            <a:spLocks noGrp="1"/>
          </p:cNvSpPr>
          <p:nvPr>
            <p:ph type="body" idx="1"/>
          </p:nvPr>
        </p:nvSpPr>
        <p:spPr>
          <a:xfrm>
            <a:off x="415601" y="1419388"/>
            <a:ext cx="3776256" cy="4672200"/>
          </a:xfrm>
        </p:spPr>
        <p:txBody>
          <a:bodyPr/>
          <a:lstStyle/>
          <a:p>
            <a:pPr>
              <a:buSzPct val="100000"/>
            </a:pPr>
            <a:r>
              <a:rPr lang="en-US" sz="2400" dirty="0">
                <a:latin typeface="Times New Roman" panose="02020603050405020304" pitchFamily="18" charset="0"/>
                <a:cs typeface="Times New Roman" panose="02020603050405020304" pitchFamily="18" charset="0"/>
              </a:rPr>
              <a:t>Three commonly used rapid prototyping techniques are:</a:t>
            </a:r>
          </a:p>
          <a:p>
            <a:pPr marL="50800" indent="0">
              <a:buSzPct val="100000"/>
              <a:buNone/>
            </a:pPr>
            <a:endParaRPr lang="en-US" sz="2400" dirty="0">
              <a:latin typeface="Times New Roman" panose="02020603050405020304" pitchFamily="18" charset="0"/>
              <a:cs typeface="Times New Roman" panose="02020603050405020304" pitchFamily="18" charset="0"/>
            </a:endParaRPr>
          </a:p>
          <a:p>
            <a:pPr marL="508000" indent="-457200">
              <a:buSzPct val="100000"/>
              <a:buFont typeface="+mj-lt"/>
              <a:buAutoNum type="alphaLcParenR"/>
            </a:pPr>
            <a:r>
              <a:rPr lang="en-US" sz="2400" dirty="0">
                <a:latin typeface="Times New Roman" panose="02020603050405020304" pitchFamily="18" charset="0"/>
                <a:cs typeface="Times New Roman" panose="02020603050405020304" pitchFamily="18" charset="0"/>
              </a:rPr>
              <a:t>Paper Prototype</a:t>
            </a:r>
          </a:p>
          <a:p>
            <a:pPr marL="508000" indent="-457200">
              <a:buSzPct val="100000"/>
              <a:buFont typeface="+mj-lt"/>
              <a:buAutoNum type="alphaLcParenR"/>
            </a:pPr>
            <a:r>
              <a:rPr lang="en-US" sz="2400" dirty="0">
                <a:latin typeface="Times New Roman" panose="02020603050405020304" pitchFamily="18" charset="0"/>
                <a:cs typeface="Times New Roman" panose="02020603050405020304" pitchFamily="18" charset="0"/>
              </a:rPr>
              <a:t>Digital Mock-up</a:t>
            </a:r>
          </a:p>
          <a:p>
            <a:pPr marL="508000" indent="-457200">
              <a:buSzPct val="100000"/>
              <a:buFont typeface="+mj-lt"/>
              <a:buAutoNum type="alphaLcParenR"/>
            </a:pPr>
            <a:r>
              <a:rPr lang="en-US" sz="2400" dirty="0">
                <a:latin typeface="Times New Roman" panose="02020603050405020304" pitchFamily="18" charset="0"/>
                <a:cs typeface="Times New Roman" panose="02020603050405020304" pitchFamily="18" charset="0"/>
              </a:rPr>
              <a:t>Wireframe</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627A25F-A087-DA45-1DE8-F2945DCB0B2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49</a:t>
            </a:fld>
            <a:endParaRPr lang="en-GB"/>
          </a:p>
        </p:txBody>
      </p:sp>
      <p:pic>
        <p:nvPicPr>
          <p:cNvPr id="5" name="Picture 4">
            <a:extLst>
              <a:ext uri="{FF2B5EF4-FFF2-40B4-BE49-F238E27FC236}">
                <a16:creationId xmlns:a16="http://schemas.microsoft.com/office/drawing/2014/main" id="{D67E6F26-E02B-33B9-9E68-A6337B2CB7FE}"/>
              </a:ext>
            </a:extLst>
          </p:cNvPr>
          <p:cNvPicPr>
            <a:picLocks noChangeAspect="1"/>
          </p:cNvPicPr>
          <p:nvPr/>
        </p:nvPicPr>
        <p:blipFill>
          <a:blip r:embed="rId2"/>
          <a:stretch>
            <a:fillRect/>
          </a:stretch>
        </p:blipFill>
        <p:spPr>
          <a:xfrm>
            <a:off x="6036120" y="391327"/>
            <a:ext cx="5855841" cy="5602733"/>
          </a:xfrm>
          <a:prstGeom prst="rect">
            <a:avLst/>
          </a:prstGeom>
        </p:spPr>
      </p:pic>
    </p:spTree>
    <p:extLst>
      <p:ext uri="{BB962C8B-B14F-4D97-AF65-F5344CB8AC3E}">
        <p14:creationId xmlns:p14="http://schemas.microsoft.com/office/powerpoint/2010/main" val="35059427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F0E628A-030D-1599-88D5-64D1D63E9A9F}"/>
              </a:ext>
            </a:extLst>
          </p:cNvPr>
          <p:cNvSpPr>
            <a:spLocks noGrp="1"/>
          </p:cNvSpPr>
          <p:nvPr>
            <p:ph type="body" idx="1"/>
          </p:nvPr>
        </p:nvSpPr>
        <p:spPr>
          <a:xfrm>
            <a:off x="415600" y="544530"/>
            <a:ext cx="5502315" cy="5547058"/>
          </a:xfrm>
        </p:spPr>
        <p:txBody>
          <a:bodyPr/>
          <a:lstStyle/>
          <a:p>
            <a:pPr marL="50800" indent="0">
              <a:buNone/>
            </a:pPr>
            <a:r>
              <a:rPr lang="en-IN" b="1" dirty="0">
                <a:solidFill>
                  <a:srgbClr val="FF5050"/>
                </a:solidFill>
                <a:latin typeface="Times New Roman" panose="02020603050405020304" pitchFamily="18" charset="0"/>
                <a:cs typeface="Times New Roman" panose="02020603050405020304" pitchFamily="18" charset="0"/>
              </a:rPr>
              <a:t>a)Paper Prototypes</a:t>
            </a:r>
          </a:p>
          <a:p>
            <a:pPr>
              <a:buSzPct val="10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paper prototype</a:t>
            </a:r>
            <a:r>
              <a:rPr lang="en-US" sz="2400" dirty="0">
                <a:latin typeface="Times New Roman" panose="02020603050405020304" pitchFamily="18" charset="0"/>
                <a:cs typeface="Times New Roman" panose="02020603050405020304" pitchFamily="18" charset="0"/>
              </a:rPr>
              <a:t> is a simple representation of a product or interface created using </a:t>
            </a:r>
            <a:r>
              <a:rPr lang="en-US" sz="2400" b="1" dirty="0">
                <a:latin typeface="Times New Roman" panose="02020603050405020304" pitchFamily="18" charset="0"/>
                <a:cs typeface="Times New Roman" panose="02020603050405020304" pitchFamily="18" charset="0"/>
              </a:rPr>
              <a:t>paper, pencil, sticky notes, cards, or sketches</a:t>
            </a:r>
            <a:r>
              <a:rPr lang="en-US" sz="2400" dirty="0">
                <a:latin typeface="Times New Roman" panose="02020603050405020304" pitchFamily="18" charset="0"/>
                <a:cs typeface="Times New Roman" panose="02020603050405020304" pitchFamily="18" charset="0"/>
              </a:rPr>
              <a:t>.</a:t>
            </a:r>
          </a:p>
          <a:p>
            <a:pPr>
              <a:buSzPct val="10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It is one of the </a:t>
            </a:r>
            <a:r>
              <a:rPr lang="en-US" sz="2400" b="1" dirty="0">
                <a:latin typeface="Times New Roman" panose="02020603050405020304" pitchFamily="18" charset="0"/>
                <a:cs typeface="Times New Roman" panose="02020603050405020304" pitchFamily="18" charset="0"/>
              </a:rPr>
              <a:t>fastest and least expensive</a:t>
            </a:r>
            <a:r>
              <a:rPr lang="en-US" sz="2400" dirty="0">
                <a:latin typeface="Times New Roman" panose="02020603050405020304" pitchFamily="18" charset="0"/>
                <a:cs typeface="Times New Roman" panose="02020603050405020304" pitchFamily="18" charset="0"/>
              </a:rPr>
              <a:t> prototyping techniques.</a:t>
            </a:r>
          </a:p>
          <a:p>
            <a:pPr>
              <a:buSzPct val="10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For example, when designing a mobile banking application, each paper sheet can represent a different screen.</a:t>
            </a:r>
          </a:p>
          <a:p>
            <a:pPr>
              <a:buSzPct val="100000"/>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a:buSzPct val="10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designer can manually replace one paper screen with another when the user "clicks" a button.</a:t>
            </a:r>
          </a:p>
          <a:p>
            <a:pPr marL="50800" indent="0">
              <a:buNone/>
            </a:pPr>
            <a:endParaRPr lang="en-IN" dirty="0">
              <a:solidFill>
                <a:srgbClr val="FF505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D16123-309D-4918-3DFA-49BC654F19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50</a:t>
            </a:fld>
            <a:endParaRPr lang="en-GB"/>
          </a:p>
        </p:txBody>
      </p:sp>
      <p:sp>
        <p:nvSpPr>
          <p:cNvPr id="5" name="AutoShape 2" descr="Hand-Drawn Bank App Prototype Flow">
            <a:extLst>
              <a:ext uri="{FF2B5EF4-FFF2-40B4-BE49-F238E27FC236}">
                <a16:creationId xmlns:a16="http://schemas.microsoft.com/office/drawing/2014/main" id="{7AFBC955-D8D3-6257-0258-E8ED26C7D82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A537DB9D-0070-0716-0BBE-7C9DC730231E}"/>
              </a:ext>
            </a:extLst>
          </p:cNvPr>
          <p:cNvPicPr>
            <a:picLocks noChangeAspect="1"/>
          </p:cNvPicPr>
          <p:nvPr/>
        </p:nvPicPr>
        <p:blipFill>
          <a:blip r:embed="rId2"/>
          <a:stretch>
            <a:fillRect/>
          </a:stretch>
        </p:blipFill>
        <p:spPr>
          <a:xfrm>
            <a:off x="6471007" y="655470"/>
            <a:ext cx="4572000" cy="5547059"/>
          </a:xfrm>
          <a:prstGeom prst="rect">
            <a:avLst/>
          </a:prstGeom>
        </p:spPr>
      </p:pic>
    </p:spTree>
    <p:extLst>
      <p:ext uri="{BB962C8B-B14F-4D97-AF65-F5344CB8AC3E}">
        <p14:creationId xmlns:p14="http://schemas.microsoft.com/office/powerpoint/2010/main" val="33930952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9F4F92E-D0ED-A178-E570-77103C9EF031}"/>
              </a:ext>
            </a:extLst>
          </p:cNvPr>
          <p:cNvSpPr>
            <a:spLocks noGrp="1"/>
          </p:cNvSpPr>
          <p:nvPr>
            <p:ph type="body" idx="1"/>
          </p:nvPr>
        </p:nvSpPr>
        <p:spPr>
          <a:xfrm>
            <a:off x="415650" y="309778"/>
            <a:ext cx="11360700" cy="5936909"/>
          </a:xfrm>
        </p:spPr>
        <p:txBody>
          <a:bodyPr/>
          <a:lstStyle/>
          <a:p>
            <a:pPr>
              <a:buNone/>
            </a:pPr>
            <a:r>
              <a:rPr lang="en-US" sz="2400" b="1" dirty="0">
                <a:latin typeface="Times New Roman" panose="02020603050405020304" pitchFamily="18" charset="0"/>
                <a:cs typeface="Times New Roman" panose="02020603050405020304" pitchFamily="18" charset="0"/>
              </a:rPr>
              <a:t>Characteristics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Very low cost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Very quick to create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Easy to modify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Does not require programming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Suitable for early-stage ideas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Focuses on </a:t>
            </a:r>
            <a:r>
              <a:rPr lang="en-US" sz="2400" b="1" dirty="0">
                <a:latin typeface="Times New Roman" panose="02020603050405020304" pitchFamily="18" charset="0"/>
                <a:cs typeface="Times New Roman" panose="02020603050405020304" pitchFamily="18" charset="0"/>
              </a:rPr>
              <a:t>functionality and user flow</a:t>
            </a:r>
            <a:r>
              <a:rPr lang="en-US" sz="2400" dirty="0">
                <a:latin typeface="Times New Roman" panose="02020603050405020304" pitchFamily="18" charset="0"/>
                <a:cs typeface="Times New Roman" panose="02020603050405020304" pitchFamily="18" charset="0"/>
              </a:rPr>
              <a:t>, rather than appearance </a:t>
            </a:r>
          </a:p>
          <a:p>
            <a:pPr>
              <a:buNone/>
            </a:pPr>
            <a:r>
              <a:rPr lang="en-US" sz="2400" b="1" dirty="0">
                <a:latin typeface="Times New Roman" panose="02020603050405020304" pitchFamily="18" charset="0"/>
                <a:cs typeface="Times New Roman" panose="02020603050405020304" pitchFamily="18" charset="0"/>
              </a:rPr>
              <a:t>Advantages</a:t>
            </a:r>
          </a:p>
          <a:p>
            <a:pPr>
              <a:buSzPct val="90000"/>
              <a:buFont typeface="+mj-lt"/>
              <a:buAutoNum type="arabicPeriod"/>
            </a:pPr>
            <a:r>
              <a:rPr lang="en-US" sz="2400" b="1" dirty="0">
                <a:latin typeface="Times New Roman" panose="02020603050405020304" pitchFamily="18" charset="0"/>
                <a:cs typeface="Times New Roman" panose="02020603050405020304" pitchFamily="18" charset="0"/>
              </a:rPr>
              <a:t>Low cost</a:t>
            </a:r>
            <a:r>
              <a:rPr lang="en-US" sz="2400" dirty="0">
                <a:latin typeface="Times New Roman" panose="02020603050405020304" pitchFamily="18" charset="0"/>
                <a:cs typeface="Times New Roman" panose="02020603050405020304" pitchFamily="18" charset="0"/>
              </a:rPr>
              <a:t> – Only paper and stationery are required. </a:t>
            </a:r>
          </a:p>
          <a:p>
            <a:pPr>
              <a:buSzPct val="90000"/>
              <a:buFont typeface="+mj-lt"/>
              <a:buAutoNum type="arabicPeriod"/>
            </a:pPr>
            <a:r>
              <a:rPr lang="en-US" sz="2400" b="1" dirty="0">
                <a:latin typeface="Times New Roman" panose="02020603050405020304" pitchFamily="18" charset="0"/>
                <a:cs typeface="Times New Roman" panose="02020603050405020304" pitchFamily="18" charset="0"/>
              </a:rPr>
              <a:t>Fast creation</a:t>
            </a:r>
            <a:r>
              <a:rPr lang="en-US" sz="2400" dirty="0">
                <a:latin typeface="Times New Roman" panose="02020603050405020304" pitchFamily="18" charset="0"/>
                <a:cs typeface="Times New Roman" panose="02020603050405020304" pitchFamily="18" charset="0"/>
              </a:rPr>
              <a:t> – A prototype can be created within minutes. </a:t>
            </a:r>
          </a:p>
          <a:p>
            <a:pPr>
              <a:buSzPct val="90000"/>
              <a:buFont typeface="+mj-lt"/>
              <a:buAutoNum type="arabicPeriod"/>
            </a:pPr>
            <a:r>
              <a:rPr lang="en-US" sz="2400" b="1" dirty="0">
                <a:latin typeface="Times New Roman" panose="02020603050405020304" pitchFamily="18" charset="0"/>
                <a:cs typeface="Times New Roman" panose="02020603050405020304" pitchFamily="18" charset="0"/>
              </a:rPr>
              <a:t>Easy modification</a:t>
            </a:r>
            <a:r>
              <a:rPr lang="en-US" sz="2400" dirty="0">
                <a:latin typeface="Times New Roman" panose="02020603050405020304" pitchFamily="18" charset="0"/>
                <a:cs typeface="Times New Roman" panose="02020603050405020304" pitchFamily="18" charset="0"/>
              </a:rPr>
              <a:t> – Elements can be erased, moved, or redrawn. </a:t>
            </a:r>
          </a:p>
          <a:p>
            <a:pPr>
              <a:buSzPct val="90000"/>
              <a:buFont typeface="+mj-lt"/>
              <a:buAutoNum type="arabicPeriod"/>
            </a:pPr>
            <a:r>
              <a:rPr lang="en-US" sz="2400" b="1" dirty="0">
                <a:latin typeface="Times New Roman" panose="02020603050405020304" pitchFamily="18" charset="0"/>
                <a:cs typeface="Times New Roman" panose="02020603050405020304" pitchFamily="18" charset="0"/>
              </a:rPr>
              <a:t>Encourages creativity</a:t>
            </a:r>
            <a:r>
              <a:rPr lang="en-US" sz="2400" dirty="0">
                <a:latin typeface="Times New Roman" panose="02020603050405020304" pitchFamily="18" charset="0"/>
                <a:cs typeface="Times New Roman" panose="02020603050405020304" pitchFamily="18" charset="0"/>
              </a:rPr>
              <a:t> – Designers can experiment freely. </a:t>
            </a:r>
          </a:p>
          <a:p>
            <a:pPr>
              <a:buSzPct val="90000"/>
              <a:buFont typeface="+mj-lt"/>
              <a:buAutoNum type="arabicPeriod"/>
            </a:pPr>
            <a:r>
              <a:rPr lang="en-US" sz="2400" b="1" dirty="0">
                <a:latin typeface="Times New Roman" panose="02020603050405020304" pitchFamily="18" charset="0"/>
                <a:cs typeface="Times New Roman" panose="02020603050405020304" pitchFamily="18" charset="0"/>
              </a:rPr>
              <a:t>Useful for user testing</a:t>
            </a:r>
            <a:r>
              <a:rPr lang="en-US" sz="2400" dirty="0">
                <a:latin typeface="Times New Roman" panose="02020603050405020304" pitchFamily="18" charset="0"/>
                <a:cs typeface="Times New Roman" panose="02020603050405020304" pitchFamily="18" charset="0"/>
              </a:rPr>
              <a:t> – Users can interact with the prototype. </a:t>
            </a:r>
          </a:p>
          <a:p>
            <a:pPr>
              <a:buSzPct val="90000"/>
              <a:buFont typeface="+mj-lt"/>
              <a:buAutoNum type="arabicPeriod"/>
            </a:pPr>
            <a:r>
              <a:rPr lang="en-US" sz="2400" b="1" dirty="0">
                <a:latin typeface="Times New Roman" panose="02020603050405020304" pitchFamily="18" charset="0"/>
                <a:cs typeface="Times New Roman" panose="02020603050405020304" pitchFamily="18" charset="0"/>
              </a:rPr>
              <a:t>Reduces development risk</a:t>
            </a:r>
            <a:r>
              <a:rPr lang="en-US" sz="2400" dirty="0">
                <a:latin typeface="Times New Roman" panose="02020603050405020304" pitchFamily="18" charset="0"/>
                <a:cs typeface="Times New Roman" panose="02020603050405020304" pitchFamily="18" charset="0"/>
              </a:rPr>
              <a:t> – Problems can be identified before coding</a:t>
            </a:r>
            <a:r>
              <a:rPr lang="en-US" dirty="0"/>
              <a:t>. </a:t>
            </a:r>
          </a:p>
          <a:p>
            <a:endParaRPr lang="en-IN" dirty="0"/>
          </a:p>
        </p:txBody>
      </p:sp>
      <p:sp>
        <p:nvSpPr>
          <p:cNvPr id="4" name="Slide Number Placeholder 3">
            <a:extLst>
              <a:ext uri="{FF2B5EF4-FFF2-40B4-BE49-F238E27FC236}">
                <a16:creationId xmlns:a16="http://schemas.microsoft.com/office/drawing/2014/main" id="{11631F2B-57CD-4E76-8015-F79F9D83B24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51</a:t>
            </a:fld>
            <a:endParaRPr lang="en-GB"/>
          </a:p>
        </p:txBody>
      </p:sp>
    </p:spTree>
    <p:extLst>
      <p:ext uri="{BB962C8B-B14F-4D97-AF65-F5344CB8AC3E}">
        <p14:creationId xmlns:p14="http://schemas.microsoft.com/office/powerpoint/2010/main" val="41863116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FA476EA-D1E2-7B00-B378-D330898A4724}"/>
              </a:ext>
            </a:extLst>
          </p:cNvPr>
          <p:cNvSpPr>
            <a:spLocks noGrp="1"/>
          </p:cNvSpPr>
          <p:nvPr>
            <p:ph type="body" idx="1"/>
          </p:nvPr>
        </p:nvSpPr>
        <p:spPr/>
        <p:txBody>
          <a:bodyPr/>
          <a:lstStyle/>
          <a:p>
            <a:pPr>
              <a:buNone/>
            </a:pPr>
            <a:r>
              <a:rPr lang="en-US" sz="2400" b="1" dirty="0">
                <a:latin typeface="Times New Roman" panose="02020603050405020304" pitchFamily="18" charset="0"/>
                <a:cs typeface="Times New Roman" panose="02020603050405020304" pitchFamily="18" charset="0"/>
              </a:rPr>
              <a:t>Limitations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Cannot accurately represent complex interactions.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Visual appearance is limited.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Difficult to demonstrate animations.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Not suitable for testing actual software performance.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May appear less realistic to some users.</a:t>
            </a:r>
          </a:p>
          <a:p>
            <a:endParaRPr lang="en-IN" dirty="0"/>
          </a:p>
        </p:txBody>
      </p:sp>
      <p:sp>
        <p:nvSpPr>
          <p:cNvPr id="4" name="Slide Number Placeholder 3">
            <a:extLst>
              <a:ext uri="{FF2B5EF4-FFF2-40B4-BE49-F238E27FC236}">
                <a16:creationId xmlns:a16="http://schemas.microsoft.com/office/drawing/2014/main" id="{5FA4940B-11E2-2359-D4D7-6CBA439F00E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52</a:t>
            </a:fld>
            <a:endParaRPr lang="en-GB"/>
          </a:p>
        </p:txBody>
      </p:sp>
    </p:spTree>
    <p:extLst>
      <p:ext uri="{BB962C8B-B14F-4D97-AF65-F5344CB8AC3E}">
        <p14:creationId xmlns:p14="http://schemas.microsoft.com/office/powerpoint/2010/main" val="20207139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2DA21-053A-E0CF-EF42-BC032525E6DB}"/>
              </a:ext>
            </a:extLst>
          </p:cNvPr>
          <p:cNvSpPr>
            <a:spLocks noGrp="1"/>
          </p:cNvSpPr>
          <p:nvPr>
            <p:ph type="title"/>
          </p:nvPr>
        </p:nvSpPr>
        <p:spPr>
          <a:xfrm>
            <a:off x="323133" y="339112"/>
            <a:ext cx="11360700" cy="763500"/>
          </a:xfrm>
        </p:spPr>
        <p:txBody>
          <a:bodyPr/>
          <a:lstStyle/>
          <a:p>
            <a:r>
              <a:rPr lang="en-IN" sz="2800" dirty="0">
                <a:solidFill>
                  <a:srgbClr val="FF5050"/>
                </a:solidFill>
                <a:latin typeface="Times New Roman" panose="02020603050405020304" pitchFamily="18" charset="0"/>
                <a:cs typeface="Times New Roman" panose="02020603050405020304" pitchFamily="18" charset="0"/>
              </a:rPr>
              <a:t>b) Digital Mock-ups</a:t>
            </a:r>
          </a:p>
        </p:txBody>
      </p:sp>
      <p:sp>
        <p:nvSpPr>
          <p:cNvPr id="3" name="Text Placeholder 2">
            <a:extLst>
              <a:ext uri="{FF2B5EF4-FFF2-40B4-BE49-F238E27FC236}">
                <a16:creationId xmlns:a16="http://schemas.microsoft.com/office/drawing/2014/main" id="{F2251113-A204-02DE-355B-374C32B62A30}"/>
              </a:ext>
            </a:extLst>
          </p:cNvPr>
          <p:cNvSpPr>
            <a:spLocks noGrp="1"/>
          </p:cNvSpPr>
          <p:nvPr>
            <p:ph type="body" idx="1"/>
          </p:nvPr>
        </p:nvSpPr>
        <p:spPr>
          <a:xfrm>
            <a:off x="415600" y="1419388"/>
            <a:ext cx="4742027" cy="4672200"/>
          </a:xfrm>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digital mock-up</a:t>
            </a:r>
            <a:r>
              <a:rPr lang="en-US" sz="2400" dirty="0">
                <a:latin typeface="Times New Roman" panose="02020603050405020304" pitchFamily="18" charset="0"/>
                <a:cs typeface="Times New Roman" panose="02020603050405020304" pitchFamily="18" charset="0"/>
              </a:rPr>
              <a:t> is a computer-based representation of a product or user interface.</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It provides a more realistic representation of how the final product may look.</a:t>
            </a:r>
          </a:p>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Digital mock-ups can be created using design and prototyping tools such as Figma, Adobe XD, Sketch, or similar software.</a:t>
            </a:r>
          </a:p>
          <a:p>
            <a:endParaRPr lang="en-IN" dirty="0"/>
          </a:p>
        </p:txBody>
      </p:sp>
      <p:sp>
        <p:nvSpPr>
          <p:cNvPr id="4" name="Slide Number Placeholder 3">
            <a:extLst>
              <a:ext uri="{FF2B5EF4-FFF2-40B4-BE49-F238E27FC236}">
                <a16:creationId xmlns:a16="http://schemas.microsoft.com/office/drawing/2014/main" id="{2C2016D7-8EEB-79A7-1C1C-A2F7A3A25E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53</a:t>
            </a:fld>
            <a:endParaRPr lang="en-GB"/>
          </a:p>
        </p:txBody>
      </p:sp>
      <p:pic>
        <p:nvPicPr>
          <p:cNvPr id="2054" name="Picture 6" descr="Web Design Services – Thru Vision">
            <a:extLst>
              <a:ext uri="{FF2B5EF4-FFF2-40B4-BE49-F238E27FC236}">
                <a16:creationId xmlns:a16="http://schemas.microsoft.com/office/drawing/2014/main" id="{4572363D-DCC4-4667-23AB-9049CF4BBF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5971" y="667820"/>
            <a:ext cx="6616129" cy="5423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40230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F12786B-F768-94B4-7F02-71A8F73AFCED}"/>
              </a:ext>
            </a:extLst>
          </p:cNvPr>
          <p:cNvSpPr>
            <a:spLocks noGrp="1"/>
          </p:cNvSpPr>
          <p:nvPr>
            <p:ph type="body" idx="1"/>
          </p:nvPr>
        </p:nvSpPr>
        <p:spPr>
          <a:xfrm>
            <a:off x="415600" y="544530"/>
            <a:ext cx="4033110" cy="5547058"/>
          </a:xfrm>
        </p:spPr>
        <p:txBody>
          <a:bodyPr/>
          <a:lstStyle/>
          <a:p>
            <a:pPr marL="457200" marR="0" lvl="0" indent="-349250" algn="l" defTabSz="914400" rtl="0" eaLnBrk="1" fontAlgn="auto" latinLnBrk="0" hangingPunct="1">
              <a:lnSpc>
                <a:spcPct val="100000"/>
              </a:lnSpc>
              <a:spcBef>
                <a:spcPts val="0"/>
              </a:spcBef>
              <a:spcAft>
                <a:spcPts val="0"/>
              </a:spcAft>
              <a:buClr>
                <a:srgbClr val="000000"/>
              </a:buClr>
              <a:buSzPts val="1900"/>
              <a:buFont typeface="IBM Plex Sans Condensed"/>
              <a:buNone/>
              <a:tabLst/>
              <a:defRPr/>
            </a:pPr>
            <a:r>
              <a:rPr kumimoji="0" lang="en-US" sz="2400" b="0" i="0" u="none" strike="noStrike" kern="0" cap="none" spc="0" normalizeH="0" baseline="0" noProof="0" dirty="0">
                <a:ln>
                  <a:noFill/>
                </a:ln>
                <a:solidFill>
                  <a:srgbClr val="000000">
                    <a:lumMod val="95000"/>
                    <a:lumOff val="5000"/>
                  </a:srgbClr>
                </a:solidFill>
                <a:effectLst/>
                <a:uLnTx/>
                <a:uFillTx/>
                <a:latin typeface="Times New Roman" panose="02020603050405020304" pitchFamily="18" charset="0"/>
                <a:cs typeface="Times New Roman" panose="02020603050405020304" pitchFamily="18" charset="0"/>
                <a:sym typeface="IBM Plex Sans Condensed"/>
              </a:rPr>
              <a:t>Unlike a paper prototype, a digital mock-up can include:</a:t>
            </a:r>
          </a:p>
          <a:p>
            <a:pPr marL="457200" marR="0" lvl="0" indent="-349250" algn="l" defTabSz="914400" rtl="0" eaLnBrk="1" fontAlgn="auto" latinLnBrk="0" hangingPunct="1">
              <a:lnSpc>
                <a:spcPct val="100000"/>
              </a:lnSpc>
              <a:spcBef>
                <a:spcPts val="0"/>
              </a:spcBef>
              <a:spcAft>
                <a:spcPts val="0"/>
              </a:spcAft>
              <a:buClr>
                <a:srgbClr val="000000"/>
              </a:buClr>
              <a:buSzPts val="1900"/>
              <a:buFont typeface="Wingdings" panose="05000000000000000000" pitchFamily="2" charset="2"/>
              <a:buChar char="ü"/>
              <a:tabLst/>
              <a:defRPr/>
            </a:pPr>
            <a:r>
              <a:rPr kumimoji="0" lang="en-US" sz="2400" b="0" i="0" u="none" strike="noStrike" kern="0" cap="none" spc="0" normalizeH="0" baseline="0" noProof="0" dirty="0">
                <a:ln>
                  <a:noFill/>
                </a:ln>
                <a:solidFill>
                  <a:srgbClr val="000000">
                    <a:lumMod val="95000"/>
                    <a:lumOff val="5000"/>
                  </a:srgbClr>
                </a:solidFill>
                <a:effectLst/>
                <a:uLnTx/>
                <a:uFillTx/>
                <a:latin typeface="Times New Roman" panose="02020603050405020304" pitchFamily="18" charset="0"/>
                <a:cs typeface="Times New Roman" panose="02020603050405020304" pitchFamily="18" charset="0"/>
                <a:sym typeface="IBM Plex Sans Condensed"/>
              </a:rPr>
              <a:t>Images </a:t>
            </a:r>
          </a:p>
          <a:p>
            <a:pPr marL="457200" marR="0" lvl="0" indent="-349250" algn="l" defTabSz="914400" rtl="0" eaLnBrk="1" fontAlgn="auto" latinLnBrk="0" hangingPunct="1">
              <a:lnSpc>
                <a:spcPct val="100000"/>
              </a:lnSpc>
              <a:spcBef>
                <a:spcPts val="0"/>
              </a:spcBef>
              <a:spcAft>
                <a:spcPts val="0"/>
              </a:spcAft>
              <a:buClr>
                <a:srgbClr val="000000"/>
              </a:buClr>
              <a:buSzPts val="1900"/>
              <a:buFont typeface="Wingdings" panose="05000000000000000000" pitchFamily="2" charset="2"/>
              <a:buChar char="ü"/>
              <a:tabLst/>
              <a:defRPr/>
            </a:pPr>
            <a:r>
              <a:rPr kumimoji="0" lang="en-US" sz="2400" b="0" i="0" u="none" strike="noStrike" kern="0" cap="none" spc="0" normalizeH="0" baseline="0" noProof="0" dirty="0">
                <a:ln>
                  <a:noFill/>
                </a:ln>
                <a:solidFill>
                  <a:srgbClr val="000000">
                    <a:lumMod val="95000"/>
                    <a:lumOff val="5000"/>
                  </a:srgbClr>
                </a:solidFill>
                <a:effectLst/>
                <a:uLnTx/>
                <a:uFillTx/>
                <a:latin typeface="Times New Roman" panose="02020603050405020304" pitchFamily="18" charset="0"/>
                <a:cs typeface="Times New Roman" panose="02020603050405020304" pitchFamily="18" charset="0"/>
                <a:sym typeface="IBM Plex Sans Condensed"/>
              </a:rPr>
              <a:t>Colors </a:t>
            </a:r>
          </a:p>
          <a:p>
            <a:pPr marL="457200" marR="0" lvl="0" indent="-349250" algn="l" defTabSz="914400" rtl="0" eaLnBrk="1" fontAlgn="auto" latinLnBrk="0" hangingPunct="1">
              <a:lnSpc>
                <a:spcPct val="100000"/>
              </a:lnSpc>
              <a:spcBef>
                <a:spcPts val="0"/>
              </a:spcBef>
              <a:spcAft>
                <a:spcPts val="0"/>
              </a:spcAft>
              <a:buClr>
                <a:srgbClr val="000000"/>
              </a:buClr>
              <a:buSzPts val="1900"/>
              <a:buFont typeface="Wingdings" panose="05000000000000000000" pitchFamily="2" charset="2"/>
              <a:buChar char="ü"/>
              <a:tabLst/>
              <a:defRPr/>
            </a:pPr>
            <a:r>
              <a:rPr kumimoji="0" lang="en-US" sz="2400" b="0" i="0" u="none" strike="noStrike" kern="0" cap="none" spc="0" normalizeH="0" baseline="0" noProof="0" dirty="0">
                <a:ln>
                  <a:noFill/>
                </a:ln>
                <a:solidFill>
                  <a:srgbClr val="000000">
                    <a:lumMod val="95000"/>
                    <a:lumOff val="5000"/>
                  </a:srgbClr>
                </a:solidFill>
                <a:effectLst/>
                <a:uLnTx/>
                <a:uFillTx/>
                <a:latin typeface="Times New Roman" panose="02020603050405020304" pitchFamily="18" charset="0"/>
                <a:cs typeface="Times New Roman" panose="02020603050405020304" pitchFamily="18" charset="0"/>
                <a:sym typeface="IBM Plex Sans Condensed"/>
              </a:rPr>
              <a:t>Typography </a:t>
            </a:r>
          </a:p>
          <a:p>
            <a:pPr marL="457200" marR="0" lvl="0" indent="-349250" algn="l" defTabSz="914400" rtl="0" eaLnBrk="1" fontAlgn="auto" latinLnBrk="0" hangingPunct="1">
              <a:lnSpc>
                <a:spcPct val="100000"/>
              </a:lnSpc>
              <a:spcBef>
                <a:spcPts val="0"/>
              </a:spcBef>
              <a:spcAft>
                <a:spcPts val="0"/>
              </a:spcAft>
              <a:buClr>
                <a:srgbClr val="000000"/>
              </a:buClr>
              <a:buSzPts val="1900"/>
              <a:buFont typeface="Wingdings" panose="05000000000000000000" pitchFamily="2" charset="2"/>
              <a:buChar char="ü"/>
              <a:tabLst/>
              <a:defRPr/>
            </a:pPr>
            <a:r>
              <a:rPr kumimoji="0" lang="en-US" sz="2400" b="0" i="0" u="none" strike="noStrike" kern="0" cap="none" spc="0" normalizeH="0" baseline="0" noProof="0" dirty="0">
                <a:ln>
                  <a:noFill/>
                </a:ln>
                <a:solidFill>
                  <a:srgbClr val="000000">
                    <a:lumMod val="95000"/>
                    <a:lumOff val="5000"/>
                  </a:srgbClr>
                </a:solidFill>
                <a:effectLst/>
                <a:uLnTx/>
                <a:uFillTx/>
                <a:latin typeface="Times New Roman" panose="02020603050405020304" pitchFamily="18" charset="0"/>
                <a:cs typeface="Times New Roman" panose="02020603050405020304" pitchFamily="18" charset="0"/>
                <a:sym typeface="IBM Plex Sans Condensed"/>
              </a:rPr>
              <a:t>Icons </a:t>
            </a:r>
          </a:p>
          <a:p>
            <a:pPr marL="457200" marR="0" lvl="0" indent="-349250" algn="l" defTabSz="914400" rtl="0" eaLnBrk="1" fontAlgn="auto" latinLnBrk="0" hangingPunct="1">
              <a:lnSpc>
                <a:spcPct val="100000"/>
              </a:lnSpc>
              <a:spcBef>
                <a:spcPts val="0"/>
              </a:spcBef>
              <a:spcAft>
                <a:spcPts val="0"/>
              </a:spcAft>
              <a:buClr>
                <a:srgbClr val="000000"/>
              </a:buClr>
              <a:buSzPts val="1900"/>
              <a:buFont typeface="Wingdings" panose="05000000000000000000" pitchFamily="2" charset="2"/>
              <a:buChar char="ü"/>
              <a:tabLst/>
              <a:defRPr/>
            </a:pPr>
            <a:r>
              <a:rPr kumimoji="0" lang="en-US" sz="2400" b="0" i="0" u="none" strike="noStrike" kern="0" cap="none" spc="0" normalizeH="0" baseline="0" noProof="0" dirty="0">
                <a:ln>
                  <a:noFill/>
                </a:ln>
                <a:solidFill>
                  <a:srgbClr val="000000">
                    <a:lumMod val="95000"/>
                    <a:lumOff val="5000"/>
                  </a:srgbClr>
                </a:solidFill>
                <a:effectLst/>
                <a:uLnTx/>
                <a:uFillTx/>
                <a:latin typeface="Times New Roman" panose="02020603050405020304" pitchFamily="18" charset="0"/>
                <a:cs typeface="Times New Roman" panose="02020603050405020304" pitchFamily="18" charset="0"/>
                <a:sym typeface="IBM Plex Sans Condensed"/>
              </a:rPr>
              <a:t>Buttons </a:t>
            </a:r>
          </a:p>
          <a:p>
            <a:pPr marL="457200" marR="0" lvl="0" indent="-349250" algn="l" defTabSz="914400" rtl="0" eaLnBrk="1" fontAlgn="auto" latinLnBrk="0" hangingPunct="1">
              <a:lnSpc>
                <a:spcPct val="100000"/>
              </a:lnSpc>
              <a:spcBef>
                <a:spcPts val="0"/>
              </a:spcBef>
              <a:spcAft>
                <a:spcPts val="0"/>
              </a:spcAft>
              <a:buClr>
                <a:srgbClr val="000000"/>
              </a:buClr>
              <a:buSzPts val="1900"/>
              <a:buFont typeface="Wingdings" panose="05000000000000000000" pitchFamily="2" charset="2"/>
              <a:buChar char="ü"/>
              <a:tabLst/>
              <a:defRPr/>
            </a:pPr>
            <a:r>
              <a:rPr kumimoji="0" lang="en-US" sz="2400" b="0" i="0" u="none" strike="noStrike" kern="0" cap="none" spc="0" normalizeH="0" baseline="0" noProof="0" dirty="0">
                <a:ln>
                  <a:noFill/>
                </a:ln>
                <a:solidFill>
                  <a:srgbClr val="000000">
                    <a:lumMod val="95000"/>
                    <a:lumOff val="5000"/>
                  </a:srgbClr>
                </a:solidFill>
                <a:effectLst/>
                <a:uLnTx/>
                <a:uFillTx/>
                <a:latin typeface="Times New Roman" panose="02020603050405020304" pitchFamily="18" charset="0"/>
                <a:cs typeface="Times New Roman" panose="02020603050405020304" pitchFamily="18" charset="0"/>
                <a:sym typeface="IBM Plex Sans Condensed"/>
              </a:rPr>
              <a:t>Navigation </a:t>
            </a:r>
          </a:p>
          <a:p>
            <a:pPr marL="457200" marR="0" lvl="0" indent="-349250" algn="l" defTabSz="914400" rtl="0" eaLnBrk="1" fontAlgn="auto" latinLnBrk="0" hangingPunct="1">
              <a:lnSpc>
                <a:spcPct val="100000"/>
              </a:lnSpc>
              <a:spcBef>
                <a:spcPts val="0"/>
              </a:spcBef>
              <a:spcAft>
                <a:spcPts val="0"/>
              </a:spcAft>
              <a:buClr>
                <a:srgbClr val="000000"/>
              </a:buClr>
              <a:buSzPts val="1900"/>
              <a:buFont typeface="Wingdings" panose="05000000000000000000" pitchFamily="2" charset="2"/>
              <a:buChar char="ü"/>
              <a:tabLst/>
              <a:defRPr/>
            </a:pPr>
            <a:r>
              <a:rPr kumimoji="0" lang="en-US" sz="2400" b="0" i="0" u="none" strike="noStrike" kern="0" cap="none" spc="0" normalizeH="0" baseline="0" noProof="0" dirty="0">
                <a:ln>
                  <a:noFill/>
                </a:ln>
                <a:solidFill>
                  <a:srgbClr val="000000">
                    <a:lumMod val="95000"/>
                    <a:lumOff val="5000"/>
                  </a:srgbClr>
                </a:solidFill>
                <a:effectLst/>
                <a:uLnTx/>
                <a:uFillTx/>
                <a:latin typeface="Times New Roman" panose="02020603050405020304" pitchFamily="18" charset="0"/>
                <a:cs typeface="Times New Roman" panose="02020603050405020304" pitchFamily="18" charset="0"/>
                <a:sym typeface="IBM Plex Sans Condensed"/>
              </a:rPr>
              <a:t>Interactive elements </a:t>
            </a:r>
          </a:p>
          <a:p>
            <a:pPr marL="457200" marR="0" lvl="0" indent="-349250" algn="l" defTabSz="914400" rtl="0" eaLnBrk="1" fontAlgn="auto" latinLnBrk="0" hangingPunct="1">
              <a:lnSpc>
                <a:spcPct val="100000"/>
              </a:lnSpc>
              <a:spcBef>
                <a:spcPts val="0"/>
              </a:spcBef>
              <a:spcAft>
                <a:spcPts val="0"/>
              </a:spcAft>
              <a:buClr>
                <a:srgbClr val="000000"/>
              </a:buClr>
              <a:buSzPts val="1900"/>
              <a:buFont typeface="Wingdings" panose="05000000000000000000" pitchFamily="2" charset="2"/>
              <a:buChar char="ü"/>
              <a:tabLst/>
              <a:defRPr/>
            </a:pPr>
            <a:r>
              <a:rPr kumimoji="0" lang="en-US" sz="2400" b="0" i="0" u="none" strike="noStrike" kern="0" cap="none" spc="0" normalizeH="0" baseline="0" noProof="0" dirty="0">
                <a:ln>
                  <a:noFill/>
                </a:ln>
                <a:solidFill>
                  <a:srgbClr val="000000">
                    <a:lumMod val="95000"/>
                    <a:lumOff val="5000"/>
                  </a:srgbClr>
                </a:solidFill>
                <a:effectLst/>
                <a:uLnTx/>
                <a:uFillTx/>
                <a:latin typeface="Times New Roman" panose="02020603050405020304" pitchFamily="18" charset="0"/>
                <a:cs typeface="Times New Roman" panose="02020603050405020304" pitchFamily="18" charset="0"/>
                <a:sym typeface="IBM Plex Sans Condensed"/>
              </a:rPr>
              <a:t>Transitions</a:t>
            </a:r>
          </a:p>
          <a:p>
            <a:endParaRPr lang="en-IN" dirty="0"/>
          </a:p>
        </p:txBody>
      </p:sp>
      <p:sp>
        <p:nvSpPr>
          <p:cNvPr id="4" name="Slide Number Placeholder 3">
            <a:extLst>
              <a:ext uri="{FF2B5EF4-FFF2-40B4-BE49-F238E27FC236}">
                <a16:creationId xmlns:a16="http://schemas.microsoft.com/office/drawing/2014/main" id="{F2EF388E-5CD0-CAF5-E937-C1E411A6E17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54</a:t>
            </a:fld>
            <a:endParaRPr lang="en-GB"/>
          </a:p>
        </p:txBody>
      </p:sp>
      <p:sp>
        <p:nvSpPr>
          <p:cNvPr id="5" name="AutoShape 2" descr="Generated image: Food Ordering App Mockup">
            <a:extLst>
              <a:ext uri="{FF2B5EF4-FFF2-40B4-BE49-F238E27FC236}">
                <a16:creationId xmlns:a16="http://schemas.microsoft.com/office/drawing/2014/main" id="{4E9EC1C4-6FF9-B81D-17A0-D55F1798D2C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Generated image: Digital Mock-Up Travel App Infographic">
            <a:extLst>
              <a:ext uri="{FF2B5EF4-FFF2-40B4-BE49-F238E27FC236}">
                <a16:creationId xmlns:a16="http://schemas.microsoft.com/office/drawing/2014/main" id="{3C654EFC-17A8-3D55-E362-4F31AB3923D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215B9662-4A9E-2267-F0B0-B14A393FCF50}"/>
              </a:ext>
            </a:extLst>
          </p:cNvPr>
          <p:cNvPicPr>
            <a:picLocks noChangeAspect="1"/>
          </p:cNvPicPr>
          <p:nvPr/>
        </p:nvPicPr>
        <p:blipFill>
          <a:blip r:embed="rId2"/>
          <a:stretch>
            <a:fillRect/>
          </a:stretch>
        </p:blipFill>
        <p:spPr>
          <a:xfrm>
            <a:off x="4150760" y="458590"/>
            <a:ext cx="7801340" cy="5818920"/>
          </a:xfrm>
          <a:prstGeom prst="rect">
            <a:avLst/>
          </a:prstGeom>
        </p:spPr>
      </p:pic>
    </p:spTree>
    <p:extLst>
      <p:ext uri="{BB962C8B-B14F-4D97-AF65-F5344CB8AC3E}">
        <p14:creationId xmlns:p14="http://schemas.microsoft.com/office/powerpoint/2010/main" val="34373551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421E8F3-437D-7C2E-B346-F4F384B1B783}"/>
              </a:ext>
            </a:extLst>
          </p:cNvPr>
          <p:cNvSpPr>
            <a:spLocks noGrp="1"/>
          </p:cNvSpPr>
          <p:nvPr>
            <p:ph type="body" idx="2"/>
          </p:nvPr>
        </p:nvSpPr>
        <p:spPr>
          <a:xfrm>
            <a:off x="523982" y="575352"/>
            <a:ext cx="11075542" cy="5689173"/>
          </a:xfrm>
          <a:ln>
            <a:noFill/>
          </a:ln>
        </p:spPr>
        <p:txBody>
          <a:bodyPr/>
          <a:lstStyle/>
          <a:p>
            <a:pPr>
              <a:buNone/>
            </a:pPr>
            <a:r>
              <a:rPr lang="en-US" sz="2400" b="1" dirty="0">
                <a:latin typeface="Times New Roman" panose="02020603050405020304" pitchFamily="18" charset="0"/>
                <a:cs typeface="Times New Roman" panose="02020603050405020304" pitchFamily="18" charset="0"/>
              </a:rPr>
              <a:t>Advantages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More realistic than paper prototypes.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better visual representation.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demonstrate user interaction.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Easy to share with stakeholders.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Useful for usability testing.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Changes can be made without recreating the entire prototype. </a:t>
            </a:r>
          </a:p>
          <a:p>
            <a:pPr>
              <a:buNone/>
            </a:pPr>
            <a:r>
              <a:rPr lang="en-US" sz="2400" b="1" dirty="0">
                <a:latin typeface="Times New Roman" panose="02020603050405020304" pitchFamily="18" charset="0"/>
                <a:cs typeface="Times New Roman" panose="02020603050405020304" pitchFamily="18" charset="0"/>
              </a:rPr>
              <a:t>Limitations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software/tools.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Takes more time than paper prototyping.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May require design skills.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may focus too much on visual appearance instead of functionality.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High-fidelity mock-ups can create the impression that development is almost complete.</a:t>
            </a:r>
          </a:p>
          <a:p>
            <a:endParaRPr lang="en-IN" dirty="0"/>
          </a:p>
        </p:txBody>
      </p:sp>
      <p:sp>
        <p:nvSpPr>
          <p:cNvPr id="4" name="Slide Number Placeholder 3">
            <a:extLst>
              <a:ext uri="{FF2B5EF4-FFF2-40B4-BE49-F238E27FC236}">
                <a16:creationId xmlns:a16="http://schemas.microsoft.com/office/drawing/2014/main" id="{29E40EB6-288B-7BBC-9661-4878A8A74C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55</a:t>
            </a:fld>
            <a:endParaRPr lang="en-GB"/>
          </a:p>
        </p:txBody>
      </p:sp>
    </p:spTree>
    <p:extLst>
      <p:ext uri="{BB962C8B-B14F-4D97-AF65-F5344CB8AC3E}">
        <p14:creationId xmlns:p14="http://schemas.microsoft.com/office/powerpoint/2010/main" val="2801799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79E05AB-71C9-1862-C0B4-665B52EF048E}"/>
              </a:ext>
            </a:extLst>
          </p:cNvPr>
          <p:cNvSpPr>
            <a:spLocks noGrp="1"/>
          </p:cNvSpPr>
          <p:nvPr>
            <p:ph type="title"/>
          </p:nvPr>
        </p:nvSpPr>
        <p:spPr>
          <a:xfrm>
            <a:off x="343681" y="339112"/>
            <a:ext cx="5923555" cy="763500"/>
          </a:xfrm>
        </p:spPr>
        <p:txBody>
          <a:bodyPr/>
          <a:lstStyle/>
          <a:p>
            <a:r>
              <a:rPr lang="en-IN" dirty="0">
                <a:solidFill>
                  <a:srgbClr val="FF5050"/>
                </a:solidFill>
                <a:latin typeface="Times New Roman" panose="02020603050405020304" pitchFamily="18" charset="0"/>
                <a:cs typeface="Times New Roman" panose="02020603050405020304" pitchFamily="18" charset="0"/>
              </a:rPr>
              <a:t>c) Wireframes</a:t>
            </a:r>
          </a:p>
        </p:txBody>
      </p:sp>
      <p:sp>
        <p:nvSpPr>
          <p:cNvPr id="7" name="Text Placeholder 6">
            <a:extLst>
              <a:ext uri="{FF2B5EF4-FFF2-40B4-BE49-F238E27FC236}">
                <a16:creationId xmlns:a16="http://schemas.microsoft.com/office/drawing/2014/main" id="{180BDBBA-C099-B9B2-D377-085312EF75FB}"/>
              </a:ext>
            </a:extLst>
          </p:cNvPr>
          <p:cNvSpPr>
            <a:spLocks noGrp="1"/>
          </p:cNvSpPr>
          <p:nvPr>
            <p:ph type="body" idx="1"/>
          </p:nvPr>
        </p:nvSpPr>
        <p:spPr>
          <a:xfrm>
            <a:off x="415651" y="1102612"/>
            <a:ext cx="5832750" cy="4889512"/>
          </a:xfrm>
        </p:spPr>
        <p:txBody>
          <a:bodyPr/>
          <a:lstStyle/>
          <a:p>
            <a:pPr>
              <a:buSzPct val="1000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wireframe</a:t>
            </a:r>
            <a:r>
              <a:rPr lang="en-US" sz="2400" dirty="0">
                <a:latin typeface="Times New Roman" panose="02020603050405020304" pitchFamily="18" charset="0"/>
                <a:cs typeface="Times New Roman" panose="02020603050405020304" pitchFamily="18" charset="0"/>
              </a:rPr>
              <a:t> is a simplified visual representation of the </a:t>
            </a:r>
            <a:r>
              <a:rPr lang="en-US" sz="2400" b="1" dirty="0">
                <a:latin typeface="Times New Roman" panose="02020603050405020304" pitchFamily="18" charset="0"/>
                <a:cs typeface="Times New Roman" panose="02020603050405020304" pitchFamily="18" charset="0"/>
              </a:rPr>
              <a:t>structure, layout, content, and navigation</a:t>
            </a:r>
            <a:r>
              <a:rPr lang="en-US" sz="2400" dirty="0">
                <a:latin typeface="Times New Roman" panose="02020603050405020304" pitchFamily="18" charset="0"/>
                <a:cs typeface="Times New Roman" panose="02020603050405020304" pitchFamily="18" charset="0"/>
              </a:rPr>
              <a:t> of a website or application.</a:t>
            </a:r>
          </a:p>
          <a:p>
            <a:pPr>
              <a:buSzPct val="1000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Wireframes primarily answer:</a:t>
            </a:r>
          </a:p>
          <a:p>
            <a:pPr marL="50800" indent="0">
              <a:buSzPct val="100000"/>
              <a:buNone/>
            </a:pPr>
            <a:r>
              <a:rPr lang="en-US" sz="2400" b="1" dirty="0">
                <a:latin typeface="Times New Roman" panose="02020603050405020304" pitchFamily="18" charset="0"/>
                <a:cs typeface="Times New Roman" panose="02020603050405020304" pitchFamily="18" charset="0"/>
              </a:rPr>
              <a:t>"Where should each element be placed?"</a:t>
            </a:r>
            <a:endParaRPr lang="en-US" sz="2400" dirty="0">
              <a:latin typeface="Times New Roman" panose="02020603050405020304" pitchFamily="18" charset="0"/>
              <a:cs typeface="Times New Roman" panose="02020603050405020304" pitchFamily="18" charset="0"/>
            </a:endParaRPr>
          </a:p>
          <a:p>
            <a:pPr>
              <a:buSzPct val="1000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They generally do not focus on detailed colors, images, animations, or visual styling.</a:t>
            </a:r>
          </a:p>
        </p:txBody>
      </p:sp>
      <p:sp>
        <p:nvSpPr>
          <p:cNvPr id="5" name="Slide Number Placeholder 4">
            <a:extLst>
              <a:ext uri="{FF2B5EF4-FFF2-40B4-BE49-F238E27FC236}">
                <a16:creationId xmlns:a16="http://schemas.microsoft.com/office/drawing/2014/main" id="{EC8FED9B-2F2C-71C8-41CE-11DA87F5B7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56</a:t>
            </a:fld>
            <a:endParaRPr lang="en-GB"/>
          </a:p>
        </p:txBody>
      </p:sp>
      <p:sp>
        <p:nvSpPr>
          <p:cNvPr id="9" name="TextBox 8">
            <a:extLst>
              <a:ext uri="{FF2B5EF4-FFF2-40B4-BE49-F238E27FC236}">
                <a16:creationId xmlns:a16="http://schemas.microsoft.com/office/drawing/2014/main" id="{5195BD82-8F5F-FBC8-5A56-3DF4ACBB87C0}"/>
              </a:ext>
            </a:extLst>
          </p:cNvPr>
          <p:cNvSpPr txBox="1"/>
          <p:nvPr/>
        </p:nvSpPr>
        <p:spPr>
          <a:xfrm>
            <a:off x="1969472" y="5761291"/>
            <a:ext cx="4390490" cy="461665"/>
          </a:xfrm>
          <a:prstGeom prst="rect">
            <a:avLst/>
          </a:prstGeom>
          <a:noFill/>
        </p:spPr>
        <p:txBody>
          <a:bodyPr wrap="square">
            <a:spAutoFit/>
          </a:bodyPr>
          <a:lstStyle/>
          <a:p>
            <a:pPr marL="50800" marR="0" lvl="0" algn="l" defTabSz="914400" rtl="0" eaLnBrk="1" fontAlgn="auto" latinLnBrk="0" hangingPunct="1">
              <a:lnSpc>
                <a:spcPct val="100000"/>
              </a:lnSpc>
              <a:spcBef>
                <a:spcPts val="0"/>
              </a:spcBef>
              <a:spcAft>
                <a:spcPts val="0"/>
              </a:spcAft>
              <a:buClr>
                <a:srgbClr val="000000"/>
              </a:buClr>
              <a:buSzPts val="2800"/>
              <a:tabLst/>
              <a:defRPr/>
            </a:pP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Example: Website Wireframe</a:t>
            </a:r>
          </a:p>
        </p:txBody>
      </p:sp>
      <p:sp>
        <p:nvSpPr>
          <p:cNvPr id="10" name="AutoShape 2" descr="Generated image: Grayscale Landing Page Wireframe Template">
            <a:extLst>
              <a:ext uri="{FF2B5EF4-FFF2-40B4-BE49-F238E27FC236}">
                <a16:creationId xmlns:a16="http://schemas.microsoft.com/office/drawing/2014/main" id="{F70C0DE8-7C46-88F4-2B55-74A1E45FFE3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374CFA8A-7C60-F4D2-F5F1-EF54188484FC}"/>
              </a:ext>
            </a:extLst>
          </p:cNvPr>
          <p:cNvPicPr>
            <a:picLocks noChangeAspect="1"/>
          </p:cNvPicPr>
          <p:nvPr/>
        </p:nvPicPr>
        <p:blipFill>
          <a:blip r:embed="rId2"/>
          <a:stretch>
            <a:fillRect/>
          </a:stretch>
        </p:blipFill>
        <p:spPr>
          <a:xfrm>
            <a:off x="6359962" y="233394"/>
            <a:ext cx="5488357" cy="5920826"/>
          </a:xfrm>
          <a:prstGeom prst="rect">
            <a:avLst/>
          </a:prstGeom>
        </p:spPr>
      </p:pic>
    </p:spTree>
    <p:extLst>
      <p:ext uri="{BB962C8B-B14F-4D97-AF65-F5344CB8AC3E}">
        <p14:creationId xmlns:p14="http://schemas.microsoft.com/office/powerpoint/2010/main" val="25251040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4C5594C-01B7-4373-7466-8372426AAA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57</a:t>
            </a:fld>
            <a:endParaRPr lang="en-GB"/>
          </a:p>
        </p:txBody>
      </p:sp>
      <p:pic>
        <p:nvPicPr>
          <p:cNvPr id="5" name="Picture 4">
            <a:extLst>
              <a:ext uri="{FF2B5EF4-FFF2-40B4-BE49-F238E27FC236}">
                <a16:creationId xmlns:a16="http://schemas.microsoft.com/office/drawing/2014/main" id="{E05E51A5-789C-3949-E3B0-6872219E1EAE}"/>
              </a:ext>
            </a:extLst>
          </p:cNvPr>
          <p:cNvPicPr>
            <a:picLocks noChangeAspect="1"/>
          </p:cNvPicPr>
          <p:nvPr/>
        </p:nvPicPr>
        <p:blipFill>
          <a:blip r:embed="rId2"/>
          <a:stretch>
            <a:fillRect/>
          </a:stretch>
        </p:blipFill>
        <p:spPr>
          <a:xfrm>
            <a:off x="1015832" y="530107"/>
            <a:ext cx="9753600" cy="5324475"/>
          </a:xfrm>
          <a:prstGeom prst="rect">
            <a:avLst/>
          </a:prstGeom>
        </p:spPr>
      </p:pic>
      <p:sp>
        <p:nvSpPr>
          <p:cNvPr id="6" name="TextBox 5">
            <a:extLst>
              <a:ext uri="{FF2B5EF4-FFF2-40B4-BE49-F238E27FC236}">
                <a16:creationId xmlns:a16="http://schemas.microsoft.com/office/drawing/2014/main" id="{B41C068C-5466-1B7E-7574-3520682BAA16}"/>
              </a:ext>
            </a:extLst>
          </p:cNvPr>
          <p:cNvSpPr txBox="1"/>
          <p:nvPr/>
        </p:nvSpPr>
        <p:spPr>
          <a:xfrm>
            <a:off x="1345915" y="5969285"/>
            <a:ext cx="3071973" cy="307777"/>
          </a:xfrm>
          <a:prstGeom prst="rect">
            <a:avLst/>
          </a:prstGeom>
          <a:noFill/>
        </p:spPr>
        <p:txBody>
          <a:bodyPr wrap="square" rtlCol="0">
            <a:spAutoFit/>
          </a:bodyPr>
          <a:lstStyle/>
          <a:p>
            <a:r>
              <a:rPr lang="en-US" dirty="0"/>
              <a:t>Wireframe Focus</a:t>
            </a:r>
            <a:endParaRPr lang="en-IN" dirty="0"/>
          </a:p>
        </p:txBody>
      </p:sp>
    </p:spTree>
    <p:extLst>
      <p:ext uri="{BB962C8B-B14F-4D97-AF65-F5344CB8AC3E}">
        <p14:creationId xmlns:p14="http://schemas.microsoft.com/office/powerpoint/2010/main" val="21749104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2C443-74B6-B58A-B9F8-B8A849F5DBF8}"/>
              </a:ext>
            </a:extLst>
          </p:cNvPr>
          <p:cNvSpPr>
            <a:spLocks noGrp="1"/>
          </p:cNvSpPr>
          <p:nvPr>
            <p:ph type="title"/>
          </p:nvPr>
        </p:nvSpPr>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Low-Fidelity vs High-Fidelity Prototypes</a:t>
            </a:r>
          </a:p>
        </p:txBody>
      </p:sp>
      <p:sp>
        <p:nvSpPr>
          <p:cNvPr id="3" name="Text Placeholder 2">
            <a:extLst>
              <a:ext uri="{FF2B5EF4-FFF2-40B4-BE49-F238E27FC236}">
                <a16:creationId xmlns:a16="http://schemas.microsoft.com/office/drawing/2014/main" id="{5C92B5B0-DE2E-9D3F-9C67-22D9D94659C2}"/>
              </a:ext>
            </a:extLst>
          </p:cNvPr>
          <p:cNvSpPr>
            <a:spLocks noGrp="1"/>
          </p:cNvSpPr>
          <p:nvPr>
            <p:ph type="body" idx="1"/>
          </p:nvPr>
        </p:nvSpPr>
        <p:spPr>
          <a:xfrm>
            <a:off x="415600" y="1172809"/>
            <a:ext cx="11360700" cy="4672200"/>
          </a:xfrm>
        </p:spPr>
        <p:txBody>
          <a:bodyPr/>
          <a:lstStyle/>
          <a:p>
            <a:pPr>
              <a:buSzPct val="100000"/>
            </a:pPr>
            <a:r>
              <a:rPr lang="en-US" sz="2400" dirty="0">
                <a:latin typeface="Times New Roman" panose="02020603050405020304" pitchFamily="18" charset="0"/>
                <a:cs typeface="Times New Roman" panose="02020603050405020304" pitchFamily="18" charset="0"/>
              </a:rPr>
              <a:t>Prototypes can be classified according to their level of detail and realism</a:t>
            </a:r>
          </a:p>
          <a:p>
            <a:pPr>
              <a:buSzPct val="100000"/>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006BFFB-1547-E1BB-2BA0-26C5571D35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58</a:t>
            </a:fld>
            <a:endParaRPr lang="en-GB"/>
          </a:p>
        </p:txBody>
      </p:sp>
      <p:graphicFrame>
        <p:nvGraphicFramePr>
          <p:cNvPr id="5" name="Table 4">
            <a:extLst>
              <a:ext uri="{FF2B5EF4-FFF2-40B4-BE49-F238E27FC236}">
                <a16:creationId xmlns:a16="http://schemas.microsoft.com/office/drawing/2014/main" id="{2EB5180C-E24A-937F-2292-E2005608BB8E}"/>
              </a:ext>
            </a:extLst>
          </p:cNvPr>
          <p:cNvGraphicFramePr>
            <a:graphicFrameLocks noGrp="1"/>
          </p:cNvGraphicFramePr>
          <p:nvPr/>
        </p:nvGraphicFramePr>
        <p:xfrm>
          <a:off x="950875" y="1936309"/>
          <a:ext cx="10269525" cy="4114800"/>
        </p:xfrm>
        <a:graphic>
          <a:graphicData uri="http://schemas.openxmlformats.org/drawingml/2006/table">
            <a:tbl>
              <a:tblPr>
                <a:tableStyleId>{69C7853C-536D-4A76-A0AE-DD22124D55A5}</a:tableStyleId>
              </a:tblPr>
              <a:tblGrid>
                <a:gridCol w="2587105">
                  <a:extLst>
                    <a:ext uri="{9D8B030D-6E8A-4147-A177-3AD203B41FA5}">
                      <a16:colId xmlns:a16="http://schemas.microsoft.com/office/drawing/2014/main" val="2398702419"/>
                    </a:ext>
                  </a:extLst>
                </a:gridCol>
                <a:gridCol w="2795626">
                  <a:extLst>
                    <a:ext uri="{9D8B030D-6E8A-4147-A177-3AD203B41FA5}">
                      <a16:colId xmlns:a16="http://schemas.microsoft.com/office/drawing/2014/main" val="3385654014"/>
                    </a:ext>
                  </a:extLst>
                </a:gridCol>
                <a:gridCol w="4886794">
                  <a:extLst>
                    <a:ext uri="{9D8B030D-6E8A-4147-A177-3AD203B41FA5}">
                      <a16:colId xmlns:a16="http://schemas.microsoft.com/office/drawing/2014/main" val="4100402870"/>
                    </a:ext>
                  </a:extLst>
                </a:gridCol>
              </a:tblGrid>
              <a:tr h="304800">
                <a:tc>
                  <a:txBody>
                    <a:bodyPr/>
                    <a:lstStyle/>
                    <a:p>
                      <a:pPr>
                        <a:buNone/>
                      </a:pPr>
                      <a:r>
                        <a:rPr lang="en-IN" sz="2400" b="1" i="1">
                          <a:latin typeface="Times New Roman" panose="02020603050405020304" pitchFamily="18" charset="0"/>
                          <a:cs typeface="Times New Roman" panose="02020603050405020304" pitchFamily="18" charset="0"/>
                        </a:rPr>
                        <a:t>Feature</a:t>
                      </a:r>
                    </a:p>
                  </a:txBody>
                  <a:tcPr anchor="ctr"/>
                </a:tc>
                <a:tc>
                  <a:txBody>
                    <a:bodyPr/>
                    <a:lstStyle/>
                    <a:p>
                      <a:pPr>
                        <a:buNone/>
                      </a:pPr>
                      <a:r>
                        <a:rPr lang="en-IN" sz="2400" b="1" i="1">
                          <a:latin typeface="Times New Roman" panose="02020603050405020304" pitchFamily="18" charset="0"/>
                          <a:cs typeface="Times New Roman" panose="02020603050405020304" pitchFamily="18" charset="0"/>
                        </a:rPr>
                        <a:t>Low-Fidelity</a:t>
                      </a:r>
                    </a:p>
                  </a:txBody>
                  <a:tcPr anchor="ctr"/>
                </a:tc>
                <a:tc>
                  <a:txBody>
                    <a:bodyPr/>
                    <a:lstStyle/>
                    <a:p>
                      <a:pPr>
                        <a:buNone/>
                      </a:pPr>
                      <a:r>
                        <a:rPr lang="en-IN" sz="2400" b="1" i="1" dirty="0">
                          <a:latin typeface="Times New Roman" panose="02020603050405020304" pitchFamily="18" charset="0"/>
                          <a:cs typeface="Times New Roman" panose="02020603050405020304" pitchFamily="18" charset="0"/>
                        </a:rPr>
                        <a:t>High-Fidelity</a:t>
                      </a:r>
                    </a:p>
                  </a:txBody>
                  <a:tcPr anchor="ctr"/>
                </a:tc>
                <a:extLst>
                  <a:ext uri="{0D108BD9-81ED-4DB2-BD59-A6C34878D82A}">
                    <a16:rowId xmlns:a16="http://schemas.microsoft.com/office/drawing/2014/main" val="1398804577"/>
                  </a:ext>
                </a:extLst>
              </a:tr>
              <a:tr h="304800">
                <a:tc>
                  <a:txBody>
                    <a:bodyPr/>
                    <a:lstStyle/>
                    <a:p>
                      <a:pPr>
                        <a:buNone/>
                      </a:pPr>
                      <a:r>
                        <a:rPr lang="en-IN" sz="2400">
                          <a:latin typeface="Times New Roman" panose="02020603050405020304" pitchFamily="18" charset="0"/>
                          <a:cs typeface="Times New Roman" panose="02020603050405020304" pitchFamily="18" charset="0"/>
                        </a:rPr>
                        <a:t>Detail</a:t>
                      </a:r>
                    </a:p>
                  </a:txBody>
                  <a:tcPr anchor="ctr"/>
                </a:tc>
                <a:tc>
                  <a:txBody>
                    <a:bodyPr/>
                    <a:lstStyle/>
                    <a:p>
                      <a:pPr>
                        <a:buNone/>
                      </a:pPr>
                      <a:r>
                        <a:rPr lang="en-IN" sz="2400">
                          <a:latin typeface="Times New Roman" panose="02020603050405020304" pitchFamily="18" charset="0"/>
                          <a:cs typeface="Times New Roman" panose="02020603050405020304" pitchFamily="18" charset="0"/>
                        </a:rPr>
                        <a:t>Low</a:t>
                      </a:r>
                    </a:p>
                  </a:txBody>
                  <a:tcPr anchor="ctr"/>
                </a:tc>
                <a:tc>
                  <a:txBody>
                    <a:bodyPr/>
                    <a:lstStyle/>
                    <a:p>
                      <a:pPr>
                        <a:buNone/>
                      </a:pPr>
                      <a:r>
                        <a:rPr lang="en-IN" sz="2400">
                          <a:latin typeface="Times New Roman" panose="02020603050405020304" pitchFamily="18" charset="0"/>
                          <a:cs typeface="Times New Roman" panose="02020603050405020304" pitchFamily="18" charset="0"/>
                        </a:rPr>
                        <a:t>High</a:t>
                      </a:r>
                    </a:p>
                  </a:txBody>
                  <a:tcPr anchor="ctr"/>
                </a:tc>
                <a:extLst>
                  <a:ext uri="{0D108BD9-81ED-4DB2-BD59-A6C34878D82A}">
                    <a16:rowId xmlns:a16="http://schemas.microsoft.com/office/drawing/2014/main" val="3783869833"/>
                  </a:ext>
                </a:extLst>
              </a:tr>
              <a:tr h="304800">
                <a:tc>
                  <a:txBody>
                    <a:bodyPr/>
                    <a:lstStyle/>
                    <a:p>
                      <a:pPr>
                        <a:buNone/>
                      </a:pPr>
                      <a:r>
                        <a:rPr lang="en-IN" sz="2400" dirty="0">
                          <a:latin typeface="Times New Roman" panose="02020603050405020304" pitchFamily="18" charset="0"/>
                          <a:cs typeface="Times New Roman" panose="02020603050405020304" pitchFamily="18" charset="0"/>
                        </a:rPr>
                        <a:t>Cost</a:t>
                      </a:r>
                    </a:p>
                  </a:txBody>
                  <a:tcPr anchor="ctr"/>
                </a:tc>
                <a:tc>
                  <a:txBody>
                    <a:bodyPr/>
                    <a:lstStyle/>
                    <a:p>
                      <a:pPr>
                        <a:buNone/>
                      </a:pPr>
                      <a:r>
                        <a:rPr lang="en-IN" sz="2400">
                          <a:latin typeface="Times New Roman" panose="02020603050405020304" pitchFamily="18" charset="0"/>
                          <a:cs typeface="Times New Roman" panose="02020603050405020304" pitchFamily="18" charset="0"/>
                        </a:rPr>
                        <a:t>Very low</a:t>
                      </a:r>
                    </a:p>
                  </a:txBody>
                  <a:tcPr anchor="ctr"/>
                </a:tc>
                <a:tc>
                  <a:txBody>
                    <a:bodyPr/>
                    <a:lstStyle/>
                    <a:p>
                      <a:pPr>
                        <a:buNone/>
                      </a:pPr>
                      <a:r>
                        <a:rPr lang="en-IN" sz="2400">
                          <a:latin typeface="Times New Roman" panose="02020603050405020304" pitchFamily="18" charset="0"/>
                          <a:cs typeface="Times New Roman" panose="02020603050405020304" pitchFamily="18" charset="0"/>
                        </a:rPr>
                        <a:t>Higher</a:t>
                      </a:r>
                    </a:p>
                  </a:txBody>
                  <a:tcPr anchor="ctr"/>
                </a:tc>
                <a:extLst>
                  <a:ext uri="{0D108BD9-81ED-4DB2-BD59-A6C34878D82A}">
                    <a16:rowId xmlns:a16="http://schemas.microsoft.com/office/drawing/2014/main" val="1026483194"/>
                  </a:ext>
                </a:extLst>
              </a:tr>
              <a:tr h="304800">
                <a:tc>
                  <a:txBody>
                    <a:bodyPr/>
                    <a:lstStyle/>
                    <a:p>
                      <a:pPr>
                        <a:buNone/>
                      </a:pPr>
                      <a:r>
                        <a:rPr lang="en-IN" sz="2400">
                          <a:latin typeface="Times New Roman" panose="02020603050405020304" pitchFamily="18" charset="0"/>
                          <a:cs typeface="Times New Roman" panose="02020603050405020304" pitchFamily="18" charset="0"/>
                        </a:rPr>
                        <a:t>Creation time</a:t>
                      </a:r>
                    </a:p>
                  </a:txBody>
                  <a:tcPr anchor="ctr"/>
                </a:tc>
                <a:tc>
                  <a:txBody>
                    <a:bodyPr/>
                    <a:lstStyle/>
                    <a:p>
                      <a:pPr>
                        <a:buNone/>
                      </a:pPr>
                      <a:r>
                        <a:rPr lang="en-IN" sz="2400">
                          <a:latin typeface="Times New Roman" panose="02020603050405020304" pitchFamily="18" charset="0"/>
                          <a:cs typeface="Times New Roman" panose="02020603050405020304" pitchFamily="18" charset="0"/>
                        </a:rPr>
                        <a:t>Very short</a:t>
                      </a:r>
                    </a:p>
                  </a:txBody>
                  <a:tcPr anchor="ctr"/>
                </a:tc>
                <a:tc>
                  <a:txBody>
                    <a:bodyPr/>
                    <a:lstStyle/>
                    <a:p>
                      <a:pPr>
                        <a:buNone/>
                      </a:pPr>
                      <a:r>
                        <a:rPr lang="en-IN" sz="2400">
                          <a:latin typeface="Times New Roman" panose="02020603050405020304" pitchFamily="18" charset="0"/>
                          <a:cs typeface="Times New Roman" panose="02020603050405020304" pitchFamily="18" charset="0"/>
                        </a:rPr>
                        <a:t>Longer</a:t>
                      </a:r>
                    </a:p>
                  </a:txBody>
                  <a:tcPr anchor="ctr"/>
                </a:tc>
                <a:extLst>
                  <a:ext uri="{0D108BD9-81ED-4DB2-BD59-A6C34878D82A}">
                    <a16:rowId xmlns:a16="http://schemas.microsoft.com/office/drawing/2014/main" val="1732259847"/>
                  </a:ext>
                </a:extLst>
              </a:tr>
              <a:tr h="304800">
                <a:tc>
                  <a:txBody>
                    <a:bodyPr/>
                    <a:lstStyle/>
                    <a:p>
                      <a:pPr>
                        <a:buNone/>
                      </a:pPr>
                      <a:r>
                        <a:rPr lang="en-IN" sz="2400">
                          <a:latin typeface="Times New Roman" panose="02020603050405020304" pitchFamily="18" charset="0"/>
                          <a:cs typeface="Times New Roman" panose="02020603050405020304" pitchFamily="18" charset="0"/>
                        </a:rPr>
                        <a:t>Example</a:t>
                      </a:r>
                    </a:p>
                  </a:txBody>
                  <a:tcPr anchor="ctr"/>
                </a:tc>
                <a:tc>
                  <a:txBody>
                    <a:bodyPr/>
                    <a:lstStyle/>
                    <a:p>
                      <a:pPr>
                        <a:buNone/>
                      </a:pPr>
                      <a:r>
                        <a:rPr lang="en-IN" sz="2400">
                          <a:latin typeface="Times New Roman" panose="02020603050405020304" pitchFamily="18" charset="0"/>
                          <a:cs typeface="Times New Roman" panose="02020603050405020304" pitchFamily="18" charset="0"/>
                        </a:rPr>
                        <a:t>Paper sketch</a:t>
                      </a:r>
                    </a:p>
                  </a:txBody>
                  <a:tcPr anchor="ctr"/>
                </a:tc>
                <a:tc>
                  <a:txBody>
                    <a:bodyPr/>
                    <a:lstStyle/>
                    <a:p>
                      <a:pPr>
                        <a:buNone/>
                      </a:pPr>
                      <a:r>
                        <a:rPr lang="en-IN" sz="2400">
                          <a:latin typeface="Times New Roman" panose="02020603050405020304" pitchFamily="18" charset="0"/>
                          <a:cs typeface="Times New Roman" panose="02020603050405020304" pitchFamily="18" charset="0"/>
                        </a:rPr>
                        <a:t>Interactive digital prototype</a:t>
                      </a:r>
                    </a:p>
                  </a:txBody>
                  <a:tcPr anchor="ctr"/>
                </a:tc>
                <a:extLst>
                  <a:ext uri="{0D108BD9-81ED-4DB2-BD59-A6C34878D82A}">
                    <a16:rowId xmlns:a16="http://schemas.microsoft.com/office/drawing/2014/main" val="3494669458"/>
                  </a:ext>
                </a:extLst>
              </a:tr>
              <a:tr h="304800">
                <a:tc>
                  <a:txBody>
                    <a:bodyPr/>
                    <a:lstStyle/>
                    <a:p>
                      <a:pPr>
                        <a:buNone/>
                      </a:pPr>
                      <a:r>
                        <a:rPr lang="en-IN" sz="2400">
                          <a:latin typeface="Times New Roman" panose="02020603050405020304" pitchFamily="18" charset="0"/>
                          <a:cs typeface="Times New Roman" panose="02020603050405020304" pitchFamily="18" charset="0"/>
                        </a:rPr>
                        <a:t>Colors</a:t>
                      </a:r>
                    </a:p>
                  </a:txBody>
                  <a:tcPr anchor="ctr"/>
                </a:tc>
                <a:tc>
                  <a:txBody>
                    <a:bodyPr/>
                    <a:lstStyle/>
                    <a:p>
                      <a:pPr>
                        <a:buNone/>
                      </a:pPr>
                      <a:r>
                        <a:rPr lang="en-IN" sz="2400">
                          <a:latin typeface="Times New Roman" panose="02020603050405020304" pitchFamily="18" charset="0"/>
                          <a:cs typeface="Times New Roman" panose="02020603050405020304" pitchFamily="18" charset="0"/>
                        </a:rPr>
                        <a:t>Usually limited</a:t>
                      </a:r>
                    </a:p>
                  </a:txBody>
                  <a:tcPr anchor="ctr"/>
                </a:tc>
                <a:tc>
                  <a:txBody>
                    <a:bodyPr/>
                    <a:lstStyle/>
                    <a:p>
                      <a:pPr>
                        <a:buNone/>
                      </a:pPr>
                      <a:r>
                        <a:rPr lang="en-IN" sz="2400">
                          <a:latin typeface="Times New Roman" panose="02020603050405020304" pitchFamily="18" charset="0"/>
                          <a:cs typeface="Times New Roman" panose="02020603050405020304" pitchFamily="18" charset="0"/>
                        </a:rPr>
                        <a:t>Realistic</a:t>
                      </a:r>
                    </a:p>
                  </a:txBody>
                  <a:tcPr anchor="ctr"/>
                </a:tc>
                <a:extLst>
                  <a:ext uri="{0D108BD9-81ED-4DB2-BD59-A6C34878D82A}">
                    <a16:rowId xmlns:a16="http://schemas.microsoft.com/office/drawing/2014/main" val="55051197"/>
                  </a:ext>
                </a:extLst>
              </a:tr>
              <a:tr h="304800">
                <a:tc>
                  <a:txBody>
                    <a:bodyPr/>
                    <a:lstStyle/>
                    <a:p>
                      <a:pPr>
                        <a:buNone/>
                      </a:pPr>
                      <a:r>
                        <a:rPr lang="en-IN" sz="2400">
                          <a:latin typeface="Times New Roman" panose="02020603050405020304" pitchFamily="18" charset="0"/>
                          <a:cs typeface="Times New Roman" panose="02020603050405020304" pitchFamily="18" charset="0"/>
                        </a:rPr>
                        <a:t>Interaction</a:t>
                      </a:r>
                    </a:p>
                  </a:txBody>
                  <a:tcPr anchor="ctr"/>
                </a:tc>
                <a:tc>
                  <a:txBody>
                    <a:bodyPr/>
                    <a:lstStyle/>
                    <a:p>
                      <a:pPr>
                        <a:buNone/>
                      </a:pPr>
                      <a:r>
                        <a:rPr lang="en-IN" sz="2400">
                          <a:latin typeface="Times New Roman" panose="02020603050405020304" pitchFamily="18" charset="0"/>
                          <a:cs typeface="Times New Roman" panose="02020603050405020304" pitchFamily="18" charset="0"/>
                        </a:rPr>
                        <a:t>Basic</a:t>
                      </a:r>
                    </a:p>
                  </a:txBody>
                  <a:tcPr anchor="ctr"/>
                </a:tc>
                <a:tc>
                  <a:txBody>
                    <a:bodyPr/>
                    <a:lstStyle/>
                    <a:p>
                      <a:pPr>
                        <a:buNone/>
                      </a:pPr>
                      <a:r>
                        <a:rPr lang="en-IN" sz="2400">
                          <a:latin typeface="Times New Roman" panose="02020603050405020304" pitchFamily="18" charset="0"/>
                          <a:cs typeface="Times New Roman" panose="02020603050405020304" pitchFamily="18" charset="0"/>
                        </a:rPr>
                        <a:t>Advanced</a:t>
                      </a:r>
                    </a:p>
                  </a:txBody>
                  <a:tcPr anchor="ctr"/>
                </a:tc>
                <a:extLst>
                  <a:ext uri="{0D108BD9-81ED-4DB2-BD59-A6C34878D82A}">
                    <a16:rowId xmlns:a16="http://schemas.microsoft.com/office/drawing/2014/main" val="805868932"/>
                  </a:ext>
                </a:extLst>
              </a:tr>
              <a:tr h="304800">
                <a:tc>
                  <a:txBody>
                    <a:bodyPr/>
                    <a:lstStyle/>
                    <a:p>
                      <a:pPr>
                        <a:buNone/>
                      </a:pPr>
                      <a:r>
                        <a:rPr lang="en-IN" sz="2400">
                          <a:latin typeface="Times New Roman" panose="02020603050405020304" pitchFamily="18" charset="0"/>
                          <a:cs typeface="Times New Roman" panose="02020603050405020304" pitchFamily="18" charset="0"/>
                        </a:rPr>
                        <a:t>Purpose</a:t>
                      </a:r>
                    </a:p>
                  </a:txBody>
                  <a:tcPr anchor="ctr"/>
                </a:tc>
                <a:tc>
                  <a:txBody>
                    <a:bodyPr/>
                    <a:lstStyle/>
                    <a:p>
                      <a:pPr>
                        <a:buNone/>
                      </a:pPr>
                      <a:r>
                        <a:rPr lang="en-IN" sz="2400">
                          <a:latin typeface="Times New Roman" panose="02020603050405020304" pitchFamily="18" charset="0"/>
                          <a:cs typeface="Times New Roman" panose="02020603050405020304" pitchFamily="18" charset="0"/>
                        </a:rPr>
                        <a:t>Explore ideas</a:t>
                      </a:r>
                    </a:p>
                  </a:txBody>
                  <a:tcPr anchor="ctr"/>
                </a:tc>
                <a:tc>
                  <a:txBody>
                    <a:bodyPr/>
                    <a:lstStyle/>
                    <a:p>
                      <a:pPr>
                        <a:buNone/>
                      </a:pPr>
                      <a:r>
                        <a:rPr lang="en-IN" sz="2400">
                          <a:latin typeface="Times New Roman" panose="02020603050405020304" pitchFamily="18" charset="0"/>
                          <a:cs typeface="Times New Roman" panose="02020603050405020304" pitchFamily="18" charset="0"/>
                        </a:rPr>
                        <a:t>Validate final design</a:t>
                      </a:r>
                    </a:p>
                  </a:txBody>
                  <a:tcPr anchor="ctr"/>
                </a:tc>
                <a:extLst>
                  <a:ext uri="{0D108BD9-81ED-4DB2-BD59-A6C34878D82A}">
                    <a16:rowId xmlns:a16="http://schemas.microsoft.com/office/drawing/2014/main" val="3213514907"/>
                  </a:ext>
                </a:extLst>
              </a:tr>
              <a:tr h="304800">
                <a:tc>
                  <a:txBody>
                    <a:bodyPr/>
                    <a:lstStyle/>
                    <a:p>
                      <a:pPr>
                        <a:buNone/>
                      </a:pPr>
                      <a:r>
                        <a:rPr lang="en-IN" sz="2400">
                          <a:latin typeface="Times New Roman" panose="02020603050405020304" pitchFamily="18" charset="0"/>
                          <a:cs typeface="Times New Roman" panose="02020603050405020304" pitchFamily="18" charset="0"/>
                        </a:rPr>
                        <a:t>Changes</a:t>
                      </a:r>
                    </a:p>
                  </a:txBody>
                  <a:tcPr anchor="ctr"/>
                </a:tc>
                <a:tc>
                  <a:txBody>
                    <a:bodyPr/>
                    <a:lstStyle/>
                    <a:p>
                      <a:pPr>
                        <a:buNone/>
                      </a:pPr>
                      <a:r>
                        <a:rPr lang="en-IN" sz="2400">
                          <a:latin typeface="Times New Roman" panose="02020603050405020304" pitchFamily="18" charset="0"/>
                          <a:cs typeface="Times New Roman" panose="02020603050405020304" pitchFamily="18" charset="0"/>
                        </a:rPr>
                        <a:t>Very easy</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Comparatively harder</a:t>
                      </a:r>
                    </a:p>
                  </a:txBody>
                  <a:tcPr anchor="ctr"/>
                </a:tc>
                <a:extLst>
                  <a:ext uri="{0D108BD9-81ED-4DB2-BD59-A6C34878D82A}">
                    <a16:rowId xmlns:a16="http://schemas.microsoft.com/office/drawing/2014/main" val="1802308774"/>
                  </a:ext>
                </a:extLst>
              </a:tr>
            </a:tbl>
          </a:graphicData>
        </a:graphic>
      </p:graphicFrame>
    </p:spTree>
    <p:extLst>
      <p:ext uri="{BB962C8B-B14F-4D97-AF65-F5344CB8AC3E}">
        <p14:creationId xmlns:p14="http://schemas.microsoft.com/office/powerpoint/2010/main" val="17588851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474DA-7718-105C-1CAF-B53D4E9B922D}"/>
              </a:ext>
            </a:extLst>
          </p:cNvPr>
          <p:cNvSpPr>
            <a:spLocks noGrp="1"/>
          </p:cNvSpPr>
          <p:nvPr>
            <p:ph type="title"/>
          </p:nvPr>
        </p:nvSpPr>
        <p:spPr>
          <a:xfrm>
            <a:off x="225550" y="183542"/>
            <a:ext cx="11360700" cy="689761"/>
          </a:xfrm>
        </p:spPr>
        <p:txBody>
          <a:bodyPr/>
          <a:lstStyle/>
          <a:p>
            <a:r>
              <a:rPr lang="en-IN" sz="2400" dirty="0">
                <a:latin typeface="Times New Roman" panose="02020603050405020304" pitchFamily="18" charset="0"/>
                <a:cs typeface="Times New Roman" panose="02020603050405020304" pitchFamily="18" charset="0"/>
              </a:rPr>
              <a:t>Fidelity spectrum</a:t>
            </a:r>
          </a:p>
        </p:txBody>
      </p:sp>
      <p:sp>
        <p:nvSpPr>
          <p:cNvPr id="4" name="Slide Number Placeholder 3">
            <a:extLst>
              <a:ext uri="{FF2B5EF4-FFF2-40B4-BE49-F238E27FC236}">
                <a16:creationId xmlns:a16="http://schemas.microsoft.com/office/drawing/2014/main" id="{3564C348-2FC6-5D8B-C3C0-245EDD2BAD7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59</a:t>
            </a:fld>
            <a:endParaRPr lang="en-GB"/>
          </a:p>
        </p:txBody>
      </p:sp>
      <p:pic>
        <p:nvPicPr>
          <p:cNvPr id="6" name="Picture 5">
            <a:extLst>
              <a:ext uri="{FF2B5EF4-FFF2-40B4-BE49-F238E27FC236}">
                <a16:creationId xmlns:a16="http://schemas.microsoft.com/office/drawing/2014/main" id="{43DED247-0E02-123B-97FB-58C8BB353A72}"/>
              </a:ext>
            </a:extLst>
          </p:cNvPr>
          <p:cNvPicPr>
            <a:picLocks noChangeAspect="1"/>
          </p:cNvPicPr>
          <p:nvPr/>
        </p:nvPicPr>
        <p:blipFill>
          <a:blip r:embed="rId2"/>
          <a:stretch>
            <a:fillRect/>
          </a:stretch>
        </p:blipFill>
        <p:spPr>
          <a:xfrm>
            <a:off x="1570562" y="999661"/>
            <a:ext cx="9649838" cy="5282344"/>
          </a:xfrm>
          <a:prstGeom prst="rect">
            <a:avLst/>
          </a:prstGeom>
        </p:spPr>
      </p:pic>
    </p:spTree>
    <p:extLst>
      <p:ext uri="{BB962C8B-B14F-4D97-AF65-F5344CB8AC3E}">
        <p14:creationId xmlns:p14="http://schemas.microsoft.com/office/powerpoint/2010/main" val="31477054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6CD1B-6FCF-6ECB-2D90-EBD2BD9C6AB7}"/>
              </a:ext>
            </a:extLst>
          </p:cNvPr>
          <p:cNvSpPr>
            <a:spLocks noGrp="1"/>
          </p:cNvSpPr>
          <p:nvPr>
            <p:ph type="title"/>
          </p:nvPr>
        </p:nvSpPr>
        <p:spPr>
          <a:xfrm>
            <a:off x="343681" y="142445"/>
            <a:ext cx="11360700" cy="606831"/>
          </a:xfrm>
        </p:spPr>
        <p:txBody>
          <a:bodyPr/>
          <a:lstStyle/>
          <a:p>
            <a:pPr marL="457200" indent="-457200">
              <a:buFont typeface="Wingdings" panose="05000000000000000000" pitchFamily="2" charset="2"/>
              <a:buChar char="v"/>
            </a:pPr>
            <a:r>
              <a:rPr lang="en-US" sz="2800" dirty="0">
                <a:solidFill>
                  <a:srgbClr val="006600"/>
                </a:solidFill>
                <a:latin typeface="Times New Roman" panose="02020603050405020304" pitchFamily="18" charset="0"/>
                <a:cs typeface="Times New Roman" panose="02020603050405020304" pitchFamily="18" charset="0"/>
              </a:rPr>
              <a:t>Comparison of the Three Techniques</a:t>
            </a:r>
            <a:endParaRPr lang="en-IN" sz="2800" dirty="0">
              <a:solidFill>
                <a:srgbClr val="0066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F1135D5-0BC7-CC38-4A1F-063712405D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60</a:t>
            </a:fld>
            <a:endParaRPr lang="en-GB"/>
          </a:p>
        </p:txBody>
      </p:sp>
      <p:graphicFrame>
        <p:nvGraphicFramePr>
          <p:cNvPr id="5" name="Table 4">
            <a:extLst>
              <a:ext uri="{FF2B5EF4-FFF2-40B4-BE49-F238E27FC236}">
                <a16:creationId xmlns:a16="http://schemas.microsoft.com/office/drawing/2014/main" id="{7D937827-9D35-6F9E-EA37-B95645B38B06}"/>
              </a:ext>
            </a:extLst>
          </p:cNvPr>
          <p:cNvGraphicFramePr>
            <a:graphicFrameLocks noGrp="1"/>
          </p:cNvGraphicFramePr>
          <p:nvPr/>
        </p:nvGraphicFramePr>
        <p:xfrm>
          <a:off x="415926" y="749276"/>
          <a:ext cx="11360148" cy="5364480"/>
        </p:xfrm>
        <a:graphic>
          <a:graphicData uri="http://schemas.openxmlformats.org/drawingml/2006/table">
            <a:tbl>
              <a:tblPr>
                <a:tableStyleId>{35758FB7-9AC5-4552-8A53-C91805E547FA}</a:tableStyleId>
              </a:tblPr>
              <a:tblGrid>
                <a:gridCol w="2840037">
                  <a:extLst>
                    <a:ext uri="{9D8B030D-6E8A-4147-A177-3AD203B41FA5}">
                      <a16:colId xmlns:a16="http://schemas.microsoft.com/office/drawing/2014/main" val="437359167"/>
                    </a:ext>
                  </a:extLst>
                </a:gridCol>
                <a:gridCol w="2840037">
                  <a:extLst>
                    <a:ext uri="{9D8B030D-6E8A-4147-A177-3AD203B41FA5}">
                      <a16:colId xmlns:a16="http://schemas.microsoft.com/office/drawing/2014/main" val="4260380462"/>
                    </a:ext>
                  </a:extLst>
                </a:gridCol>
                <a:gridCol w="2840037">
                  <a:extLst>
                    <a:ext uri="{9D8B030D-6E8A-4147-A177-3AD203B41FA5}">
                      <a16:colId xmlns:a16="http://schemas.microsoft.com/office/drawing/2014/main" val="3160985651"/>
                    </a:ext>
                  </a:extLst>
                </a:gridCol>
                <a:gridCol w="2840037">
                  <a:extLst>
                    <a:ext uri="{9D8B030D-6E8A-4147-A177-3AD203B41FA5}">
                      <a16:colId xmlns:a16="http://schemas.microsoft.com/office/drawing/2014/main" val="2734021984"/>
                    </a:ext>
                  </a:extLst>
                </a:gridCol>
              </a:tblGrid>
              <a:tr h="304800">
                <a:tc>
                  <a:txBody>
                    <a:bodyPr/>
                    <a:lstStyle/>
                    <a:p>
                      <a:pPr>
                        <a:buNone/>
                      </a:pPr>
                      <a:r>
                        <a:rPr lang="en-IN" sz="2200" b="1" i="1">
                          <a:latin typeface="Times New Roman" panose="02020603050405020304" pitchFamily="18" charset="0"/>
                          <a:cs typeface="Times New Roman" panose="02020603050405020304" pitchFamily="18" charset="0"/>
                        </a:rPr>
                        <a:t>Aspect</a:t>
                      </a:r>
                    </a:p>
                  </a:txBody>
                  <a:tcPr anchor="ctr"/>
                </a:tc>
                <a:tc>
                  <a:txBody>
                    <a:bodyPr/>
                    <a:lstStyle/>
                    <a:p>
                      <a:pPr>
                        <a:buNone/>
                      </a:pPr>
                      <a:r>
                        <a:rPr lang="en-IN" sz="2200" b="1" i="1" dirty="0">
                          <a:latin typeface="Times New Roman" panose="02020603050405020304" pitchFamily="18" charset="0"/>
                          <a:cs typeface="Times New Roman" panose="02020603050405020304" pitchFamily="18" charset="0"/>
                        </a:rPr>
                        <a:t>Paper Prototype</a:t>
                      </a:r>
                    </a:p>
                  </a:txBody>
                  <a:tcPr anchor="ctr"/>
                </a:tc>
                <a:tc>
                  <a:txBody>
                    <a:bodyPr/>
                    <a:lstStyle/>
                    <a:p>
                      <a:pPr>
                        <a:buNone/>
                      </a:pPr>
                      <a:r>
                        <a:rPr lang="en-IN" sz="2200" b="1" i="1">
                          <a:latin typeface="Times New Roman" panose="02020603050405020304" pitchFamily="18" charset="0"/>
                          <a:cs typeface="Times New Roman" panose="02020603050405020304" pitchFamily="18" charset="0"/>
                        </a:rPr>
                        <a:t>Wireframe</a:t>
                      </a:r>
                    </a:p>
                  </a:txBody>
                  <a:tcPr anchor="ctr"/>
                </a:tc>
                <a:tc>
                  <a:txBody>
                    <a:bodyPr/>
                    <a:lstStyle/>
                    <a:p>
                      <a:pPr>
                        <a:buNone/>
                      </a:pPr>
                      <a:r>
                        <a:rPr lang="en-IN" sz="2200" b="1" i="1" dirty="0">
                          <a:latin typeface="Times New Roman" panose="02020603050405020304" pitchFamily="18" charset="0"/>
                          <a:cs typeface="Times New Roman" panose="02020603050405020304" pitchFamily="18" charset="0"/>
                        </a:rPr>
                        <a:t>Digital Mock-up</a:t>
                      </a:r>
                    </a:p>
                  </a:txBody>
                  <a:tcPr anchor="ctr"/>
                </a:tc>
                <a:extLst>
                  <a:ext uri="{0D108BD9-81ED-4DB2-BD59-A6C34878D82A}">
                    <a16:rowId xmlns:a16="http://schemas.microsoft.com/office/drawing/2014/main" val="2508203131"/>
                  </a:ext>
                </a:extLst>
              </a:tr>
              <a:tr h="304800">
                <a:tc>
                  <a:txBody>
                    <a:bodyPr/>
                    <a:lstStyle/>
                    <a:p>
                      <a:pPr>
                        <a:buNone/>
                      </a:pPr>
                      <a:r>
                        <a:rPr lang="en-IN" sz="2200" b="1">
                          <a:latin typeface="Times New Roman" panose="02020603050405020304" pitchFamily="18" charset="0"/>
                          <a:cs typeface="Times New Roman" panose="02020603050405020304" pitchFamily="18" charset="0"/>
                        </a:rPr>
                        <a:t>Medium</a:t>
                      </a:r>
                    </a:p>
                  </a:txBody>
                  <a:tcPr anchor="ctr"/>
                </a:tc>
                <a:tc>
                  <a:txBody>
                    <a:bodyPr/>
                    <a:lstStyle/>
                    <a:p>
                      <a:pPr>
                        <a:buNone/>
                      </a:pPr>
                      <a:r>
                        <a:rPr lang="en-IN" sz="2200">
                          <a:latin typeface="Times New Roman" panose="02020603050405020304" pitchFamily="18" charset="0"/>
                          <a:cs typeface="Times New Roman" panose="02020603050405020304" pitchFamily="18" charset="0"/>
                        </a:rPr>
                        <a:t>Paper</a:t>
                      </a:r>
                    </a:p>
                  </a:txBody>
                  <a:tcPr anchor="ctr"/>
                </a:tc>
                <a:tc>
                  <a:txBody>
                    <a:bodyPr/>
                    <a:lstStyle/>
                    <a:p>
                      <a:pPr>
                        <a:buNone/>
                      </a:pPr>
                      <a:r>
                        <a:rPr lang="en-IN" sz="2200">
                          <a:latin typeface="Times New Roman" panose="02020603050405020304" pitchFamily="18" charset="0"/>
                          <a:cs typeface="Times New Roman" panose="02020603050405020304" pitchFamily="18" charset="0"/>
                        </a:rPr>
                        <a:t>Digital/Paper</a:t>
                      </a:r>
                    </a:p>
                  </a:txBody>
                  <a:tcPr anchor="ctr"/>
                </a:tc>
                <a:tc>
                  <a:txBody>
                    <a:bodyPr/>
                    <a:lstStyle/>
                    <a:p>
                      <a:pPr>
                        <a:buNone/>
                      </a:pPr>
                      <a:r>
                        <a:rPr lang="en-IN" sz="2200" dirty="0">
                          <a:latin typeface="Times New Roman" panose="02020603050405020304" pitchFamily="18" charset="0"/>
                          <a:cs typeface="Times New Roman" panose="02020603050405020304" pitchFamily="18" charset="0"/>
                        </a:rPr>
                        <a:t>Digital</a:t>
                      </a:r>
                    </a:p>
                  </a:txBody>
                  <a:tcPr anchor="ctr"/>
                </a:tc>
                <a:extLst>
                  <a:ext uri="{0D108BD9-81ED-4DB2-BD59-A6C34878D82A}">
                    <a16:rowId xmlns:a16="http://schemas.microsoft.com/office/drawing/2014/main" val="100536125"/>
                  </a:ext>
                </a:extLst>
              </a:tr>
              <a:tr h="304800">
                <a:tc>
                  <a:txBody>
                    <a:bodyPr/>
                    <a:lstStyle/>
                    <a:p>
                      <a:pPr>
                        <a:buNone/>
                      </a:pPr>
                      <a:r>
                        <a:rPr lang="en-IN" sz="2200" b="1" dirty="0">
                          <a:latin typeface="Times New Roman" panose="02020603050405020304" pitchFamily="18" charset="0"/>
                          <a:cs typeface="Times New Roman" panose="02020603050405020304" pitchFamily="18" charset="0"/>
                        </a:rPr>
                        <a:t>Cost</a:t>
                      </a:r>
                    </a:p>
                  </a:txBody>
                  <a:tcPr anchor="ctr"/>
                </a:tc>
                <a:tc>
                  <a:txBody>
                    <a:bodyPr/>
                    <a:lstStyle/>
                    <a:p>
                      <a:pPr>
                        <a:buNone/>
                      </a:pPr>
                      <a:r>
                        <a:rPr lang="en-IN" sz="2200">
                          <a:latin typeface="Times New Roman" panose="02020603050405020304" pitchFamily="18" charset="0"/>
                          <a:cs typeface="Times New Roman" panose="02020603050405020304" pitchFamily="18" charset="0"/>
                        </a:rPr>
                        <a:t>Very Low</a:t>
                      </a:r>
                    </a:p>
                  </a:txBody>
                  <a:tcPr anchor="ctr"/>
                </a:tc>
                <a:tc>
                  <a:txBody>
                    <a:bodyPr/>
                    <a:lstStyle/>
                    <a:p>
                      <a:pPr>
                        <a:buNone/>
                      </a:pPr>
                      <a:r>
                        <a:rPr lang="en-IN" sz="2200">
                          <a:latin typeface="Times New Roman" panose="02020603050405020304" pitchFamily="18" charset="0"/>
                          <a:cs typeface="Times New Roman" panose="02020603050405020304" pitchFamily="18" charset="0"/>
                        </a:rPr>
                        <a:t>Low</a:t>
                      </a:r>
                    </a:p>
                  </a:txBody>
                  <a:tcPr anchor="ctr"/>
                </a:tc>
                <a:tc>
                  <a:txBody>
                    <a:bodyPr/>
                    <a:lstStyle/>
                    <a:p>
                      <a:pPr>
                        <a:buNone/>
                      </a:pPr>
                      <a:r>
                        <a:rPr lang="en-IN" sz="2200">
                          <a:latin typeface="Times New Roman" panose="02020603050405020304" pitchFamily="18" charset="0"/>
                          <a:cs typeface="Times New Roman" panose="02020603050405020304" pitchFamily="18" charset="0"/>
                        </a:rPr>
                        <a:t>Medium</a:t>
                      </a:r>
                    </a:p>
                  </a:txBody>
                  <a:tcPr anchor="ctr"/>
                </a:tc>
                <a:extLst>
                  <a:ext uri="{0D108BD9-81ED-4DB2-BD59-A6C34878D82A}">
                    <a16:rowId xmlns:a16="http://schemas.microsoft.com/office/drawing/2014/main" val="568015724"/>
                  </a:ext>
                </a:extLst>
              </a:tr>
              <a:tr h="304800">
                <a:tc>
                  <a:txBody>
                    <a:bodyPr/>
                    <a:lstStyle/>
                    <a:p>
                      <a:pPr>
                        <a:buNone/>
                      </a:pPr>
                      <a:r>
                        <a:rPr lang="en-IN" sz="2200" b="1">
                          <a:latin typeface="Times New Roman" panose="02020603050405020304" pitchFamily="18" charset="0"/>
                          <a:cs typeface="Times New Roman" panose="02020603050405020304" pitchFamily="18" charset="0"/>
                        </a:rPr>
                        <a:t>Speed</a:t>
                      </a:r>
                    </a:p>
                  </a:txBody>
                  <a:tcPr anchor="ctr"/>
                </a:tc>
                <a:tc>
                  <a:txBody>
                    <a:bodyPr/>
                    <a:lstStyle/>
                    <a:p>
                      <a:pPr>
                        <a:buNone/>
                      </a:pPr>
                      <a:r>
                        <a:rPr lang="en-IN" sz="2200">
                          <a:latin typeface="Times New Roman" panose="02020603050405020304" pitchFamily="18" charset="0"/>
                          <a:cs typeface="Times New Roman" panose="02020603050405020304" pitchFamily="18" charset="0"/>
                        </a:rPr>
                        <a:t>Very Fast</a:t>
                      </a:r>
                    </a:p>
                  </a:txBody>
                  <a:tcPr anchor="ctr"/>
                </a:tc>
                <a:tc>
                  <a:txBody>
                    <a:bodyPr/>
                    <a:lstStyle/>
                    <a:p>
                      <a:pPr>
                        <a:buNone/>
                      </a:pPr>
                      <a:r>
                        <a:rPr lang="en-IN" sz="2200">
                          <a:latin typeface="Times New Roman" panose="02020603050405020304" pitchFamily="18" charset="0"/>
                          <a:cs typeface="Times New Roman" panose="02020603050405020304" pitchFamily="18" charset="0"/>
                        </a:rPr>
                        <a:t>Fast</a:t>
                      </a:r>
                    </a:p>
                  </a:txBody>
                  <a:tcPr anchor="ctr"/>
                </a:tc>
                <a:tc>
                  <a:txBody>
                    <a:bodyPr/>
                    <a:lstStyle/>
                    <a:p>
                      <a:pPr>
                        <a:buNone/>
                      </a:pPr>
                      <a:r>
                        <a:rPr lang="en-IN" sz="2200">
                          <a:latin typeface="Times New Roman" panose="02020603050405020304" pitchFamily="18" charset="0"/>
                          <a:cs typeface="Times New Roman" panose="02020603050405020304" pitchFamily="18" charset="0"/>
                        </a:rPr>
                        <a:t>Moderate</a:t>
                      </a:r>
                    </a:p>
                  </a:txBody>
                  <a:tcPr anchor="ctr"/>
                </a:tc>
                <a:extLst>
                  <a:ext uri="{0D108BD9-81ED-4DB2-BD59-A6C34878D82A}">
                    <a16:rowId xmlns:a16="http://schemas.microsoft.com/office/drawing/2014/main" val="1588997684"/>
                  </a:ext>
                </a:extLst>
              </a:tr>
              <a:tr h="304800">
                <a:tc>
                  <a:txBody>
                    <a:bodyPr/>
                    <a:lstStyle/>
                    <a:p>
                      <a:pPr>
                        <a:buNone/>
                      </a:pPr>
                      <a:r>
                        <a:rPr lang="en-IN" sz="2200" b="1">
                          <a:latin typeface="Times New Roman" panose="02020603050405020304" pitchFamily="18" charset="0"/>
                          <a:cs typeface="Times New Roman" panose="02020603050405020304" pitchFamily="18" charset="0"/>
                        </a:rPr>
                        <a:t>Detail</a:t>
                      </a:r>
                    </a:p>
                  </a:txBody>
                  <a:tcPr anchor="ctr"/>
                </a:tc>
                <a:tc>
                  <a:txBody>
                    <a:bodyPr/>
                    <a:lstStyle/>
                    <a:p>
                      <a:pPr>
                        <a:buNone/>
                      </a:pPr>
                      <a:r>
                        <a:rPr lang="en-IN" sz="2200">
                          <a:latin typeface="Times New Roman" panose="02020603050405020304" pitchFamily="18" charset="0"/>
                          <a:cs typeface="Times New Roman" panose="02020603050405020304" pitchFamily="18" charset="0"/>
                        </a:rPr>
                        <a:t>Low</a:t>
                      </a:r>
                    </a:p>
                  </a:txBody>
                  <a:tcPr anchor="ctr"/>
                </a:tc>
                <a:tc>
                  <a:txBody>
                    <a:bodyPr/>
                    <a:lstStyle/>
                    <a:p>
                      <a:pPr>
                        <a:buNone/>
                      </a:pPr>
                      <a:r>
                        <a:rPr lang="en-IN" sz="2200">
                          <a:latin typeface="Times New Roman" panose="02020603050405020304" pitchFamily="18" charset="0"/>
                          <a:cs typeface="Times New Roman" panose="02020603050405020304" pitchFamily="18" charset="0"/>
                        </a:rPr>
                        <a:t>Low–Medium</a:t>
                      </a:r>
                    </a:p>
                  </a:txBody>
                  <a:tcPr anchor="ctr"/>
                </a:tc>
                <a:tc>
                  <a:txBody>
                    <a:bodyPr/>
                    <a:lstStyle/>
                    <a:p>
                      <a:pPr>
                        <a:buNone/>
                      </a:pPr>
                      <a:r>
                        <a:rPr lang="en-IN" sz="2200" dirty="0">
                          <a:latin typeface="Times New Roman" panose="02020603050405020304" pitchFamily="18" charset="0"/>
                          <a:cs typeface="Times New Roman" panose="02020603050405020304" pitchFamily="18" charset="0"/>
                        </a:rPr>
                        <a:t>Medium–High</a:t>
                      </a:r>
                    </a:p>
                  </a:txBody>
                  <a:tcPr anchor="ctr"/>
                </a:tc>
                <a:extLst>
                  <a:ext uri="{0D108BD9-81ED-4DB2-BD59-A6C34878D82A}">
                    <a16:rowId xmlns:a16="http://schemas.microsoft.com/office/drawing/2014/main" val="1414843696"/>
                  </a:ext>
                </a:extLst>
              </a:tr>
              <a:tr h="304800">
                <a:tc>
                  <a:txBody>
                    <a:bodyPr/>
                    <a:lstStyle/>
                    <a:p>
                      <a:pPr>
                        <a:buNone/>
                      </a:pPr>
                      <a:r>
                        <a:rPr lang="en-IN" sz="2200" b="1">
                          <a:latin typeface="Times New Roman" panose="02020603050405020304" pitchFamily="18" charset="0"/>
                          <a:cs typeface="Times New Roman" panose="02020603050405020304" pitchFamily="18" charset="0"/>
                        </a:rPr>
                        <a:t>Visual Design</a:t>
                      </a:r>
                    </a:p>
                  </a:txBody>
                  <a:tcPr anchor="ctr"/>
                </a:tc>
                <a:tc>
                  <a:txBody>
                    <a:bodyPr/>
                    <a:lstStyle/>
                    <a:p>
                      <a:pPr>
                        <a:buNone/>
                      </a:pPr>
                      <a:r>
                        <a:rPr lang="en-IN" sz="2200" dirty="0">
                          <a:latin typeface="Times New Roman" panose="02020603050405020304" pitchFamily="18" charset="0"/>
                          <a:cs typeface="Times New Roman" panose="02020603050405020304" pitchFamily="18" charset="0"/>
                        </a:rPr>
                        <a:t>Minimal</a:t>
                      </a:r>
                    </a:p>
                  </a:txBody>
                  <a:tcPr anchor="ctr"/>
                </a:tc>
                <a:tc>
                  <a:txBody>
                    <a:bodyPr/>
                    <a:lstStyle/>
                    <a:p>
                      <a:pPr>
                        <a:buNone/>
                      </a:pPr>
                      <a:r>
                        <a:rPr lang="en-IN" sz="2200">
                          <a:latin typeface="Times New Roman" panose="02020603050405020304" pitchFamily="18" charset="0"/>
                          <a:cs typeface="Times New Roman" panose="02020603050405020304" pitchFamily="18" charset="0"/>
                        </a:rPr>
                        <a:t>Minimal</a:t>
                      </a:r>
                    </a:p>
                  </a:txBody>
                  <a:tcPr anchor="ctr"/>
                </a:tc>
                <a:tc>
                  <a:txBody>
                    <a:bodyPr/>
                    <a:lstStyle/>
                    <a:p>
                      <a:pPr>
                        <a:buNone/>
                      </a:pPr>
                      <a:r>
                        <a:rPr lang="en-IN" sz="2200">
                          <a:latin typeface="Times New Roman" panose="02020603050405020304" pitchFamily="18" charset="0"/>
                          <a:cs typeface="Times New Roman" panose="02020603050405020304" pitchFamily="18" charset="0"/>
                        </a:rPr>
                        <a:t>Detailed</a:t>
                      </a:r>
                    </a:p>
                  </a:txBody>
                  <a:tcPr anchor="ctr"/>
                </a:tc>
                <a:extLst>
                  <a:ext uri="{0D108BD9-81ED-4DB2-BD59-A6C34878D82A}">
                    <a16:rowId xmlns:a16="http://schemas.microsoft.com/office/drawing/2014/main" val="364326979"/>
                  </a:ext>
                </a:extLst>
              </a:tr>
              <a:tr h="304800">
                <a:tc>
                  <a:txBody>
                    <a:bodyPr/>
                    <a:lstStyle/>
                    <a:p>
                      <a:pPr>
                        <a:buNone/>
                      </a:pPr>
                      <a:r>
                        <a:rPr lang="en-IN" sz="2200" b="1">
                          <a:latin typeface="Times New Roman" panose="02020603050405020304" pitchFamily="18" charset="0"/>
                          <a:cs typeface="Times New Roman" panose="02020603050405020304" pitchFamily="18" charset="0"/>
                        </a:rPr>
                        <a:t>Interaction</a:t>
                      </a:r>
                    </a:p>
                  </a:txBody>
                  <a:tcPr anchor="ctr"/>
                </a:tc>
                <a:tc>
                  <a:txBody>
                    <a:bodyPr/>
                    <a:lstStyle/>
                    <a:p>
                      <a:pPr>
                        <a:buNone/>
                      </a:pPr>
                      <a:r>
                        <a:rPr lang="en-IN" sz="2200">
                          <a:latin typeface="Times New Roman" panose="02020603050405020304" pitchFamily="18" charset="0"/>
                          <a:cs typeface="Times New Roman" panose="02020603050405020304" pitchFamily="18" charset="0"/>
                        </a:rPr>
                        <a:t>Limited</a:t>
                      </a:r>
                    </a:p>
                  </a:txBody>
                  <a:tcPr anchor="ctr"/>
                </a:tc>
                <a:tc>
                  <a:txBody>
                    <a:bodyPr/>
                    <a:lstStyle/>
                    <a:p>
                      <a:pPr>
                        <a:buNone/>
                      </a:pPr>
                      <a:r>
                        <a:rPr lang="en-IN" sz="2200">
                          <a:latin typeface="Times New Roman" panose="02020603050405020304" pitchFamily="18" charset="0"/>
                          <a:cs typeface="Times New Roman" panose="02020603050405020304" pitchFamily="18" charset="0"/>
                        </a:rPr>
                        <a:t>Basic</a:t>
                      </a:r>
                    </a:p>
                  </a:txBody>
                  <a:tcPr anchor="ctr"/>
                </a:tc>
                <a:tc>
                  <a:txBody>
                    <a:bodyPr/>
                    <a:lstStyle/>
                    <a:p>
                      <a:pPr>
                        <a:buNone/>
                      </a:pPr>
                      <a:r>
                        <a:rPr lang="en-IN" sz="2200">
                          <a:latin typeface="Times New Roman" panose="02020603050405020304" pitchFamily="18" charset="0"/>
                          <a:cs typeface="Times New Roman" panose="02020603050405020304" pitchFamily="18" charset="0"/>
                        </a:rPr>
                        <a:t>Can be interactive</a:t>
                      </a:r>
                    </a:p>
                  </a:txBody>
                  <a:tcPr anchor="ctr"/>
                </a:tc>
                <a:extLst>
                  <a:ext uri="{0D108BD9-81ED-4DB2-BD59-A6C34878D82A}">
                    <a16:rowId xmlns:a16="http://schemas.microsoft.com/office/drawing/2014/main" val="2274071083"/>
                  </a:ext>
                </a:extLst>
              </a:tr>
              <a:tr h="304800">
                <a:tc>
                  <a:txBody>
                    <a:bodyPr/>
                    <a:lstStyle/>
                    <a:p>
                      <a:pPr>
                        <a:buNone/>
                      </a:pPr>
                      <a:r>
                        <a:rPr lang="en-IN" sz="2200" b="1">
                          <a:latin typeface="Times New Roman" panose="02020603050405020304" pitchFamily="18" charset="0"/>
                          <a:cs typeface="Times New Roman" panose="02020603050405020304" pitchFamily="18" charset="0"/>
                        </a:rPr>
                        <a:t>Best Used For</a:t>
                      </a:r>
                    </a:p>
                  </a:txBody>
                  <a:tcPr anchor="ctr"/>
                </a:tc>
                <a:tc>
                  <a:txBody>
                    <a:bodyPr/>
                    <a:lstStyle/>
                    <a:p>
                      <a:pPr>
                        <a:buNone/>
                      </a:pPr>
                      <a:r>
                        <a:rPr lang="en-IN" sz="2200" dirty="0">
                          <a:latin typeface="Times New Roman" panose="02020603050405020304" pitchFamily="18" charset="0"/>
                          <a:cs typeface="Times New Roman" panose="02020603050405020304" pitchFamily="18" charset="0"/>
                        </a:rPr>
                        <a:t>Idea exploration</a:t>
                      </a:r>
                    </a:p>
                  </a:txBody>
                  <a:tcPr anchor="ctr"/>
                </a:tc>
                <a:tc>
                  <a:txBody>
                    <a:bodyPr/>
                    <a:lstStyle/>
                    <a:p>
                      <a:pPr>
                        <a:buNone/>
                      </a:pPr>
                      <a:r>
                        <a:rPr lang="en-IN" sz="2200">
                          <a:latin typeface="Times New Roman" panose="02020603050405020304" pitchFamily="18" charset="0"/>
                          <a:cs typeface="Times New Roman" panose="02020603050405020304" pitchFamily="18" charset="0"/>
                        </a:rPr>
                        <a:t>Layout &amp; navigation</a:t>
                      </a:r>
                    </a:p>
                  </a:txBody>
                  <a:tcPr anchor="ctr"/>
                </a:tc>
                <a:tc>
                  <a:txBody>
                    <a:bodyPr/>
                    <a:lstStyle/>
                    <a:p>
                      <a:pPr>
                        <a:buNone/>
                      </a:pPr>
                      <a:r>
                        <a:rPr lang="en-IN" sz="2200">
                          <a:latin typeface="Times New Roman" panose="02020603050405020304" pitchFamily="18" charset="0"/>
                          <a:cs typeface="Times New Roman" panose="02020603050405020304" pitchFamily="18" charset="0"/>
                        </a:rPr>
                        <a:t>Visual &amp; interaction testing</a:t>
                      </a:r>
                    </a:p>
                  </a:txBody>
                  <a:tcPr anchor="ctr"/>
                </a:tc>
                <a:extLst>
                  <a:ext uri="{0D108BD9-81ED-4DB2-BD59-A6C34878D82A}">
                    <a16:rowId xmlns:a16="http://schemas.microsoft.com/office/drawing/2014/main" val="1108266666"/>
                  </a:ext>
                </a:extLst>
              </a:tr>
              <a:tr h="304800">
                <a:tc>
                  <a:txBody>
                    <a:bodyPr/>
                    <a:lstStyle/>
                    <a:p>
                      <a:pPr>
                        <a:buNone/>
                      </a:pPr>
                      <a:r>
                        <a:rPr lang="en-IN" sz="2200" b="1">
                          <a:latin typeface="Times New Roman" panose="02020603050405020304" pitchFamily="18" charset="0"/>
                          <a:cs typeface="Times New Roman" panose="02020603050405020304" pitchFamily="18" charset="0"/>
                        </a:rPr>
                        <a:t>Programming Required</a:t>
                      </a:r>
                    </a:p>
                  </a:txBody>
                  <a:tcPr anchor="ctr"/>
                </a:tc>
                <a:tc>
                  <a:txBody>
                    <a:bodyPr/>
                    <a:lstStyle/>
                    <a:p>
                      <a:pPr>
                        <a:buNone/>
                      </a:pPr>
                      <a:r>
                        <a:rPr lang="en-IN" sz="2200">
                          <a:latin typeface="Times New Roman" panose="02020603050405020304" pitchFamily="18" charset="0"/>
                          <a:cs typeface="Times New Roman" panose="02020603050405020304" pitchFamily="18" charset="0"/>
                        </a:rPr>
                        <a:t>No</a:t>
                      </a:r>
                    </a:p>
                  </a:txBody>
                  <a:tcPr anchor="ctr"/>
                </a:tc>
                <a:tc>
                  <a:txBody>
                    <a:bodyPr/>
                    <a:lstStyle/>
                    <a:p>
                      <a:pPr>
                        <a:buNone/>
                      </a:pPr>
                      <a:r>
                        <a:rPr lang="en-IN" sz="2200">
                          <a:latin typeface="Times New Roman" panose="02020603050405020304" pitchFamily="18" charset="0"/>
                          <a:cs typeface="Times New Roman" panose="02020603050405020304" pitchFamily="18" charset="0"/>
                        </a:rPr>
                        <a:t>No</a:t>
                      </a:r>
                    </a:p>
                  </a:txBody>
                  <a:tcPr anchor="ctr"/>
                </a:tc>
                <a:tc>
                  <a:txBody>
                    <a:bodyPr/>
                    <a:lstStyle/>
                    <a:p>
                      <a:pPr>
                        <a:buNone/>
                      </a:pPr>
                      <a:r>
                        <a:rPr lang="en-IN" sz="2200">
                          <a:latin typeface="Times New Roman" panose="02020603050405020304" pitchFamily="18" charset="0"/>
                          <a:cs typeface="Times New Roman" panose="02020603050405020304" pitchFamily="18" charset="0"/>
                        </a:rPr>
                        <a:t>Usually no</a:t>
                      </a:r>
                    </a:p>
                  </a:txBody>
                  <a:tcPr anchor="ctr"/>
                </a:tc>
                <a:extLst>
                  <a:ext uri="{0D108BD9-81ED-4DB2-BD59-A6C34878D82A}">
                    <a16:rowId xmlns:a16="http://schemas.microsoft.com/office/drawing/2014/main" val="295380491"/>
                  </a:ext>
                </a:extLst>
              </a:tr>
              <a:tr h="0">
                <a:tc>
                  <a:txBody>
                    <a:bodyPr/>
                    <a:lstStyle/>
                    <a:p>
                      <a:pPr>
                        <a:buNone/>
                      </a:pPr>
                      <a:r>
                        <a:rPr lang="en-IN" sz="2200" b="1">
                          <a:latin typeface="Times New Roman" panose="02020603050405020304" pitchFamily="18" charset="0"/>
                          <a:cs typeface="Times New Roman" panose="02020603050405020304" pitchFamily="18" charset="0"/>
                        </a:rPr>
                        <a:t>Modification</a:t>
                      </a:r>
                    </a:p>
                  </a:txBody>
                  <a:tcPr anchor="ctr"/>
                </a:tc>
                <a:tc>
                  <a:txBody>
                    <a:bodyPr/>
                    <a:lstStyle/>
                    <a:p>
                      <a:pPr>
                        <a:buNone/>
                      </a:pPr>
                      <a:r>
                        <a:rPr lang="en-IN" sz="2200">
                          <a:latin typeface="Times New Roman" panose="02020603050405020304" pitchFamily="18" charset="0"/>
                          <a:cs typeface="Times New Roman" panose="02020603050405020304" pitchFamily="18" charset="0"/>
                        </a:rPr>
                        <a:t>Very Easy</a:t>
                      </a:r>
                    </a:p>
                  </a:txBody>
                  <a:tcPr anchor="ctr"/>
                </a:tc>
                <a:tc>
                  <a:txBody>
                    <a:bodyPr/>
                    <a:lstStyle/>
                    <a:p>
                      <a:pPr>
                        <a:buNone/>
                      </a:pPr>
                      <a:r>
                        <a:rPr lang="en-IN" sz="2200">
                          <a:latin typeface="Times New Roman" panose="02020603050405020304" pitchFamily="18" charset="0"/>
                          <a:cs typeface="Times New Roman" panose="02020603050405020304" pitchFamily="18" charset="0"/>
                        </a:rPr>
                        <a:t>Easy</a:t>
                      </a:r>
                    </a:p>
                  </a:txBody>
                  <a:tcPr anchor="ctr"/>
                </a:tc>
                <a:tc>
                  <a:txBody>
                    <a:bodyPr/>
                    <a:lstStyle/>
                    <a:p>
                      <a:pPr>
                        <a:buNone/>
                      </a:pPr>
                      <a:r>
                        <a:rPr lang="en-IN" sz="2200">
                          <a:latin typeface="Times New Roman" panose="02020603050405020304" pitchFamily="18" charset="0"/>
                          <a:cs typeface="Times New Roman" panose="02020603050405020304" pitchFamily="18" charset="0"/>
                        </a:rPr>
                        <a:t>Easy</a:t>
                      </a:r>
                    </a:p>
                  </a:txBody>
                  <a:tcPr anchor="ctr"/>
                </a:tc>
                <a:extLst>
                  <a:ext uri="{0D108BD9-81ED-4DB2-BD59-A6C34878D82A}">
                    <a16:rowId xmlns:a16="http://schemas.microsoft.com/office/drawing/2014/main" val="4157564557"/>
                  </a:ext>
                </a:extLst>
              </a:tr>
              <a:tr h="304800">
                <a:tc>
                  <a:txBody>
                    <a:bodyPr/>
                    <a:lstStyle/>
                    <a:p>
                      <a:pPr>
                        <a:buNone/>
                      </a:pPr>
                      <a:r>
                        <a:rPr lang="en-IN" sz="2200" b="1" dirty="0">
                          <a:latin typeface="Times New Roman" panose="02020603050405020304" pitchFamily="18" charset="0"/>
                          <a:cs typeface="Times New Roman" panose="02020603050405020304" pitchFamily="18" charset="0"/>
                        </a:rPr>
                        <a:t>User Testing</a:t>
                      </a:r>
                    </a:p>
                  </a:txBody>
                  <a:tcPr anchor="ctr"/>
                </a:tc>
                <a:tc>
                  <a:txBody>
                    <a:bodyPr/>
                    <a:lstStyle/>
                    <a:p>
                      <a:pPr>
                        <a:buNone/>
                      </a:pPr>
                      <a:r>
                        <a:rPr lang="en-IN" sz="2200">
                          <a:latin typeface="Times New Roman" panose="02020603050405020304" pitchFamily="18" charset="0"/>
                          <a:cs typeface="Times New Roman" panose="02020603050405020304" pitchFamily="18" charset="0"/>
                        </a:rPr>
                        <a:t>Yes</a:t>
                      </a:r>
                    </a:p>
                  </a:txBody>
                  <a:tcPr anchor="ctr"/>
                </a:tc>
                <a:tc>
                  <a:txBody>
                    <a:bodyPr/>
                    <a:lstStyle/>
                    <a:p>
                      <a:pPr>
                        <a:buNone/>
                      </a:pPr>
                      <a:r>
                        <a:rPr lang="en-IN" sz="2200">
                          <a:latin typeface="Times New Roman" panose="02020603050405020304" pitchFamily="18" charset="0"/>
                          <a:cs typeface="Times New Roman" panose="02020603050405020304" pitchFamily="18" charset="0"/>
                        </a:rPr>
                        <a:t>Yes</a:t>
                      </a:r>
                    </a:p>
                  </a:txBody>
                  <a:tcPr anchor="ctr"/>
                </a:tc>
                <a:tc>
                  <a:txBody>
                    <a:bodyPr/>
                    <a:lstStyle/>
                    <a:p>
                      <a:pPr>
                        <a:buNone/>
                      </a:pPr>
                      <a:r>
                        <a:rPr lang="en-IN" sz="2200" dirty="0">
                          <a:latin typeface="Times New Roman" panose="02020603050405020304" pitchFamily="18" charset="0"/>
                          <a:cs typeface="Times New Roman" panose="02020603050405020304" pitchFamily="18" charset="0"/>
                        </a:rPr>
                        <a:t>Yes</a:t>
                      </a:r>
                    </a:p>
                  </a:txBody>
                  <a:tcPr anchor="ctr"/>
                </a:tc>
                <a:extLst>
                  <a:ext uri="{0D108BD9-81ED-4DB2-BD59-A6C34878D82A}">
                    <a16:rowId xmlns:a16="http://schemas.microsoft.com/office/drawing/2014/main" val="2072688954"/>
                  </a:ext>
                </a:extLst>
              </a:tr>
            </a:tbl>
          </a:graphicData>
        </a:graphic>
      </p:graphicFrame>
    </p:spTree>
    <p:extLst>
      <p:ext uri="{BB962C8B-B14F-4D97-AF65-F5344CB8AC3E}">
        <p14:creationId xmlns:p14="http://schemas.microsoft.com/office/powerpoint/2010/main" val="29944532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27B3C-07BF-6080-DBC7-622F45E70FD9}"/>
              </a:ext>
            </a:extLst>
          </p:cNvPr>
          <p:cNvSpPr>
            <a:spLocks noGrp="1"/>
          </p:cNvSpPr>
          <p:nvPr>
            <p:ph type="title"/>
          </p:nvPr>
        </p:nvSpPr>
        <p:spPr>
          <a:xfrm>
            <a:off x="415600" y="363947"/>
            <a:ext cx="11360700" cy="663469"/>
          </a:xfrm>
        </p:spPr>
        <p:txBody>
          <a:bodyPr/>
          <a:lstStyle/>
          <a:p>
            <a:pPr marL="457200" indent="-457200">
              <a:buFont typeface="Wingdings" panose="05000000000000000000" pitchFamily="2" charset="2"/>
              <a:buChar char="v"/>
            </a:pPr>
            <a:r>
              <a:rPr lang="en-US" sz="2800" dirty="0">
                <a:solidFill>
                  <a:srgbClr val="006600"/>
                </a:solidFill>
                <a:latin typeface="Times New Roman" panose="02020603050405020304" pitchFamily="18" charset="0"/>
                <a:cs typeface="Times New Roman" panose="02020603050405020304" pitchFamily="18" charset="0"/>
              </a:rPr>
              <a:t>When to Use Each Technique</a:t>
            </a:r>
            <a:endParaRPr lang="en-IN" sz="2800" dirty="0">
              <a:solidFill>
                <a:srgbClr val="0066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BAD3CF2-B742-6A2C-534B-6D5FFF0ADAE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61</a:t>
            </a:fld>
            <a:endParaRPr lang="en-GB"/>
          </a:p>
        </p:txBody>
      </p:sp>
      <p:pic>
        <p:nvPicPr>
          <p:cNvPr id="6" name="Picture 5">
            <a:extLst>
              <a:ext uri="{FF2B5EF4-FFF2-40B4-BE49-F238E27FC236}">
                <a16:creationId xmlns:a16="http://schemas.microsoft.com/office/drawing/2014/main" id="{E414A78A-F116-8DE7-5E40-4FD8203B5619}"/>
              </a:ext>
            </a:extLst>
          </p:cNvPr>
          <p:cNvPicPr>
            <a:picLocks noChangeAspect="1"/>
          </p:cNvPicPr>
          <p:nvPr/>
        </p:nvPicPr>
        <p:blipFill>
          <a:blip r:embed="rId2"/>
          <a:stretch>
            <a:fillRect/>
          </a:stretch>
        </p:blipFill>
        <p:spPr>
          <a:xfrm>
            <a:off x="1219150" y="953821"/>
            <a:ext cx="9753600" cy="5324475"/>
          </a:xfrm>
          <a:prstGeom prst="rect">
            <a:avLst/>
          </a:prstGeom>
        </p:spPr>
      </p:pic>
    </p:spTree>
    <p:extLst>
      <p:ext uri="{BB962C8B-B14F-4D97-AF65-F5344CB8AC3E}">
        <p14:creationId xmlns:p14="http://schemas.microsoft.com/office/powerpoint/2010/main" val="19921907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176DB-33A8-49EE-D563-7E1A15427D2F}"/>
              </a:ext>
            </a:extLst>
          </p:cNvPr>
          <p:cNvSpPr>
            <a:spLocks noGrp="1"/>
          </p:cNvSpPr>
          <p:nvPr>
            <p:ph type="title"/>
          </p:nvPr>
        </p:nvSpPr>
        <p:spPr>
          <a:xfrm>
            <a:off x="395313" y="329399"/>
            <a:ext cx="11360700" cy="560726"/>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Benefits of Rapid Prototyping</a:t>
            </a:r>
          </a:p>
        </p:txBody>
      </p:sp>
      <p:sp>
        <p:nvSpPr>
          <p:cNvPr id="3" name="Text Placeholder 2">
            <a:extLst>
              <a:ext uri="{FF2B5EF4-FFF2-40B4-BE49-F238E27FC236}">
                <a16:creationId xmlns:a16="http://schemas.microsoft.com/office/drawing/2014/main" id="{A9A12913-3C31-423B-949B-6D71B9509FE1}"/>
              </a:ext>
            </a:extLst>
          </p:cNvPr>
          <p:cNvSpPr>
            <a:spLocks noGrp="1"/>
          </p:cNvSpPr>
          <p:nvPr>
            <p:ph type="body" idx="1"/>
          </p:nvPr>
        </p:nvSpPr>
        <p:spPr>
          <a:xfrm>
            <a:off x="565078" y="1092899"/>
            <a:ext cx="11021171" cy="5112691"/>
          </a:xfrm>
        </p:spPr>
        <p:txBody>
          <a:bodyPr/>
          <a:lstStyle/>
          <a:p>
            <a:pPr>
              <a:buNone/>
            </a:pPr>
            <a:r>
              <a:rPr lang="en-US" sz="2400" b="1" dirty="0">
                <a:latin typeface="Times New Roman" panose="02020603050405020304" pitchFamily="18" charset="0"/>
                <a:cs typeface="Times New Roman" panose="02020603050405020304" pitchFamily="18" charset="0"/>
              </a:rPr>
              <a:t>1. Early Problem Detection</a:t>
            </a:r>
          </a:p>
          <a:p>
            <a:pPr>
              <a:buNone/>
            </a:pPr>
            <a:r>
              <a:rPr lang="en-US" sz="2400" dirty="0">
                <a:latin typeface="Times New Roman" panose="02020603050405020304" pitchFamily="18" charset="0"/>
                <a:cs typeface="Times New Roman" panose="02020603050405020304" pitchFamily="18" charset="0"/>
              </a:rPr>
              <a:t>Design problems can be identified before significant development effort is spent.</a:t>
            </a:r>
          </a:p>
          <a:p>
            <a:pPr>
              <a:buNone/>
            </a:pPr>
            <a:r>
              <a:rPr lang="en-US" sz="2400" b="1" dirty="0">
                <a:latin typeface="Times New Roman" panose="02020603050405020304" pitchFamily="18" charset="0"/>
                <a:cs typeface="Times New Roman" panose="02020603050405020304" pitchFamily="18" charset="0"/>
              </a:rPr>
              <a:t>2. Faster Iteration</a:t>
            </a:r>
          </a:p>
          <a:p>
            <a:pPr>
              <a:buNone/>
            </a:pPr>
            <a:r>
              <a:rPr lang="en-US" sz="2400" dirty="0">
                <a:latin typeface="Times New Roman" panose="02020603050405020304" pitchFamily="18" charset="0"/>
                <a:cs typeface="Times New Roman" panose="02020603050405020304" pitchFamily="18" charset="0"/>
              </a:rPr>
              <a:t>Designers can quickly create several alternatives.</a:t>
            </a:r>
          </a:p>
          <a:p>
            <a:pPr>
              <a:buNone/>
            </a:pPr>
            <a:r>
              <a:rPr lang="en-US" sz="2400" b="1" dirty="0">
                <a:latin typeface="Times New Roman" panose="02020603050405020304" pitchFamily="18" charset="0"/>
                <a:cs typeface="Times New Roman" panose="02020603050405020304" pitchFamily="18" charset="0"/>
              </a:rPr>
              <a:t>3. User Involvement</a:t>
            </a:r>
          </a:p>
          <a:p>
            <a:pPr>
              <a:buNone/>
            </a:pPr>
            <a:r>
              <a:rPr lang="en-US" sz="2400" dirty="0">
                <a:latin typeface="Times New Roman" panose="02020603050405020304" pitchFamily="18" charset="0"/>
                <a:cs typeface="Times New Roman" panose="02020603050405020304" pitchFamily="18" charset="0"/>
              </a:rPr>
              <a:t>Users can provide feedback at an early stage.</a:t>
            </a:r>
          </a:p>
          <a:p>
            <a:pPr>
              <a:buNone/>
            </a:pPr>
            <a:r>
              <a:rPr lang="en-US" sz="2400" b="1" dirty="0">
                <a:latin typeface="Times New Roman" panose="02020603050405020304" pitchFamily="18" charset="0"/>
                <a:cs typeface="Times New Roman" panose="02020603050405020304" pitchFamily="18" charset="0"/>
              </a:rPr>
              <a:t>4. Better Communication</a:t>
            </a:r>
          </a:p>
          <a:p>
            <a:pPr>
              <a:buNone/>
            </a:pPr>
            <a:r>
              <a:rPr lang="en-US" sz="2400" dirty="0">
                <a:latin typeface="Times New Roman" panose="02020603050405020304" pitchFamily="18" charset="0"/>
                <a:cs typeface="Times New Roman" panose="02020603050405020304" pitchFamily="18" charset="0"/>
              </a:rPr>
              <a:t>A prototype helps designers explain ideas to developers, clients, and stakeholders.</a:t>
            </a:r>
          </a:p>
          <a:p>
            <a:pPr>
              <a:buNone/>
            </a:pPr>
            <a:r>
              <a:rPr lang="en-US" sz="2400" b="1" dirty="0">
                <a:latin typeface="Times New Roman" panose="02020603050405020304" pitchFamily="18" charset="0"/>
                <a:cs typeface="Times New Roman" panose="02020603050405020304" pitchFamily="18" charset="0"/>
              </a:rPr>
              <a:t>5. Reduced Cost</a:t>
            </a:r>
          </a:p>
          <a:p>
            <a:pPr marL="50800" indent="0">
              <a:buNone/>
            </a:pPr>
            <a:r>
              <a:rPr lang="en-US" sz="2400" dirty="0">
                <a:latin typeface="Times New Roman" panose="02020603050405020304" pitchFamily="18" charset="0"/>
                <a:cs typeface="Times New Roman" panose="02020603050405020304" pitchFamily="18" charset="0"/>
              </a:rPr>
              <a:t>Fixing a problem during the design stage is generally less expensive than fixing it after implementation.</a:t>
            </a:r>
          </a:p>
          <a:p>
            <a:pPr>
              <a:buNone/>
            </a:pPr>
            <a:r>
              <a:rPr lang="en-US" sz="2400" b="1" dirty="0">
                <a:latin typeface="Times New Roman" panose="02020603050405020304" pitchFamily="18" charset="0"/>
                <a:cs typeface="Times New Roman" panose="02020603050405020304" pitchFamily="18" charset="0"/>
              </a:rPr>
              <a:t>6. Improved User Experience</a:t>
            </a:r>
          </a:p>
          <a:p>
            <a:pPr marL="50800" indent="0">
              <a:buNone/>
            </a:pPr>
            <a:r>
              <a:rPr lang="en-US" sz="2400" dirty="0">
                <a:latin typeface="Times New Roman" panose="02020603050405020304" pitchFamily="18" charset="0"/>
                <a:cs typeface="Times New Roman" panose="02020603050405020304" pitchFamily="18" charset="0"/>
              </a:rPr>
              <a:t>Continuous testing and refinement can produce a product that better satisfies user needs.</a:t>
            </a:r>
          </a:p>
          <a:p>
            <a:endParaRPr lang="en-IN" dirty="0"/>
          </a:p>
        </p:txBody>
      </p:sp>
      <p:sp>
        <p:nvSpPr>
          <p:cNvPr id="4" name="Slide Number Placeholder 3">
            <a:extLst>
              <a:ext uri="{FF2B5EF4-FFF2-40B4-BE49-F238E27FC236}">
                <a16:creationId xmlns:a16="http://schemas.microsoft.com/office/drawing/2014/main" id="{2CA2D1A4-55B9-9B1B-FC9C-92F2A543034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62</a:t>
            </a:fld>
            <a:endParaRPr lang="en-GB"/>
          </a:p>
        </p:txBody>
      </p:sp>
    </p:spTree>
    <p:extLst>
      <p:ext uri="{BB962C8B-B14F-4D97-AF65-F5344CB8AC3E}">
        <p14:creationId xmlns:p14="http://schemas.microsoft.com/office/powerpoint/2010/main" val="4046575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5972C-2015-F516-BA15-FF2C1C110D69}"/>
              </a:ext>
            </a:extLst>
          </p:cNvPr>
          <p:cNvSpPr>
            <a:spLocks noGrp="1"/>
          </p:cNvSpPr>
          <p:nvPr>
            <p:ph type="title"/>
          </p:nvPr>
        </p:nvSpPr>
        <p:spPr>
          <a:xfrm>
            <a:off x="323132" y="127776"/>
            <a:ext cx="11360700" cy="626659"/>
          </a:xfrm>
        </p:spPr>
        <p:txBody>
          <a:bodyPr/>
          <a:lstStyle/>
          <a:p>
            <a:pPr marL="457200" indent="-457200">
              <a:buFont typeface="Wingdings" panose="05000000000000000000" pitchFamily="2" charset="2"/>
              <a:buChar char="v"/>
            </a:pPr>
            <a:r>
              <a:rPr lang="en-US" sz="2800" dirty="0">
                <a:solidFill>
                  <a:srgbClr val="006600"/>
                </a:solidFill>
                <a:latin typeface="Times New Roman" panose="02020603050405020304" pitchFamily="18" charset="0"/>
                <a:cs typeface="Times New Roman" panose="02020603050405020304" pitchFamily="18" charset="0"/>
              </a:rPr>
              <a:t>Rapid Prototyping in Design Thinking</a:t>
            </a:r>
            <a:endParaRPr lang="en-IN" sz="2800" dirty="0">
              <a:solidFill>
                <a:srgbClr val="0066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4F22D519-0087-6421-B973-258F7CD5F3E8}"/>
              </a:ext>
            </a:extLst>
          </p:cNvPr>
          <p:cNvSpPr>
            <a:spLocks noGrp="1"/>
          </p:cNvSpPr>
          <p:nvPr>
            <p:ph type="body" idx="1"/>
          </p:nvPr>
        </p:nvSpPr>
        <p:spPr>
          <a:xfrm>
            <a:off x="0" y="577505"/>
            <a:ext cx="11194198" cy="811658"/>
          </a:xfrm>
        </p:spPr>
        <p:txBody>
          <a:bodyPr/>
          <a:lstStyle/>
          <a:p>
            <a:pPr>
              <a:buSzPct val="1000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Rapid prototyping is strongly connected to the Prototype and Test stages of Design Thinking.</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879371B-F491-0CF8-B885-6FA02D0251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63</a:t>
            </a:fld>
            <a:endParaRPr lang="en-GB"/>
          </a:p>
        </p:txBody>
      </p:sp>
      <p:sp>
        <p:nvSpPr>
          <p:cNvPr id="5" name="AutoShape 2" descr=", AI generated">
            <a:extLst>
              <a:ext uri="{FF2B5EF4-FFF2-40B4-BE49-F238E27FC236}">
                <a16:creationId xmlns:a16="http://schemas.microsoft.com/office/drawing/2014/main" id="{429B8BD7-DEEC-5A9D-7F2D-8393F2001EA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C5D40231-B713-86CA-003E-A447DEF09FC2}"/>
              </a:ext>
            </a:extLst>
          </p:cNvPr>
          <p:cNvPicPr>
            <a:picLocks noChangeAspect="1"/>
          </p:cNvPicPr>
          <p:nvPr/>
        </p:nvPicPr>
        <p:blipFill>
          <a:blip r:embed="rId2"/>
          <a:stretch>
            <a:fillRect/>
          </a:stretch>
        </p:blipFill>
        <p:spPr>
          <a:xfrm>
            <a:off x="1126682" y="1066051"/>
            <a:ext cx="9753600" cy="5324475"/>
          </a:xfrm>
          <a:prstGeom prst="rect">
            <a:avLst/>
          </a:prstGeom>
        </p:spPr>
      </p:pic>
    </p:spTree>
    <p:extLst>
      <p:ext uri="{BB962C8B-B14F-4D97-AF65-F5344CB8AC3E}">
        <p14:creationId xmlns:p14="http://schemas.microsoft.com/office/powerpoint/2010/main" val="22422537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C2E1E-18AE-2FBE-BBCE-50E9B5D05D1B}"/>
              </a:ext>
            </a:extLst>
          </p:cNvPr>
          <p:cNvSpPr>
            <a:spLocks noGrp="1"/>
          </p:cNvSpPr>
          <p:nvPr>
            <p:ph type="title"/>
          </p:nvPr>
        </p:nvSpPr>
        <p:spPr>
          <a:xfrm>
            <a:off x="415600" y="339112"/>
            <a:ext cx="11360700" cy="763500"/>
          </a:xfrm>
        </p:spPr>
        <p:txBody>
          <a:bodyPr/>
          <a:lstStyle/>
          <a:p>
            <a:r>
              <a:rPr lang="en-US" sz="2800" dirty="0">
                <a:latin typeface="Times New Roman" panose="02020603050405020304" pitchFamily="18" charset="0"/>
                <a:cs typeface="Times New Roman" panose="02020603050405020304" pitchFamily="18" charset="0"/>
              </a:rPr>
              <a:t>Recap</a:t>
            </a:r>
            <a:endParaRPr lang="en-IN" sz="2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0D00F7F-9FD1-60F0-22CF-DB7F5B80C23F}"/>
              </a:ext>
            </a:extLst>
          </p:cNvPr>
          <p:cNvSpPr>
            <a:spLocks noGrp="1"/>
          </p:cNvSpPr>
          <p:nvPr>
            <p:ph type="body" idx="1"/>
          </p:nvPr>
        </p:nvSpPr>
        <p:spPr>
          <a:xfrm>
            <a:off x="415600" y="1102612"/>
            <a:ext cx="10804800" cy="4988976"/>
          </a:xfrm>
        </p:spPr>
        <p:txBody>
          <a:bodyPr/>
          <a:lstStyle/>
          <a:p>
            <a:pPr>
              <a:buNone/>
            </a:pPr>
            <a:r>
              <a:rPr lang="en-US" sz="2400" b="1" dirty="0">
                <a:latin typeface="Times New Roman" panose="02020603050405020304" pitchFamily="18" charset="0"/>
                <a:cs typeface="Times New Roman" panose="02020603050405020304" pitchFamily="18" charset="0"/>
              </a:rPr>
              <a:t>Rapid Prototyping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technique for quickly creating an early version of a product or interface.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Used to </a:t>
            </a:r>
            <a:r>
              <a:rPr lang="en-US" sz="2400" b="1" dirty="0">
                <a:latin typeface="Times New Roman" panose="02020603050405020304" pitchFamily="18" charset="0"/>
                <a:cs typeface="Times New Roman" panose="02020603050405020304" pitchFamily="18" charset="0"/>
              </a:rPr>
              <a:t>visualize, test, and refine ideas</a:t>
            </a:r>
            <a:r>
              <a:rPr lang="en-US" sz="2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the risk and cost of developing unsuitable solutions. </a:t>
            </a:r>
          </a:p>
          <a:p>
            <a:pPr>
              <a:buNone/>
            </a:pPr>
            <a:r>
              <a:rPr lang="en-US" sz="2400" b="1" dirty="0">
                <a:latin typeface="Times New Roman" panose="02020603050405020304" pitchFamily="18" charset="0"/>
                <a:cs typeface="Times New Roman" panose="02020603050405020304" pitchFamily="18" charset="0"/>
              </a:rPr>
              <a:t>Paper Prototype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Created using paper, pencil, cards, or sticky notes.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Very fast and inexpensive.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Best for exploring early concepts and user flows. </a:t>
            </a:r>
          </a:p>
          <a:p>
            <a:pPr>
              <a:buNone/>
            </a:pPr>
            <a:r>
              <a:rPr lang="en-US" sz="2400" b="1" dirty="0">
                <a:latin typeface="Times New Roman" panose="02020603050405020304" pitchFamily="18" charset="0"/>
                <a:cs typeface="Times New Roman" panose="02020603050405020304" pitchFamily="18" charset="0"/>
              </a:rPr>
              <a:t>Wireframe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Represents the </a:t>
            </a:r>
            <a:r>
              <a:rPr lang="en-US" sz="2400" b="1" dirty="0">
                <a:latin typeface="Times New Roman" panose="02020603050405020304" pitchFamily="18" charset="0"/>
                <a:cs typeface="Times New Roman" panose="02020603050405020304" pitchFamily="18" charset="0"/>
              </a:rPr>
              <a:t>basic structure and layout</a:t>
            </a:r>
            <a:r>
              <a:rPr lang="en-US" sz="2400" dirty="0">
                <a:latin typeface="Times New Roman" panose="02020603050405020304" pitchFamily="18" charset="0"/>
                <a:cs typeface="Times New Roman" panose="02020603050405020304" pitchFamily="18" charset="0"/>
              </a:rPr>
              <a:t> of an interface.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Focuses on placement, content hierarchy, and navigation.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Usually has minimal visual styling.</a:t>
            </a:r>
          </a:p>
          <a:p>
            <a:endParaRPr lang="en-IN" dirty="0"/>
          </a:p>
        </p:txBody>
      </p:sp>
      <p:sp>
        <p:nvSpPr>
          <p:cNvPr id="4" name="Slide Number Placeholder 3">
            <a:extLst>
              <a:ext uri="{FF2B5EF4-FFF2-40B4-BE49-F238E27FC236}">
                <a16:creationId xmlns:a16="http://schemas.microsoft.com/office/drawing/2014/main" id="{53EFE05F-5FE6-FFBD-6A59-3D29D97C51D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64</a:t>
            </a:fld>
            <a:endParaRPr lang="en-GB"/>
          </a:p>
        </p:txBody>
      </p:sp>
    </p:spTree>
    <p:extLst>
      <p:ext uri="{BB962C8B-B14F-4D97-AF65-F5344CB8AC3E}">
        <p14:creationId xmlns:p14="http://schemas.microsoft.com/office/powerpoint/2010/main" val="5553361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D69B3DA-E240-80B6-3A2A-CC04EE74BA62}"/>
              </a:ext>
            </a:extLst>
          </p:cNvPr>
          <p:cNvSpPr>
            <a:spLocks noGrp="1"/>
          </p:cNvSpPr>
          <p:nvPr>
            <p:ph type="body" idx="1"/>
          </p:nvPr>
        </p:nvSpPr>
        <p:spPr/>
        <p:txBody>
          <a:bodyPr/>
          <a:lstStyle/>
          <a:p>
            <a:pPr>
              <a:buNone/>
            </a:pPr>
            <a:r>
              <a:rPr lang="en-US" sz="2400" b="1" dirty="0">
                <a:latin typeface="Times New Roman" panose="02020603050405020304" pitchFamily="18" charset="0"/>
                <a:cs typeface="Times New Roman" panose="02020603050405020304" pitchFamily="18" charset="0"/>
              </a:rPr>
              <a:t>Digital Mock-up</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Computer-based representation of the proposed interface.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a more realistic visual representation.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include colors, images, typography, icons, and interactions. </a:t>
            </a:r>
          </a:p>
          <a:p>
            <a:pPr>
              <a:buNone/>
            </a:pPr>
            <a:endParaRPr lang="en-US" sz="2400" b="1" dirty="0">
              <a:latin typeface="Times New Roman" panose="02020603050405020304" pitchFamily="18" charset="0"/>
              <a:cs typeface="Times New Roman" panose="02020603050405020304" pitchFamily="18" charset="0"/>
            </a:endParaRPr>
          </a:p>
          <a:p>
            <a:pPr>
              <a:buNone/>
            </a:pPr>
            <a:endParaRPr lang="en-US" sz="2400" b="1" dirty="0">
              <a:latin typeface="Times New Roman" panose="02020603050405020304" pitchFamily="18" charset="0"/>
              <a:cs typeface="Times New Roman" panose="02020603050405020304" pitchFamily="18" charset="0"/>
            </a:endParaRPr>
          </a:p>
          <a:p>
            <a:pPr>
              <a:buNone/>
            </a:pPr>
            <a:r>
              <a:rPr lang="en-US" sz="2400" b="1" i="1" dirty="0">
                <a:latin typeface="Times New Roman" panose="02020603050405020304" pitchFamily="18" charset="0"/>
                <a:cs typeface="Times New Roman" panose="02020603050405020304" pitchFamily="18" charset="0"/>
              </a:rPr>
              <a:t>Paper prototype </a:t>
            </a:r>
            <a:r>
              <a:rPr lang="en-US" sz="2400" dirty="0">
                <a:latin typeface="Times New Roman" panose="02020603050405020304" pitchFamily="18" charset="0"/>
                <a:cs typeface="Times New Roman" panose="02020603050405020304" pitchFamily="18" charset="0"/>
              </a:rPr>
              <a:t>= What could the idea look like?</a:t>
            </a:r>
          </a:p>
          <a:p>
            <a:pPr>
              <a:buNone/>
            </a:pPr>
            <a:r>
              <a:rPr lang="en-US" sz="2400" b="1" i="1" dirty="0">
                <a:latin typeface="Times New Roman" panose="02020603050405020304" pitchFamily="18" charset="0"/>
                <a:cs typeface="Times New Roman" panose="02020603050405020304" pitchFamily="18" charset="0"/>
              </a:rPr>
              <a:t>Wireframe</a:t>
            </a:r>
            <a:r>
              <a:rPr lang="en-US" sz="2400" dirty="0">
                <a:latin typeface="Times New Roman" panose="02020603050405020304" pitchFamily="18" charset="0"/>
                <a:cs typeface="Times New Roman" panose="02020603050405020304" pitchFamily="18" charset="0"/>
              </a:rPr>
              <a:t> = Where should everything go?</a:t>
            </a:r>
          </a:p>
          <a:p>
            <a:pPr>
              <a:buNone/>
            </a:pPr>
            <a:r>
              <a:rPr lang="en-US" sz="2400" b="1" i="1" dirty="0">
                <a:latin typeface="Times New Roman" panose="02020603050405020304" pitchFamily="18" charset="0"/>
                <a:cs typeface="Times New Roman" panose="02020603050405020304" pitchFamily="18" charset="0"/>
              </a:rPr>
              <a:t>Digital mock-up </a:t>
            </a:r>
            <a:r>
              <a:rPr lang="en-US" sz="2400" dirty="0">
                <a:latin typeface="Times New Roman" panose="02020603050405020304" pitchFamily="18" charset="0"/>
                <a:cs typeface="Times New Roman" panose="02020603050405020304" pitchFamily="18" charset="0"/>
              </a:rPr>
              <a:t>= What could the final interface look and behave like?</a:t>
            </a:r>
          </a:p>
          <a:p>
            <a:endParaRPr lang="en-IN" dirty="0"/>
          </a:p>
        </p:txBody>
      </p:sp>
      <p:sp>
        <p:nvSpPr>
          <p:cNvPr id="4" name="Slide Number Placeholder 3">
            <a:extLst>
              <a:ext uri="{FF2B5EF4-FFF2-40B4-BE49-F238E27FC236}">
                <a16:creationId xmlns:a16="http://schemas.microsoft.com/office/drawing/2014/main" id="{0F872957-C90F-BCF5-17AB-ED7ECACFC7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65</a:t>
            </a:fld>
            <a:endParaRPr lang="en-GB"/>
          </a:p>
        </p:txBody>
      </p:sp>
    </p:spTree>
    <p:extLst>
      <p:ext uri="{BB962C8B-B14F-4D97-AF65-F5344CB8AC3E}">
        <p14:creationId xmlns:p14="http://schemas.microsoft.com/office/powerpoint/2010/main" val="23797071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D5C70-4A48-DD6F-A5FA-FC5A6F7B3C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7CEE8E-0F47-1F2E-FFCC-74BB497336AA}"/>
              </a:ext>
            </a:extLst>
          </p:cNvPr>
          <p:cNvSpPr>
            <a:spLocks noGrp="1"/>
          </p:cNvSpPr>
          <p:nvPr>
            <p:ph type="title"/>
          </p:nvPr>
        </p:nvSpPr>
        <p:spPr>
          <a:xfrm>
            <a:off x="415600" y="276010"/>
            <a:ext cx="11360700" cy="763500"/>
          </a:xfrm>
        </p:spPr>
        <p:txBody>
          <a:bodyPr/>
          <a:lstStyle/>
          <a:p>
            <a:pPr marL="50800" marR="0" lvl="0" defTabSz="914400" rtl="0" eaLnBrk="1" fontAlgn="auto" latinLnBrk="0" hangingPunct="1">
              <a:lnSpc>
                <a:spcPct val="100000"/>
              </a:lnSpc>
              <a:spcBef>
                <a:spcPts val="0"/>
              </a:spcBef>
              <a:spcAft>
                <a:spcPts val="0"/>
              </a:spcAft>
              <a:buClr>
                <a:srgbClr val="0066FF"/>
              </a:buClr>
              <a:tabLst/>
              <a:defRPr/>
            </a:pPr>
            <a:r>
              <a:rPr kumimoji="0" lang="en-US" sz="2800" b="1" i="0" u="none" strike="noStrike" kern="100" cap="none" spc="0" normalizeH="0" baseline="0" noProof="0" dirty="0">
                <a:ln>
                  <a:noFill/>
                </a:ln>
                <a:solidFill>
                  <a:srgbClr val="0066FF"/>
                </a:solidFill>
                <a:effectLst/>
                <a:uLnTx/>
                <a:uFillTx/>
                <a:latin typeface="Times New Roman" panose="02020603050405020304" pitchFamily="18" charset="0"/>
                <a:ea typeface="Book Antiqua" panose="02040602050305030304" pitchFamily="18" charset="0"/>
                <a:cs typeface="Times New Roman" panose="02020603050405020304" pitchFamily="18" charset="0"/>
                <a:sym typeface="IBM Plex Sans Condensed"/>
              </a:rPr>
              <a:t>IV.</a:t>
            </a:r>
            <a:r>
              <a:rPr kumimoji="0" lang="en-US" sz="2800" b="1" i="0" u="none" strike="noStrike" kern="100" cap="none" spc="0" normalizeH="0" baseline="0" noProof="0" dirty="0">
                <a:ln>
                  <a:noFill/>
                </a:ln>
                <a:solidFill>
                  <a:srgbClr val="FF00FF"/>
                </a:solidFill>
                <a:effectLst/>
                <a:uLnTx/>
                <a:uFillTx/>
                <a:latin typeface="Times New Roman" panose="02020603050405020304" pitchFamily="18" charset="0"/>
                <a:ea typeface="Book Antiqua" panose="02040602050305030304" pitchFamily="18" charset="0"/>
                <a:cs typeface="Times New Roman" panose="02020603050405020304" pitchFamily="18" charset="0"/>
                <a:sym typeface="IBM Plex Sans Condensed"/>
              </a:rPr>
              <a:t> </a:t>
            </a:r>
            <a:r>
              <a:rPr kumimoji="0" lang="en-US" sz="2400" i="0" u="none" strike="noStrike" kern="0" cap="none" spc="0" normalizeH="0" baseline="0" noProof="0" dirty="0">
                <a:ln>
                  <a:noFill/>
                </a:ln>
                <a:solidFill>
                  <a:srgbClr val="FF00FF"/>
                </a:solidFill>
                <a:effectLst/>
                <a:uLnTx/>
                <a:uFillTx/>
                <a:latin typeface="Times New Roman" panose="02020603050405020304" pitchFamily="18" charset="0"/>
                <a:ea typeface="Book Antiqua" panose="02040602050305030304" pitchFamily="18" charset="0"/>
                <a:cs typeface="Times New Roman" panose="02020603050405020304" pitchFamily="18" charset="0"/>
                <a:sym typeface="IBM Plex Sans Condensed"/>
              </a:rPr>
              <a:t>Conducting user testing and incorporating feedback for design improvement</a:t>
            </a:r>
            <a:br>
              <a:rPr kumimoji="0" lang="en-US" sz="2800" b="1" i="0" u="none" strike="noStrike" kern="0" cap="none" spc="0" normalizeH="0" baseline="0" noProof="0" dirty="0">
                <a:ln>
                  <a:noFill/>
                </a:ln>
                <a:solidFill>
                  <a:srgbClr val="000000"/>
                </a:solidFill>
                <a:effectLst/>
                <a:uLnTx/>
                <a:uFillTx/>
                <a:latin typeface="IBM Plex Sans Condensed"/>
                <a:sym typeface="IBM Plex Sans Condensed"/>
              </a:rPr>
            </a:br>
            <a:endParaRPr lang="en-IN" dirty="0"/>
          </a:p>
        </p:txBody>
      </p:sp>
      <p:sp>
        <p:nvSpPr>
          <p:cNvPr id="3" name="Text Placeholder 2">
            <a:extLst>
              <a:ext uri="{FF2B5EF4-FFF2-40B4-BE49-F238E27FC236}">
                <a16:creationId xmlns:a16="http://schemas.microsoft.com/office/drawing/2014/main" id="{8660B3B0-8F1E-8EDB-5483-BE714E5A4C55}"/>
              </a:ext>
            </a:extLst>
          </p:cNvPr>
          <p:cNvSpPr>
            <a:spLocks noGrp="1"/>
          </p:cNvSpPr>
          <p:nvPr>
            <p:ph type="body" idx="1"/>
          </p:nvPr>
        </p:nvSpPr>
        <p:spPr>
          <a:xfrm>
            <a:off x="509207" y="1114470"/>
            <a:ext cx="11018397" cy="5110966"/>
          </a:xfrm>
        </p:spPr>
        <p:txBody>
          <a:bodyPr/>
          <a:lstStyle/>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User testing</a:t>
            </a:r>
            <a:r>
              <a:rPr lang="en-US" sz="2400" dirty="0">
                <a:latin typeface="Times New Roman" panose="02020603050405020304" pitchFamily="18" charset="0"/>
                <a:cs typeface="Times New Roman" panose="02020603050405020304" pitchFamily="18" charset="0"/>
              </a:rPr>
              <a:t> is a method of evaluating a product, prototype, website, mobile application, or service by observing </a:t>
            </a:r>
            <a:r>
              <a:rPr lang="en-US" sz="2400" b="1" dirty="0">
                <a:latin typeface="Times New Roman" panose="02020603050405020304" pitchFamily="18" charset="0"/>
                <a:cs typeface="Times New Roman" panose="02020603050405020304" pitchFamily="18" charset="0"/>
              </a:rPr>
              <a:t>real or representative users interacting with it</a:t>
            </a:r>
            <a:r>
              <a:rPr lang="en-US" sz="2400" dirty="0">
                <a:latin typeface="Times New Roman" panose="02020603050405020304" pitchFamily="18" charset="0"/>
                <a:cs typeface="Times New Roman" panose="02020603050405020304" pitchFamily="18" charset="0"/>
              </a:rPr>
              <a:t>.</a:t>
            </a:r>
          </a:p>
          <a:p>
            <a:pPr>
              <a:buNone/>
            </a:pPr>
            <a:r>
              <a:rPr lang="en-US" sz="2400" dirty="0">
                <a:latin typeface="Times New Roman" panose="02020603050405020304" pitchFamily="18" charset="0"/>
                <a:cs typeface="Times New Roman" panose="02020603050405020304" pitchFamily="18" charset="0"/>
              </a:rPr>
              <a:t>The purpose is to understand:</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Whether users can complete their tasks.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Where users face difficulties.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users like or dislike.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Whether the design satisfies user needs. </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changes are required to improve the design.</a:t>
            </a: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SzPct val="100000"/>
              <a:buFont typeface="Wingdings" panose="05000000000000000000" pitchFamily="2" charset="2"/>
              <a:buChar char="ü"/>
            </a:pPr>
            <a:r>
              <a:rPr lang="en-US" sz="2400" b="0" i="0" dirty="0">
                <a:solidFill>
                  <a:srgbClr val="212529"/>
                </a:solidFill>
                <a:effectLst/>
                <a:latin typeface="Times New Roman" panose="02020603050405020304" pitchFamily="18" charset="0"/>
                <a:cs typeface="Times New Roman" panose="02020603050405020304" pitchFamily="18" charset="0"/>
              </a:rPr>
              <a:t>User testing means putting a prototype in front of users, observing how they use it, collecting their feedback, and using that feedback to improve the design.</a:t>
            </a:r>
          </a:p>
        </p:txBody>
      </p:sp>
      <p:sp>
        <p:nvSpPr>
          <p:cNvPr id="4" name="Slide Number Placeholder 3">
            <a:extLst>
              <a:ext uri="{FF2B5EF4-FFF2-40B4-BE49-F238E27FC236}">
                <a16:creationId xmlns:a16="http://schemas.microsoft.com/office/drawing/2014/main" id="{E79FBE94-6C34-B8CA-729E-3152586CD008}"/>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GB" sz="1200" b="0" i="0" u="none" strike="noStrike" kern="0" cap="none" spc="0" normalizeH="0" baseline="0" noProof="0" smtClean="0">
                <a:ln>
                  <a:noFill/>
                </a:ln>
                <a:solidFill>
                  <a:srgbClr val="FFFFFF"/>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66</a:t>
            </a:fld>
            <a:endParaRPr kumimoji="0" lang="en-GB" sz="1200" b="0" i="0" u="none" strike="noStrike" kern="0" cap="none" spc="0" normalizeH="0" baseline="0" noProof="0">
              <a:ln>
                <a:noFill/>
              </a:ln>
              <a:solidFill>
                <a:srgbClr val="FFFFFF"/>
              </a:solidFill>
              <a:effectLst/>
              <a:uLnTx/>
              <a:uFillTx/>
              <a:latin typeface="Arial"/>
              <a:cs typeface="Arial"/>
              <a:sym typeface="Arial"/>
            </a:endParaRPr>
          </a:p>
        </p:txBody>
      </p:sp>
      <p:cxnSp>
        <p:nvCxnSpPr>
          <p:cNvPr id="5" name="Straight Connector 4">
            <a:extLst>
              <a:ext uri="{FF2B5EF4-FFF2-40B4-BE49-F238E27FC236}">
                <a16:creationId xmlns:a16="http://schemas.microsoft.com/office/drawing/2014/main" id="{77C1988D-D518-690D-B18A-002DECCAA12D}"/>
              </a:ext>
            </a:extLst>
          </p:cNvPr>
          <p:cNvCxnSpPr/>
          <p:nvPr/>
        </p:nvCxnSpPr>
        <p:spPr>
          <a:xfrm>
            <a:off x="302584" y="873517"/>
            <a:ext cx="11473716" cy="0"/>
          </a:xfrm>
          <a:prstGeom prst="line">
            <a:avLst/>
          </a:pr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6" name="AutoShape 2" descr="Idea to New Prototype Flowchart">
            <a:extLst>
              <a:ext uri="{FF2B5EF4-FFF2-40B4-BE49-F238E27FC236}">
                <a16:creationId xmlns:a16="http://schemas.microsoft.com/office/drawing/2014/main" id="{5654E865-39CA-6D30-0CF4-12FD11C80B0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
        <p:nvSpPr>
          <p:cNvPr id="8" name="AutoShape 2" descr="Generated image: Design Process Flowchart with Repeat Loop">
            <a:extLst>
              <a:ext uri="{FF2B5EF4-FFF2-40B4-BE49-F238E27FC236}">
                <a16:creationId xmlns:a16="http://schemas.microsoft.com/office/drawing/2014/main" id="{E602E18C-3206-587F-E248-B9171802CCB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3522514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CA695-A458-6DB0-70C5-EF32BB70939A}"/>
              </a:ext>
            </a:extLst>
          </p:cNvPr>
          <p:cNvSpPr>
            <a:spLocks noGrp="1"/>
          </p:cNvSpPr>
          <p:nvPr>
            <p:ph type="title"/>
          </p:nvPr>
        </p:nvSpPr>
        <p:spPr>
          <a:xfrm>
            <a:off x="415600" y="197995"/>
            <a:ext cx="11360700" cy="568417"/>
          </a:xfrm>
        </p:spPr>
        <p:txBody>
          <a:bodyPr/>
          <a:lstStyle/>
          <a:p>
            <a:pPr marL="457200" indent="-457200">
              <a:buFont typeface="Wingdings" panose="05000000000000000000" pitchFamily="2" charset="2"/>
              <a:buChar char="v"/>
            </a:pPr>
            <a:r>
              <a:rPr lang="en-US" sz="2800" dirty="0">
                <a:solidFill>
                  <a:srgbClr val="006600"/>
                </a:solidFill>
                <a:latin typeface="Times New Roman" panose="02020603050405020304" pitchFamily="18" charset="0"/>
                <a:cs typeface="Times New Roman" panose="02020603050405020304" pitchFamily="18" charset="0"/>
              </a:rPr>
              <a:t>User Testing in the Design Thinking Process</a:t>
            </a:r>
            <a:endParaRPr lang="en-IN" sz="2800" dirty="0">
              <a:solidFill>
                <a:srgbClr val="0066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F1661107-79A5-1418-50F3-3F931948E2CF}"/>
              </a:ext>
            </a:extLst>
          </p:cNvPr>
          <p:cNvSpPr>
            <a:spLocks noGrp="1"/>
          </p:cNvSpPr>
          <p:nvPr>
            <p:ph type="body" idx="1"/>
          </p:nvPr>
        </p:nvSpPr>
        <p:spPr>
          <a:xfrm>
            <a:off x="415600" y="767113"/>
            <a:ext cx="11776400" cy="5324475"/>
          </a:xfrm>
        </p:spPr>
        <p:txBody>
          <a:bodyPr/>
          <a:lstStyle/>
          <a:p>
            <a:pPr>
              <a:buSzPct val="1000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User testing is closely associated with the Test stage of Design Thinking.</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926D45A-44B3-11C3-4F27-B8931D88E4C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67</a:t>
            </a:fld>
            <a:endParaRPr lang="en-GB"/>
          </a:p>
        </p:txBody>
      </p:sp>
      <p:sp>
        <p:nvSpPr>
          <p:cNvPr id="6" name="AutoShape 2" descr=", AI generated">
            <a:extLst>
              <a:ext uri="{FF2B5EF4-FFF2-40B4-BE49-F238E27FC236}">
                <a16:creationId xmlns:a16="http://schemas.microsoft.com/office/drawing/2014/main" id="{0DD43F6A-DE06-6159-84E2-B88E231FF86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F3168FF6-F61D-0CC3-DF57-679142B24F27}"/>
              </a:ext>
            </a:extLst>
          </p:cNvPr>
          <p:cNvPicPr>
            <a:picLocks noChangeAspect="1"/>
          </p:cNvPicPr>
          <p:nvPr/>
        </p:nvPicPr>
        <p:blipFill>
          <a:blip r:embed="rId2"/>
          <a:stretch>
            <a:fillRect/>
          </a:stretch>
        </p:blipFill>
        <p:spPr>
          <a:xfrm>
            <a:off x="504492" y="1458931"/>
            <a:ext cx="5122321" cy="4550113"/>
          </a:xfrm>
          <a:prstGeom prst="rect">
            <a:avLst/>
          </a:prstGeom>
        </p:spPr>
      </p:pic>
      <p:sp>
        <p:nvSpPr>
          <p:cNvPr id="8" name="TextBox 7">
            <a:extLst>
              <a:ext uri="{FF2B5EF4-FFF2-40B4-BE49-F238E27FC236}">
                <a16:creationId xmlns:a16="http://schemas.microsoft.com/office/drawing/2014/main" id="{A91658C9-7AC0-1F9C-5258-A025E88A4FC1}"/>
              </a:ext>
            </a:extLst>
          </p:cNvPr>
          <p:cNvSpPr txBox="1"/>
          <p:nvPr/>
        </p:nvSpPr>
        <p:spPr>
          <a:xfrm>
            <a:off x="6096000" y="1736333"/>
            <a:ext cx="5856101" cy="1723549"/>
          </a:xfrm>
          <a:prstGeom prst="rect">
            <a:avLst/>
          </a:prstGeom>
          <a:noFill/>
        </p:spPr>
        <p:txBody>
          <a:bodyPr wrap="square" rtlCol="0">
            <a:spAutoFit/>
          </a:bodyPr>
          <a:lstStyle/>
          <a:p>
            <a:pPr marL="457200" marR="0" lvl="0" indent="-406400" algn="l" defTabSz="914400" rtl="0" eaLnBrk="1" fontAlgn="auto" latinLnBrk="0" hangingPunct="1">
              <a:lnSpc>
                <a:spcPct val="100000"/>
              </a:lnSpc>
              <a:spcBef>
                <a:spcPts val="0"/>
              </a:spcBef>
              <a:spcAft>
                <a:spcPts val="0"/>
              </a:spcAft>
              <a:buClr>
                <a:srgbClr val="000000"/>
              </a:buClr>
              <a:buSzPts val="2800"/>
              <a:buFont typeface="Arial" panose="020B0604020202020204" pitchFamily="34" charset="0"/>
              <a:buChar char="•"/>
              <a:tabLst/>
              <a:defRPr/>
            </a:pP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User testing is </a:t>
            </a:r>
            <a:r>
              <a:rPr kumimoji="0" lang="en-US" sz="22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not necessarily the final step</a:t>
            </a: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a:t>
            </a:r>
          </a:p>
          <a:p>
            <a:pPr marL="457200" marR="0" lvl="0" indent="-406400" algn="l" defTabSz="914400" rtl="0" eaLnBrk="1" fontAlgn="auto" latinLnBrk="0" hangingPunct="1">
              <a:lnSpc>
                <a:spcPct val="100000"/>
              </a:lnSpc>
              <a:spcBef>
                <a:spcPts val="0"/>
              </a:spcBef>
              <a:spcAft>
                <a:spcPts val="0"/>
              </a:spcAft>
              <a:buClr>
                <a:srgbClr val="000000"/>
              </a:buClr>
              <a:buSzPts val="2800"/>
              <a:buFont typeface="Arial" panose="020B0604020202020204" pitchFamily="34" charset="0"/>
              <a:buChar char="•"/>
              <a:tabLst/>
              <a:defRPr/>
            </a:pP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The results may reveal a new problem, causing the designer to:</a:t>
            </a:r>
          </a:p>
          <a:p>
            <a:pPr marL="50800" marR="0" lvl="0" indent="0" algn="l" defTabSz="914400" rtl="0" eaLnBrk="1" fontAlgn="auto" latinLnBrk="0" hangingPunct="1">
              <a:lnSpc>
                <a:spcPct val="100000"/>
              </a:lnSpc>
              <a:spcBef>
                <a:spcPts val="0"/>
              </a:spcBef>
              <a:spcAft>
                <a:spcPts val="0"/>
              </a:spcAft>
              <a:buClr>
                <a:srgbClr val="000000"/>
              </a:buClr>
              <a:buSzPts val="2800"/>
              <a:buFont typeface="IBM Plex Sans Condensed"/>
              <a:buNone/>
              <a:tabLst/>
              <a:defRPr/>
            </a:pPr>
            <a:r>
              <a:rPr kumimoji="0" lang="en-US" sz="19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Test → Learn → Modify → Prototype → Test again</a:t>
            </a:r>
            <a:endParaRPr kumimoji="0" lang="en-US" sz="19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endParaRPr>
          </a:p>
          <a:p>
            <a:pPr marL="457200" marR="0" lvl="0" indent="-406400" algn="l" defTabSz="914400" rtl="0" eaLnBrk="1" fontAlgn="auto" latinLnBrk="0" hangingPunct="1">
              <a:lnSpc>
                <a:spcPct val="100000"/>
              </a:lnSpc>
              <a:spcBef>
                <a:spcPts val="0"/>
              </a:spcBef>
              <a:spcAft>
                <a:spcPts val="0"/>
              </a:spcAft>
              <a:buClr>
                <a:srgbClr val="000000"/>
              </a:buClr>
              <a:buSzPts val="2800"/>
              <a:buFont typeface="Arial" panose="020B0604020202020204" pitchFamily="34" charset="0"/>
              <a:buChar char="•"/>
              <a:tabLst/>
              <a:defRPr/>
            </a:pP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This makes the design process </a:t>
            </a:r>
            <a:r>
              <a:rPr kumimoji="0" lang="en-US" sz="22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iterative</a:t>
            </a:r>
            <a:r>
              <a:rPr kumimoji="0" lang="en-US" sz="22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a:t>
            </a:r>
          </a:p>
        </p:txBody>
      </p:sp>
    </p:spTree>
    <p:extLst>
      <p:ext uri="{BB962C8B-B14F-4D97-AF65-F5344CB8AC3E}">
        <p14:creationId xmlns:p14="http://schemas.microsoft.com/office/powerpoint/2010/main" val="22207727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62E73-8856-A5A4-5B0C-6096C0D2702B}"/>
              </a:ext>
            </a:extLst>
          </p:cNvPr>
          <p:cNvSpPr>
            <a:spLocks noGrp="1"/>
          </p:cNvSpPr>
          <p:nvPr>
            <p:ph type="title"/>
          </p:nvPr>
        </p:nvSpPr>
        <p:spPr>
          <a:xfrm>
            <a:off x="415600" y="339112"/>
            <a:ext cx="11360700" cy="575288"/>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Objectives of User Testing</a:t>
            </a:r>
          </a:p>
        </p:txBody>
      </p:sp>
      <p:sp>
        <p:nvSpPr>
          <p:cNvPr id="3" name="Text Placeholder 2">
            <a:extLst>
              <a:ext uri="{FF2B5EF4-FFF2-40B4-BE49-F238E27FC236}">
                <a16:creationId xmlns:a16="http://schemas.microsoft.com/office/drawing/2014/main" id="{731E88E4-6A9D-FC9A-39A9-E6180296E320}"/>
              </a:ext>
            </a:extLst>
          </p:cNvPr>
          <p:cNvSpPr>
            <a:spLocks noGrp="1"/>
          </p:cNvSpPr>
          <p:nvPr>
            <p:ph type="body" idx="1"/>
          </p:nvPr>
        </p:nvSpPr>
        <p:spPr>
          <a:xfrm>
            <a:off x="415600" y="914400"/>
            <a:ext cx="11360700" cy="5177188"/>
          </a:xfrm>
        </p:spPr>
        <p:txBody>
          <a:bodyPr/>
          <a:lstStyle/>
          <a:p>
            <a:pPr>
              <a:buNone/>
            </a:pPr>
            <a:r>
              <a:rPr lang="en-US" sz="2400" dirty="0">
                <a:latin typeface="Times New Roman" panose="02020603050405020304" pitchFamily="18" charset="0"/>
                <a:cs typeface="Times New Roman" panose="02020603050405020304" pitchFamily="18" charset="0"/>
              </a:rPr>
              <a:t>The major objectives are:</a:t>
            </a:r>
          </a:p>
          <a:p>
            <a:pPr>
              <a:buNone/>
            </a:pPr>
            <a:r>
              <a:rPr lang="en-US" sz="2400" b="1" dirty="0">
                <a:latin typeface="Times New Roman" panose="02020603050405020304" pitchFamily="18" charset="0"/>
                <a:cs typeface="Times New Roman" panose="02020603050405020304" pitchFamily="18" charset="0"/>
              </a:rPr>
              <a:t>1. Identify usability problems</a:t>
            </a:r>
          </a:p>
          <a:p>
            <a:pPr>
              <a:buNone/>
            </a:pPr>
            <a:r>
              <a:rPr lang="en-US" sz="2400" dirty="0">
                <a:latin typeface="Times New Roman" panose="02020603050405020304" pitchFamily="18" charset="0"/>
                <a:cs typeface="Times New Roman" panose="02020603050405020304" pitchFamily="18" charset="0"/>
              </a:rPr>
              <a:t>	Find out where users struggle while using the product.</a:t>
            </a:r>
          </a:p>
          <a:p>
            <a:pPr>
              <a:buNone/>
            </a:pPr>
            <a:r>
              <a:rPr lang="en-US" sz="2400" b="1" dirty="0">
                <a:latin typeface="Times New Roman" panose="02020603050405020304" pitchFamily="18" charset="0"/>
                <a:cs typeface="Times New Roman" panose="02020603050405020304" pitchFamily="18" charset="0"/>
              </a:rPr>
              <a:t>2. Evaluate task completion</a:t>
            </a:r>
          </a:p>
          <a:p>
            <a:pPr>
              <a:buNone/>
            </a:pPr>
            <a:r>
              <a:rPr lang="en-US" sz="2400" dirty="0">
                <a:latin typeface="Times New Roman" panose="02020603050405020304" pitchFamily="18" charset="0"/>
                <a:cs typeface="Times New Roman" panose="02020603050405020304" pitchFamily="18" charset="0"/>
              </a:rPr>
              <a:t>	Determine whether users can successfully complete important tasks.</a:t>
            </a:r>
          </a:p>
          <a:p>
            <a:pPr>
              <a:buNone/>
            </a:pPr>
            <a:r>
              <a:rPr lang="en-US" sz="2400" b="1" dirty="0">
                <a:latin typeface="Times New Roman" panose="02020603050405020304" pitchFamily="18" charset="0"/>
                <a:cs typeface="Times New Roman" panose="02020603050405020304" pitchFamily="18" charset="0"/>
              </a:rPr>
              <a:t>3. Understand user </a:t>
            </a:r>
            <a:r>
              <a:rPr lang="en-US" sz="2400" b="1" dirty="0" err="1">
                <a:latin typeface="Times New Roman" panose="02020603050405020304" pitchFamily="18" charset="0"/>
                <a:cs typeface="Times New Roman" panose="02020603050405020304" pitchFamily="18" charset="0"/>
              </a:rPr>
              <a:t>behaviour</a:t>
            </a:r>
            <a:endParaRPr lang="en-US" sz="2400" b="1"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Observe how users naturally interact with the design.</a:t>
            </a:r>
          </a:p>
          <a:p>
            <a:pPr>
              <a:buNone/>
            </a:pPr>
            <a:r>
              <a:rPr lang="en-US" sz="2400" b="1" dirty="0">
                <a:latin typeface="Times New Roman" panose="02020603050405020304" pitchFamily="18" charset="0"/>
                <a:cs typeface="Times New Roman" panose="02020603050405020304" pitchFamily="18" charset="0"/>
              </a:rPr>
              <a:t>4. Collect user opinions</a:t>
            </a:r>
          </a:p>
          <a:p>
            <a:pPr>
              <a:buNone/>
            </a:pPr>
            <a:r>
              <a:rPr lang="en-US" sz="2400" dirty="0">
                <a:latin typeface="Times New Roman" panose="02020603050405020304" pitchFamily="18" charset="0"/>
                <a:cs typeface="Times New Roman" panose="02020603050405020304" pitchFamily="18" charset="0"/>
              </a:rPr>
              <a:t>	Understand what users like, dislike, expect, or find confusing.</a:t>
            </a:r>
          </a:p>
          <a:p>
            <a:pPr>
              <a:buNone/>
            </a:pPr>
            <a:r>
              <a:rPr lang="en-US" sz="2400" b="1" dirty="0">
                <a:latin typeface="Times New Roman" panose="02020603050405020304" pitchFamily="18" charset="0"/>
                <a:cs typeface="Times New Roman" panose="02020603050405020304" pitchFamily="18" charset="0"/>
              </a:rPr>
              <a:t>5. Validate design assumptions</a:t>
            </a:r>
          </a:p>
          <a:p>
            <a:pPr>
              <a:buNone/>
            </a:pPr>
            <a:r>
              <a:rPr lang="en-US" sz="2400" dirty="0">
                <a:latin typeface="Times New Roman" panose="02020603050405020304" pitchFamily="18" charset="0"/>
                <a:cs typeface="Times New Roman" panose="02020603050405020304" pitchFamily="18" charset="0"/>
              </a:rPr>
              <a:t>	Check whether the designer's assumptions about users are correct.</a:t>
            </a:r>
          </a:p>
          <a:p>
            <a:pPr>
              <a:buNone/>
            </a:pPr>
            <a:r>
              <a:rPr lang="en-US" sz="2400" b="1" dirty="0">
                <a:latin typeface="Times New Roman" panose="02020603050405020304" pitchFamily="18" charset="0"/>
                <a:cs typeface="Times New Roman" panose="02020603050405020304" pitchFamily="18" charset="0"/>
              </a:rPr>
              <a:t>6. Improve user experience</a:t>
            </a:r>
          </a:p>
          <a:p>
            <a:pPr>
              <a:buNone/>
            </a:pPr>
            <a:r>
              <a:rPr lang="en-US" sz="2400" dirty="0">
                <a:latin typeface="Times New Roman" panose="02020603050405020304" pitchFamily="18" charset="0"/>
                <a:cs typeface="Times New Roman" panose="02020603050405020304" pitchFamily="18" charset="0"/>
              </a:rPr>
              <a:t>	Use evidence from testing to make the product easier, clearer, and more useful.</a:t>
            </a:r>
          </a:p>
          <a:p>
            <a:endParaRPr lang="en-IN" dirty="0"/>
          </a:p>
        </p:txBody>
      </p:sp>
      <p:sp>
        <p:nvSpPr>
          <p:cNvPr id="4" name="Slide Number Placeholder 3">
            <a:extLst>
              <a:ext uri="{FF2B5EF4-FFF2-40B4-BE49-F238E27FC236}">
                <a16:creationId xmlns:a16="http://schemas.microsoft.com/office/drawing/2014/main" id="{27C74EFC-F03C-FCD0-AC02-A29CC301FF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68</a:t>
            </a:fld>
            <a:endParaRPr lang="en-GB"/>
          </a:p>
        </p:txBody>
      </p:sp>
    </p:spTree>
    <p:extLst>
      <p:ext uri="{BB962C8B-B14F-4D97-AF65-F5344CB8AC3E}">
        <p14:creationId xmlns:p14="http://schemas.microsoft.com/office/powerpoint/2010/main" val="18011528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CE42D-99C3-4FD2-C092-012B2FB42560}"/>
              </a:ext>
            </a:extLst>
          </p:cNvPr>
          <p:cNvSpPr>
            <a:spLocks noGrp="1"/>
          </p:cNvSpPr>
          <p:nvPr>
            <p:ph type="title"/>
          </p:nvPr>
        </p:nvSpPr>
        <p:spPr>
          <a:xfrm>
            <a:off x="323132" y="234913"/>
            <a:ext cx="11360700" cy="628116"/>
          </a:xfrm>
        </p:spPr>
        <p:txBody>
          <a:bodyPr/>
          <a:lstStyle/>
          <a:p>
            <a:pPr marL="457200" indent="-457200">
              <a:buFont typeface="Wingdings" panose="05000000000000000000" pitchFamily="2" charset="2"/>
              <a:buChar char="v"/>
            </a:pPr>
            <a:r>
              <a:rPr lang="en-US" sz="2800" dirty="0">
                <a:solidFill>
                  <a:srgbClr val="006600"/>
                </a:solidFill>
                <a:latin typeface="Times New Roman" panose="02020603050405020304" pitchFamily="18" charset="0"/>
                <a:cs typeface="Times New Roman" panose="02020603050405020304" pitchFamily="18" charset="0"/>
              </a:rPr>
              <a:t>Steps in Conducting User Testing</a:t>
            </a:r>
            <a:endParaRPr lang="en-IN" sz="2800" dirty="0">
              <a:solidFill>
                <a:srgbClr val="0066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3DEC735-C237-AD35-A1B0-02EF9ADA6C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69</a:t>
            </a:fld>
            <a:endParaRPr lang="en-GB"/>
          </a:p>
        </p:txBody>
      </p:sp>
      <p:sp>
        <p:nvSpPr>
          <p:cNvPr id="3" name="AutoShape 2" descr=", AI generated">
            <a:extLst>
              <a:ext uri="{FF2B5EF4-FFF2-40B4-BE49-F238E27FC236}">
                <a16:creationId xmlns:a16="http://schemas.microsoft.com/office/drawing/2014/main" id="{B146F2B5-610F-ACCF-FB93-4CBED9E27BF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9C3A7BB0-AC69-D4B6-FE02-E67525E774C3}"/>
              </a:ext>
            </a:extLst>
          </p:cNvPr>
          <p:cNvPicPr>
            <a:picLocks noChangeAspect="1"/>
          </p:cNvPicPr>
          <p:nvPr/>
        </p:nvPicPr>
        <p:blipFill>
          <a:blip r:embed="rId2"/>
          <a:stretch>
            <a:fillRect/>
          </a:stretch>
        </p:blipFill>
        <p:spPr>
          <a:xfrm>
            <a:off x="1219200" y="766762"/>
            <a:ext cx="9753600" cy="5324475"/>
          </a:xfrm>
          <a:prstGeom prst="rect">
            <a:avLst/>
          </a:prstGeom>
        </p:spPr>
      </p:pic>
    </p:spTree>
    <p:extLst>
      <p:ext uri="{BB962C8B-B14F-4D97-AF65-F5344CB8AC3E}">
        <p14:creationId xmlns:p14="http://schemas.microsoft.com/office/powerpoint/2010/main" val="23008660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43F1F-71D0-75BA-B8FD-E2B9DD7D55B6}"/>
              </a:ext>
            </a:extLst>
          </p:cNvPr>
          <p:cNvSpPr>
            <a:spLocks noGrp="1"/>
          </p:cNvSpPr>
          <p:nvPr>
            <p:ph type="title"/>
          </p:nvPr>
        </p:nvSpPr>
        <p:spPr>
          <a:xfrm>
            <a:off x="415600" y="265735"/>
            <a:ext cx="11360700" cy="500677"/>
          </a:xfrm>
        </p:spPr>
        <p:txBody>
          <a:bodyPr/>
          <a:lstStyle/>
          <a:p>
            <a:r>
              <a:rPr lang="en-US" sz="2800" dirty="0">
                <a:solidFill>
                  <a:srgbClr val="CC3300"/>
                </a:solidFill>
                <a:latin typeface="Times New Roman" panose="02020603050405020304" pitchFamily="18" charset="0"/>
                <a:cs typeface="Times New Roman" panose="02020603050405020304" pitchFamily="18" charset="0"/>
              </a:rPr>
              <a:t>Step 1 – Define Testing Goals</a:t>
            </a:r>
            <a:endParaRPr lang="en-IN" sz="2800" dirty="0">
              <a:solidFill>
                <a:srgbClr val="CC33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C9CDD17-1125-D9F1-E843-69A9CC6D5447}"/>
              </a:ext>
            </a:extLst>
          </p:cNvPr>
          <p:cNvSpPr>
            <a:spLocks noGrp="1"/>
          </p:cNvSpPr>
          <p:nvPr>
            <p:ph type="body" idx="1"/>
          </p:nvPr>
        </p:nvSpPr>
        <p:spPr>
          <a:xfrm>
            <a:off x="415600" y="883578"/>
            <a:ext cx="11360700" cy="5208010"/>
          </a:xfrm>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Before testing, the designer must decide </a:t>
            </a:r>
            <a:r>
              <a:rPr lang="en-US" sz="2400" b="1" dirty="0">
                <a:latin typeface="Times New Roman" panose="02020603050405020304" pitchFamily="18" charset="0"/>
                <a:cs typeface="Times New Roman" panose="02020603050405020304" pitchFamily="18" charset="0"/>
              </a:rPr>
              <a:t>what needs to be evaluated</a:t>
            </a:r>
            <a:r>
              <a:rPr lang="en-US" sz="2400" dirty="0">
                <a:latin typeface="Times New Roman" panose="02020603050405020304" pitchFamily="18" charset="0"/>
                <a:cs typeface="Times New Roman" panose="02020603050405020304" pitchFamily="18" charset="0"/>
              </a:rPr>
              <a:t>.</a:t>
            </a:r>
          </a:p>
          <a:p>
            <a:pPr>
              <a:buNone/>
            </a:pPr>
            <a:r>
              <a:rPr lang="en-US" sz="2400" b="1" dirty="0">
                <a:latin typeface="Times New Roman" panose="02020603050405020304" pitchFamily="18" charset="0"/>
                <a:cs typeface="Times New Roman" panose="02020603050405020304" pitchFamily="18" charset="0"/>
              </a:rPr>
              <a:t>Example</a:t>
            </a:r>
          </a:p>
          <a:p>
            <a:pPr>
              <a:buNone/>
            </a:pPr>
            <a:r>
              <a:rPr lang="en-US" sz="2400" dirty="0">
                <a:latin typeface="Times New Roman" panose="02020603050405020304" pitchFamily="18" charset="0"/>
                <a:cs typeface="Times New Roman" panose="02020603050405020304" pitchFamily="18" charset="0"/>
              </a:rPr>
              <a:t>For a food-delivery application, testing goals could be:</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users search for a restaurant?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users find a particular food item?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users add an item to the cart?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users complete checkout?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Can users understand the delivery information? </a:t>
            </a:r>
          </a:p>
          <a:p>
            <a:pPr>
              <a:buNone/>
            </a:pPr>
            <a:endParaRPr lang="en-US" sz="2400" b="1"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Good Testing Goal</a:t>
            </a:r>
          </a:p>
          <a:p>
            <a:pPr>
              <a:buNone/>
            </a:pPr>
            <a:r>
              <a:rPr lang="en-US" sz="2400" dirty="0">
                <a:latin typeface="Times New Roman" panose="02020603050405020304" pitchFamily="18" charset="0"/>
                <a:cs typeface="Times New Roman" panose="02020603050405020304" pitchFamily="18" charset="0"/>
              </a:rPr>
              <a:t>"Determine whether first-time users can successfully place a food order without assistance."</a:t>
            </a:r>
          </a:p>
          <a:p>
            <a:pPr>
              <a:buNone/>
            </a:pPr>
            <a:r>
              <a:rPr lang="en-US" sz="2400" dirty="0">
                <a:latin typeface="Times New Roman" panose="02020603050405020304" pitchFamily="18" charset="0"/>
                <a:cs typeface="Times New Roman" panose="02020603050405020304" pitchFamily="18" charset="0"/>
              </a:rPr>
              <a:t>This is better than a vague goal such as: "Test the application."</a:t>
            </a:r>
          </a:p>
          <a:p>
            <a:endParaRPr lang="en-IN" dirty="0"/>
          </a:p>
        </p:txBody>
      </p:sp>
      <p:sp>
        <p:nvSpPr>
          <p:cNvPr id="4" name="Slide Number Placeholder 3">
            <a:extLst>
              <a:ext uri="{FF2B5EF4-FFF2-40B4-BE49-F238E27FC236}">
                <a16:creationId xmlns:a16="http://schemas.microsoft.com/office/drawing/2014/main" id="{11D75FF7-9EBC-A651-75C1-58872A9E5FD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70</a:t>
            </a:fld>
            <a:endParaRPr lang="en-GB"/>
          </a:p>
        </p:txBody>
      </p:sp>
    </p:spTree>
    <p:extLst>
      <p:ext uri="{BB962C8B-B14F-4D97-AF65-F5344CB8AC3E}">
        <p14:creationId xmlns:p14="http://schemas.microsoft.com/office/powerpoint/2010/main" val="32180945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D7CC9-4379-9DBF-0EA7-CCB5BE89B9F7}"/>
              </a:ext>
            </a:extLst>
          </p:cNvPr>
          <p:cNvSpPr>
            <a:spLocks noGrp="1"/>
          </p:cNvSpPr>
          <p:nvPr>
            <p:ph type="title"/>
          </p:nvPr>
        </p:nvSpPr>
        <p:spPr>
          <a:xfrm>
            <a:off x="225550" y="214365"/>
            <a:ext cx="11360700" cy="669213"/>
          </a:xfrm>
        </p:spPr>
        <p:txBody>
          <a:bodyPr/>
          <a:lstStyle/>
          <a:p>
            <a:r>
              <a:rPr lang="en-US" sz="2800" dirty="0">
                <a:solidFill>
                  <a:srgbClr val="CC3300"/>
                </a:solidFill>
                <a:latin typeface="Times New Roman" panose="02020603050405020304" pitchFamily="18" charset="0"/>
                <a:cs typeface="Times New Roman" panose="02020603050405020304" pitchFamily="18" charset="0"/>
              </a:rPr>
              <a:t>Step 2 – Select Target Users</a:t>
            </a:r>
            <a:endParaRPr lang="en-IN" sz="2800" dirty="0">
              <a:solidFill>
                <a:srgbClr val="CC33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D1E98BD-6586-CD04-65E4-D746408B191E}"/>
              </a:ext>
            </a:extLst>
          </p:cNvPr>
          <p:cNvSpPr>
            <a:spLocks noGrp="1"/>
          </p:cNvSpPr>
          <p:nvPr>
            <p:ph type="body" idx="1"/>
          </p:nvPr>
        </p:nvSpPr>
        <p:spPr>
          <a:xfrm>
            <a:off x="415600" y="883578"/>
            <a:ext cx="11360700" cy="5208010"/>
          </a:xfrm>
        </p:spPr>
        <p:txBody>
          <a:bodyPr/>
          <a:lstStyle/>
          <a:p>
            <a:pPr>
              <a:buSzPct val="1000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selected for testing should represent the intended target audience.</a:t>
            </a:r>
          </a:p>
          <a:p>
            <a:pPr>
              <a:buSzPct val="1000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3998BC0-A9C7-6508-C9F2-8DBA3CE014B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71</a:t>
            </a:fld>
            <a:endParaRPr lang="en-GB"/>
          </a:p>
        </p:txBody>
      </p:sp>
      <p:sp>
        <p:nvSpPr>
          <p:cNvPr id="5" name="AutoShape 2" descr=", AI generated">
            <a:extLst>
              <a:ext uri="{FF2B5EF4-FFF2-40B4-BE49-F238E27FC236}">
                <a16:creationId xmlns:a16="http://schemas.microsoft.com/office/drawing/2014/main" id="{D935112A-72AC-AB2E-7A2D-76B2E72479E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descr=", AI generated">
            <a:extLst>
              <a:ext uri="{FF2B5EF4-FFF2-40B4-BE49-F238E27FC236}">
                <a16:creationId xmlns:a16="http://schemas.microsoft.com/office/drawing/2014/main" id="{678B9545-52CC-AA98-9988-14836471E94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7895C562-C90B-1DDE-2783-D0EC6891894B}"/>
              </a:ext>
            </a:extLst>
          </p:cNvPr>
          <p:cNvPicPr>
            <a:picLocks noChangeAspect="1"/>
          </p:cNvPicPr>
          <p:nvPr/>
        </p:nvPicPr>
        <p:blipFill>
          <a:blip r:embed="rId2"/>
          <a:stretch>
            <a:fillRect/>
          </a:stretch>
        </p:blipFill>
        <p:spPr>
          <a:xfrm>
            <a:off x="1219200" y="1756881"/>
            <a:ext cx="9753600" cy="4334356"/>
          </a:xfrm>
          <a:prstGeom prst="rect">
            <a:avLst/>
          </a:prstGeom>
        </p:spPr>
      </p:pic>
    </p:spTree>
    <p:extLst>
      <p:ext uri="{BB962C8B-B14F-4D97-AF65-F5344CB8AC3E}">
        <p14:creationId xmlns:p14="http://schemas.microsoft.com/office/powerpoint/2010/main" val="2897939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42795-887E-A7FA-B605-D3CD15DEBF4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15BC859-EBE4-6B8D-D2B7-690AE8527A89}"/>
              </a:ext>
            </a:extLst>
          </p:cNvPr>
          <p:cNvSpPr>
            <a:spLocks noGrp="1"/>
          </p:cNvSpPr>
          <p:nvPr>
            <p:ph type="body" idx="1"/>
          </p:nvPr>
        </p:nvSpPr>
        <p:spPr/>
        <p:txBody>
          <a:bodyPr/>
          <a:lstStyle/>
          <a:p>
            <a:pPr>
              <a:buNone/>
            </a:pPr>
            <a:r>
              <a:rPr lang="en-US" sz="2400" b="1" dirty="0">
                <a:latin typeface="Times New Roman" panose="02020603050405020304" pitchFamily="18" charset="0"/>
                <a:cs typeface="Times New Roman" panose="02020603050405020304" pitchFamily="18" charset="0"/>
              </a:rPr>
              <a:t>Example</a:t>
            </a:r>
          </a:p>
          <a:p>
            <a:pPr>
              <a:buNone/>
            </a:pPr>
            <a:r>
              <a:rPr lang="en-US" sz="2400" dirty="0">
                <a:latin typeface="Times New Roman" panose="02020603050405020304" pitchFamily="18" charset="0"/>
                <a:cs typeface="Times New Roman" panose="02020603050405020304" pitchFamily="18" charset="0"/>
              </a:rPr>
              <a:t>For a university student-learning application, participants could include: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Undergraduate students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Postgraduate students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Students with different levels of technical experience </a:t>
            </a:r>
          </a:p>
          <a:p>
            <a:pPr>
              <a:buNone/>
            </a:pPr>
            <a:r>
              <a:rPr lang="en-US" sz="2400" b="1" dirty="0">
                <a:latin typeface="Times New Roman" panose="02020603050405020304" pitchFamily="18" charset="0"/>
                <a:cs typeface="Times New Roman" panose="02020603050405020304" pitchFamily="18" charset="0"/>
              </a:rPr>
              <a:t>Important</a:t>
            </a:r>
          </a:p>
          <a:p>
            <a:pPr>
              <a:buNone/>
            </a:pPr>
            <a:r>
              <a:rPr lang="en-US" sz="2400" dirty="0">
                <a:latin typeface="Times New Roman" panose="02020603050405020304" pitchFamily="18" charset="0"/>
                <a:cs typeface="Times New Roman" panose="02020603050405020304" pitchFamily="18" charset="0"/>
              </a:rPr>
              <a:t>Testing with the wrong users can produce misleading feedback.</a:t>
            </a:r>
          </a:p>
          <a:p>
            <a:endParaRPr lang="en-IN" dirty="0"/>
          </a:p>
        </p:txBody>
      </p:sp>
      <p:sp>
        <p:nvSpPr>
          <p:cNvPr id="4" name="Slide Number Placeholder 3">
            <a:extLst>
              <a:ext uri="{FF2B5EF4-FFF2-40B4-BE49-F238E27FC236}">
                <a16:creationId xmlns:a16="http://schemas.microsoft.com/office/drawing/2014/main" id="{5D123565-2FA8-4504-1E8F-72A04756B4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72</a:t>
            </a:fld>
            <a:endParaRPr lang="en-GB"/>
          </a:p>
        </p:txBody>
      </p:sp>
    </p:spTree>
    <p:extLst>
      <p:ext uri="{BB962C8B-B14F-4D97-AF65-F5344CB8AC3E}">
        <p14:creationId xmlns:p14="http://schemas.microsoft.com/office/powerpoint/2010/main" val="6087420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4589-EEDF-99A9-8F21-DE3516F68E71}"/>
              </a:ext>
            </a:extLst>
          </p:cNvPr>
          <p:cNvSpPr>
            <a:spLocks noGrp="1"/>
          </p:cNvSpPr>
          <p:nvPr>
            <p:ph type="title"/>
          </p:nvPr>
        </p:nvSpPr>
        <p:spPr>
          <a:xfrm>
            <a:off x="415600" y="339112"/>
            <a:ext cx="11360700" cy="427300"/>
          </a:xfrm>
        </p:spPr>
        <p:txBody>
          <a:bodyPr/>
          <a:lstStyle/>
          <a:p>
            <a:r>
              <a:rPr lang="en-US" sz="2800" dirty="0">
                <a:solidFill>
                  <a:srgbClr val="CC3300"/>
                </a:solidFill>
                <a:latin typeface="Times New Roman" panose="02020603050405020304" pitchFamily="18" charset="0"/>
                <a:cs typeface="Times New Roman" panose="02020603050405020304" pitchFamily="18" charset="0"/>
              </a:rPr>
              <a:t>Step 3 – Prepare Testing Tasks</a:t>
            </a:r>
            <a:endParaRPr lang="en-IN" sz="2800" dirty="0">
              <a:solidFill>
                <a:srgbClr val="CC33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5E8448D-932D-43ED-6B1A-A6C5810840FD}"/>
              </a:ext>
            </a:extLst>
          </p:cNvPr>
          <p:cNvSpPr>
            <a:spLocks noGrp="1"/>
          </p:cNvSpPr>
          <p:nvPr>
            <p:ph type="body" idx="1"/>
          </p:nvPr>
        </p:nvSpPr>
        <p:spPr>
          <a:xfrm>
            <a:off x="415601" y="1006867"/>
            <a:ext cx="2748840" cy="5084721"/>
          </a:xfrm>
        </p:spPr>
        <p:txBody>
          <a:bodyPr/>
          <a:lstStyle/>
          <a:p>
            <a:pPr>
              <a:buSzPct val="1000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should be given specific tasks rather than simply being told to explore the product.</a:t>
            </a:r>
          </a:p>
          <a:p>
            <a:pPr>
              <a:buSzPct val="1000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buSzPct val="1000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Example: Online Shopping Application</a:t>
            </a:r>
          </a:p>
        </p:txBody>
      </p:sp>
      <p:sp>
        <p:nvSpPr>
          <p:cNvPr id="4" name="Slide Number Placeholder 3">
            <a:extLst>
              <a:ext uri="{FF2B5EF4-FFF2-40B4-BE49-F238E27FC236}">
                <a16:creationId xmlns:a16="http://schemas.microsoft.com/office/drawing/2014/main" id="{932CFC2D-30C7-4A40-984A-305DE8AAAE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73</a:t>
            </a:fld>
            <a:endParaRPr lang="en-GB"/>
          </a:p>
        </p:txBody>
      </p:sp>
      <p:sp>
        <p:nvSpPr>
          <p:cNvPr id="5" name="AutoShape 2" descr=", AI generated">
            <a:extLst>
              <a:ext uri="{FF2B5EF4-FFF2-40B4-BE49-F238E27FC236}">
                <a16:creationId xmlns:a16="http://schemas.microsoft.com/office/drawing/2014/main" id="{14AC7959-8CF5-1325-17B7-9EBA6F24EDD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2" descr=", AI generated">
            <a:extLst>
              <a:ext uri="{FF2B5EF4-FFF2-40B4-BE49-F238E27FC236}">
                <a16:creationId xmlns:a16="http://schemas.microsoft.com/office/drawing/2014/main" id="{4E2C8024-29EF-3D14-2BD2-CD77718FA66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729C4669-2B0E-47F4-97C7-7E60524865EC}"/>
              </a:ext>
            </a:extLst>
          </p:cNvPr>
          <p:cNvPicPr>
            <a:picLocks noChangeAspect="1"/>
          </p:cNvPicPr>
          <p:nvPr/>
        </p:nvPicPr>
        <p:blipFill>
          <a:blip r:embed="rId2"/>
          <a:stretch>
            <a:fillRect/>
          </a:stretch>
        </p:blipFill>
        <p:spPr>
          <a:xfrm>
            <a:off x="4497059" y="1157368"/>
            <a:ext cx="7222733" cy="4848064"/>
          </a:xfrm>
          <a:prstGeom prst="rect">
            <a:avLst/>
          </a:prstGeom>
        </p:spPr>
      </p:pic>
    </p:spTree>
    <p:extLst>
      <p:ext uri="{BB962C8B-B14F-4D97-AF65-F5344CB8AC3E}">
        <p14:creationId xmlns:p14="http://schemas.microsoft.com/office/powerpoint/2010/main" val="12829566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49AE7-5AF9-9CD5-234B-9FFA18EE3912}"/>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20ACEE85-DD35-7EB6-9D59-691D2004E53B}"/>
              </a:ext>
            </a:extLst>
          </p:cNvPr>
          <p:cNvSpPr>
            <a:spLocks noGrp="1"/>
          </p:cNvSpPr>
          <p:nvPr>
            <p:ph type="body" idx="1"/>
          </p:nvPr>
        </p:nvSpPr>
        <p:spPr/>
        <p:txBody>
          <a:bodyPr/>
          <a:lstStyle/>
          <a:p>
            <a:pPr>
              <a:buNone/>
            </a:pPr>
            <a:r>
              <a:rPr lang="en-US" sz="2400" dirty="0">
                <a:latin typeface="Times New Roman" panose="02020603050405020304" pitchFamily="18" charset="0"/>
                <a:cs typeface="Times New Roman" panose="02020603050405020304" pitchFamily="18" charset="0"/>
              </a:rPr>
              <a:t>The designer observes whether users can complete these tasks.</a:t>
            </a:r>
          </a:p>
          <a:p>
            <a:pPr>
              <a:buNone/>
            </a:pPr>
            <a:r>
              <a:rPr lang="en-US" sz="2400" b="1" dirty="0">
                <a:latin typeface="Times New Roman" panose="02020603050405020304" pitchFamily="18" charset="0"/>
                <a:cs typeface="Times New Roman" panose="02020603050405020304" pitchFamily="18" charset="0"/>
              </a:rPr>
              <a:t>Good Task</a:t>
            </a:r>
          </a:p>
          <a:p>
            <a:pPr>
              <a:buNone/>
            </a:pPr>
            <a:r>
              <a:rPr lang="en-US" sz="2400" dirty="0">
                <a:latin typeface="Times New Roman" panose="02020603050405020304" pitchFamily="18" charset="0"/>
                <a:cs typeface="Times New Roman" panose="02020603050405020304" pitchFamily="18" charset="0"/>
              </a:rPr>
              <a:t>"You need a laptop for programming. Find a suitable laptop under ₹50,000 and add it to your cart."</a:t>
            </a:r>
          </a:p>
          <a:p>
            <a:pPr>
              <a:buNone/>
            </a:pPr>
            <a:r>
              <a:rPr lang="en-US" sz="2400" b="1" dirty="0">
                <a:latin typeface="Times New Roman" panose="02020603050405020304" pitchFamily="18" charset="0"/>
                <a:cs typeface="Times New Roman" panose="02020603050405020304" pitchFamily="18" charset="0"/>
              </a:rPr>
              <a:t>Poor Task</a:t>
            </a:r>
          </a:p>
          <a:p>
            <a:pPr>
              <a:buNone/>
            </a:pPr>
            <a:r>
              <a:rPr lang="en-US" sz="2400" dirty="0">
                <a:latin typeface="Times New Roman" panose="02020603050405020304" pitchFamily="18" charset="0"/>
                <a:cs typeface="Times New Roman" panose="02020603050405020304" pitchFamily="18" charset="0"/>
              </a:rPr>
              <a:t>"Click around the application."</a:t>
            </a:r>
          </a:p>
          <a:p>
            <a:pPr>
              <a:buNone/>
            </a:pPr>
            <a:r>
              <a:rPr lang="en-US" sz="2400" dirty="0">
                <a:latin typeface="Times New Roman" panose="02020603050405020304" pitchFamily="18" charset="0"/>
                <a:cs typeface="Times New Roman" panose="02020603050405020304" pitchFamily="18" charset="0"/>
              </a:rPr>
              <a:t>The first task represents a </a:t>
            </a:r>
            <a:r>
              <a:rPr lang="en-US" sz="2400" b="1" dirty="0">
                <a:latin typeface="Times New Roman" panose="02020603050405020304" pitchFamily="18" charset="0"/>
                <a:cs typeface="Times New Roman" panose="02020603050405020304" pitchFamily="18" charset="0"/>
              </a:rPr>
              <a:t>real-world user goal</a:t>
            </a:r>
            <a:r>
              <a:rPr lang="en-US" sz="2400" dirty="0">
                <a:latin typeface="Times New Roman" panose="02020603050405020304" pitchFamily="18" charset="0"/>
                <a:cs typeface="Times New Roman" panose="02020603050405020304" pitchFamily="18" charset="0"/>
              </a:rPr>
              <a:t>.</a:t>
            </a:r>
          </a:p>
          <a:p>
            <a:endParaRPr lang="en-IN" dirty="0"/>
          </a:p>
        </p:txBody>
      </p:sp>
      <p:sp>
        <p:nvSpPr>
          <p:cNvPr id="4" name="Slide Number Placeholder 3">
            <a:extLst>
              <a:ext uri="{FF2B5EF4-FFF2-40B4-BE49-F238E27FC236}">
                <a16:creationId xmlns:a16="http://schemas.microsoft.com/office/drawing/2014/main" id="{C3D3318E-BB81-D07C-7B4F-F0D452FC2E4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74</a:t>
            </a:fld>
            <a:endParaRPr lang="en-GB"/>
          </a:p>
        </p:txBody>
      </p:sp>
    </p:spTree>
    <p:extLst>
      <p:ext uri="{BB962C8B-B14F-4D97-AF65-F5344CB8AC3E}">
        <p14:creationId xmlns:p14="http://schemas.microsoft.com/office/powerpoint/2010/main" val="69340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6831-BDFA-CC7C-4937-42767C42F15F}"/>
              </a:ext>
            </a:extLst>
          </p:cNvPr>
          <p:cNvSpPr>
            <a:spLocks noGrp="1"/>
          </p:cNvSpPr>
          <p:nvPr>
            <p:ph type="title"/>
          </p:nvPr>
        </p:nvSpPr>
        <p:spPr>
          <a:xfrm>
            <a:off x="415600" y="339112"/>
            <a:ext cx="11360700" cy="534191"/>
          </a:xfrm>
        </p:spPr>
        <p:txBody>
          <a:bodyPr/>
          <a:lstStyle/>
          <a:p>
            <a:r>
              <a:rPr lang="en-US" sz="2800" dirty="0">
                <a:solidFill>
                  <a:srgbClr val="CC3300"/>
                </a:solidFill>
                <a:latin typeface="Times New Roman" panose="02020603050405020304" pitchFamily="18" charset="0"/>
                <a:cs typeface="Times New Roman" panose="02020603050405020304" pitchFamily="18" charset="0"/>
              </a:rPr>
              <a:t>Step 4 – Prepare the Prototype</a:t>
            </a:r>
            <a:endParaRPr lang="en-IN" sz="2800" dirty="0">
              <a:solidFill>
                <a:srgbClr val="CC33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8C4951C-10BC-1FBB-0842-23758ABE6CF7}"/>
              </a:ext>
            </a:extLst>
          </p:cNvPr>
          <p:cNvSpPr>
            <a:spLocks noGrp="1"/>
          </p:cNvSpPr>
          <p:nvPr>
            <p:ph type="body" idx="1"/>
          </p:nvPr>
        </p:nvSpPr>
        <p:spPr>
          <a:xfrm>
            <a:off x="415600" y="965771"/>
            <a:ext cx="4844769" cy="5125817"/>
          </a:xfrm>
        </p:spPr>
        <p:txBody>
          <a:bodyPr/>
          <a:lstStyle/>
          <a:p>
            <a:pPr>
              <a:buNone/>
            </a:pPr>
            <a:r>
              <a:rPr lang="en-US" sz="2400" dirty="0">
                <a:latin typeface="Times New Roman" panose="02020603050405020304" pitchFamily="18" charset="0"/>
                <a:cs typeface="Times New Roman" panose="02020603050405020304" pitchFamily="18" charset="0"/>
              </a:rPr>
              <a:t>The prototype used for testing can be: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Paper prototype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Wireframe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Digital mock-up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Interactive prototype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Working application</a:t>
            </a:r>
          </a:p>
          <a:p>
            <a:pPr>
              <a:buSzPct val="1000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prototype should be sufficiently developed to answer the testing questions.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6599582-F14F-1A00-73F6-1200D5E014C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75</a:t>
            </a:fld>
            <a:endParaRPr lang="en-GB"/>
          </a:p>
        </p:txBody>
      </p:sp>
      <p:sp>
        <p:nvSpPr>
          <p:cNvPr id="6" name="AutoShape 2" descr=", AI generated">
            <a:extLst>
              <a:ext uri="{FF2B5EF4-FFF2-40B4-BE49-F238E27FC236}">
                <a16:creationId xmlns:a16="http://schemas.microsoft.com/office/drawing/2014/main" id="{6E7B9FDC-B892-80E8-C196-50EF7EECACF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CA10A925-A7A5-EB84-AF57-35B78FBDB537}"/>
              </a:ext>
            </a:extLst>
          </p:cNvPr>
          <p:cNvPicPr>
            <a:picLocks noChangeAspect="1"/>
          </p:cNvPicPr>
          <p:nvPr/>
        </p:nvPicPr>
        <p:blipFill>
          <a:blip r:embed="rId2"/>
          <a:stretch>
            <a:fillRect/>
          </a:stretch>
        </p:blipFill>
        <p:spPr>
          <a:xfrm>
            <a:off x="5586143" y="1334954"/>
            <a:ext cx="6000107" cy="4611758"/>
          </a:xfrm>
          <a:prstGeom prst="rect">
            <a:avLst/>
          </a:prstGeom>
        </p:spPr>
      </p:pic>
    </p:spTree>
    <p:extLst>
      <p:ext uri="{BB962C8B-B14F-4D97-AF65-F5344CB8AC3E}">
        <p14:creationId xmlns:p14="http://schemas.microsoft.com/office/powerpoint/2010/main" val="26971478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DA50-4149-0D65-2115-1CBF066C09C8}"/>
              </a:ext>
            </a:extLst>
          </p:cNvPr>
          <p:cNvSpPr>
            <a:spLocks noGrp="1"/>
          </p:cNvSpPr>
          <p:nvPr>
            <p:ph type="title"/>
          </p:nvPr>
        </p:nvSpPr>
        <p:spPr>
          <a:xfrm>
            <a:off x="415600" y="265735"/>
            <a:ext cx="11360700" cy="500677"/>
          </a:xfrm>
        </p:spPr>
        <p:txBody>
          <a:bodyPr/>
          <a:lstStyle/>
          <a:p>
            <a:r>
              <a:rPr lang="en-US" sz="2800" dirty="0">
                <a:solidFill>
                  <a:srgbClr val="CC3300"/>
                </a:solidFill>
                <a:latin typeface="Times New Roman" panose="02020603050405020304" pitchFamily="18" charset="0"/>
                <a:cs typeface="Times New Roman" panose="02020603050405020304" pitchFamily="18" charset="0"/>
              </a:rPr>
              <a:t>Step 5 – Conduct the Test</a:t>
            </a:r>
            <a:endParaRPr lang="en-IN" sz="2800" dirty="0">
              <a:solidFill>
                <a:srgbClr val="CC33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DCF4EF0-6A1D-B370-8E23-EC0F95D9900E}"/>
              </a:ext>
            </a:extLst>
          </p:cNvPr>
          <p:cNvSpPr>
            <a:spLocks noGrp="1"/>
          </p:cNvSpPr>
          <p:nvPr>
            <p:ph type="body" idx="1"/>
          </p:nvPr>
        </p:nvSpPr>
        <p:spPr>
          <a:xfrm>
            <a:off x="415601" y="904126"/>
            <a:ext cx="4813946" cy="5187462"/>
          </a:xfrm>
        </p:spPr>
        <p:txBody>
          <a:bodyPr/>
          <a:lstStyle/>
          <a:p>
            <a:pPr>
              <a:buSzPct val="1000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the test, the facilitator gives the user a task and observes their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a:t>
            </a:r>
          </a:p>
          <a:p>
            <a:pPr>
              <a:buSzPct val="1000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facilitator should generally </a:t>
            </a:r>
            <a:r>
              <a:rPr lang="en-US" sz="2400" b="1" dirty="0">
                <a:latin typeface="Times New Roman" panose="02020603050405020304" pitchFamily="18" charset="0"/>
                <a:cs typeface="Times New Roman" panose="02020603050405020304" pitchFamily="18" charset="0"/>
              </a:rPr>
              <a:t>avoid leading the user</a:t>
            </a:r>
            <a:r>
              <a:rPr lang="en-US" sz="2400" dirty="0">
                <a:latin typeface="Times New Roman" panose="02020603050405020304" pitchFamily="18" charset="0"/>
                <a:cs typeface="Times New Roman" panose="02020603050405020304" pitchFamily="18" charset="0"/>
              </a:rPr>
              <a:t> toward the expected answer.</a:t>
            </a:r>
          </a:p>
          <a:p>
            <a:pPr>
              <a:buSzPct val="1000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ACA2CF7-26F1-9DD7-7CD0-11B41A886A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76</a:t>
            </a:fld>
            <a:endParaRPr lang="en-GB"/>
          </a:p>
        </p:txBody>
      </p:sp>
      <p:sp>
        <p:nvSpPr>
          <p:cNvPr id="6" name="TextBox 5">
            <a:extLst>
              <a:ext uri="{FF2B5EF4-FFF2-40B4-BE49-F238E27FC236}">
                <a16:creationId xmlns:a16="http://schemas.microsoft.com/office/drawing/2014/main" id="{8BDBE352-32CA-7E40-826A-FCDF65EF9BB7}"/>
              </a:ext>
            </a:extLst>
          </p:cNvPr>
          <p:cNvSpPr txBox="1"/>
          <p:nvPr/>
        </p:nvSpPr>
        <p:spPr>
          <a:xfrm>
            <a:off x="7078895" y="516073"/>
            <a:ext cx="4623371"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Typical Testing Setup</a:t>
            </a:r>
          </a:p>
        </p:txBody>
      </p:sp>
      <p:sp>
        <p:nvSpPr>
          <p:cNvPr id="5" name="AutoShape 2" descr=", AI generated">
            <a:extLst>
              <a:ext uri="{FF2B5EF4-FFF2-40B4-BE49-F238E27FC236}">
                <a16:creationId xmlns:a16="http://schemas.microsoft.com/office/drawing/2014/main" id="{FFE5E4E7-528E-A0C2-F0C4-4D9649A4936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4" descr=", AI generated">
            <a:extLst>
              <a:ext uri="{FF2B5EF4-FFF2-40B4-BE49-F238E27FC236}">
                <a16:creationId xmlns:a16="http://schemas.microsoft.com/office/drawing/2014/main" id="{2A113896-242C-E04A-5310-EFE74C7FD22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28C954FD-C696-21F1-F178-BF1849BE125D}"/>
              </a:ext>
            </a:extLst>
          </p:cNvPr>
          <p:cNvPicPr>
            <a:picLocks noChangeAspect="1"/>
          </p:cNvPicPr>
          <p:nvPr/>
        </p:nvPicPr>
        <p:blipFill>
          <a:blip r:embed="rId2"/>
          <a:stretch>
            <a:fillRect/>
          </a:stretch>
        </p:blipFill>
        <p:spPr>
          <a:xfrm>
            <a:off x="5755644" y="1403943"/>
            <a:ext cx="6020656" cy="4354904"/>
          </a:xfrm>
          <a:prstGeom prst="rect">
            <a:avLst/>
          </a:prstGeom>
        </p:spPr>
      </p:pic>
    </p:spTree>
    <p:extLst>
      <p:ext uri="{BB962C8B-B14F-4D97-AF65-F5344CB8AC3E}">
        <p14:creationId xmlns:p14="http://schemas.microsoft.com/office/powerpoint/2010/main" val="30992515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E6F16-ED84-36EA-138E-ED08BA6A485C}"/>
              </a:ext>
            </a:extLst>
          </p:cNvPr>
          <p:cNvSpPr>
            <a:spLocks noGrp="1"/>
          </p:cNvSpPr>
          <p:nvPr>
            <p:ph type="title"/>
          </p:nvPr>
        </p:nvSpPr>
        <p:spPr>
          <a:xfrm>
            <a:off x="415600" y="283465"/>
            <a:ext cx="11360700" cy="503369"/>
          </a:xfrm>
        </p:spPr>
        <p:txBody>
          <a:bodyPr/>
          <a:lstStyle/>
          <a:p>
            <a:r>
              <a:rPr kumimoji="0" lang="en-US" sz="2800" b="1" i="0" u="none" strike="noStrike" kern="0" cap="none" spc="0" normalizeH="0" baseline="0" noProof="0" dirty="0">
                <a:ln>
                  <a:noFill/>
                </a:ln>
                <a:solidFill>
                  <a:srgbClr val="CC3300"/>
                </a:solidFill>
                <a:effectLst/>
                <a:uLnTx/>
                <a:uFillTx/>
                <a:latin typeface="Times New Roman" panose="02020603050405020304" pitchFamily="18" charset="0"/>
                <a:cs typeface="Times New Roman" panose="02020603050405020304" pitchFamily="18" charset="0"/>
                <a:sym typeface="IBM Plex Sans Condensed"/>
              </a:rPr>
              <a:t>Step 6 - </a:t>
            </a:r>
            <a:r>
              <a:rPr lang="en-IN" sz="2800" dirty="0">
                <a:solidFill>
                  <a:srgbClr val="CC3300"/>
                </a:solidFill>
                <a:latin typeface="Times New Roman" panose="02020603050405020304" pitchFamily="18" charset="0"/>
                <a:cs typeface="Times New Roman" panose="02020603050405020304" pitchFamily="18" charset="0"/>
              </a:rPr>
              <a:t>Observe and Record</a:t>
            </a:r>
            <a:br>
              <a:rPr lang="en-IN" sz="2800" dirty="0">
                <a:solidFill>
                  <a:srgbClr val="006600"/>
                </a:solidFill>
                <a:latin typeface="Times New Roman" panose="02020603050405020304" pitchFamily="18" charset="0"/>
                <a:cs typeface="Times New Roman" panose="02020603050405020304" pitchFamily="18" charset="0"/>
              </a:rPr>
            </a:br>
            <a:endParaRPr lang="en-IN" sz="2800" dirty="0">
              <a:solidFill>
                <a:srgbClr val="0066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E28C663-A9CB-9B13-6053-3217E330B66E}"/>
              </a:ext>
            </a:extLst>
          </p:cNvPr>
          <p:cNvSpPr>
            <a:spLocks noGrp="1"/>
          </p:cNvSpPr>
          <p:nvPr>
            <p:ph type="body" idx="1"/>
          </p:nvPr>
        </p:nvSpPr>
        <p:spPr>
          <a:xfrm>
            <a:off x="487519" y="786834"/>
            <a:ext cx="11360700" cy="5637802"/>
          </a:xfrm>
        </p:spPr>
        <p:txBody>
          <a:bodyPr/>
          <a:lstStyle/>
          <a:p>
            <a:pPr marL="50800" indent="0">
              <a:buNone/>
            </a:pPr>
            <a:r>
              <a:rPr lang="en-US" sz="2400" dirty="0">
                <a:solidFill>
                  <a:srgbClr val="006600"/>
                </a:solidFill>
                <a:latin typeface="Times New Roman" panose="02020603050405020304" pitchFamily="18" charset="0"/>
                <a:cs typeface="Times New Roman" panose="02020603050405020304" pitchFamily="18" charset="0"/>
              </a:rPr>
              <a:t>What Should Be Observed?</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testing, designers should observe both what users say and what users do.</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Important observations: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AF2E2C3-9DEA-50C9-AC04-104C011A5F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77</a:t>
            </a:fld>
            <a:endParaRPr lang="en-GB"/>
          </a:p>
        </p:txBody>
      </p:sp>
      <p:graphicFrame>
        <p:nvGraphicFramePr>
          <p:cNvPr id="5" name="Table 4">
            <a:extLst>
              <a:ext uri="{FF2B5EF4-FFF2-40B4-BE49-F238E27FC236}">
                <a16:creationId xmlns:a16="http://schemas.microsoft.com/office/drawing/2014/main" id="{3DA266B0-6280-D5DE-2E72-CAC8CA1A926E}"/>
              </a:ext>
            </a:extLst>
          </p:cNvPr>
          <p:cNvGraphicFramePr>
            <a:graphicFrameLocks noGrp="1"/>
          </p:cNvGraphicFramePr>
          <p:nvPr/>
        </p:nvGraphicFramePr>
        <p:xfrm>
          <a:off x="2054831" y="1927804"/>
          <a:ext cx="8024117" cy="4114800"/>
        </p:xfrm>
        <a:graphic>
          <a:graphicData uri="http://schemas.openxmlformats.org/drawingml/2006/table">
            <a:tbl>
              <a:tblPr>
                <a:tableStyleId>{3C2FFA5D-87B4-456A-9821-1D502468CF0F}</a:tableStyleId>
              </a:tblPr>
              <a:tblGrid>
                <a:gridCol w="2232389">
                  <a:extLst>
                    <a:ext uri="{9D8B030D-6E8A-4147-A177-3AD203B41FA5}">
                      <a16:colId xmlns:a16="http://schemas.microsoft.com/office/drawing/2014/main" val="676739311"/>
                    </a:ext>
                  </a:extLst>
                </a:gridCol>
                <a:gridCol w="5791728">
                  <a:extLst>
                    <a:ext uri="{9D8B030D-6E8A-4147-A177-3AD203B41FA5}">
                      <a16:colId xmlns:a16="http://schemas.microsoft.com/office/drawing/2014/main" val="2906955882"/>
                    </a:ext>
                  </a:extLst>
                </a:gridCol>
              </a:tblGrid>
              <a:tr h="0">
                <a:tc>
                  <a:txBody>
                    <a:bodyPr/>
                    <a:lstStyle/>
                    <a:p>
                      <a:pPr>
                        <a:buNone/>
                      </a:pPr>
                      <a:r>
                        <a:rPr lang="en-IN" sz="2400" b="1" i="1">
                          <a:latin typeface="Times New Roman" panose="02020603050405020304" pitchFamily="18" charset="0"/>
                          <a:cs typeface="Times New Roman" panose="02020603050405020304" pitchFamily="18" charset="0"/>
                        </a:rPr>
                        <a:t>Observation</a:t>
                      </a:r>
                    </a:p>
                  </a:txBody>
                  <a:tcPr anchor="ctr"/>
                </a:tc>
                <a:tc>
                  <a:txBody>
                    <a:bodyPr/>
                    <a:lstStyle/>
                    <a:p>
                      <a:pPr>
                        <a:buNone/>
                      </a:pPr>
                      <a:r>
                        <a:rPr lang="en-IN" sz="2400" b="1" i="1" dirty="0">
                          <a:latin typeface="Times New Roman" panose="02020603050405020304" pitchFamily="18" charset="0"/>
                          <a:cs typeface="Times New Roman" panose="02020603050405020304" pitchFamily="18" charset="0"/>
                        </a:rPr>
                        <a:t>Example</a:t>
                      </a:r>
                    </a:p>
                  </a:txBody>
                  <a:tcPr anchor="ctr"/>
                </a:tc>
                <a:extLst>
                  <a:ext uri="{0D108BD9-81ED-4DB2-BD59-A6C34878D82A}">
                    <a16:rowId xmlns:a16="http://schemas.microsoft.com/office/drawing/2014/main" val="513565586"/>
                  </a:ext>
                </a:extLst>
              </a:tr>
              <a:tr h="0">
                <a:tc>
                  <a:txBody>
                    <a:bodyPr/>
                    <a:lstStyle/>
                    <a:p>
                      <a:pPr>
                        <a:buNone/>
                      </a:pPr>
                      <a:r>
                        <a:rPr lang="en-IN" sz="2400">
                          <a:latin typeface="Times New Roman" panose="02020603050405020304" pitchFamily="18" charset="0"/>
                          <a:cs typeface="Times New Roman" panose="02020603050405020304" pitchFamily="18" charset="0"/>
                        </a:rPr>
                        <a:t>Task completion</a:t>
                      </a:r>
                    </a:p>
                  </a:txBody>
                  <a:tcPr anchor="ctr"/>
                </a:tc>
                <a:tc>
                  <a:txBody>
                    <a:bodyPr/>
                    <a:lstStyle/>
                    <a:p>
                      <a:pPr>
                        <a:buNone/>
                      </a:pPr>
                      <a:r>
                        <a:rPr lang="en-IN" sz="2400">
                          <a:latin typeface="Times New Roman" panose="02020603050405020304" pitchFamily="18" charset="0"/>
                          <a:cs typeface="Times New Roman" panose="02020603050405020304" pitchFamily="18" charset="0"/>
                        </a:rPr>
                        <a:t>User successfully completes checkout</a:t>
                      </a:r>
                    </a:p>
                  </a:txBody>
                  <a:tcPr anchor="ctr"/>
                </a:tc>
                <a:extLst>
                  <a:ext uri="{0D108BD9-81ED-4DB2-BD59-A6C34878D82A}">
                    <a16:rowId xmlns:a16="http://schemas.microsoft.com/office/drawing/2014/main" val="1034431621"/>
                  </a:ext>
                </a:extLst>
              </a:tr>
              <a:tr h="0">
                <a:tc>
                  <a:txBody>
                    <a:bodyPr/>
                    <a:lstStyle/>
                    <a:p>
                      <a:pPr>
                        <a:buNone/>
                      </a:pPr>
                      <a:r>
                        <a:rPr lang="en-IN" sz="2400" dirty="0">
                          <a:latin typeface="Times New Roman" panose="02020603050405020304" pitchFamily="18" charset="0"/>
                          <a:cs typeface="Times New Roman" panose="02020603050405020304" pitchFamily="18" charset="0"/>
                        </a:rPr>
                        <a:t>Errors</a:t>
                      </a:r>
                    </a:p>
                  </a:txBody>
                  <a:tcPr anchor="ctr"/>
                </a:tc>
                <a:tc>
                  <a:txBody>
                    <a:bodyPr/>
                    <a:lstStyle/>
                    <a:p>
                      <a:pPr>
                        <a:buNone/>
                      </a:pPr>
                      <a:r>
                        <a:rPr lang="en-US" sz="2400">
                          <a:latin typeface="Times New Roman" panose="02020603050405020304" pitchFamily="18" charset="0"/>
                          <a:cs typeface="Times New Roman" panose="02020603050405020304" pitchFamily="18" charset="0"/>
                        </a:rPr>
                        <a:t>User clicks the wrong button</a:t>
                      </a:r>
                    </a:p>
                  </a:txBody>
                  <a:tcPr anchor="ctr"/>
                </a:tc>
                <a:extLst>
                  <a:ext uri="{0D108BD9-81ED-4DB2-BD59-A6C34878D82A}">
                    <a16:rowId xmlns:a16="http://schemas.microsoft.com/office/drawing/2014/main" val="1425611725"/>
                  </a:ext>
                </a:extLst>
              </a:tr>
              <a:tr h="0">
                <a:tc>
                  <a:txBody>
                    <a:bodyPr/>
                    <a:lstStyle/>
                    <a:p>
                      <a:pPr>
                        <a:buNone/>
                      </a:pPr>
                      <a:r>
                        <a:rPr lang="en-IN" sz="2400">
                          <a:latin typeface="Times New Roman" panose="02020603050405020304" pitchFamily="18" charset="0"/>
                          <a:cs typeface="Times New Roman" panose="02020603050405020304" pitchFamily="18" charset="0"/>
                        </a:rPr>
                        <a:t>Time</a:t>
                      </a:r>
                    </a:p>
                  </a:txBody>
                  <a:tcPr anchor="ctr"/>
                </a:tc>
                <a:tc>
                  <a:txBody>
                    <a:bodyPr/>
                    <a:lstStyle/>
                    <a:p>
                      <a:pPr>
                        <a:buNone/>
                      </a:pPr>
                      <a:r>
                        <a:rPr lang="en-US" sz="2400">
                          <a:latin typeface="Times New Roman" panose="02020603050405020304" pitchFamily="18" charset="0"/>
                          <a:cs typeface="Times New Roman" panose="02020603050405020304" pitchFamily="18" charset="0"/>
                        </a:rPr>
                        <a:t>User takes 3 minutes to find an option</a:t>
                      </a:r>
                    </a:p>
                  </a:txBody>
                  <a:tcPr anchor="ctr"/>
                </a:tc>
                <a:extLst>
                  <a:ext uri="{0D108BD9-81ED-4DB2-BD59-A6C34878D82A}">
                    <a16:rowId xmlns:a16="http://schemas.microsoft.com/office/drawing/2014/main" val="2239023279"/>
                  </a:ext>
                </a:extLst>
              </a:tr>
              <a:tr h="0">
                <a:tc>
                  <a:txBody>
                    <a:bodyPr/>
                    <a:lstStyle/>
                    <a:p>
                      <a:pPr>
                        <a:buNone/>
                      </a:pPr>
                      <a:r>
                        <a:rPr lang="en-IN" sz="2400">
                          <a:latin typeface="Times New Roman" panose="02020603050405020304" pitchFamily="18" charset="0"/>
                          <a:cs typeface="Times New Roman" panose="02020603050405020304" pitchFamily="18" charset="0"/>
                        </a:rPr>
                        <a:t>Confusion</a:t>
                      </a:r>
                    </a:p>
                  </a:txBody>
                  <a:tcPr anchor="ctr"/>
                </a:tc>
                <a:tc>
                  <a:txBody>
                    <a:bodyPr/>
                    <a:lstStyle/>
                    <a:p>
                      <a:pPr>
                        <a:buNone/>
                      </a:pPr>
                      <a:r>
                        <a:rPr lang="en-US" sz="2400">
                          <a:latin typeface="Times New Roman" panose="02020603050405020304" pitchFamily="18" charset="0"/>
                          <a:cs typeface="Times New Roman" panose="02020603050405020304" pitchFamily="18" charset="0"/>
                        </a:rPr>
                        <a:t>User asks where to proceed</a:t>
                      </a:r>
                    </a:p>
                  </a:txBody>
                  <a:tcPr anchor="ctr"/>
                </a:tc>
                <a:extLst>
                  <a:ext uri="{0D108BD9-81ED-4DB2-BD59-A6C34878D82A}">
                    <a16:rowId xmlns:a16="http://schemas.microsoft.com/office/drawing/2014/main" val="3560419983"/>
                  </a:ext>
                </a:extLst>
              </a:tr>
              <a:tr h="0">
                <a:tc>
                  <a:txBody>
                    <a:bodyPr/>
                    <a:lstStyle/>
                    <a:p>
                      <a:pPr>
                        <a:buNone/>
                      </a:pPr>
                      <a:r>
                        <a:rPr lang="en-IN" sz="2400">
                          <a:latin typeface="Times New Roman" panose="02020603050405020304" pitchFamily="18" charset="0"/>
                          <a:cs typeface="Times New Roman" panose="02020603050405020304" pitchFamily="18" charset="0"/>
                        </a:rPr>
                        <a:t>Navigation</a:t>
                      </a:r>
                    </a:p>
                  </a:txBody>
                  <a:tcPr anchor="ctr"/>
                </a:tc>
                <a:tc>
                  <a:txBody>
                    <a:bodyPr/>
                    <a:lstStyle/>
                    <a:p>
                      <a:pPr>
                        <a:buNone/>
                      </a:pPr>
                      <a:r>
                        <a:rPr lang="en-IN" sz="2400">
                          <a:latin typeface="Times New Roman" panose="02020603050405020304" pitchFamily="18" charset="0"/>
                          <a:cs typeface="Times New Roman" panose="02020603050405020304" pitchFamily="18" charset="0"/>
                        </a:rPr>
                        <a:t>User repeatedly goes back</a:t>
                      </a:r>
                    </a:p>
                  </a:txBody>
                  <a:tcPr anchor="ctr"/>
                </a:tc>
                <a:extLst>
                  <a:ext uri="{0D108BD9-81ED-4DB2-BD59-A6C34878D82A}">
                    <a16:rowId xmlns:a16="http://schemas.microsoft.com/office/drawing/2014/main" val="1170160654"/>
                  </a:ext>
                </a:extLst>
              </a:tr>
              <a:tr h="0">
                <a:tc>
                  <a:txBody>
                    <a:bodyPr/>
                    <a:lstStyle/>
                    <a:p>
                      <a:pPr>
                        <a:buNone/>
                      </a:pPr>
                      <a:r>
                        <a:rPr lang="en-IN" sz="2400">
                          <a:latin typeface="Times New Roman" panose="02020603050405020304" pitchFamily="18" charset="0"/>
                          <a:cs typeface="Times New Roman" panose="02020603050405020304" pitchFamily="18" charset="0"/>
                        </a:rPr>
                        <a:t>Behaviour</a:t>
                      </a:r>
                    </a:p>
                  </a:txBody>
                  <a:tcPr anchor="ctr"/>
                </a:tc>
                <a:tc>
                  <a:txBody>
                    <a:bodyPr/>
                    <a:lstStyle/>
                    <a:p>
                      <a:pPr>
                        <a:buNone/>
                      </a:pPr>
                      <a:r>
                        <a:rPr lang="en-IN" sz="2400">
                          <a:latin typeface="Times New Roman" panose="02020603050405020304" pitchFamily="18" charset="0"/>
                          <a:cs typeface="Times New Roman" panose="02020603050405020304" pitchFamily="18" charset="0"/>
                        </a:rPr>
                        <a:t>User ignores an important button</a:t>
                      </a:r>
                    </a:p>
                  </a:txBody>
                  <a:tcPr anchor="ctr"/>
                </a:tc>
                <a:extLst>
                  <a:ext uri="{0D108BD9-81ED-4DB2-BD59-A6C34878D82A}">
                    <a16:rowId xmlns:a16="http://schemas.microsoft.com/office/drawing/2014/main" val="2523722202"/>
                  </a:ext>
                </a:extLst>
              </a:tr>
              <a:tr h="0">
                <a:tc>
                  <a:txBody>
                    <a:bodyPr/>
                    <a:lstStyle/>
                    <a:p>
                      <a:pPr>
                        <a:buNone/>
                      </a:pPr>
                      <a:r>
                        <a:rPr lang="en-IN" sz="2400">
                          <a:latin typeface="Times New Roman" panose="02020603050405020304" pitchFamily="18" charset="0"/>
                          <a:cs typeface="Times New Roman" panose="02020603050405020304" pitchFamily="18" charset="0"/>
                        </a:rPr>
                        <a:t>Emotion</a:t>
                      </a:r>
                    </a:p>
                  </a:txBody>
                  <a:tcPr anchor="ctr"/>
                </a:tc>
                <a:tc>
                  <a:txBody>
                    <a:bodyPr/>
                    <a:lstStyle/>
                    <a:p>
                      <a:pPr>
                        <a:buNone/>
                      </a:pPr>
                      <a:r>
                        <a:rPr lang="en-IN" sz="2400">
                          <a:latin typeface="Times New Roman" panose="02020603050405020304" pitchFamily="18" charset="0"/>
                          <a:cs typeface="Times New Roman" panose="02020603050405020304" pitchFamily="18" charset="0"/>
                        </a:rPr>
                        <a:t>User appears frustrated</a:t>
                      </a:r>
                    </a:p>
                  </a:txBody>
                  <a:tcPr anchor="ctr"/>
                </a:tc>
                <a:extLst>
                  <a:ext uri="{0D108BD9-81ED-4DB2-BD59-A6C34878D82A}">
                    <a16:rowId xmlns:a16="http://schemas.microsoft.com/office/drawing/2014/main" val="465268893"/>
                  </a:ext>
                </a:extLst>
              </a:tr>
              <a:tr h="0">
                <a:tc>
                  <a:txBody>
                    <a:bodyPr/>
                    <a:lstStyle/>
                    <a:p>
                      <a:pPr>
                        <a:buNone/>
                      </a:pPr>
                      <a:r>
                        <a:rPr lang="en-IN" sz="2400">
                          <a:latin typeface="Times New Roman" panose="02020603050405020304" pitchFamily="18" charset="0"/>
                          <a:cs typeface="Times New Roman" panose="02020603050405020304" pitchFamily="18" charset="0"/>
                        </a:rPr>
                        <a:t>Questions</a:t>
                      </a:r>
                    </a:p>
                  </a:txBody>
                  <a:tcPr anchor="ctr"/>
                </a:tc>
                <a:tc>
                  <a:txBody>
                    <a:bodyPr/>
                    <a:lstStyle/>
                    <a:p>
                      <a:pPr>
                        <a:buNone/>
                      </a:pPr>
                      <a:r>
                        <a:rPr lang="en-US" sz="2400" dirty="0">
                          <a:latin typeface="Times New Roman" panose="02020603050405020304" pitchFamily="18" charset="0"/>
                          <a:cs typeface="Times New Roman" panose="02020603050405020304" pitchFamily="18" charset="0"/>
                        </a:rPr>
                        <a:t>User asks what an icon means</a:t>
                      </a:r>
                    </a:p>
                  </a:txBody>
                  <a:tcPr anchor="ctr"/>
                </a:tc>
                <a:extLst>
                  <a:ext uri="{0D108BD9-81ED-4DB2-BD59-A6C34878D82A}">
                    <a16:rowId xmlns:a16="http://schemas.microsoft.com/office/drawing/2014/main" val="1365849722"/>
                  </a:ext>
                </a:extLst>
              </a:tr>
            </a:tbl>
          </a:graphicData>
        </a:graphic>
      </p:graphicFrame>
    </p:spTree>
    <p:extLst>
      <p:ext uri="{BB962C8B-B14F-4D97-AF65-F5344CB8AC3E}">
        <p14:creationId xmlns:p14="http://schemas.microsoft.com/office/powerpoint/2010/main" val="40399943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6281B9D-1E45-5CA2-6D4A-EE1816A531ED}"/>
              </a:ext>
            </a:extLst>
          </p:cNvPr>
          <p:cNvSpPr>
            <a:spLocks noGrp="1"/>
          </p:cNvSpPr>
          <p:nvPr>
            <p:ph type="body" idx="1"/>
          </p:nvPr>
        </p:nvSpPr>
        <p:spPr>
          <a:xfrm>
            <a:off x="415650" y="227585"/>
            <a:ext cx="11360700" cy="5978005"/>
          </a:xfrm>
        </p:spPr>
        <p:txBody>
          <a:bodyPr/>
          <a:lstStyle/>
          <a:p>
            <a:pPr>
              <a:buSzPct val="1000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What users do can be more informative than what users say.</a:t>
            </a:r>
            <a:endParaRPr lang="en-US" sz="2400" dirty="0">
              <a:latin typeface="Times New Roman" panose="02020603050405020304" pitchFamily="18" charset="0"/>
              <a:cs typeface="Times New Roman" panose="02020603050405020304" pitchFamily="18" charset="0"/>
            </a:endParaRPr>
          </a:p>
          <a:p>
            <a:pPr>
              <a:buSzPct val="10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For example, a user may say:</a:t>
            </a:r>
          </a:p>
          <a:p>
            <a:pPr>
              <a:buSzPct val="10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		"The interface is easy."</a:t>
            </a:r>
          </a:p>
          <a:p>
            <a:pPr>
              <a:buSzPct val="1000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But if they repeatedly fail to find the checkout button, there is a usability problem.</a:t>
            </a:r>
          </a:p>
          <a:p>
            <a:pPr>
              <a:buFont typeface="Wingdings" panose="05000000000000000000" pitchFamily="2" charset="2"/>
              <a:buChar char="§"/>
            </a:pPr>
            <a:endParaRPr lang="en-US" dirty="0"/>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Watch carefully how users interact with the prototype.</a:t>
            </a:r>
          </a:p>
          <a:p>
            <a:pPr>
              <a:buNone/>
            </a:pPr>
            <a:r>
              <a:rPr lang="en-US" sz="2400" dirty="0">
                <a:latin typeface="Times New Roman" panose="02020603050405020304" pitchFamily="18" charset="0"/>
                <a:cs typeface="Times New Roman" panose="02020603050405020304" pitchFamily="18" charset="0"/>
              </a:rPr>
              <a:t>Record:</a:t>
            </a:r>
          </a:p>
          <a:p>
            <a:pPr lvl="1">
              <a:spcBef>
                <a:spcPts val="0"/>
              </a:spcBef>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Where they struggle </a:t>
            </a:r>
          </a:p>
          <a:p>
            <a:pPr lvl="1">
              <a:spcBef>
                <a:spcPts val="0"/>
              </a:spcBef>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Mistakes they make </a:t>
            </a:r>
          </a:p>
          <a:p>
            <a:pPr lvl="1">
              <a:spcBef>
                <a:spcPts val="0"/>
              </a:spcBef>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Time taken </a:t>
            </a:r>
          </a:p>
          <a:p>
            <a:pPr lvl="1">
              <a:spcBef>
                <a:spcPts val="0"/>
              </a:spcBef>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Confusing screens </a:t>
            </a:r>
          </a:p>
          <a:p>
            <a:pPr lvl="1">
              <a:spcBef>
                <a:spcPts val="0"/>
              </a:spcBef>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Questions they ask </a:t>
            </a:r>
          </a:p>
          <a:p>
            <a:pPr lvl="1">
              <a:spcBef>
                <a:spcPts val="0"/>
              </a:spcBef>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Successful actions </a:t>
            </a: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Important:</a:t>
            </a:r>
            <a:r>
              <a:rPr lang="en-US" sz="2400" dirty="0">
                <a:latin typeface="Times New Roman" panose="02020603050405020304" pitchFamily="18" charset="0"/>
                <a:cs typeface="Times New Roman" panose="02020603050405020304" pitchFamily="18" charset="0"/>
              </a:rPr>
              <a:t> Don't just listen to what users </a:t>
            </a:r>
            <a:r>
              <a:rPr lang="en-US" sz="2400" b="1" dirty="0">
                <a:latin typeface="Times New Roman" panose="02020603050405020304" pitchFamily="18" charset="0"/>
                <a:cs typeface="Times New Roman" panose="02020603050405020304" pitchFamily="18" charset="0"/>
              </a:rPr>
              <a:t>say</a:t>
            </a:r>
            <a:r>
              <a:rPr lang="en-US" sz="2400" dirty="0">
                <a:latin typeface="Times New Roman" panose="02020603050405020304" pitchFamily="18" charset="0"/>
                <a:cs typeface="Times New Roman" panose="02020603050405020304" pitchFamily="18" charset="0"/>
              </a:rPr>
              <a:t>; also observe what they </a:t>
            </a:r>
            <a:r>
              <a:rPr lang="en-US" sz="2400" b="1" dirty="0">
                <a:latin typeface="Times New Roman" panose="02020603050405020304" pitchFamily="18" charset="0"/>
                <a:cs typeface="Times New Roman" panose="02020603050405020304" pitchFamily="18" charset="0"/>
              </a:rPr>
              <a:t>actually do</a:t>
            </a:r>
            <a:r>
              <a:rPr lang="en-US" sz="2400" dirty="0">
                <a:latin typeface="Times New Roman" panose="02020603050405020304" pitchFamily="18" charset="0"/>
                <a:cs typeface="Times New Roman" panose="02020603050405020304" pitchFamily="18" charset="0"/>
              </a:rPr>
              <a:t>.</a:t>
            </a:r>
          </a:p>
          <a:p>
            <a:pPr marL="50800" indent="0">
              <a:buNone/>
            </a:pPr>
            <a:endParaRPr lang="en-IN" dirty="0"/>
          </a:p>
        </p:txBody>
      </p:sp>
      <p:sp>
        <p:nvSpPr>
          <p:cNvPr id="4" name="Slide Number Placeholder 3">
            <a:extLst>
              <a:ext uri="{FF2B5EF4-FFF2-40B4-BE49-F238E27FC236}">
                <a16:creationId xmlns:a16="http://schemas.microsoft.com/office/drawing/2014/main" id="{BDB1E762-F8C9-8F9B-D359-FBD160ABDF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78</a:t>
            </a:fld>
            <a:endParaRPr lang="en-GB"/>
          </a:p>
        </p:txBody>
      </p:sp>
    </p:spTree>
    <p:extLst>
      <p:ext uri="{BB962C8B-B14F-4D97-AF65-F5344CB8AC3E}">
        <p14:creationId xmlns:p14="http://schemas.microsoft.com/office/powerpoint/2010/main" val="224461345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ED3B3-1D20-8CD8-2BF6-BB8C78B9585C}"/>
              </a:ext>
            </a:extLst>
          </p:cNvPr>
          <p:cNvSpPr>
            <a:spLocks noGrp="1"/>
          </p:cNvSpPr>
          <p:nvPr>
            <p:ph type="title"/>
          </p:nvPr>
        </p:nvSpPr>
        <p:spPr>
          <a:xfrm>
            <a:off x="415600" y="224639"/>
            <a:ext cx="11360700" cy="541773"/>
          </a:xfrm>
        </p:spPr>
        <p:txBody>
          <a:bodyPr/>
          <a:lstStyle/>
          <a:p>
            <a:r>
              <a:rPr lang="en-US" sz="2800" dirty="0">
                <a:solidFill>
                  <a:srgbClr val="CC3300"/>
                </a:solidFill>
                <a:latin typeface="Times New Roman" panose="02020603050405020304" pitchFamily="18" charset="0"/>
                <a:cs typeface="Times New Roman" panose="02020603050405020304" pitchFamily="18" charset="0"/>
              </a:rPr>
              <a:t>Step 7 – Collect User Feedback</a:t>
            </a:r>
            <a:endParaRPr lang="en-IN" sz="2800" dirty="0">
              <a:solidFill>
                <a:srgbClr val="CC33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46FD679-258F-89B5-4669-8B4F3A1445BD}"/>
              </a:ext>
            </a:extLst>
          </p:cNvPr>
          <p:cNvSpPr>
            <a:spLocks noGrp="1"/>
          </p:cNvSpPr>
          <p:nvPr>
            <p:ph type="body" idx="1"/>
          </p:nvPr>
        </p:nvSpPr>
        <p:spPr>
          <a:xfrm>
            <a:off x="415600" y="945222"/>
            <a:ext cx="11360700" cy="5146366"/>
          </a:xfrm>
        </p:spPr>
        <p:txBody>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Feedback can be collected using several methods.</a:t>
            </a:r>
          </a:p>
          <a:p>
            <a:pPr>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5E2899F-57FB-BB16-3E01-9B6A380D60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79</a:t>
            </a:fld>
            <a:endParaRPr lang="en-GB"/>
          </a:p>
        </p:txBody>
      </p:sp>
      <p:sp>
        <p:nvSpPr>
          <p:cNvPr id="5" name="AutoShape 2" descr=", AI generated">
            <a:extLst>
              <a:ext uri="{FF2B5EF4-FFF2-40B4-BE49-F238E27FC236}">
                <a16:creationId xmlns:a16="http://schemas.microsoft.com/office/drawing/2014/main" id="{BC5C1F13-BB42-E4B0-1654-F7A366DC67B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 AI generated">
            <a:extLst>
              <a:ext uri="{FF2B5EF4-FFF2-40B4-BE49-F238E27FC236}">
                <a16:creationId xmlns:a16="http://schemas.microsoft.com/office/drawing/2014/main" id="{1722BE53-CDAA-A5A2-3AA2-4E927BBC0CF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DCEA338A-F9F6-6F40-59C5-F9009C840CBB}"/>
              </a:ext>
            </a:extLst>
          </p:cNvPr>
          <p:cNvPicPr>
            <a:picLocks noChangeAspect="1"/>
          </p:cNvPicPr>
          <p:nvPr/>
        </p:nvPicPr>
        <p:blipFill>
          <a:blip r:embed="rId2"/>
          <a:stretch>
            <a:fillRect/>
          </a:stretch>
        </p:blipFill>
        <p:spPr>
          <a:xfrm>
            <a:off x="1811472" y="1719933"/>
            <a:ext cx="8712893" cy="4371655"/>
          </a:xfrm>
          <a:prstGeom prst="rect">
            <a:avLst/>
          </a:prstGeom>
        </p:spPr>
      </p:pic>
    </p:spTree>
    <p:extLst>
      <p:ext uri="{BB962C8B-B14F-4D97-AF65-F5344CB8AC3E}">
        <p14:creationId xmlns:p14="http://schemas.microsoft.com/office/powerpoint/2010/main" val="5382921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EF7B6FE-B431-076E-7706-D93337A482DC}"/>
              </a:ext>
            </a:extLst>
          </p:cNvPr>
          <p:cNvSpPr>
            <a:spLocks noGrp="1"/>
          </p:cNvSpPr>
          <p:nvPr>
            <p:ph type="body" idx="1"/>
          </p:nvPr>
        </p:nvSpPr>
        <p:spPr>
          <a:xfrm>
            <a:off x="333505" y="344821"/>
            <a:ext cx="5415295" cy="5943503"/>
          </a:xfrm>
        </p:spPr>
        <p:txBody>
          <a:bodyPr/>
          <a:lstStyle/>
          <a:p>
            <a:pPr>
              <a:buNone/>
            </a:pPr>
            <a:r>
              <a:rPr lang="en-US" sz="2400" b="1" dirty="0">
                <a:latin typeface="Times New Roman" panose="02020603050405020304" pitchFamily="18" charset="0"/>
                <a:cs typeface="Times New Roman" panose="02020603050405020304" pitchFamily="18" charset="0"/>
              </a:rPr>
              <a:t>Common Methods</a:t>
            </a:r>
          </a:p>
          <a:p>
            <a:pPr>
              <a:buNone/>
            </a:pPr>
            <a:r>
              <a:rPr lang="en-US" sz="2400" b="1" dirty="0">
                <a:latin typeface="Times New Roman" panose="02020603050405020304" pitchFamily="18" charset="0"/>
                <a:cs typeface="Times New Roman" panose="02020603050405020304" pitchFamily="18" charset="0"/>
              </a:rPr>
              <a:t>A. Interviews</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Users are asked questions after completing tasks.</a:t>
            </a:r>
          </a:p>
          <a:p>
            <a:pPr>
              <a:buNone/>
            </a:pPr>
            <a:r>
              <a:rPr lang="en-US" sz="2400" dirty="0">
                <a:latin typeface="Times New Roman" panose="02020603050405020304" pitchFamily="18" charset="0"/>
                <a:cs typeface="Times New Roman" panose="02020603050405020304" pitchFamily="18" charset="0"/>
              </a:rPr>
              <a:t>Example: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did you find difficult?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did you like?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What would you change?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Was anything confusing? </a:t>
            </a:r>
          </a:p>
          <a:p>
            <a:pPr>
              <a:buNone/>
            </a:pPr>
            <a:r>
              <a:rPr lang="en-US" sz="2400" b="1" dirty="0">
                <a:latin typeface="Times New Roman" panose="02020603050405020304" pitchFamily="18" charset="0"/>
                <a:cs typeface="Times New Roman" panose="02020603050405020304" pitchFamily="18" charset="0"/>
              </a:rPr>
              <a:t>B. Questionnaires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provide ratings and written comments.</a:t>
            </a:r>
          </a:p>
          <a:p>
            <a:pPr>
              <a:buNone/>
            </a:pPr>
            <a:r>
              <a:rPr lang="en-US" sz="2400" dirty="0">
                <a:latin typeface="Times New Roman" panose="02020603050405020304" pitchFamily="18" charset="0"/>
                <a:cs typeface="Times New Roman" panose="02020603050405020304" pitchFamily="18" charset="0"/>
              </a:rPr>
              <a:t>Example:</a:t>
            </a:r>
          </a:p>
          <a:p>
            <a:pPr>
              <a:buNone/>
            </a:pPr>
            <a:r>
              <a:rPr lang="en-US" sz="2400" b="1" dirty="0">
                <a:latin typeface="Times New Roman" panose="02020603050405020304" pitchFamily="18" charset="0"/>
                <a:cs typeface="Times New Roman" panose="02020603050405020304" pitchFamily="18" charset="0"/>
              </a:rPr>
              <a:t>How easy was it to place an order?</a:t>
            </a:r>
            <a:endParaRPr lang="en-US" sz="2400" dirty="0">
              <a:latin typeface="Times New Roman" panose="02020603050405020304" pitchFamily="18" charset="0"/>
              <a:cs typeface="Times New Roman" panose="02020603050405020304" pitchFamily="18" charset="0"/>
            </a:endParaRPr>
          </a:p>
          <a:p>
            <a:pPr rtl="0">
              <a:buNone/>
            </a:pPr>
            <a:r>
              <a:rPr lang="en-US" sz="2400" dirty="0">
                <a:latin typeface="Times New Roman" panose="02020603050405020304" pitchFamily="18" charset="0"/>
                <a:cs typeface="Times New Roman" panose="02020603050405020304" pitchFamily="18" charset="0"/>
              </a:rPr>
              <a:t>Very Difficult  1  2  3  4  5  Very Easy</a:t>
            </a:r>
          </a:p>
          <a:p>
            <a:endParaRPr lang="en-IN" dirty="0"/>
          </a:p>
        </p:txBody>
      </p:sp>
      <p:sp>
        <p:nvSpPr>
          <p:cNvPr id="7" name="Text Placeholder 6">
            <a:extLst>
              <a:ext uri="{FF2B5EF4-FFF2-40B4-BE49-F238E27FC236}">
                <a16:creationId xmlns:a16="http://schemas.microsoft.com/office/drawing/2014/main" id="{CD517373-BE48-2EF2-E63F-10956071909C}"/>
              </a:ext>
            </a:extLst>
          </p:cNvPr>
          <p:cNvSpPr>
            <a:spLocks noGrp="1"/>
          </p:cNvSpPr>
          <p:nvPr>
            <p:ph type="body" idx="2"/>
          </p:nvPr>
        </p:nvSpPr>
        <p:spPr>
          <a:xfrm>
            <a:off x="6443202" y="622225"/>
            <a:ext cx="5333100" cy="4751700"/>
          </a:xfrm>
        </p:spPr>
        <p:txBody>
          <a:bodyPr/>
          <a:lstStyle/>
          <a:p>
            <a:pPr marL="457200" marR="0" lvl="0" indent="-349250" algn="l" defTabSz="914400" rtl="0" eaLnBrk="1" fontAlgn="auto" latinLnBrk="0" hangingPunct="1">
              <a:lnSpc>
                <a:spcPct val="100000"/>
              </a:lnSpc>
              <a:spcBef>
                <a:spcPts val="0"/>
              </a:spcBef>
              <a:spcAft>
                <a:spcPts val="0"/>
              </a:spcAft>
              <a:buClr>
                <a:srgbClr val="000000"/>
              </a:buClr>
              <a:buSzPts val="1900"/>
              <a:buFont typeface="IBM Plex Sans Condensed"/>
              <a:buNone/>
              <a:tabLst/>
              <a:defRPr/>
            </a:pP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C. Observation</a:t>
            </a:r>
          </a:p>
          <a:p>
            <a:pPr>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The designer watches users interact with the product.</a:t>
            </a:r>
          </a:p>
          <a:p>
            <a:pPr marL="457200" marR="0" lvl="0" indent="-349250" algn="l" defTabSz="914400" rtl="0" eaLnBrk="1" fontAlgn="auto" latinLnBrk="0" hangingPunct="1">
              <a:lnSpc>
                <a:spcPct val="100000"/>
              </a:lnSpc>
              <a:spcBef>
                <a:spcPts val="0"/>
              </a:spcBef>
              <a:spcAft>
                <a:spcPts val="0"/>
              </a:spcAft>
              <a:buClr>
                <a:srgbClr val="000000"/>
              </a:buClr>
              <a:buSzPts val="1900"/>
              <a:buFont typeface="IBM Plex Sans Condensed"/>
              <a:buNone/>
              <a:tabLst/>
              <a:defRPr/>
            </a:pP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D. Think-Aloud Method</a:t>
            </a:r>
          </a:p>
          <a:p>
            <a:pPr>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Users explain their thoughts while performing a task.</a:t>
            </a:r>
          </a:p>
          <a:p>
            <a:pPr>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Example: "I am looking for the checkout button, but I don't see it."</a:t>
            </a:r>
          </a:p>
          <a:p>
            <a:pPr>
              <a:defRPr/>
            </a:pPr>
            <a:r>
              <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This can reveal the user's reasoning and expectations.</a:t>
            </a:r>
          </a:p>
          <a:p>
            <a:endParaRPr lang="en-IN" dirty="0"/>
          </a:p>
        </p:txBody>
      </p:sp>
      <p:sp>
        <p:nvSpPr>
          <p:cNvPr id="4" name="Slide Number Placeholder 3">
            <a:extLst>
              <a:ext uri="{FF2B5EF4-FFF2-40B4-BE49-F238E27FC236}">
                <a16:creationId xmlns:a16="http://schemas.microsoft.com/office/drawing/2014/main" id="{918D1D73-4E46-B486-42DE-88C586AE4F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80</a:t>
            </a:fld>
            <a:endParaRPr lang="en-GB"/>
          </a:p>
        </p:txBody>
      </p:sp>
    </p:spTree>
    <p:extLst>
      <p:ext uri="{BB962C8B-B14F-4D97-AF65-F5344CB8AC3E}">
        <p14:creationId xmlns:p14="http://schemas.microsoft.com/office/powerpoint/2010/main" val="40530950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680E28C-49C6-19E9-13DE-52F572DBD92B}"/>
              </a:ext>
            </a:extLst>
          </p:cNvPr>
          <p:cNvSpPr>
            <a:spLocks noGrp="1"/>
          </p:cNvSpPr>
          <p:nvPr>
            <p:ph type="title"/>
          </p:nvPr>
        </p:nvSpPr>
        <p:spPr>
          <a:xfrm>
            <a:off x="415600" y="265736"/>
            <a:ext cx="11360700" cy="658938"/>
          </a:xfrm>
        </p:spPr>
        <p:txBody>
          <a:bodyPr/>
          <a:lstStyle/>
          <a:p>
            <a:r>
              <a:rPr lang="en-US" sz="2800" dirty="0">
                <a:solidFill>
                  <a:srgbClr val="CC3300"/>
                </a:solidFill>
                <a:latin typeface="Times New Roman" panose="02020603050405020304" pitchFamily="18" charset="0"/>
                <a:cs typeface="Times New Roman" panose="02020603050405020304" pitchFamily="18" charset="0"/>
              </a:rPr>
              <a:t>Step 8 – Analyze Findings</a:t>
            </a:r>
            <a:endParaRPr lang="en-IN" sz="2800" dirty="0">
              <a:solidFill>
                <a:srgbClr val="CC3300"/>
              </a:solidFill>
              <a:latin typeface="Times New Roman" panose="02020603050405020304" pitchFamily="18" charset="0"/>
              <a:cs typeface="Times New Roman" panose="02020603050405020304" pitchFamily="18" charset="0"/>
            </a:endParaRPr>
          </a:p>
        </p:txBody>
      </p:sp>
      <p:sp>
        <p:nvSpPr>
          <p:cNvPr id="7" name="Text Placeholder 6">
            <a:extLst>
              <a:ext uri="{FF2B5EF4-FFF2-40B4-BE49-F238E27FC236}">
                <a16:creationId xmlns:a16="http://schemas.microsoft.com/office/drawing/2014/main" id="{6D7C2842-F369-DCFA-661C-423DA7D53DD4}"/>
              </a:ext>
            </a:extLst>
          </p:cNvPr>
          <p:cNvSpPr>
            <a:spLocks noGrp="1"/>
          </p:cNvSpPr>
          <p:nvPr>
            <p:ph type="body" idx="1"/>
          </p:nvPr>
        </p:nvSpPr>
        <p:spPr>
          <a:xfrm>
            <a:off x="415600" y="924675"/>
            <a:ext cx="11360700" cy="5166914"/>
          </a:xfrm>
        </p:spPr>
        <p:txBody>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Raw feedback should be organized into meaningful findings</a:t>
            </a:r>
            <a:r>
              <a:rPr lang="en-US" dirty="0"/>
              <a:t>.</a:t>
            </a:r>
          </a:p>
          <a:p>
            <a:pPr>
              <a:buNone/>
            </a:pPr>
            <a:r>
              <a:rPr lang="en-US" sz="2400" b="1" dirty="0">
                <a:latin typeface="Times New Roman" panose="02020603050405020304" pitchFamily="18" charset="0"/>
                <a:cs typeface="Times New Roman" panose="02020603050405020304" pitchFamily="18" charset="0"/>
              </a:rPr>
              <a:t>Example</a:t>
            </a:r>
          </a:p>
          <a:p>
            <a:pPr>
              <a:buNone/>
            </a:pPr>
            <a:r>
              <a:rPr lang="en-US" sz="2400" dirty="0">
                <a:latin typeface="Times New Roman" panose="02020603050405020304" pitchFamily="18" charset="0"/>
                <a:cs typeface="Times New Roman" panose="02020603050405020304" pitchFamily="18" charset="0"/>
              </a:rPr>
              <a:t>Suppose five users test a food-delivery application.</a:t>
            </a:r>
          </a:p>
          <a:p>
            <a:pPr marL="50800" indent="0">
              <a:buNone/>
            </a:pPr>
            <a:r>
              <a:rPr lang="en-US" sz="2400" dirty="0">
                <a:latin typeface="Times New Roman" panose="02020603050405020304" pitchFamily="18" charset="0"/>
                <a:cs typeface="Times New Roman" panose="02020603050405020304" pitchFamily="18" charset="0"/>
              </a:rPr>
              <a:t>USER TEST RESULTS</a:t>
            </a: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 1 → Could not find Cart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 2 → Could not find Cart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 3 → Found Cart easily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 4 → Could not find Cart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 5 → Asked where Cart was</a:t>
            </a:r>
            <a:endParaRPr lang="en-IN" sz="24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1003292-1C4E-F82D-F881-453AB56666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81</a:t>
            </a:fld>
            <a:endParaRPr lang="en-GB"/>
          </a:p>
        </p:txBody>
      </p:sp>
    </p:spTree>
    <p:extLst>
      <p:ext uri="{BB962C8B-B14F-4D97-AF65-F5344CB8AC3E}">
        <p14:creationId xmlns:p14="http://schemas.microsoft.com/office/powerpoint/2010/main" val="17170933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15D955D-E01E-0994-BAA6-890DE767E049}"/>
              </a:ext>
            </a:extLst>
          </p:cNvPr>
          <p:cNvSpPr>
            <a:spLocks noGrp="1"/>
          </p:cNvSpPr>
          <p:nvPr>
            <p:ph type="body" idx="1"/>
          </p:nvPr>
        </p:nvSpPr>
        <p:spPr>
          <a:xfrm>
            <a:off x="302584" y="915954"/>
            <a:ext cx="2831034" cy="4672200"/>
          </a:xfrm>
        </p:spPr>
        <p:txBody>
          <a:bodyPr/>
          <a:lstStyle/>
          <a:p>
            <a:r>
              <a:rPr lang="en-IN" sz="2400" dirty="0">
                <a:latin typeface="Times New Roman" panose="02020603050405020304" pitchFamily="18" charset="0"/>
                <a:cs typeface="Times New Roman" panose="02020603050405020304" pitchFamily="18" charset="0"/>
              </a:rPr>
              <a:t>The designer identifies:</a:t>
            </a:r>
          </a:p>
        </p:txBody>
      </p:sp>
      <p:sp>
        <p:nvSpPr>
          <p:cNvPr id="4" name="Slide Number Placeholder 3">
            <a:extLst>
              <a:ext uri="{FF2B5EF4-FFF2-40B4-BE49-F238E27FC236}">
                <a16:creationId xmlns:a16="http://schemas.microsoft.com/office/drawing/2014/main" id="{65F27D2D-AB10-3277-6CA8-43C32FF4509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82</a:t>
            </a:fld>
            <a:endParaRPr lang="en-GB"/>
          </a:p>
        </p:txBody>
      </p:sp>
      <p:sp>
        <p:nvSpPr>
          <p:cNvPr id="5" name="AutoShape 2" descr=", AI generated">
            <a:extLst>
              <a:ext uri="{FF2B5EF4-FFF2-40B4-BE49-F238E27FC236}">
                <a16:creationId xmlns:a16="http://schemas.microsoft.com/office/drawing/2014/main" id="{0990F962-5DC2-2D2B-15BC-D8CE7A2794C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8DDF804A-EC86-4CBE-A7B0-BADED41EF9B0}"/>
              </a:ext>
            </a:extLst>
          </p:cNvPr>
          <p:cNvPicPr>
            <a:picLocks noChangeAspect="1"/>
          </p:cNvPicPr>
          <p:nvPr/>
        </p:nvPicPr>
        <p:blipFill>
          <a:blip r:embed="rId2"/>
          <a:stretch>
            <a:fillRect/>
          </a:stretch>
        </p:blipFill>
        <p:spPr>
          <a:xfrm>
            <a:off x="3054646" y="561654"/>
            <a:ext cx="8712893" cy="5429892"/>
          </a:xfrm>
          <a:prstGeom prst="rect">
            <a:avLst/>
          </a:prstGeom>
        </p:spPr>
      </p:pic>
    </p:spTree>
    <p:extLst>
      <p:ext uri="{BB962C8B-B14F-4D97-AF65-F5344CB8AC3E}">
        <p14:creationId xmlns:p14="http://schemas.microsoft.com/office/powerpoint/2010/main" val="8289262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3C333-8AB5-B650-6F12-FA1AEBCE8B19}"/>
              </a:ext>
            </a:extLst>
          </p:cNvPr>
          <p:cNvSpPr>
            <a:spLocks noGrp="1"/>
          </p:cNvSpPr>
          <p:nvPr>
            <p:ph type="title"/>
          </p:nvPr>
        </p:nvSpPr>
        <p:spPr>
          <a:xfrm>
            <a:off x="487519" y="339112"/>
            <a:ext cx="11360700" cy="544466"/>
          </a:xfrm>
        </p:spPr>
        <p:txBody>
          <a:bodyPr/>
          <a:lstStyle/>
          <a:p>
            <a:r>
              <a:rPr lang="en-US" sz="2800" dirty="0">
                <a:solidFill>
                  <a:srgbClr val="CC3300"/>
                </a:solidFill>
                <a:latin typeface="Times New Roman" panose="02020603050405020304" pitchFamily="18" charset="0"/>
                <a:cs typeface="Times New Roman" panose="02020603050405020304" pitchFamily="18" charset="0"/>
              </a:rPr>
              <a:t>Step 9 –Prioritize Problems</a:t>
            </a:r>
            <a:endParaRPr lang="en-IN" sz="2800" dirty="0">
              <a:solidFill>
                <a:srgbClr val="CC33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C3261B2-9518-783F-F777-EDE2A74030A9}"/>
              </a:ext>
            </a:extLst>
          </p:cNvPr>
          <p:cNvSpPr>
            <a:spLocks noGrp="1"/>
          </p:cNvSpPr>
          <p:nvPr>
            <p:ph type="body" idx="1"/>
          </p:nvPr>
        </p:nvSpPr>
        <p:spPr>
          <a:xfrm>
            <a:off x="415600" y="883578"/>
            <a:ext cx="11360700" cy="5208010"/>
          </a:xfrm>
        </p:spPr>
        <p:txBody>
          <a:bodyPr/>
          <a:lstStyle/>
          <a:p>
            <a:pPr>
              <a:buSzPct val="100000"/>
            </a:pPr>
            <a:r>
              <a:rPr lang="en-US" sz="2400" dirty="0">
                <a:latin typeface="Times New Roman" panose="02020603050405020304" pitchFamily="18" charset="0"/>
                <a:cs typeface="Times New Roman" panose="02020603050405020304" pitchFamily="18" charset="0"/>
              </a:rPr>
              <a:t>Not every piece of feedback should immediately result in a design change.</a:t>
            </a:r>
          </a:p>
          <a:p>
            <a:pPr>
              <a:buSzPct val="100000"/>
            </a:pPr>
            <a:r>
              <a:rPr lang="en-US" sz="2400" dirty="0">
                <a:latin typeface="Times New Roman" panose="02020603050405020304" pitchFamily="18" charset="0"/>
                <a:cs typeface="Times New Roman" panose="02020603050405020304" pitchFamily="18" charset="0"/>
              </a:rPr>
              <a:t>Problems should be </a:t>
            </a:r>
            <a:r>
              <a:rPr lang="en-US" sz="2400" b="1" dirty="0">
                <a:latin typeface="Times New Roman" panose="02020603050405020304" pitchFamily="18" charset="0"/>
                <a:cs typeface="Times New Roman" panose="02020603050405020304" pitchFamily="18" charset="0"/>
              </a:rPr>
              <a:t>prioritized</a:t>
            </a:r>
            <a:r>
              <a:rPr lang="en-US" sz="2400" dirty="0">
                <a:latin typeface="Times New Roman" panose="02020603050405020304" pitchFamily="18" charset="0"/>
                <a:cs typeface="Times New Roman" panose="02020603050405020304" pitchFamily="18" charset="0"/>
              </a:rPr>
              <a:t>.</a:t>
            </a:r>
          </a:p>
          <a:p>
            <a:pPr>
              <a:buNone/>
            </a:pPr>
            <a:r>
              <a:rPr lang="en-US" sz="2400" b="1" dirty="0">
                <a:latin typeface="Times New Roman" panose="02020603050405020304" pitchFamily="18" charset="0"/>
                <a:cs typeface="Times New Roman" panose="02020603050405020304" pitchFamily="18" charset="0"/>
              </a:rPr>
              <a:t>Priority Matrix</a:t>
            </a:r>
          </a:p>
          <a:p>
            <a:endParaRPr lang="en-IN" dirty="0"/>
          </a:p>
        </p:txBody>
      </p:sp>
      <p:sp>
        <p:nvSpPr>
          <p:cNvPr id="4" name="Slide Number Placeholder 3">
            <a:extLst>
              <a:ext uri="{FF2B5EF4-FFF2-40B4-BE49-F238E27FC236}">
                <a16:creationId xmlns:a16="http://schemas.microsoft.com/office/drawing/2014/main" id="{D74621BE-6D1C-B817-D29D-9582783D9E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83</a:t>
            </a:fld>
            <a:endParaRPr lang="en-GB"/>
          </a:p>
        </p:txBody>
      </p:sp>
      <p:sp>
        <p:nvSpPr>
          <p:cNvPr id="5" name="AutoShape 2" descr=", AI generated">
            <a:extLst>
              <a:ext uri="{FF2B5EF4-FFF2-40B4-BE49-F238E27FC236}">
                <a16:creationId xmlns:a16="http://schemas.microsoft.com/office/drawing/2014/main" id="{B7393C97-AA3F-BEA3-2F3C-11AC5A3B184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C7875586-3062-578C-EAC2-FD1806C57240}"/>
              </a:ext>
            </a:extLst>
          </p:cNvPr>
          <p:cNvPicPr>
            <a:picLocks noChangeAspect="1"/>
          </p:cNvPicPr>
          <p:nvPr/>
        </p:nvPicPr>
        <p:blipFill>
          <a:blip r:embed="rId2"/>
          <a:stretch>
            <a:fillRect/>
          </a:stretch>
        </p:blipFill>
        <p:spPr>
          <a:xfrm>
            <a:off x="1037689" y="2390079"/>
            <a:ext cx="8691937" cy="3584343"/>
          </a:xfrm>
          <a:prstGeom prst="rect">
            <a:avLst/>
          </a:prstGeom>
        </p:spPr>
      </p:pic>
    </p:spTree>
    <p:extLst>
      <p:ext uri="{BB962C8B-B14F-4D97-AF65-F5344CB8AC3E}">
        <p14:creationId xmlns:p14="http://schemas.microsoft.com/office/powerpoint/2010/main" val="8635243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2B430E1-B0C9-E479-254B-81BE8166B4C4}"/>
              </a:ext>
            </a:extLst>
          </p:cNvPr>
          <p:cNvSpPr>
            <a:spLocks noGrp="1"/>
          </p:cNvSpPr>
          <p:nvPr>
            <p:ph type="body" idx="1"/>
          </p:nvPr>
        </p:nvSpPr>
        <p:spPr>
          <a:xfrm>
            <a:off x="415650" y="482178"/>
            <a:ext cx="11360700" cy="5208010"/>
          </a:xfrm>
        </p:spPr>
        <p:txBody>
          <a:bodyPr/>
          <a:lstStyle/>
          <a:p>
            <a:pPr marL="50800" indent="0">
              <a:buNone/>
            </a:pPr>
            <a:r>
              <a:rPr lang="en-IN" sz="2400" dirty="0">
                <a:latin typeface="Times New Roman" panose="02020603050405020304" pitchFamily="18" charset="0"/>
                <a:cs typeface="Times New Roman" panose="02020603050405020304" pitchFamily="18" charset="0"/>
              </a:rPr>
              <a:t>Example</a:t>
            </a:r>
          </a:p>
          <a:p>
            <a:pPr marL="50800" indent="0">
              <a:buNone/>
            </a:pPr>
            <a:endParaRPr lang="en-IN" sz="2400" dirty="0">
              <a:latin typeface="Times New Roman" panose="02020603050405020304" pitchFamily="18" charset="0"/>
              <a:cs typeface="Times New Roman" panose="02020603050405020304" pitchFamily="18" charset="0"/>
            </a:endParaRPr>
          </a:p>
          <a:p>
            <a:pPr marL="50800" indent="0">
              <a:buNone/>
            </a:pPr>
            <a:endParaRPr lang="en-IN" sz="2400" dirty="0">
              <a:latin typeface="Times New Roman" panose="02020603050405020304" pitchFamily="18" charset="0"/>
              <a:cs typeface="Times New Roman" panose="02020603050405020304" pitchFamily="18" charset="0"/>
            </a:endParaRPr>
          </a:p>
          <a:p>
            <a:pPr marL="50800" indent="0">
              <a:buNone/>
            </a:pPr>
            <a:endParaRPr lang="en-IN" sz="2400" dirty="0">
              <a:latin typeface="Times New Roman" panose="02020603050405020304" pitchFamily="18" charset="0"/>
              <a:cs typeface="Times New Roman" panose="02020603050405020304" pitchFamily="18" charset="0"/>
            </a:endParaRPr>
          </a:p>
          <a:p>
            <a:pPr marL="50800" indent="0">
              <a:buNone/>
            </a:pPr>
            <a:endParaRPr lang="en-IN" sz="2400" dirty="0">
              <a:latin typeface="Times New Roman" panose="02020603050405020304" pitchFamily="18" charset="0"/>
              <a:cs typeface="Times New Roman" panose="02020603050405020304" pitchFamily="18" charset="0"/>
            </a:endParaRPr>
          </a:p>
          <a:p>
            <a:pPr marL="50800" indent="0">
              <a:buNone/>
            </a:pPr>
            <a:endParaRPr lang="en-IN" sz="2400" dirty="0">
              <a:latin typeface="Times New Roman" panose="02020603050405020304" pitchFamily="18" charset="0"/>
              <a:cs typeface="Times New Roman" panose="02020603050405020304" pitchFamily="18" charset="0"/>
            </a:endParaRPr>
          </a:p>
          <a:p>
            <a:pPr marL="50800" indent="0">
              <a:buNone/>
            </a:pPr>
            <a:endParaRPr lang="en-IN" sz="2400" dirty="0">
              <a:latin typeface="Times New Roman" panose="02020603050405020304" pitchFamily="18" charset="0"/>
              <a:cs typeface="Times New Roman" panose="02020603050405020304" pitchFamily="18" charset="0"/>
            </a:endParaRPr>
          </a:p>
          <a:p>
            <a:pPr marL="50800" indent="0">
              <a:buNone/>
            </a:pPr>
            <a:endParaRPr lang="en-IN" sz="2400" dirty="0">
              <a:latin typeface="Times New Roman" panose="02020603050405020304" pitchFamily="18" charset="0"/>
              <a:cs typeface="Times New Roman" panose="02020603050405020304" pitchFamily="18" charset="0"/>
            </a:endParaRPr>
          </a:p>
          <a:p>
            <a:pPr marL="50800" indent="0">
              <a:buNone/>
            </a:pPr>
            <a:endParaRPr lang="en-IN" sz="2400" dirty="0">
              <a:latin typeface="Times New Roman" panose="02020603050405020304" pitchFamily="18" charset="0"/>
              <a:cs typeface="Times New Roman" panose="02020603050405020304" pitchFamily="18" charset="0"/>
            </a:endParaRPr>
          </a:p>
          <a:p>
            <a:pPr marL="50800" indent="0">
              <a:buNone/>
            </a:pPr>
            <a:endParaRPr lang="en-IN" sz="2400" dirty="0">
              <a:latin typeface="Times New Roman" panose="02020603050405020304" pitchFamily="18" charset="0"/>
              <a:cs typeface="Times New Roman" panose="02020603050405020304" pitchFamily="18" charset="0"/>
            </a:endParaRPr>
          </a:p>
          <a:p>
            <a:pPr marL="50800" indent="0">
              <a:buNone/>
            </a:pPr>
            <a:endParaRPr lang="en-IN" sz="2400" dirty="0">
              <a:latin typeface="Times New Roman" panose="02020603050405020304" pitchFamily="18" charset="0"/>
              <a:cs typeface="Times New Roman" panose="02020603050405020304" pitchFamily="18" charset="0"/>
            </a:endParaRPr>
          </a:p>
          <a:p>
            <a:pPr marL="50800" indent="0">
              <a:buNone/>
            </a:pPr>
            <a:endParaRPr lang="en-IN" sz="2400" dirty="0">
              <a:latin typeface="Times New Roman" panose="02020603050405020304" pitchFamily="18" charset="0"/>
              <a:cs typeface="Times New Roman" panose="02020603050405020304" pitchFamily="18" charset="0"/>
            </a:endParaRPr>
          </a:p>
          <a:p>
            <a:pPr>
              <a:buSzPct val="90000"/>
            </a:pPr>
            <a:r>
              <a:rPr lang="en-US" sz="2400" dirty="0">
                <a:latin typeface="Times New Roman" panose="02020603050405020304" pitchFamily="18" charset="0"/>
                <a:cs typeface="Times New Roman" panose="02020603050405020304" pitchFamily="18" charset="0"/>
              </a:rPr>
              <a:t>Critical usability problems should be addressed before minor aesthetic preferences.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B3761FE-5BA5-1828-C7FA-D392375B898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84</a:t>
            </a:fld>
            <a:endParaRPr lang="en-GB"/>
          </a:p>
        </p:txBody>
      </p:sp>
      <p:graphicFrame>
        <p:nvGraphicFramePr>
          <p:cNvPr id="5" name="Table 4">
            <a:extLst>
              <a:ext uri="{FF2B5EF4-FFF2-40B4-BE49-F238E27FC236}">
                <a16:creationId xmlns:a16="http://schemas.microsoft.com/office/drawing/2014/main" id="{45E6FF60-D1F7-8633-D1A7-165FA06C4429}"/>
              </a:ext>
            </a:extLst>
          </p:cNvPr>
          <p:cNvGraphicFramePr>
            <a:graphicFrameLocks noGrp="1"/>
          </p:cNvGraphicFramePr>
          <p:nvPr/>
        </p:nvGraphicFramePr>
        <p:xfrm>
          <a:off x="590585" y="1870084"/>
          <a:ext cx="10032894" cy="2286000"/>
        </p:xfrm>
        <a:graphic>
          <a:graphicData uri="http://schemas.openxmlformats.org/drawingml/2006/table">
            <a:tbl>
              <a:tblPr>
                <a:tableStyleId>{284E427A-3D55-4303-BF80-6455036E1DE7}</a:tableStyleId>
              </a:tblPr>
              <a:tblGrid>
                <a:gridCol w="4043060">
                  <a:extLst>
                    <a:ext uri="{9D8B030D-6E8A-4147-A177-3AD203B41FA5}">
                      <a16:colId xmlns:a16="http://schemas.microsoft.com/office/drawing/2014/main" val="3234458775"/>
                    </a:ext>
                  </a:extLst>
                </a:gridCol>
                <a:gridCol w="2645536">
                  <a:extLst>
                    <a:ext uri="{9D8B030D-6E8A-4147-A177-3AD203B41FA5}">
                      <a16:colId xmlns:a16="http://schemas.microsoft.com/office/drawing/2014/main" val="2855446200"/>
                    </a:ext>
                  </a:extLst>
                </a:gridCol>
                <a:gridCol w="3344298">
                  <a:extLst>
                    <a:ext uri="{9D8B030D-6E8A-4147-A177-3AD203B41FA5}">
                      <a16:colId xmlns:a16="http://schemas.microsoft.com/office/drawing/2014/main" val="1310073702"/>
                    </a:ext>
                  </a:extLst>
                </a:gridCol>
              </a:tblGrid>
              <a:tr h="308187">
                <a:tc>
                  <a:txBody>
                    <a:bodyPr/>
                    <a:lstStyle/>
                    <a:p>
                      <a:pPr>
                        <a:buNone/>
                      </a:pPr>
                      <a:r>
                        <a:rPr lang="en-IN" sz="2400" b="1" i="1">
                          <a:latin typeface="Times New Roman" panose="02020603050405020304" pitchFamily="18" charset="0"/>
                          <a:cs typeface="Times New Roman" panose="02020603050405020304" pitchFamily="18" charset="0"/>
                        </a:rPr>
                        <a:t>Problem</a:t>
                      </a:r>
                    </a:p>
                  </a:txBody>
                  <a:tcPr anchor="ctr"/>
                </a:tc>
                <a:tc>
                  <a:txBody>
                    <a:bodyPr/>
                    <a:lstStyle/>
                    <a:p>
                      <a:pPr>
                        <a:buNone/>
                      </a:pPr>
                      <a:r>
                        <a:rPr lang="en-IN" sz="2400" b="1" i="1">
                          <a:latin typeface="Times New Roman" panose="02020603050405020304" pitchFamily="18" charset="0"/>
                          <a:cs typeface="Times New Roman" panose="02020603050405020304" pitchFamily="18" charset="0"/>
                        </a:rPr>
                        <a:t>Impact</a:t>
                      </a:r>
                    </a:p>
                  </a:txBody>
                  <a:tcPr anchor="ctr"/>
                </a:tc>
                <a:tc>
                  <a:txBody>
                    <a:bodyPr/>
                    <a:lstStyle/>
                    <a:p>
                      <a:pPr>
                        <a:buNone/>
                      </a:pPr>
                      <a:r>
                        <a:rPr lang="en-IN" sz="2400" b="1" i="1" dirty="0">
                          <a:latin typeface="Times New Roman" panose="02020603050405020304" pitchFamily="18" charset="0"/>
                          <a:cs typeface="Times New Roman" panose="02020603050405020304" pitchFamily="18" charset="0"/>
                        </a:rPr>
                        <a:t>Priority</a:t>
                      </a:r>
                    </a:p>
                  </a:txBody>
                  <a:tcPr anchor="ctr"/>
                </a:tc>
                <a:extLst>
                  <a:ext uri="{0D108BD9-81ED-4DB2-BD59-A6C34878D82A}">
                    <a16:rowId xmlns:a16="http://schemas.microsoft.com/office/drawing/2014/main" val="206043905"/>
                  </a:ext>
                </a:extLst>
              </a:tr>
              <a:tr h="308187">
                <a:tc>
                  <a:txBody>
                    <a:bodyPr/>
                    <a:lstStyle/>
                    <a:p>
                      <a:pPr>
                        <a:buNone/>
                      </a:pPr>
                      <a:r>
                        <a:rPr lang="en-IN" sz="2400">
                          <a:latin typeface="Times New Roman" panose="02020603050405020304" pitchFamily="18" charset="0"/>
                          <a:cs typeface="Times New Roman" panose="02020603050405020304" pitchFamily="18" charset="0"/>
                        </a:rPr>
                        <a:t>Checkout button unclear</a:t>
                      </a:r>
                    </a:p>
                  </a:txBody>
                  <a:tcPr anchor="ctr"/>
                </a:tc>
                <a:tc>
                  <a:txBody>
                    <a:bodyPr/>
                    <a:lstStyle/>
                    <a:p>
                      <a:pPr>
                        <a:buNone/>
                      </a:pPr>
                      <a:r>
                        <a:rPr lang="en-IN" sz="2400">
                          <a:latin typeface="Times New Roman" panose="02020603050405020304" pitchFamily="18" charset="0"/>
                          <a:cs typeface="Times New Roman" panose="02020603050405020304" pitchFamily="18" charset="0"/>
                        </a:rPr>
                        <a:t>High</a:t>
                      </a:r>
                    </a:p>
                  </a:txBody>
                  <a:tcPr anchor="ctr"/>
                </a:tc>
                <a:tc>
                  <a:txBody>
                    <a:bodyPr/>
                    <a:lstStyle/>
                    <a:p>
                      <a:pPr>
                        <a:buNone/>
                      </a:pPr>
                      <a:r>
                        <a:rPr lang="en-IN" sz="2400">
                          <a:latin typeface="Times New Roman" panose="02020603050405020304" pitchFamily="18" charset="0"/>
                          <a:cs typeface="Times New Roman" panose="02020603050405020304" pitchFamily="18" charset="0"/>
                        </a:rPr>
                        <a:t>Very High</a:t>
                      </a:r>
                    </a:p>
                  </a:txBody>
                  <a:tcPr anchor="ctr"/>
                </a:tc>
                <a:extLst>
                  <a:ext uri="{0D108BD9-81ED-4DB2-BD59-A6C34878D82A}">
                    <a16:rowId xmlns:a16="http://schemas.microsoft.com/office/drawing/2014/main" val="628141701"/>
                  </a:ext>
                </a:extLst>
              </a:tr>
              <a:tr h="308187">
                <a:tc>
                  <a:txBody>
                    <a:bodyPr/>
                    <a:lstStyle/>
                    <a:p>
                      <a:pPr>
                        <a:buNone/>
                      </a:pPr>
                      <a:r>
                        <a:rPr lang="en-IN" sz="2400">
                          <a:latin typeface="Times New Roman" panose="02020603050405020304" pitchFamily="18" charset="0"/>
                          <a:cs typeface="Times New Roman" panose="02020603050405020304" pitchFamily="18" charset="0"/>
                        </a:rPr>
                        <a:t>Font slightly small</a:t>
                      </a:r>
                    </a:p>
                  </a:txBody>
                  <a:tcPr anchor="ctr"/>
                </a:tc>
                <a:tc>
                  <a:txBody>
                    <a:bodyPr/>
                    <a:lstStyle/>
                    <a:p>
                      <a:pPr>
                        <a:buNone/>
                      </a:pPr>
                      <a:r>
                        <a:rPr lang="en-IN" sz="2400">
                          <a:latin typeface="Times New Roman" panose="02020603050405020304" pitchFamily="18" charset="0"/>
                          <a:cs typeface="Times New Roman" panose="02020603050405020304" pitchFamily="18" charset="0"/>
                        </a:rPr>
                        <a:t>Medium</a:t>
                      </a:r>
                    </a:p>
                  </a:txBody>
                  <a:tcPr anchor="ctr"/>
                </a:tc>
                <a:tc>
                  <a:txBody>
                    <a:bodyPr/>
                    <a:lstStyle/>
                    <a:p>
                      <a:pPr>
                        <a:buNone/>
                      </a:pPr>
                      <a:r>
                        <a:rPr lang="en-IN" sz="2400">
                          <a:latin typeface="Times New Roman" panose="02020603050405020304" pitchFamily="18" charset="0"/>
                          <a:cs typeface="Times New Roman" panose="02020603050405020304" pitchFamily="18" charset="0"/>
                        </a:rPr>
                        <a:t>Medium</a:t>
                      </a:r>
                    </a:p>
                  </a:txBody>
                  <a:tcPr anchor="ctr"/>
                </a:tc>
                <a:extLst>
                  <a:ext uri="{0D108BD9-81ED-4DB2-BD59-A6C34878D82A}">
                    <a16:rowId xmlns:a16="http://schemas.microsoft.com/office/drawing/2014/main" val="3767241765"/>
                  </a:ext>
                </a:extLst>
              </a:tr>
              <a:tr h="308187">
                <a:tc>
                  <a:txBody>
                    <a:bodyPr/>
                    <a:lstStyle/>
                    <a:p>
                      <a:pPr>
                        <a:buNone/>
                      </a:pPr>
                      <a:r>
                        <a:rPr lang="en-IN" sz="2400">
                          <a:latin typeface="Times New Roman" panose="02020603050405020304" pitchFamily="18" charset="0"/>
                          <a:cs typeface="Times New Roman" panose="02020603050405020304" pitchFamily="18" charset="0"/>
                        </a:rPr>
                        <a:t>Background image preference</a:t>
                      </a:r>
                    </a:p>
                  </a:txBody>
                  <a:tcPr anchor="ctr"/>
                </a:tc>
                <a:tc>
                  <a:txBody>
                    <a:bodyPr/>
                    <a:lstStyle/>
                    <a:p>
                      <a:pPr>
                        <a:buNone/>
                      </a:pPr>
                      <a:r>
                        <a:rPr lang="en-IN" sz="2400">
                          <a:latin typeface="Times New Roman" panose="02020603050405020304" pitchFamily="18" charset="0"/>
                          <a:cs typeface="Times New Roman" panose="02020603050405020304" pitchFamily="18" charset="0"/>
                        </a:rPr>
                        <a:t>Low</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Low</a:t>
                      </a:r>
                    </a:p>
                  </a:txBody>
                  <a:tcPr anchor="ctr"/>
                </a:tc>
                <a:extLst>
                  <a:ext uri="{0D108BD9-81ED-4DB2-BD59-A6C34878D82A}">
                    <a16:rowId xmlns:a16="http://schemas.microsoft.com/office/drawing/2014/main" val="2794431609"/>
                  </a:ext>
                </a:extLst>
              </a:tr>
              <a:tr h="308187">
                <a:tc>
                  <a:txBody>
                    <a:bodyPr/>
                    <a:lstStyle/>
                    <a:p>
                      <a:pPr>
                        <a:buNone/>
                      </a:pPr>
                      <a:r>
                        <a:rPr lang="en-IN" sz="2400">
                          <a:latin typeface="Times New Roman" panose="02020603050405020304" pitchFamily="18" charset="0"/>
                          <a:cs typeface="Times New Roman" panose="02020603050405020304" pitchFamily="18" charset="0"/>
                        </a:rPr>
                        <a:t>Payment process fails</a:t>
                      </a:r>
                    </a:p>
                  </a:txBody>
                  <a:tcPr anchor="ctr"/>
                </a:tc>
                <a:tc>
                  <a:txBody>
                    <a:bodyPr/>
                    <a:lstStyle/>
                    <a:p>
                      <a:pPr>
                        <a:buNone/>
                      </a:pPr>
                      <a:r>
                        <a:rPr lang="en-IN" sz="2400">
                          <a:latin typeface="Times New Roman" panose="02020603050405020304" pitchFamily="18" charset="0"/>
                          <a:cs typeface="Times New Roman" panose="02020603050405020304" pitchFamily="18" charset="0"/>
                        </a:rPr>
                        <a:t>Very High</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Critical</a:t>
                      </a:r>
                    </a:p>
                  </a:txBody>
                  <a:tcPr anchor="ctr"/>
                </a:tc>
                <a:extLst>
                  <a:ext uri="{0D108BD9-81ED-4DB2-BD59-A6C34878D82A}">
                    <a16:rowId xmlns:a16="http://schemas.microsoft.com/office/drawing/2014/main" val="2109735837"/>
                  </a:ext>
                </a:extLst>
              </a:tr>
            </a:tbl>
          </a:graphicData>
        </a:graphic>
      </p:graphicFrame>
    </p:spTree>
    <p:extLst>
      <p:ext uri="{BB962C8B-B14F-4D97-AF65-F5344CB8AC3E}">
        <p14:creationId xmlns:p14="http://schemas.microsoft.com/office/powerpoint/2010/main" val="17829875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BEFA6-0A39-CB28-9E2F-14344E392FEC}"/>
              </a:ext>
            </a:extLst>
          </p:cNvPr>
          <p:cNvSpPr>
            <a:spLocks noGrp="1"/>
          </p:cNvSpPr>
          <p:nvPr>
            <p:ph type="title"/>
          </p:nvPr>
        </p:nvSpPr>
        <p:spPr>
          <a:xfrm>
            <a:off x="415600" y="235078"/>
            <a:ext cx="11360700" cy="525375"/>
          </a:xfrm>
        </p:spPr>
        <p:txBody>
          <a:bodyPr/>
          <a:lstStyle/>
          <a:p>
            <a:r>
              <a:rPr lang="en-IN" sz="2800" dirty="0">
                <a:solidFill>
                  <a:srgbClr val="CC3300"/>
                </a:solidFill>
                <a:latin typeface="Times New Roman" panose="02020603050405020304" pitchFamily="18" charset="0"/>
                <a:cs typeface="Times New Roman" panose="02020603050405020304" pitchFamily="18" charset="0"/>
              </a:rPr>
              <a:t>Step 10 – Improve Design: Incorporating Feedback</a:t>
            </a:r>
          </a:p>
        </p:txBody>
      </p:sp>
      <p:sp>
        <p:nvSpPr>
          <p:cNvPr id="3" name="Text Placeholder 2">
            <a:extLst>
              <a:ext uri="{FF2B5EF4-FFF2-40B4-BE49-F238E27FC236}">
                <a16:creationId xmlns:a16="http://schemas.microsoft.com/office/drawing/2014/main" id="{05633C44-B2D6-142C-EC2B-08D8C69CDC8C}"/>
              </a:ext>
            </a:extLst>
          </p:cNvPr>
          <p:cNvSpPr>
            <a:spLocks noGrp="1"/>
          </p:cNvSpPr>
          <p:nvPr>
            <p:ph type="body" idx="1"/>
          </p:nvPr>
        </p:nvSpPr>
        <p:spPr>
          <a:xfrm>
            <a:off x="415600" y="760453"/>
            <a:ext cx="11360700" cy="5331135"/>
          </a:xfrm>
        </p:spPr>
        <p:txBody>
          <a:bodyPr/>
          <a:lstStyle/>
          <a:p>
            <a:pPr>
              <a:buSzPct val="90000"/>
            </a:pPr>
            <a:r>
              <a:rPr lang="en-US" sz="2400" dirty="0">
                <a:latin typeface="Times New Roman" panose="02020603050405020304" pitchFamily="18" charset="0"/>
                <a:cs typeface="Times New Roman" panose="02020603050405020304" pitchFamily="18" charset="0"/>
              </a:rPr>
              <a:t>Feedback should be converted into specific design improvements.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B0E6223-E78D-2374-7EE4-D3A3E122E04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85</a:t>
            </a:fld>
            <a:endParaRPr lang="en-GB"/>
          </a:p>
        </p:txBody>
      </p:sp>
      <p:sp>
        <p:nvSpPr>
          <p:cNvPr id="5" name="AutoShape 2" descr=", AI generated">
            <a:extLst>
              <a:ext uri="{FF2B5EF4-FFF2-40B4-BE49-F238E27FC236}">
                <a16:creationId xmlns:a16="http://schemas.microsoft.com/office/drawing/2014/main" id="{1AFE6EF8-04E8-F383-3315-B75E4362D0B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8C592DE2-91CF-7F32-627B-C9D50E2CAEB5}"/>
              </a:ext>
            </a:extLst>
          </p:cNvPr>
          <p:cNvPicPr>
            <a:picLocks noChangeAspect="1"/>
          </p:cNvPicPr>
          <p:nvPr/>
        </p:nvPicPr>
        <p:blipFill>
          <a:blip r:embed="rId2"/>
          <a:stretch>
            <a:fillRect/>
          </a:stretch>
        </p:blipFill>
        <p:spPr>
          <a:xfrm>
            <a:off x="1219200" y="1325717"/>
            <a:ext cx="9753600" cy="4765871"/>
          </a:xfrm>
          <a:prstGeom prst="rect">
            <a:avLst/>
          </a:prstGeom>
        </p:spPr>
      </p:pic>
    </p:spTree>
    <p:extLst>
      <p:ext uri="{BB962C8B-B14F-4D97-AF65-F5344CB8AC3E}">
        <p14:creationId xmlns:p14="http://schemas.microsoft.com/office/powerpoint/2010/main" val="148496961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5CB6C-E4E5-3838-4B7C-B468339BD829}"/>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AA2A2FF8-3D7D-68BF-78C9-4F4EC2D9BAC1}"/>
              </a:ext>
            </a:extLst>
          </p:cNvPr>
          <p:cNvSpPr>
            <a:spLocks noGrp="1"/>
          </p:cNvSpPr>
          <p:nvPr>
            <p:ph type="body" idx="1"/>
          </p:nvPr>
        </p:nvSpPr>
        <p:spPr/>
        <p:txBody>
          <a:bodyPr/>
          <a:lstStyle/>
          <a:p>
            <a:pPr>
              <a:buNone/>
            </a:pPr>
            <a:r>
              <a:rPr lang="en-US" sz="2400" b="1" dirty="0">
                <a:latin typeface="Times New Roman" panose="02020603050405020304" pitchFamily="18" charset="0"/>
                <a:cs typeface="Times New Roman" panose="02020603050405020304" pitchFamily="18" charset="0"/>
              </a:rPr>
              <a:t>Example </a:t>
            </a:r>
          </a:p>
          <a:p>
            <a:pPr>
              <a:buNone/>
            </a:pPr>
            <a:r>
              <a:rPr lang="en-US" sz="2400" b="1" dirty="0">
                <a:latin typeface="Times New Roman" panose="02020603050405020304" pitchFamily="18" charset="0"/>
                <a:cs typeface="Times New Roman" panose="02020603050405020304" pitchFamily="18" charset="0"/>
              </a:rPr>
              <a:t>Feedback:</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"I couldn't understand what this icon does."</a:t>
            </a:r>
          </a:p>
          <a:p>
            <a:pPr>
              <a:buNone/>
            </a:pPr>
            <a:endParaRPr lang="en-US" sz="2400" b="1"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Analysis</a:t>
            </a:r>
          </a:p>
          <a:p>
            <a:pPr>
              <a:buNone/>
            </a:pPr>
            <a:r>
              <a:rPr lang="en-US" sz="2400" dirty="0">
                <a:latin typeface="Times New Roman" panose="02020603050405020304" pitchFamily="18" charset="0"/>
                <a:cs typeface="Times New Roman" panose="02020603050405020304" pitchFamily="18" charset="0"/>
              </a:rPr>
              <a:t>The icon does not communicate its function clearly.</a:t>
            </a:r>
          </a:p>
          <a:p>
            <a:pPr>
              <a:buNone/>
            </a:pPr>
            <a:r>
              <a:rPr lang="en-US" sz="2400" b="1" dirty="0">
                <a:latin typeface="Times New Roman" panose="02020603050405020304" pitchFamily="18" charset="0"/>
                <a:cs typeface="Times New Roman" panose="02020603050405020304" pitchFamily="18" charset="0"/>
              </a:rPr>
              <a:t>Improvement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Replace the unfamiliar icon.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 a text label.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 visual hierarchy.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Test the revised version.</a:t>
            </a:r>
          </a:p>
          <a:p>
            <a:endParaRPr lang="en-IN" dirty="0"/>
          </a:p>
        </p:txBody>
      </p:sp>
      <p:sp>
        <p:nvSpPr>
          <p:cNvPr id="4" name="Slide Number Placeholder 3">
            <a:extLst>
              <a:ext uri="{FF2B5EF4-FFF2-40B4-BE49-F238E27FC236}">
                <a16:creationId xmlns:a16="http://schemas.microsoft.com/office/drawing/2014/main" id="{57F77EBA-3482-932C-0CBA-FF2ED1CD89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86</a:t>
            </a:fld>
            <a:endParaRPr lang="en-GB"/>
          </a:p>
        </p:txBody>
      </p:sp>
    </p:spTree>
    <p:extLst>
      <p:ext uri="{BB962C8B-B14F-4D97-AF65-F5344CB8AC3E}">
        <p14:creationId xmlns:p14="http://schemas.microsoft.com/office/powerpoint/2010/main" val="271191445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75CA-4517-28C7-DB16-F341EEE586D3}"/>
              </a:ext>
            </a:extLst>
          </p:cNvPr>
          <p:cNvSpPr>
            <a:spLocks noGrp="1"/>
          </p:cNvSpPr>
          <p:nvPr>
            <p:ph type="title"/>
          </p:nvPr>
        </p:nvSpPr>
        <p:spPr>
          <a:xfrm>
            <a:off x="415600" y="248936"/>
            <a:ext cx="11360700" cy="696286"/>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Before-and-After Improvement Cycle</a:t>
            </a:r>
          </a:p>
        </p:txBody>
      </p:sp>
      <p:sp>
        <p:nvSpPr>
          <p:cNvPr id="4" name="Slide Number Placeholder 3">
            <a:extLst>
              <a:ext uri="{FF2B5EF4-FFF2-40B4-BE49-F238E27FC236}">
                <a16:creationId xmlns:a16="http://schemas.microsoft.com/office/drawing/2014/main" id="{57F589C3-6B9E-A7DF-1039-073905C1EC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87</a:t>
            </a:fld>
            <a:endParaRPr lang="en-GB"/>
          </a:p>
        </p:txBody>
      </p:sp>
      <p:pic>
        <p:nvPicPr>
          <p:cNvPr id="6" name="Picture 5">
            <a:extLst>
              <a:ext uri="{FF2B5EF4-FFF2-40B4-BE49-F238E27FC236}">
                <a16:creationId xmlns:a16="http://schemas.microsoft.com/office/drawing/2014/main" id="{76FB8675-FD4A-B1FC-7EF2-B99644E4EAC8}"/>
              </a:ext>
            </a:extLst>
          </p:cNvPr>
          <p:cNvPicPr>
            <a:picLocks noChangeAspect="1"/>
          </p:cNvPicPr>
          <p:nvPr/>
        </p:nvPicPr>
        <p:blipFill>
          <a:blip r:embed="rId2"/>
          <a:stretch>
            <a:fillRect/>
          </a:stretch>
        </p:blipFill>
        <p:spPr>
          <a:xfrm>
            <a:off x="1219150" y="1083889"/>
            <a:ext cx="9753600" cy="5324475"/>
          </a:xfrm>
          <a:prstGeom prst="rect">
            <a:avLst/>
          </a:prstGeom>
        </p:spPr>
      </p:pic>
    </p:spTree>
    <p:extLst>
      <p:ext uri="{BB962C8B-B14F-4D97-AF65-F5344CB8AC3E}">
        <p14:creationId xmlns:p14="http://schemas.microsoft.com/office/powerpoint/2010/main" val="267911804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DE4C4-32AB-2301-67A2-BF8C27CB7643}"/>
              </a:ext>
            </a:extLst>
          </p:cNvPr>
          <p:cNvSpPr>
            <a:spLocks noGrp="1"/>
          </p:cNvSpPr>
          <p:nvPr>
            <p:ph type="title"/>
          </p:nvPr>
        </p:nvSpPr>
        <p:spPr>
          <a:xfrm>
            <a:off x="415600" y="170576"/>
            <a:ext cx="11360700" cy="595836"/>
          </a:xfrm>
        </p:spPr>
        <p:txBody>
          <a:bodyPr/>
          <a:lstStyle/>
          <a:p>
            <a:pPr marL="342900" indent="-3429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Types of Feedback</a:t>
            </a:r>
          </a:p>
        </p:txBody>
      </p:sp>
      <p:sp>
        <p:nvSpPr>
          <p:cNvPr id="3" name="Text Placeholder 2">
            <a:extLst>
              <a:ext uri="{FF2B5EF4-FFF2-40B4-BE49-F238E27FC236}">
                <a16:creationId xmlns:a16="http://schemas.microsoft.com/office/drawing/2014/main" id="{83C8BA29-9923-6A3F-547F-A8790A158207}"/>
              </a:ext>
            </a:extLst>
          </p:cNvPr>
          <p:cNvSpPr>
            <a:spLocks noGrp="1"/>
          </p:cNvSpPr>
          <p:nvPr>
            <p:ph type="body" idx="1"/>
          </p:nvPr>
        </p:nvSpPr>
        <p:spPr>
          <a:xfrm>
            <a:off x="415600" y="766411"/>
            <a:ext cx="11360700" cy="5408357"/>
          </a:xfrm>
        </p:spPr>
        <p:txBody>
          <a:bodyPr/>
          <a:lstStyle/>
          <a:p>
            <a:pPr>
              <a:buNone/>
            </a:pPr>
            <a:r>
              <a:rPr lang="en-US" sz="2000" dirty="0">
                <a:latin typeface="Times New Roman" panose="02020603050405020304" pitchFamily="18" charset="0"/>
                <a:cs typeface="Times New Roman" panose="02020603050405020304" pitchFamily="18" charset="0"/>
              </a:rPr>
              <a:t>Feedback can generally be divided into different categories.</a:t>
            </a:r>
          </a:p>
          <a:p>
            <a:pPr>
              <a:buNone/>
            </a:pPr>
            <a:r>
              <a:rPr lang="en-US" sz="2000" b="1" dirty="0">
                <a:latin typeface="Times New Roman" panose="02020603050405020304" pitchFamily="18" charset="0"/>
                <a:cs typeface="Times New Roman" panose="02020603050405020304" pitchFamily="18" charset="0"/>
              </a:rPr>
              <a:t>1. Positive Feedback</a:t>
            </a:r>
          </a:p>
          <a:p>
            <a:pPr>
              <a:buNone/>
            </a:pPr>
            <a:r>
              <a:rPr lang="en-US" sz="2000" dirty="0">
                <a:latin typeface="Times New Roman" panose="02020603050405020304" pitchFamily="18" charset="0"/>
                <a:cs typeface="Times New Roman" panose="02020603050405020304" pitchFamily="18" charset="0"/>
              </a:rPr>
              <a:t>Indicates what works well.</a:t>
            </a:r>
          </a:p>
          <a:p>
            <a:pPr>
              <a:buNone/>
            </a:pPr>
            <a:r>
              <a:rPr lang="en-US" sz="2000" b="1" dirty="0">
                <a:latin typeface="Times New Roman" panose="02020603050405020304" pitchFamily="18" charset="0"/>
                <a:cs typeface="Times New Roman" panose="02020603050405020304" pitchFamily="18" charset="0"/>
              </a:rPr>
              <a:t>Example:</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"The search feature is very easy to use."</a:t>
            </a:r>
          </a:p>
          <a:p>
            <a:pPr>
              <a:buNone/>
            </a:pPr>
            <a:r>
              <a:rPr lang="en-US" sz="2000" b="1" dirty="0">
                <a:latin typeface="Times New Roman" panose="02020603050405020304" pitchFamily="18" charset="0"/>
                <a:cs typeface="Times New Roman" panose="02020603050405020304" pitchFamily="18" charset="0"/>
              </a:rPr>
              <a:t>2. Negative Feedback</a:t>
            </a:r>
          </a:p>
          <a:p>
            <a:pPr>
              <a:buNone/>
            </a:pPr>
            <a:r>
              <a:rPr lang="en-US" sz="2000" dirty="0">
                <a:latin typeface="Times New Roman" panose="02020603050405020304" pitchFamily="18" charset="0"/>
                <a:cs typeface="Times New Roman" panose="02020603050405020304" pitchFamily="18" charset="0"/>
              </a:rPr>
              <a:t>Identifies problems.</a:t>
            </a:r>
          </a:p>
          <a:p>
            <a:pPr>
              <a:buNone/>
            </a:pPr>
            <a:r>
              <a:rPr lang="en-US" sz="2000" b="1" dirty="0">
                <a:latin typeface="Times New Roman" panose="02020603050405020304" pitchFamily="18" charset="0"/>
                <a:cs typeface="Times New Roman" panose="02020603050405020304" pitchFamily="18" charset="0"/>
              </a:rPr>
              <a:t>Example:</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 cannot understand the payment process."</a:t>
            </a:r>
          </a:p>
          <a:p>
            <a:pPr>
              <a:buNone/>
            </a:pPr>
            <a:r>
              <a:rPr lang="en-US" sz="2000" b="1" dirty="0">
                <a:latin typeface="Times New Roman" panose="02020603050405020304" pitchFamily="18" charset="0"/>
                <a:cs typeface="Times New Roman" panose="02020603050405020304" pitchFamily="18" charset="0"/>
              </a:rPr>
              <a:t>3. Suggestive Feedback</a:t>
            </a:r>
          </a:p>
          <a:p>
            <a:pPr>
              <a:buNone/>
            </a:pPr>
            <a:r>
              <a:rPr lang="en-US" sz="2000" dirty="0">
                <a:latin typeface="Times New Roman" panose="02020603050405020304" pitchFamily="18" charset="0"/>
                <a:cs typeface="Times New Roman" panose="02020603050405020304" pitchFamily="18" charset="0"/>
              </a:rPr>
              <a:t>Provides an idea for improvement.</a:t>
            </a:r>
          </a:p>
          <a:p>
            <a:pPr>
              <a:buNone/>
            </a:pPr>
            <a:r>
              <a:rPr lang="en-US" sz="2000" b="1" dirty="0">
                <a:latin typeface="Times New Roman" panose="02020603050405020304" pitchFamily="18" charset="0"/>
                <a:cs typeface="Times New Roman" panose="02020603050405020304" pitchFamily="18" charset="0"/>
              </a:rPr>
              <a:t>Example:</a:t>
            </a: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"It would be useful to have a filter for price."</a:t>
            </a:r>
          </a:p>
          <a:p>
            <a:pPr>
              <a:buNone/>
            </a:pPr>
            <a:r>
              <a:rPr lang="en-US" sz="2000" b="1" dirty="0">
                <a:latin typeface="Times New Roman" panose="02020603050405020304" pitchFamily="18" charset="0"/>
                <a:cs typeface="Times New Roman" panose="02020603050405020304" pitchFamily="18" charset="0"/>
              </a:rPr>
              <a:t>4. </a:t>
            </a:r>
            <a:r>
              <a:rPr lang="en-US" sz="2000" b="1" dirty="0" err="1">
                <a:latin typeface="Times New Roman" panose="02020603050405020304" pitchFamily="18" charset="0"/>
                <a:cs typeface="Times New Roman" panose="02020603050405020304" pitchFamily="18" charset="0"/>
              </a:rPr>
              <a:t>Behavioural</a:t>
            </a:r>
            <a:r>
              <a:rPr lang="en-US" sz="2000" b="1" dirty="0">
                <a:latin typeface="Times New Roman" panose="02020603050405020304" pitchFamily="18" charset="0"/>
                <a:cs typeface="Times New Roman" panose="02020603050405020304" pitchFamily="18" charset="0"/>
              </a:rPr>
              <a:t> Feedback</a:t>
            </a:r>
          </a:p>
          <a:p>
            <a:pPr>
              <a:buNone/>
            </a:pPr>
            <a:r>
              <a:rPr lang="en-US" sz="2000" dirty="0">
                <a:latin typeface="Times New Roman" panose="02020603050405020304" pitchFamily="18" charset="0"/>
                <a:cs typeface="Times New Roman" panose="02020603050405020304" pitchFamily="18" charset="0"/>
              </a:rPr>
              <a:t>Comes from observing what users actually do.</a:t>
            </a:r>
          </a:p>
          <a:p>
            <a:pPr>
              <a:buNone/>
            </a:pPr>
            <a:r>
              <a:rPr lang="en-US" sz="2000" b="1" dirty="0">
                <a:latin typeface="Times New Roman" panose="02020603050405020304" pitchFamily="18" charset="0"/>
                <a:cs typeface="Times New Roman" panose="02020603050405020304" pitchFamily="18" charset="0"/>
              </a:rPr>
              <a:t>Example: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Users repeatedly click the logo expecting it to take them to the home page.</a:t>
            </a:r>
          </a:p>
          <a:p>
            <a:endParaRPr lang="en-IN" dirty="0"/>
          </a:p>
        </p:txBody>
      </p:sp>
      <p:sp>
        <p:nvSpPr>
          <p:cNvPr id="4" name="Slide Number Placeholder 3">
            <a:extLst>
              <a:ext uri="{FF2B5EF4-FFF2-40B4-BE49-F238E27FC236}">
                <a16:creationId xmlns:a16="http://schemas.microsoft.com/office/drawing/2014/main" id="{B5E9C5AB-8315-FECF-A09F-481CE584617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88</a:t>
            </a:fld>
            <a:endParaRPr lang="en-GB"/>
          </a:p>
        </p:txBody>
      </p:sp>
    </p:spTree>
    <p:extLst>
      <p:ext uri="{BB962C8B-B14F-4D97-AF65-F5344CB8AC3E}">
        <p14:creationId xmlns:p14="http://schemas.microsoft.com/office/powerpoint/2010/main" val="237070894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17BB3-A3D9-98AF-6FAA-3EC549E31244}"/>
              </a:ext>
            </a:extLst>
          </p:cNvPr>
          <p:cNvSpPr>
            <a:spLocks noGrp="1"/>
          </p:cNvSpPr>
          <p:nvPr>
            <p:ph type="title"/>
          </p:nvPr>
        </p:nvSpPr>
        <p:spPr>
          <a:xfrm>
            <a:off x="415600" y="339112"/>
            <a:ext cx="11360700" cy="606110"/>
          </a:xfrm>
        </p:spPr>
        <p:txBody>
          <a:bodyPr/>
          <a:lstStyle/>
          <a:p>
            <a:r>
              <a:rPr lang="en-IN" sz="2800" dirty="0">
                <a:solidFill>
                  <a:srgbClr val="0070C0"/>
                </a:solidFill>
                <a:latin typeface="Times New Roman" panose="02020603050405020304" pitchFamily="18" charset="0"/>
                <a:cs typeface="Times New Roman" panose="02020603050405020304" pitchFamily="18" charset="0"/>
              </a:rPr>
              <a:t>Qualitative and Quantitative Feedback</a:t>
            </a:r>
          </a:p>
        </p:txBody>
      </p:sp>
      <p:sp>
        <p:nvSpPr>
          <p:cNvPr id="3" name="Text Placeholder 2">
            <a:extLst>
              <a:ext uri="{FF2B5EF4-FFF2-40B4-BE49-F238E27FC236}">
                <a16:creationId xmlns:a16="http://schemas.microsoft.com/office/drawing/2014/main" id="{3C66CAFC-025A-C2E1-B267-FA1B85C056D6}"/>
              </a:ext>
            </a:extLst>
          </p:cNvPr>
          <p:cNvSpPr>
            <a:spLocks noGrp="1"/>
          </p:cNvSpPr>
          <p:nvPr>
            <p:ph type="body" idx="1"/>
          </p:nvPr>
        </p:nvSpPr>
        <p:spPr>
          <a:xfrm>
            <a:off x="415600" y="945222"/>
            <a:ext cx="11360700" cy="5146366"/>
          </a:xfrm>
        </p:spPr>
        <p:txBody>
          <a:bodyPr/>
          <a:lstStyle/>
          <a:p>
            <a:pPr>
              <a:buNone/>
            </a:pPr>
            <a:r>
              <a:rPr lang="en-IN" sz="2400" b="1" dirty="0">
                <a:solidFill>
                  <a:srgbClr val="FF5050"/>
                </a:solidFill>
                <a:latin typeface="Times New Roman" panose="02020603050405020304" pitchFamily="18" charset="0"/>
                <a:cs typeface="Times New Roman" panose="02020603050405020304" pitchFamily="18" charset="0"/>
              </a:rPr>
              <a:t>a) Qualitative Feedback</a:t>
            </a:r>
          </a:p>
          <a:p>
            <a:pPr>
              <a:buNone/>
            </a:pPr>
            <a:r>
              <a:rPr lang="en-IN" sz="2400" dirty="0">
                <a:latin typeface="Times New Roman" panose="02020603050405020304" pitchFamily="18" charset="0"/>
                <a:cs typeface="Times New Roman" panose="02020603050405020304" pitchFamily="18" charset="0"/>
              </a:rPr>
              <a:t>Provides descriptions, opinions, emotions, and explanations.</a:t>
            </a:r>
          </a:p>
          <a:p>
            <a:pPr>
              <a:buNone/>
            </a:pPr>
            <a:r>
              <a:rPr lang="en-IN" sz="2400" dirty="0">
                <a:latin typeface="Times New Roman" panose="02020603050405020304" pitchFamily="18" charset="0"/>
                <a:cs typeface="Times New Roman" panose="02020603050405020304" pitchFamily="18" charset="0"/>
              </a:rPr>
              <a:t>Examples:</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Interviews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Observations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User comments </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Open-ended questions</a:t>
            </a:r>
          </a:p>
          <a:p>
            <a:endParaRPr lang="en-US" sz="2400" dirty="0">
              <a:latin typeface="Times New Roman" panose="02020603050405020304" pitchFamily="18" charset="0"/>
              <a:cs typeface="Times New Roman" panose="02020603050405020304" pitchFamily="18" charset="0"/>
            </a:endParaRPr>
          </a:p>
          <a:p>
            <a:pPr marL="50800" indent="0">
              <a:buNone/>
            </a:pPr>
            <a:r>
              <a:rPr lang="en-US" sz="2400" dirty="0">
                <a:latin typeface="Times New Roman" panose="02020603050405020304" pitchFamily="18" charset="0"/>
                <a:cs typeface="Times New Roman" panose="02020603050405020304" pitchFamily="18" charset="0"/>
              </a:rPr>
              <a:t>User:</a:t>
            </a:r>
          </a:p>
          <a:p>
            <a:pPr marL="50800" indent="0">
              <a:buNone/>
            </a:pPr>
            <a:r>
              <a:rPr lang="en-US" sz="2400" dirty="0">
                <a:latin typeface="Times New Roman" panose="02020603050405020304" pitchFamily="18" charset="0"/>
                <a:cs typeface="Times New Roman" panose="02020603050405020304" pitchFamily="18" charset="0"/>
              </a:rPr>
              <a:t>"The checkout page is confusing</a:t>
            </a:r>
          </a:p>
          <a:p>
            <a:pPr marL="50800" indent="0">
              <a:buNone/>
            </a:pPr>
            <a:r>
              <a:rPr lang="en-US" sz="2400" dirty="0">
                <a:latin typeface="Times New Roman" panose="02020603050405020304" pitchFamily="18" charset="0"/>
                <a:cs typeface="Times New Roman" panose="02020603050405020304" pitchFamily="18" charset="0"/>
              </a:rPr>
              <a:t>because I don't know what to do next."</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E2A5D23-3497-834B-D14F-2BE2391B009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89</a:t>
            </a:fld>
            <a:endParaRPr lang="en-GB"/>
          </a:p>
        </p:txBody>
      </p:sp>
    </p:spTree>
    <p:extLst>
      <p:ext uri="{BB962C8B-B14F-4D97-AF65-F5344CB8AC3E}">
        <p14:creationId xmlns:p14="http://schemas.microsoft.com/office/powerpoint/2010/main" val="135361046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E8CEA0-6238-5C7E-F75D-07EB78A46E90}"/>
              </a:ext>
            </a:extLst>
          </p:cNvPr>
          <p:cNvSpPr>
            <a:spLocks noGrp="1"/>
          </p:cNvSpPr>
          <p:nvPr>
            <p:ph type="body" idx="1"/>
          </p:nvPr>
        </p:nvSpPr>
        <p:spPr>
          <a:xfrm>
            <a:off x="333407" y="463892"/>
            <a:ext cx="11360700" cy="5803344"/>
          </a:xfrm>
        </p:spPr>
        <p:txBody>
          <a:bodyPr/>
          <a:lstStyle/>
          <a:p>
            <a:pPr>
              <a:buNone/>
            </a:pPr>
            <a:r>
              <a:rPr lang="en-US" sz="2400" b="1" dirty="0">
                <a:solidFill>
                  <a:srgbClr val="FF5050"/>
                </a:solidFill>
                <a:latin typeface="Times New Roman" panose="02020603050405020304" pitchFamily="18" charset="0"/>
                <a:cs typeface="Times New Roman" panose="02020603050405020304" pitchFamily="18" charset="0"/>
              </a:rPr>
              <a:t>b) Quantitative Feedback</a:t>
            </a:r>
          </a:p>
          <a:p>
            <a:pPr>
              <a:buNone/>
            </a:pPr>
            <a:r>
              <a:rPr lang="en-US" sz="2400" dirty="0">
                <a:latin typeface="Times New Roman" panose="02020603050405020304" pitchFamily="18" charset="0"/>
                <a:cs typeface="Times New Roman" panose="02020603050405020304" pitchFamily="18" charset="0"/>
              </a:rPr>
              <a:t>Provides measurable numerical information.</a:t>
            </a:r>
          </a:p>
          <a:p>
            <a:pPr>
              <a:buNone/>
            </a:pPr>
            <a:r>
              <a:rPr lang="en-US" sz="2400" dirty="0">
                <a:latin typeface="Times New Roman" panose="02020603050405020304" pitchFamily="18" charset="0"/>
                <a:cs typeface="Times New Roman" panose="02020603050405020304" pitchFamily="18" charset="0"/>
              </a:rPr>
              <a:t>Examples:</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Task completion rate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Error rate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Time taken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 ratings </a:t>
            </a:r>
          </a:p>
          <a:p>
            <a:pPr lvl="1">
              <a:spcBef>
                <a:spcPts val="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Number of clicks</a:t>
            </a:r>
          </a:p>
          <a:p>
            <a:pPr marL="50800" indent="0">
              <a:buNone/>
            </a:pPr>
            <a:r>
              <a:rPr lang="en-US" sz="2400" dirty="0">
                <a:latin typeface="Times New Roman" panose="02020603050405020304" pitchFamily="18" charset="0"/>
                <a:cs typeface="Times New Roman" panose="02020603050405020304" pitchFamily="18" charset="0"/>
              </a:rPr>
              <a:t>	</a:t>
            </a:r>
          </a:p>
          <a:p>
            <a:pPr marL="50800" indent="0">
              <a:buNone/>
            </a:pPr>
            <a:r>
              <a:rPr lang="en-US" sz="2400" dirty="0">
                <a:latin typeface="Times New Roman" panose="02020603050405020304" pitchFamily="18" charset="0"/>
                <a:cs typeface="Times New Roman" panose="02020603050405020304" pitchFamily="18" charset="0"/>
              </a:rPr>
              <a:t>	5 users tested</a:t>
            </a:r>
          </a:p>
          <a:p>
            <a:pPr marL="50800" indent="0">
              <a:buNone/>
            </a:pPr>
            <a:r>
              <a:rPr lang="en-US" sz="2400" dirty="0">
                <a:latin typeface="Times New Roman" panose="02020603050405020304" pitchFamily="18" charset="0"/>
                <a:cs typeface="Times New Roman" panose="02020603050405020304" pitchFamily="18" charset="0"/>
              </a:rPr>
              <a:t>     		↓</a:t>
            </a:r>
          </a:p>
          <a:p>
            <a:pPr marL="50800" indent="0">
              <a:buNone/>
            </a:pPr>
            <a:r>
              <a:rPr lang="en-US" sz="2400" dirty="0">
                <a:latin typeface="Times New Roman" panose="02020603050405020304" pitchFamily="18" charset="0"/>
                <a:cs typeface="Times New Roman" panose="02020603050405020304" pitchFamily="18" charset="0"/>
              </a:rPr>
              <a:t>	4 completed task</a:t>
            </a:r>
          </a:p>
          <a:p>
            <a:pPr marL="50800" indent="0">
              <a:buNone/>
            </a:pPr>
            <a:r>
              <a:rPr lang="en-US" sz="2400" dirty="0">
                <a:latin typeface="Times New Roman" panose="02020603050405020304" pitchFamily="18" charset="0"/>
                <a:cs typeface="Times New Roman" panose="02020603050405020304" pitchFamily="18" charset="0"/>
              </a:rPr>
              <a:t>     		↓</a:t>
            </a:r>
          </a:p>
          <a:p>
            <a:pPr marL="50800" indent="0">
              <a:buNone/>
            </a:pPr>
            <a:r>
              <a:rPr lang="en-US" sz="2400" dirty="0">
                <a:latin typeface="Times New Roman" panose="02020603050405020304" pitchFamily="18" charset="0"/>
                <a:cs typeface="Times New Roman" panose="02020603050405020304" pitchFamily="18" charset="0"/>
              </a:rPr>
              <a:t>	80% completion rate</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0C86BAD-0C49-D709-FF38-3BF56B708C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90</a:t>
            </a:fld>
            <a:endParaRPr lang="en-GB"/>
          </a:p>
        </p:txBody>
      </p:sp>
    </p:spTree>
    <p:extLst>
      <p:ext uri="{BB962C8B-B14F-4D97-AF65-F5344CB8AC3E}">
        <p14:creationId xmlns:p14="http://schemas.microsoft.com/office/powerpoint/2010/main" val="30338503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F6DDC-4344-0090-6F20-398179547D0E}"/>
              </a:ext>
            </a:extLst>
          </p:cNvPr>
          <p:cNvSpPr>
            <a:spLocks noGrp="1"/>
          </p:cNvSpPr>
          <p:nvPr>
            <p:ph type="title"/>
          </p:nvPr>
        </p:nvSpPr>
        <p:spPr/>
        <p:txBody>
          <a:bodyPr/>
          <a:lstStyle/>
          <a:p>
            <a:r>
              <a:rPr lang="en-IN" sz="2800" dirty="0">
                <a:latin typeface="Times New Roman" panose="02020603050405020304" pitchFamily="18" charset="0"/>
                <a:cs typeface="Times New Roman" panose="02020603050405020304" pitchFamily="18" charset="0"/>
              </a:rPr>
              <a:t>Comparison</a:t>
            </a:r>
          </a:p>
        </p:txBody>
      </p:sp>
      <p:sp>
        <p:nvSpPr>
          <p:cNvPr id="4" name="Slide Number Placeholder 3">
            <a:extLst>
              <a:ext uri="{FF2B5EF4-FFF2-40B4-BE49-F238E27FC236}">
                <a16:creationId xmlns:a16="http://schemas.microsoft.com/office/drawing/2014/main" id="{CB579582-28B9-CAC4-0C04-5A65807061B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91</a:t>
            </a:fld>
            <a:endParaRPr lang="en-GB"/>
          </a:p>
        </p:txBody>
      </p:sp>
      <p:graphicFrame>
        <p:nvGraphicFramePr>
          <p:cNvPr id="5" name="Table 4">
            <a:extLst>
              <a:ext uri="{FF2B5EF4-FFF2-40B4-BE49-F238E27FC236}">
                <a16:creationId xmlns:a16="http://schemas.microsoft.com/office/drawing/2014/main" id="{6A8288AE-2CC2-D23C-CD21-0FEF04CB1AE5}"/>
              </a:ext>
            </a:extLst>
          </p:cNvPr>
          <p:cNvGraphicFramePr>
            <a:graphicFrameLocks noGrp="1"/>
          </p:cNvGraphicFramePr>
          <p:nvPr/>
        </p:nvGraphicFramePr>
        <p:xfrm>
          <a:off x="1094914" y="1828800"/>
          <a:ext cx="9055953" cy="3200400"/>
        </p:xfrm>
        <a:graphic>
          <a:graphicData uri="http://schemas.openxmlformats.org/drawingml/2006/table">
            <a:tbl>
              <a:tblPr>
                <a:tableStyleId>{284E427A-3D55-4303-BF80-6455036E1DE7}</a:tableStyleId>
              </a:tblPr>
              <a:tblGrid>
                <a:gridCol w="3706318">
                  <a:extLst>
                    <a:ext uri="{9D8B030D-6E8A-4147-A177-3AD203B41FA5}">
                      <a16:colId xmlns:a16="http://schemas.microsoft.com/office/drawing/2014/main" val="1802706090"/>
                    </a:ext>
                  </a:extLst>
                </a:gridCol>
                <a:gridCol w="5349635">
                  <a:extLst>
                    <a:ext uri="{9D8B030D-6E8A-4147-A177-3AD203B41FA5}">
                      <a16:colId xmlns:a16="http://schemas.microsoft.com/office/drawing/2014/main" val="2806110834"/>
                    </a:ext>
                  </a:extLst>
                </a:gridCol>
              </a:tblGrid>
              <a:tr h="0">
                <a:tc>
                  <a:txBody>
                    <a:bodyPr/>
                    <a:lstStyle/>
                    <a:p>
                      <a:pPr>
                        <a:buNone/>
                      </a:pPr>
                      <a:r>
                        <a:rPr lang="en-IN" sz="2400" b="1" i="1">
                          <a:latin typeface="Times New Roman" panose="02020603050405020304" pitchFamily="18" charset="0"/>
                          <a:cs typeface="Times New Roman" panose="02020603050405020304" pitchFamily="18" charset="0"/>
                        </a:rPr>
                        <a:t>Qualitative</a:t>
                      </a:r>
                    </a:p>
                  </a:txBody>
                  <a:tcPr anchor="ctr"/>
                </a:tc>
                <a:tc>
                  <a:txBody>
                    <a:bodyPr/>
                    <a:lstStyle/>
                    <a:p>
                      <a:pPr>
                        <a:buNone/>
                      </a:pPr>
                      <a:r>
                        <a:rPr lang="en-IN" sz="2400" b="1" i="1" dirty="0">
                          <a:latin typeface="Times New Roman" panose="02020603050405020304" pitchFamily="18" charset="0"/>
                          <a:cs typeface="Times New Roman" panose="02020603050405020304" pitchFamily="18" charset="0"/>
                        </a:rPr>
                        <a:t>Quantitative</a:t>
                      </a:r>
                    </a:p>
                  </a:txBody>
                  <a:tcPr anchor="ctr"/>
                </a:tc>
                <a:extLst>
                  <a:ext uri="{0D108BD9-81ED-4DB2-BD59-A6C34878D82A}">
                    <a16:rowId xmlns:a16="http://schemas.microsoft.com/office/drawing/2014/main" val="3111201485"/>
                  </a:ext>
                </a:extLst>
              </a:tr>
              <a:tr h="0">
                <a:tc>
                  <a:txBody>
                    <a:bodyPr/>
                    <a:lstStyle/>
                    <a:p>
                      <a:pPr>
                        <a:buNone/>
                      </a:pPr>
                      <a:r>
                        <a:rPr lang="en-IN" sz="2400" dirty="0">
                          <a:latin typeface="Times New Roman" panose="02020603050405020304" pitchFamily="18" charset="0"/>
                          <a:cs typeface="Times New Roman" panose="02020603050405020304" pitchFamily="18" charset="0"/>
                        </a:rPr>
                        <a:t>Descriptive</a:t>
                      </a:r>
                    </a:p>
                  </a:txBody>
                  <a:tcPr anchor="ctr"/>
                </a:tc>
                <a:tc>
                  <a:txBody>
                    <a:bodyPr/>
                    <a:lstStyle/>
                    <a:p>
                      <a:pPr>
                        <a:buNone/>
                      </a:pPr>
                      <a:r>
                        <a:rPr lang="en-IN" sz="2400">
                          <a:latin typeface="Times New Roman" panose="02020603050405020304" pitchFamily="18" charset="0"/>
                          <a:cs typeface="Times New Roman" panose="02020603050405020304" pitchFamily="18" charset="0"/>
                        </a:rPr>
                        <a:t>Numerical</a:t>
                      </a:r>
                    </a:p>
                  </a:txBody>
                  <a:tcPr anchor="ctr"/>
                </a:tc>
                <a:extLst>
                  <a:ext uri="{0D108BD9-81ED-4DB2-BD59-A6C34878D82A}">
                    <a16:rowId xmlns:a16="http://schemas.microsoft.com/office/drawing/2014/main" val="1789010837"/>
                  </a:ext>
                </a:extLst>
              </a:tr>
              <a:tr h="0">
                <a:tc>
                  <a:txBody>
                    <a:bodyPr/>
                    <a:lstStyle/>
                    <a:p>
                      <a:pPr>
                        <a:buNone/>
                      </a:pPr>
                      <a:r>
                        <a:rPr lang="en-IN" sz="2400">
                          <a:latin typeface="Times New Roman" panose="02020603050405020304" pitchFamily="18" charset="0"/>
                          <a:cs typeface="Times New Roman" panose="02020603050405020304" pitchFamily="18" charset="0"/>
                        </a:rPr>
                        <a:t>Explains </a:t>
                      </a:r>
                      <a:r>
                        <a:rPr lang="en-IN" sz="2400" b="1">
                          <a:latin typeface="Times New Roman" panose="02020603050405020304" pitchFamily="18" charset="0"/>
                          <a:cs typeface="Times New Roman" panose="02020603050405020304" pitchFamily="18" charset="0"/>
                        </a:rPr>
                        <a:t>why</a:t>
                      </a:r>
                      <a:endParaRPr lang="en-IN" sz="2400">
                        <a:latin typeface="Times New Roman" panose="02020603050405020304" pitchFamily="18" charset="0"/>
                        <a:cs typeface="Times New Roman" panose="02020603050405020304" pitchFamily="18" charset="0"/>
                      </a:endParaRPr>
                    </a:p>
                  </a:txBody>
                  <a:tcPr anchor="ctr"/>
                </a:tc>
                <a:tc>
                  <a:txBody>
                    <a:bodyPr/>
                    <a:lstStyle/>
                    <a:p>
                      <a:pPr>
                        <a:buNone/>
                      </a:pPr>
                      <a:r>
                        <a:rPr lang="en-US" sz="2400">
                          <a:latin typeface="Times New Roman" panose="02020603050405020304" pitchFamily="18" charset="0"/>
                          <a:cs typeface="Times New Roman" panose="02020603050405020304" pitchFamily="18" charset="0"/>
                        </a:rPr>
                        <a:t>Shows </a:t>
                      </a:r>
                      <a:r>
                        <a:rPr lang="en-US" sz="2400" b="1">
                          <a:latin typeface="Times New Roman" panose="02020603050405020304" pitchFamily="18" charset="0"/>
                          <a:cs typeface="Times New Roman" panose="02020603050405020304" pitchFamily="18" charset="0"/>
                        </a:rPr>
                        <a:t>how much/how many</a:t>
                      </a:r>
                      <a:endParaRPr lang="en-US" sz="2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40215923"/>
                  </a:ext>
                </a:extLst>
              </a:tr>
              <a:tr h="0">
                <a:tc>
                  <a:txBody>
                    <a:bodyPr/>
                    <a:lstStyle/>
                    <a:p>
                      <a:pPr>
                        <a:buNone/>
                      </a:pPr>
                      <a:r>
                        <a:rPr lang="en-IN" sz="2400">
                          <a:latin typeface="Times New Roman" panose="02020603050405020304" pitchFamily="18" charset="0"/>
                          <a:cs typeface="Times New Roman" panose="02020603050405020304" pitchFamily="18" charset="0"/>
                        </a:rPr>
                        <a:t>Interviews</a:t>
                      </a:r>
                    </a:p>
                  </a:txBody>
                  <a:tcPr anchor="ctr"/>
                </a:tc>
                <a:tc>
                  <a:txBody>
                    <a:bodyPr/>
                    <a:lstStyle/>
                    <a:p>
                      <a:pPr>
                        <a:buNone/>
                      </a:pPr>
                      <a:r>
                        <a:rPr lang="en-IN" sz="2400">
                          <a:latin typeface="Times New Roman" panose="02020603050405020304" pitchFamily="18" charset="0"/>
                          <a:cs typeface="Times New Roman" panose="02020603050405020304" pitchFamily="18" charset="0"/>
                        </a:rPr>
                        <a:t>Surveys</a:t>
                      </a:r>
                    </a:p>
                  </a:txBody>
                  <a:tcPr anchor="ctr"/>
                </a:tc>
                <a:extLst>
                  <a:ext uri="{0D108BD9-81ED-4DB2-BD59-A6C34878D82A}">
                    <a16:rowId xmlns:a16="http://schemas.microsoft.com/office/drawing/2014/main" val="2319163981"/>
                  </a:ext>
                </a:extLst>
              </a:tr>
              <a:tr h="0">
                <a:tc>
                  <a:txBody>
                    <a:bodyPr/>
                    <a:lstStyle/>
                    <a:p>
                      <a:pPr>
                        <a:buNone/>
                      </a:pPr>
                      <a:r>
                        <a:rPr lang="en-IN" sz="2400">
                          <a:latin typeface="Times New Roman" panose="02020603050405020304" pitchFamily="18" charset="0"/>
                          <a:cs typeface="Times New Roman" panose="02020603050405020304" pitchFamily="18" charset="0"/>
                        </a:rPr>
                        <a:t>Observations</a:t>
                      </a:r>
                    </a:p>
                  </a:txBody>
                  <a:tcPr anchor="ctr"/>
                </a:tc>
                <a:tc>
                  <a:txBody>
                    <a:bodyPr/>
                    <a:lstStyle/>
                    <a:p>
                      <a:pPr>
                        <a:buNone/>
                      </a:pPr>
                      <a:r>
                        <a:rPr lang="en-IN" sz="2400">
                          <a:latin typeface="Times New Roman" panose="02020603050405020304" pitchFamily="18" charset="0"/>
                          <a:cs typeface="Times New Roman" panose="02020603050405020304" pitchFamily="18" charset="0"/>
                        </a:rPr>
                        <a:t>Completion rate</a:t>
                      </a:r>
                    </a:p>
                  </a:txBody>
                  <a:tcPr anchor="ctr"/>
                </a:tc>
                <a:extLst>
                  <a:ext uri="{0D108BD9-81ED-4DB2-BD59-A6C34878D82A}">
                    <a16:rowId xmlns:a16="http://schemas.microsoft.com/office/drawing/2014/main" val="503062486"/>
                  </a:ext>
                </a:extLst>
              </a:tr>
              <a:tr h="0">
                <a:tc>
                  <a:txBody>
                    <a:bodyPr/>
                    <a:lstStyle/>
                    <a:p>
                      <a:pPr>
                        <a:buNone/>
                      </a:pPr>
                      <a:r>
                        <a:rPr lang="en-IN" sz="2400">
                          <a:latin typeface="Times New Roman" panose="02020603050405020304" pitchFamily="18" charset="0"/>
                          <a:cs typeface="Times New Roman" panose="02020603050405020304" pitchFamily="18" charset="0"/>
                        </a:rPr>
                        <a:t>User comments</a:t>
                      </a:r>
                    </a:p>
                  </a:txBody>
                  <a:tcPr anchor="ctr"/>
                </a:tc>
                <a:tc>
                  <a:txBody>
                    <a:bodyPr/>
                    <a:lstStyle/>
                    <a:p>
                      <a:pPr>
                        <a:buNone/>
                      </a:pPr>
                      <a:r>
                        <a:rPr lang="en-IN" sz="2400">
                          <a:latin typeface="Times New Roman" panose="02020603050405020304" pitchFamily="18" charset="0"/>
                          <a:cs typeface="Times New Roman" panose="02020603050405020304" pitchFamily="18" charset="0"/>
                        </a:rPr>
                        <a:t>Task time</a:t>
                      </a:r>
                    </a:p>
                  </a:txBody>
                  <a:tcPr anchor="ctr"/>
                </a:tc>
                <a:extLst>
                  <a:ext uri="{0D108BD9-81ED-4DB2-BD59-A6C34878D82A}">
                    <a16:rowId xmlns:a16="http://schemas.microsoft.com/office/drawing/2014/main" val="2954337475"/>
                  </a:ext>
                </a:extLst>
              </a:tr>
              <a:tr h="0">
                <a:tc>
                  <a:txBody>
                    <a:bodyPr/>
                    <a:lstStyle/>
                    <a:p>
                      <a:pPr>
                        <a:buNone/>
                      </a:pPr>
                      <a:r>
                        <a:rPr lang="en-IN" sz="2400">
                          <a:latin typeface="Times New Roman" panose="02020603050405020304" pitchFamily="18" charset="0"/>
                          <a:cs typeface="Times New Roman" panose="02020603050405020304" pitchFamily="18" charset="0"/>
                        </a:rPr>
                        <a:t>Feelings/opinions</a:t>
                      </a:r>
                    </a:p>
                  </a:txBody>
                  <a:tcPr anchor="ctr"/>
                </a:tc>
                <a:tc>
                  <a:txBody>
                    <a:bodyPr/>
                    <a:lstStyle/>
                    <a:p>
                      <a:pPr>
                        <a:buNone/>
                      </a:pPr>
                      <a:r>
                        <a:rPr lang="en-IN" sz="2400" dirty="0">
                          <a:latin typeface="Times New Roman" panose="02020603050405020304" pitchFamily="18" charset="0"/>
                          <a:cs typeface="Times New Roman" panose="02020603050405020304" pitchFamily="18" charset="0"/>
                        </a:rPr>
                        <a:t>Error count</a:t>
                      </a:r>
                    </a:p>
                  </a:txBody>
                  <a:tcPr anchor="ctr"/>
                </a:tc>
                <a:extLst>
                  <a:ext uri="{0D108BD9-81ED-4DB2-BD59-A6C34878D82A}">
                    <a16:rowId xmlns:a16="http://schemas.microsoft.com/office/drawing/2014/main" val="516024687"/>
                  </a:ext>
                </a:extLst>
              </a:tr>
            </a:tbl>
          </a:graphicData>
        </a:graphic>
      </p:graphicFrame>
    </p:spTree>
    <p:extLst>
      <p:ext uri="{BB962C8B-B14F-4D97-AF65-F5344CB8AC3E}">
        <p14:creationId xmlns:p14="http://schemas.microsoft.com/office/powerpoint/2010/main" val="370225903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EDE9-BDEB-8BC1-D2F1-522885A87103}"/>
              </a:ext>
            </a:extLst>
          </p:cNvPr>
          <p:cNvSpPr>
            <a:spLocks noGrp="1"/>
          </p:cNvSpPr>
          <p:nvPr>
            <p:ph type="title"/>
          </p:nvPr>
        </p:nvSpPr>
        <p:spPr>
          <a:xfrm>
            <a:off x="415600" y="193817"/>
            <a:ext cx="11360700" cy="572595"/>
          </a:xfrm>
        </p:spPr>
        <p:txBody>
          <a:bodyPr/>
          <a:lstStyle/>
          <a:p>
            <a:pPr marL="457200" indent="-457200">
              <a:buFont typeface="Wingdings" panose="05000000000000000000" pitchFamily="2" charset="2"/>
              <a:buChar char="v"/>
            </a:pPr>
            <a:r>
              <a:rPr lang="en-US" sz="2800" dirty="0">
                <a:solidFill>
                  <a:srgbClr val="006600"/>
                </a:solidFill>
                <a:latin typeface="Times New Roman" panose="02020603050405020304" pitchFamily="18" charset="0"/>
                <a:cs typeface="Times New Roman" panose="02020603050405020304" pitchFamily="18" charset="0"/>
              </a:rPr>
              <a:t>Principles for Effective User Testing</a:t>
            </a:r>
            <a:endParaRPr lang="en-IN" sz="2800" dirty="0">
              <a:solidFill>
                <a:srgbClr val="0066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4CE9E02-F194-BEED-017A-6AB04014DE0C}"/>
              </a:ext>
            </a:extLst>
          </p:cNvPr>
          <p:cNvSpPr>
            <a:spLocks noGrp="1"/>
          </p:cNvSpPr>
          <p:nvPr>
            <p:ph type="body" idx="1"/>
          </p:nvPr>
        </p:nvSpPr>
        <p:spPr>
          <a:xfrm>
            <a:off x="415600" y="846792"/>
            <a:ext cx="11360700" cy="5276605"/>
          </a:xfrm>
        </p:spPr>
        <p:txBody>
          <a:bodyPr/>
          <a:lstStyle/>
          <a:p>
            <a:pPr>
              <a:buNone/>
            </a:pPr>
            <a:r>
              <a:rPr lang="en-US" sz="2400" b="1" dirty="0">
                <a:latin typeface="Times New Roman" panose="02020603050405020304" pitchFamily="18" charset="0"/>
                <a:cs typeface="Times New Roman" panose="02020603050405020304" pitchFamily="18" charset="0"/>
              </a:rPr>
              <a:t>Principle 1 – Test early</a:t>
            </a:r>
          </a:p>
          <a:p>
            <a:pPr>
              <a:buNone/>
            </a:pPr>
            <a:r>
              <a:rPr lang="en-US" sz="2400" dirty="0">
                <a:latin typeface="Times New Roman" panose="02020603050405020304" pitchFamily="18" charset="0"/>
                <a:cs typeface="Times New Roman" panose="02020603050405020304" pitchFamily="18" charset="0"/>
              </a:rPr>
              <a:t>Do not wait until the product is completely developed.</a:t>
            </a:r>
          </a:p>
          <a:p>
            <a:pPr>
              <a:buNone/>
            </a:pPr>
            <a:r>
              <a:rPr lang="en-US" sz="2400" b="1" dirty="0">
                <a:latin typeface="Times New Roman" panose="02020603050405020304" pitchFamily="18" charset="0"/>
                <a:cs typeface="Times New Roman" panose="02020603050405020304" pitchFamily="18" charset="0"/>
              </a:rPr>
              <a:t>Principle 2 – Test real tasks</a:t>
            </a:r>
          </a:p>
          <a:p>
            <a:pPr>
              <a:buNone/>
            </a:pPr>
            <a:r>
              <a:rPr lang="en-US" sz="2400" dirty="0">
                <a:latin typeface="Times New Roman" panose="02020603050405020304" pitchFamily="18" charset="0"/>
                <a:cs typeface="Times New Roman" panose="02020603050405020304" pitchFamily="18" charset="0"/>
              </a:rPr>
              <a:t>Give users tasks that resemble actual usage.</a:t>
            </a:r>
          </a:p>
          <a:p>
            <a:pPr>
              <a:buNone/>
            </a:pPr>
            <a:r>
              <a:rPr lang="en-US" sz="2400" b="1" dirty="0">
                <a:latin typeface="Times New Roman" panose="02020603050405020304" pitchFamily="18" charset="0"/>
                <a:cs typeface="Times New Roman" panose="02020603050405020304" pitchFamily="18" charset="0"/>
              </a:rPr>
              <a:t>Principle 3 – Observe rather than interfere</a:t>
            </a:r>
          </a:p>
          <a:p>
            <a:pPr>
              <a:buNone/>
            </a:pPr>
            <a:r>
              <a:rPr lang="en-US" sz="2400" dirty="0">
                <a:latin typeface="Times New Roman" panose="02020603050405020304" pitchFamily="18" charset="0"/>
                <a:cs typeface="Times New Roman" panose="02020603050405020304" pitchFamily="18" charset="0"/>
              </a:rPr>
              <a:t>Allow users to interact naturally.</a:t>
            </a:r>
          </a:p>
          <a:p>
            <a:pPr>
              <a:buNone/>
            </a:pPr>
            <a:r>
              <a:rPr lang="en-US" sz="2400" b="1" dirty="0">
                <a:latin typeface="Times New Roman" panose="02020603050405020304" pitchFamily="18" charset="0"/>
                <a:cs typeface="Times New Roman" panose="02020603050405020304" pitchFamily="18" charset="0"/>
              </a:rPr>
              <a:t>Principle 4 – Focus on the user, not the designer</a:t>
            </a:r>
          </a:p>
          <a:p>
            <a:pPr>
              <a:buNone/>
            </a:pPr>
            <a:r>
              <a:rPr lang="en-US" sz="2400" dirty="0">
                <a:latin typeface="Times New Roman" panose="02020603050405020304" pitchFamily="18" charset="0"/>
                <a:cs typeface="Times New Roman" panose="02020603050405020304" pitchFamily="18" charset="0"/>
              </a:rPr>
              <a:t>The objective is to discover whether the design works for users.</a:t>
            </a:r>
          </a:p>
          <a:p>
            <a:pPr>
              <a:buNone/>
            </a:pPr>
            <a:r>
              <a:rPr lang="en-US" sz="2400" b="1" dirty="0">
                <a:latin typeface="Times New Roman" panose="02020603050405020304" pitchFamily="18" charset="0"/>
                <a:cs typeface="Times New Roman" panose="02020603050405020304" pitchFamily="18" charset="0"/>
              </a:rPr>
              <a:t>Principle 5 – Look for patterns</a:t>
            </a:r>
          </a:p>
          <a:p>
            <a:pPr>
              <a:buNone/>
            </a:pPr>
            <a:r>
              <a:rPr lang="en-US" sz="2400" dirty="0">
                <a:latin typeface="Times New Roman" panose="02020603050405020304" pitchFamily="18" charset="0"/>
                <a:cs typeface="Times New Roman" panose="02020603050405020304" pitchFamily="18" charset="0"/>
              </a:rPr>
              <a:t>Repeated problems across participants are particularly valuable.</a:t>
            </a:r>
          </a:p>
          <a:p>
            <a:pPr>
              <a:buNone/>
            </a:pPr>
            <a:r>
              <a:rPr lang="en-US" sz="2400" b="1" dirty="0">
                <a:latin typeface="Times New Roman" panose="02020603050405020304" pitchFamily="18" charset="0"/>
                <a:cs typeface="Times New Roman" panose="02020603050405020304" pitchFamily="18" charset="0"/>
              </a:rPr>
              <a:t>Principle 6 – Prioritize feedback</a:t>
            </a:r>
          </a:p>
          <a:p>
            <a:pPr>
              <a:buNone/>
            </a:pPr>
            <a:r>
              <a:rPr lang="en-US" sz="2400" dirty="0">
                <a:latin typeface="Times New Roman" panose="02020603050405020304" pitchFamily="18" charset="0"/>
                <a:cs typeface="Times New Roman" panose="02020603050405020304" pitchFamily="18" charset="0"/>
              </a:rPr>
              <a:t>Focus first on problems with high impact.</a:t>
            </a:r>
          </a:p>
          <a:p>
            <a:pPr>
              <a:buNone/>
            </a:pPr>
            <a:r>
              <a:rPr lang="en-US" sz="2400" b="1" dirty="0">
                <a:latin typeface="Times New Roman" panose="02020603050405020304" pitchFamily="18" charset="0"/>
                <a:cs typeface="Times New Roman" panose="02020603050405020304" pitchFamily="18" charset="0"/>
              </a:rPr>
              <a:t>Principle 7 – Iterate</a:t>
            </a:r>
          </a:p>
          <a:p>
            <a:pPr>
              <a:buNone/>
            </a:pPr>
            <a:r>
              <a:rPr lang="en-US" sz="2400" dirty="0">
                <a:latin typeface="Times New Roman" panose="02020603050405020304" pitchFamily="18" charset="0"/>
                <a:cs typeface="Times New Roman" panose="02020603050405020304" pitchFamily="18" charset="0"/>
              </a:rPr>
              <a:t>Test the revised design again.</a:t>
            </a:r>
          </a:p>
          <a:p>
            <a:endParaRPr lang="en-IN" dirty="0"/>
          </a:p>
        </p:txBody>
      </p:sp>
      <p:sp>
        <p:nvSpPr>
          <p:cNvPr id="4" name="Slide Number Placeholder 3">
            <a:extLst>
              <a:ext uri="{FF2B5EF4-FFF2-40B4-BE49-F238E27FC236}">
                <a16:creationId xmlns:a16="http://schemas.microsoft.com/office/drawing/2014/main" id="{0BB05C60-5351-CDD9-E466-EF35D58924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92</a:t>
            </a:fld>
            <a:endParaRPr lang="en-GB"/>
          </a:p>
        </p:txBody>
      </p:sp>
    </p:spTree>
    <p:extLst>
      <p:ext uri="{BB962C8B-B14F-4D97-AF65-F5344CB8AC3E}">
        <p14:creationId xmlns:p14="http://schemas.microsoft.com/office/powerpoint/2010/main" val="322882054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79473-00BE-8D74-F1AE-C5F89D651B85}"/>
              </a:ext>
            </a:extLst>
          </p:cNvPr>
          <p:cNvSpPr>
            <a:spLocks noGrp="1"/>
          </p:cNvSpPr>
          <p:nvPr>
            <p:ph type="title"/>
          </p:nvPr>
        </p:nvSpPr>
        <p:spPr>
          <a:xfrm>
            <a:off x="415600" y="339112"/>
            <a:ext cx="11360700" cy="763500"/>
          </a:xfrm>
        </p:spPr>
        <p:txBody>
          <a:bodyPr/>
          <a:lstStyle/>
          <a:p>
            <a:pPr marL="457200" indent="-457200">
              <a:buFont typeface="Wingdings" panose="05000000000000000000" pitchFamily="2" charset="2"/>
              <a:buChar char="v"/>
            </a:pPr>
            <a:r>
              <a:rPr lang="en-IN" sz="2800" dirty="0">
                <a:solidFill>
                  <a:srgbClr val="006600"/>
                </a:solidFill>
                <a:latin typeface="Times New Roman" panose="02020603050405020304" pitchFamily="18" charset="0"/>
                <a:cs typeface="Times New Roman" panose="02020603050405020304" pitchFamily="18" charset="0"/>
              </a:rPr>
              <a:t>Complete Feedback Incorporation Framework</a:t>
            </a:r>
          </a:p>
        </p:txBody>
      </p:sp>
      <p:sp>
        <p:nvSpPr>
          <p:cNvPr id="4" name="Slide Number Placeholder 3">
            <a:extLst>
              <a:ext uri="{FF2B5EF4-FFF2-40B4-BE49-F238E27FC236}">
                <a16:creationId xmlns:a16="http://schemas.microsoft.com/office/drawing/2014/main" id="{34375F13-7234-673C-36F6-9A49811F90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93</a:t>
            </a:fld>
            <a:endParaRPr lang="en-GB"/>
          </a:p>
        </p:txBody>
      </p:sp>
      <p:pic>
        <p:nvPicPr>
          <p:cNvPr id="6" name="Picture 5">
            <a:extLst>
              <a:ext uri="{FF2B5EF4-FFF2-40B4-BE49-F238E27FC236}">
                <a16:creationId xmlns:a16="http://schemas.microsoft.com/office/drawing/2014/main" id="{43F03CDF-2D17-02AC-014F-FAF1AD70D587}"/>
              </a:ext>
            </a:extLst>
          </p:cNvPr>
          <p:cNvPicPr>
            <a:picLocks noChangeAspect="1"/>
          </p:cNvPicPr>
          <p:nvPr/>
        </p:nvPicPr>
        <p:blipFill>
          <a:blip r:embed="rId2"/>
          <a:stretch>
            <a:fillRect/>
          </a:stretch>
        </p:blipFill>
        <p:spPr>
          <a:xfrm>
            <a:off x="1219200" y="1448656"/>
            <a:ext cx="9753600" cy="4642581"/>
          </a:xfrm>
          <a:prstGeom prst="rect">
            <a:avLst/>
          </a:prstGeom>
        </p:spPr>
      </p:pic>
    </p:spTree>
    <p:extLst>
      <p:ext uri="{BB962C8B-B14F-4D97-AF65-F5344CB8AC3E}">
        <p14:creationId xmlns:p14="http://schemas.microsoft.com/office/powerpoint/2010/main" val="104803525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9BE50-8FC3-5062-C1EF-4DB3D5ABB703}"/>
              </a:ext>
            </a:extLst>
          </p:cNvPr>
          <p:cNvSpPr>
            <a:spLocks noGrp="1"/>
          </p:cNvSpPr>
          <p:nvPr>
            <p:ph type="title"/>
          </p:nvPr>
        </p:nvSpPr>
        <p:spPr/>
        <p:txBody>
          <a:bodyPr/>
          <a:lstStyle/>
          <a:p>
            <a:r>
              <a:rPr lang="en-IN" dirty="0"/>
              <a:t>Recap</a:t>
            </a:r>
          </a:p>
        </p:txBody>
      </p:sp>
      <p:sp>
        <p:nvSpPr>
          <p:cNvPr id="3" name="Text Placeholder 2">
            <a:extLst>
              <a:ext uri="{FF2B5EF4-FFF2-40B4-BE49-F238E27FC236}">
                <a16:creationId xmlns:a16="http://schemas.microsoft.com/office/drawing/2014/main" id="{3AB01578-9E36-F9F9-2C4B-44CA39D03639}"/>
              </a:ext>
            </a:extLst>
          </p:cNvPr>
          <p:cNvSpPr>
            <a:spLocks noGrp="1"/>
          </p:cNvSpPr>
          <p:nvPr>
            <p:ph type="body" idx="1"/>
          </p:nvPr>
        </p:nvSpPr>
        <p:spPr>
          <a:xfrm>
            <a:off x="415600" y="1171255"/>
            <a:ext cx="11360700" cy="4920334"/>
          </a:xfrm>
        </p:spPr>
        <p:txBody>
          <a:bodyPr/>
          <a:lstStyle/>
          <a:p>
            <a:pPr>
              <a:buNone/>
            </a:pPr>
            <a:r>
              <a:rPr lang="en-US" sz="2000" b="1" dirty="0">
                <a:latin typeface="Times New Roman" panose="02020603050405020304" pitchFamily="18" charset="0"/>
                <a:cs typeface="Times New Roman" panose="02020603050405020304" pitchFamily="18" charset="0"/>
              </a:rPr>
              <a:t>Conducting User Testing and Incorporating Feedback</a:t>
            </a:r>
          </a:p>
          <a:p>
            <a:pPr>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User testing</a:t>
            </a:r>
            <a:r>
              <a:rPr lang="en-US" sz="2000" dirty="0">
                <a:latin typeface="Times New Roman" panose="02020603050405020304" pitchFamily="18" charset="0"/>
                <a:cs typeface="Times New Roman" panose="02020603050405020304" pitchFamily="18" charset="0"/>
              </a:rPr>
              <a:t> is the process of evaluating a product or prototype by observing representative users performing predefined tasks. The process begins by defining testing objectives, selecting suitable users, preparing realistic tasks, and conducting the test. During testing, designers observe user </a:t>
            </a:r>
            <a:r>
              <a:rPr lang="en-US" sz="2000" dirty="0" err="1">
                <a:latin typeface="Times New Roman" panose="02020603050405020304" pitchFamily="18" charset="0"/>
                <a:cs typeface="Times New Roman" panose="02020603050405020304" pitchFamily="18" charset="0"/>
              </a:rPr>
              <a:t>behaviour</a:t>
            </a:r>
            <a:r>
              <a:rPr lang="en-US" sz="2000" dirty="0">
                <a:latin typeface="Times New Roman" panose="02020603050405020304" pitchFamily="18" charset="0"/>
                <a:cs typeface="Times New Roman" panose="02020603050405020304" pitchFamily="18" charset="0"/>
              </a:rPr>
              <a:t>, task completion, errors, confusion, and interaction patterns. Feedback can be collected through interviews, questionnaires, observations, and think-aloud sessions.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collected feedback is then analyzed to identify common usability problems and patterns. Problems are prioritized according to their impact and importance. Appropriate design modifications are made based on the findings, and the revised prototype is tested again. This </a:t>
            </a:r>
            <a:r>
              <a:rPr lang="en-US" sz="2000" b="1" dirty="0">
                <a:latin typeface="Times New Roman" panose="02020603050405020304" pitchFamily="18" charset="0"/>
                <a:cs typeface="Times New Roman" panose="02020603050405020304" pitchFamily="18" charset="0"/>
              </a:rPr>
              <a:t>iterative process of testing, feedback, and refinement</a:t>
            </a:r>
            <a:r>
              <a:rPr lang="en-US" sz="2000" dirty="0">
                <a:latin typeface="Times New Roman" panose="02020603050405020304" pitchFamily="18" charset="0"/>
                <a:cs typeface="Times New Roman" panose="02020603050405020304" pitchFamily="18" charset="0"/>
              </a:rPr>
              <a:t> helps create a product that is more usable, effective, and aligned with user needs.</a:t>
            </a:r>
          </a:p>
          <a:p>
            <a:pPr>
              <a:buNone/>
            </a:pPr>
            <a:endParaRPr lang="en-US" sz="2000" b="1" dirty="0">
              <a:latin typeface="Times New Roman" panose="02020603050405020304" pitchFamily="18" charset="0"/>
              <a:cs typeface="Times New Roman" panose="02020603050405020304" pitchFamily="18" charset="0"/>
            </a:endParaRPr>
          </a:p>
          <a:p>
            <a:pPr>
              <a:buNone/>
            </a:pPr>
            <a:r>
              <a:rPr lang="en-US" sz="2000" b="1" dirty="0">
                <a:latin typeface="Times New Roman" panose="02020603050405020304" pitchFamily="18" charset="0"/>
                <a:cs typeface="Times New Roman" panose="02020603050405020304" pitchFamily="18" charset="0"/>
              </a:rPr>
              <a:t>Prepare → Test → Observe → Collect Feedback → Analyze → Prioritize → Improve → Test Again</a:t>
            </a:r>
            <a:endParaRPr lang="en-US" sz="2000" dirty="0">
              <a:latin typeface="Times New Roman" panose="02020603050405020304" pitchFamily="18"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0119A51A-BB11-DC40-BD03-3A5EC7910A6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94</a:t>
            </a:fld>
            <a:endParaRPr lang="en-GB"/>
          </a:p>
        </p:txBody>
      </p:sp>
    </p:spTree>
    <p:extLst>
      <p:ext uri="{BB962C8B-B14F-4D97-AF65-F5344CB8AC3E}">
        <p14:creationId xmlns:p14="http://schemas.microsoft.com/office/powerpoint/2010/main" val="30736673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7E8ACC-93F1-F4FE-92E5-F3E48916CB89}"/>
              </a:ext>
            </a:extLst>
          </p:cNvPr>
          <p:cNvSpPr>
            <a:spLocks noGrp="1"/>
          </p:cNvSpPr>
          <p:nvPr>
            <p:ph type="title"/>
          </p:nvPr>
        </p:nvSpPr>
        <p:spPr>
          <a:xfrm>
            <a:off x="415600" y="327646"/>
            <a:ext cx="11360700" cy="763500"/>
          </a:xfrm>
        </p:spPr>
        <p:txBody>
          <a:bodyPr/>
          <a:lstStyle/>
          <a:p>
            <a:pPr marL="457200" marR="0" lvl="0" indent="-406400" defTabSz="914400" rtl="0" eaLnBrk="1" fontAlgn="auto" latinLnBrk="0" hangingPunct="1">
              <a:lnSpc>
                <a:spcPct val="100000"/>
              </a:lnSpc>
              <a:spcBef>
                <a:spcPts val="0"/>
              </a:spcBef>
              <a:spcAft>
                <a:spcPts val="0"/>
              </a:spcAft>
              <a:tabLst/>
              <a:defRPr/>
            </a:pPr>
            <a: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t>Classroom Activity</a:t>
            </a:r>
            <a:br>
              <a:rPr kumimoji="0" lang="en-US" sz="24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IBM Plex Sans Condensed"/>
              </a:rPr>
            </a:br>
            <a:endParaRPr lang="en-IN" dirty="0"/>
          </a:p>
        </p:txBody>
      </p:sp>
      <p:sp>
        <p:nvSpPr>
          <p:cNvPr id="3" name="Text Placeholder 2">
            <a:extLst>
              <a:ext uri="{FF2B5EF4-FFF2-40B4-BE49-F238E27FC236}">
                <a16:creationId xmlns:a16="http://schemas.microsoft.com/office/drawing/2014/main" id="{D912E5D6-A945-3990-A995-FDCEEE242CE4}"/>
              </a:ext>
            </a:extLst>
          </p:cNvPr>
          <p:cNvSpPr>
            <a:spLocks noGrp="1"/>
          </p:cNvSpPr>
          <p:nvPr>
            <p:ph type="body" idx="1"/>
          </p:nvPr>
        </p:nvSpPr>
        <p:spPr>
          <a:xfrm>
            <a:off x="415600" y="1008420"/>
            <a:ext cx="11360700" cy="5399943"/>
          </a:xfrm>
        </p:spPr>
        <p:txBody>
          <a:bodyPr/>
          <a:lstStyle/>
          <a:p>
            <a:pPr>
              <a:buNone/>
            </a:pPr>
            <a:r>
              <a:rPr lang="en-US" sz="2300" b="1" dirty="0">
                <a:latin typeface="Times New Roman" panose="02020603050405020304" pitchFamily="18" charset="0"/>
                <a:cs typeface="Times New Roman" panose="02020603050405020304" pitchFamily="18" charset="0"/>
              </a:rPr>
              <a:t>“Test It, Fix It!” – Rapid User Testing Challenge</a:t>
            </a:r>
          </a:p>
          <a:p>
            <a:pPr>
              <a:buNone/>
            </a:pPr>
            <a:r>
              <a:rPr lang="en-US" sz="2300" b="1" dirty="0">
                <a:latin typeface="Times New Roman" panose="02020603050405020304" pitchFamily="18" charset="0"/>
                <a:cs typeface="Times New Roman" panose="02020603050405020304" pitchFamily="18" charset="0"/>
              </a:rPr>
              <a:t>Topic:</a:t>
            </a:r>
            <a:r>
              <a:rPr lang="en-US" sz="2300" dirty="0">
                <a:latin typeface="Times New Roman" panose="02020603050405020304" pitchFamily="18" charset="0"/>
                <a:cs typeface="Times New Roman" panose="02020603050405020304" pitchFamily="18" charset="0"/>
              </a:rPr>
              <a:t> Conducting User Testing and Incorporating Feedback</a:t>
            </a:r>
            <a:br>
              <a:rPr lang="en-US" sz="2300" dirty="0">
                <a:latin typeface="Times New Roman" panose="02020603050405020304" pitchFamily="18" charset="0"/>
                <a:cs typeface="Times New Roman" panose="02020603050405020304" pitchFamily="18" charset="0"/>
              </a:rPr>
            </a:br>
            <a:r>
              <a:rPr lang="en-US" sz="2300" b="1" dirty="0">
                <a:latin typeface="Times New Roman" panose="02020603050405020304" pitchFamily="18" charset="0"/>
                <a:cs typeface="Times New Roman" panose="02020603050405020304" pitchFamily="18" charset="0"/>
              </a:rPr>
              <a:t>Duration:</a:t>
            </a:r>
            <a:r>
              <a:rPr lang="en-US" sz="2300" dirty="0">
                <a:latin typeface="Times New Roman" panose="02020603050405020304" pitchFamily="18" charset="0"/>
                <a:cs typeface="Times New Roman" panose="02020603050405020304" pitchFamily="18" charset="0"/>
              </a:rPr>
              <a:t> 30–40 minutes</a:t>
            </a:r>
            <a:br>
              <a:rPr lang="en-US" sz="2300" dirty="0">
                <a:latin typeface="Times New Roman" panose="02020603050405020304" pitchFamily="18" charset="0"/>
                <a:cs typeface="Times New Roman" panose="02020603050405020304" pitchFamily="18" charset="0"/>
              </a:rPr>
            </a:br>
            <a:r>
              <a:rPr lang="en-US" sz="2300" b="1" dirty="0">
                <a:latin typeface="Times New Roman" panose="02020603050405020304" pitchFamily="18" charset="0"/>
                <a:cs typeface="Times New Roman" panose="02020603050405020304" pitchFamily="18" charset="0"/>
              </a:rPr>
              <a:t>Group size:</a:t>
            </a:r>
            <a:r>
              <a:rPr lang="en-US" sz="2300" dirty="0">
                <a:latin typeface="Times New Roman" panose="02020603050405020304" pitchFamily="18" charset="0"/>
                <a:cs typeface="Times New Roman" panose="02020603050405020304" pitchFamily="18" charset="0"/>
              </a:rPr>
              <a:t> 4–5 students per group</a:t>
            </a:r>
            <a:br>
              <a:rPr lang="en-US" sz="2300" dirty="0">
                <a:latin typeface="Times New Roman" panose="02020603050405020304" pitchFamily="18" charset="0"/>
                <a:cs typeface="Times New Roman" panose="02020603050405020304" pitchFamily="18" charset="0"/>
              </a:rPr>
            </a:br>
            <a:r>
              <a:rPr lang="en-US" sz="2300" b="1" dirty="0">
                <a:latin typeface="Times New Roman" panose="02020603050405020304" pitchFamily="18" charset="0"/>
                <a:cs typeface="Times New Roman" panose="02020603050405020304" pitchFamily="18" charset="0"/>
              </a:rPr>
              <a:t>Objective:</a:t>
            </a:r>
            <a:r>
              <a:rPr lang="en-US" sz="2300" dirty="0">
                <a:latin typeface="Times New Roman" panose="02020603050405020304" pitchFamily="18" charset="0"/>
                <a:cs typeface="Times New Roman" panose="02020603050405020304" pitchFamily="18" charset="0"/>
              </a:rPr>
              <a:t> Students experience the complete cycle of </a:t>
            </a:r>
            <a:r>
              <a:rPr lang="en-US" sz="2300" b="1" dirty="0">
                <a:latin typeface="Times New Roman" panose="02020603050405020304" pitchFamily="18" charset="0"/>
                <a:cs typeface="Times New Roman" panose="02020603050405020304" pitchFamily="18" charset="0"/>
              </a:rPr>
              <a:t>prototype → user testing → feedback → improvement</a:t>
            </a:r>
            <a:r>
              <a:rPr lang="en-US" sz="2300" dirty="0">
                <a:latin typeface="Times New Roman" panose="02020603050405020304" pitchFamily="18" charset="0"/>
                <a:cs typeface="Times New Roman" panose="02020603050405020304" pitchFamily="18" charset="0"/>
              </a:rPr>
              <a:t>.</a:t>
            </a:r>
          </a:p>
          <a:p>
            <a:pPr>
              <a:buNone/>
            </a:pPr>
            <a:r>
              <a:rPr lang="en-US" sz="2300" b="1" dirty="0">
                <a:latin typeface="Times New Roman" panose="02020603050405020304" pitchFamily="18" charset="0"/>
                <a:cs typeface="Times New Roman" panose="02020603050405020304" pitchFamily="18" charset="0"/>
              </a:rPr>
              <a:t>Scenario</a:t>
            </a:r>
          </a:p>
          <a:p>
            <a:pPr>
              <a:buNone/>
            </a:pPr>
            <a:r>
              <a:rPr lang="en-US" sz="2300" dirty="0">
                <a:latin typeface="Times New Roman" panose="02020603050405020304" pitchFamily="18" charset="0"/>
                <a:cs typeface="Times New Roman" panose="02020603050405020304" pitchFamily="18" charset="0"/>
              </a:rPr>
              <a:t>Ask each group to choose </a:t>
            </a:r>
            <a:r>
              <a:rPr lang="en-US" sz="2300" b="1" dirty="0">
                <a:latin typeface="Times New Roman" panose="02020603050405020304" pitchFamily="18" charset="0"/>
                <a:cs typeface="Times New Roman" panose="02020603050405020304" pitchFamily="18" charset="0"/>
              </a:rPr>
              <a:t>one everyday problem</a:t>
            </a:r>
            <a:r>
              <a:rPr lang="en-US" sz="23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College canteen ordering </a:t>
            </a:r>
          </a:p>
          <a:p>
            <a:pPr>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Library book search </a:t>
            </a:r>
          </a:p>
          <a:p>
            <a:pPr>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Student attendance tracking </a:t>
            </a:r>
          </a:p>
          <a:p>
            <a:pPr>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Campus navigation </a:t>
            </a:r>
          </a:p>
          <a:p>
            <a:pPr>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Online assignment submission </a:t>
            </a:r>
          </a:p>
          <a:p>
            <a:pPr>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College bus tracking</a:t>
            </a:r>
          </a:p>
          <a:p>
            <a:endParaRPr lang="en-IN" dirty="0"/>
          </a:p>
        </p:txBody>
      </p:sp>
      <p:sp>
        <p:nvSpPr>
          <p:cNvPr id="4" name="Slide Number Placeholder 3">
            <a:extLst>
              <a:ext uri="{FF2B5EF4-FFF2-40B4-BE49-F238E27FC236}">
                <a16:creationId xmlns:a16="http://schemas.microsoft.com/office/drawing/2014/main" id="{6B69ADE6-69EC-D162-891C-4B07FF91DE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95</a:t>
            </a:fld>
            <a:endParaRPr lang="en-GB"/>
          </a:p>
        </p:txBody>
      </p:sp>
    </p:spTree>
    <p:extLst>
      <p:ext uri="{BB962C8B-B14F-4D97-AF65-F5344CB8AC3E}">
        <p14:creationId xmlns:p14="http://schemas.microsoft.com/office/powerpoint/2010/main" val="410791376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3133</TotalTime>
  <Words>5779</Words>
  <Application>Microsoft Office PowerPoint</Application>
  <PresentationFormat>Widescreen</PresentationFormat>
  <Paragraphs>1120</Paragraphs>
  <Slides>95</Slides>
  <Notes>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95</vt:i4>
      </vt:variant>
    </vt:vector>
  </HeadingPairs>
  <TitlesOfParts>
    <vt:vector size="108" baseType="lpstr">
      <vt:lpstr>Arial</vt:lpstr>
      <vt:lpstr>Book Antiqua</vt:lpstr>
      <vt:lpstr>Times New Roman</vt:lpstr>
      <vt:lpstr>Calibri</vt:lpstr>
      <vt:lpstr>Courier New</vt:lpstr>
      <vt:lpstr>Wingdings</vt:lpstr>
      <vt:lpstr>Georgia</vt:lpstr>
      <vt:lpstr>Yellowtail</vt:lpstr>
      <vt:lpstr>Archivo Narrow</vt:lpstr>
      <vt:lpstr>Archivo Narrow Medium</vt:lpstr>
      <vt:lpstr>IBM Plex Sans Condensed</vt:lpstr>
      <vt:lpstr>Simple Light</vt:lpstr>
      <vt:lpstr>1_Simple Light</vt:lpstr>
      <vt:lpstr>PowerPoint Presentation</vt:lpstr>
      <vt:lpstr>PowerPoint Presentation</vt:lpstr>
      <vt:lpstr>I. Creating prototypes to visualize and communicate solutions </vt:lpstr>
      <vt:lpstr>PowerPoint Presentation</vt:lpstr>
      <vt:lpstr>Position of Prototyping in Design Thinking</vt:lpstr>
      <vt:lpstr>PowerPoint Presentation</vt:lpstr>
      <vt:lpstr>Why Do We Create Prototypes?</vt:lpstr>
      <vt:lpstr>Diagram: From Idea to Understanding</vt:lpstr>
      <vt:lpstr>Prototyping to Visualize Solutions</vt:lpstr>
      <vt:lpstr>Prototyping to Communicate Solutions</vt:lpstr>
      <vt:lpstr>Levels of Prototypes</vt:lpstr>
      <vt:lpstr>2. Medium-Fidelity Prototype</vt:lpstr>
      <vt:lpstr>PowerPoint Presentation</vt:lpstr>
      <vt:lpstr>PowerPoint Presentation</vt:lpstr>
      <vt:lpstr>Examples</vt:lpstr>
      <vt:lpstr>Comparison</vt:lpstr>
      <vt:lpstr>Prototype Fidelity Should Match the Learning Goal</vt:lpstr>
      <vt:lpstr>PowerPoint Presentation</vt:lpstr>
      <vt:lpstr>II. Iterative design process: Testing, feedback, and refinement </vt:lpstr>
      <vt:lpstr>PowerPoint Presentation</vt:lpstr>
      <vt:lpstr>Meaning of Iterative Design</vt:lpstr>
      <vt:lpstr>Why Is Iteration Important in Design Thinking?</vt:lpstr>
      <vt:lpstr>PowerPoint Presentation</vt:lpstr>
      <vt:lpstr>Iterative Design in the Design Thinking Process</vt:lpstr>
      <vt:lpstr>PowerPoint Presentation</vt:lpstr>
      <vt:lpstr>The Iterative Design Cycle</vt:lpstr>
      <vt:lpstr>Stage 1: Testing</vt:lpstr>
      <vt:lpstr>Objectives of Testing</vt:lpstr>
      <vt:lpstr>Types of Testing</vt:lpstr>
      <vt:lpstr>PowerPoint Presentation</vt:lpstr>
      <vt:lpstr>PowerPoint Presentation</vt:lpstr>
      <vt:lpstr>Principles of Effective Testing</vt:lpstr>
      <vt:lpstr>Stage 2: Feedback</vt:lpstr>
      <vt:lpstr>Sources of Feedback</vt:lpstr>
      <vt:lpstr>Qualitative and Quantitative Feedback</vt:lpstr>
      <vt:lpstr>Good Feedback vs. Poor Feedback</vt:lpstr>
      <vt:lpstr>Stage 3: Refinement</vt:lpstr>
      <vt:lpstr>Example of Refinement</vt:lpstr>
      <vt:lpstr>PowerPoint Presentation</vt:lpstr>
      <vt:lpstr>The Complete Iterative Process</vt:lpstr>
      <vt:lpstr>Prioritizing Feedback</vt:lpstr>
      <vt:lpstr>PowerPoint Presentation</vt:lpstr>
      <vt:lpstr>Iteration and Prototyping</vt:lpstr>
      <vt:lpstr>PowerPoint Presentation</vt:lpstr>
      <vt:lpstr>PowerPoint Presentation</vt:lpstr>
      <vt:lpstr>Activity</vt:lpstr>
      <vt:lpstr>PowerPoint Presentation</vt:lpstr>
      <vt:lpstr>I. Rapid Prototyping techniques </vt:lpstr>
      <vt:lpstr>Types of Rapid Prototyping</vt:lpstr>
      <vt:lpstr>PowerPoint Presentation</vt:lpstr>
      <vt:lpstr>PowerPoint Presentation</vt:lpstr>
      <vt:lpstr>PowerPoint Presentation</vt:lpstr>
      <vt:lpstr>b) Digital Mock-ups</vt:lpstr>
      <vt:lpstr>PowerPoint Presentation</vt:lpstr>
      <vt:lpstr>PowerPoint Presentation</vt:lpstr>
      <vt:lpstr>c) Wireframes</vt:lpstr>
      <vt:lpstr>PowerPoint Presentation</vt:lpstr>
      <vt:lpstr>Low-Fidelity vs High-Fidelity Prototypes</vt:lpstr>
      <vt:lpstr>Fidelity spectrum</vt:lpstr>
      <vt:lpstr>Comparison of the Three Techniques</vt:lpstr>
      <vt:lpstr>When to Use Each Technique</vt:lpstr>
      <vt:lpstr>Benefits of Rapid Prototyping</vt:lpstr>
      <vt:lpstr>Rapid Prototyping in Design Thinking</vt:lpstr>
      <vt:lpstr>Recap</vt:lpstr>
      <vt:lpstr>PowerPoint Presentation</vt:lpstr>
      <vt:lpstr>IV. Conducting user testing and incorporating feedback for design improvement </vt:lpstr>
      <vt:lpstr>User Testing in the Design Thinking Process</vt:lpstr>
      <vt:lpstr>Objectives of User Testing</vt:lpstr>
      <vt:lpstr>Steps in Conducting User Testing</vt:lpstr>
      <vt:lpstr>Step 1 – Define Testing Goals</vt:lpstr>
      <vt:lpstr>Step 2 – Select Target Users</vt:lpstr>
      <vt:lpstr>PowerPoint Presentation</vt:lpstr>
      <vt:lpstr>Step 3 – Prepare Testing Tasks</vt:lpstr>
      <vt:lpstr>PowerPoint Presentation</vt:lpstr>
      <vt:lpstr>Step 4 – Prepare the Prototype</vt:lpstr>
      <vt:lpstr>Step 5 – Conduct the Test</vt:lpstr>
      <vt:lpstr>Step 6 - Observe and Record </vt:lpstr>
      <vt:lpstr>PowerPoint Presentation</vt:lpstr>
      <vt:lpstr>Step 7 – Collect User Feedback</vt:lpstr>
      <vt:lpstr>PowerPoint Presentation</vt:lpstr>
      <vt:lpstr>Step 8 – Analyze Findings</vt:lpstr>
      <vt:lpstr>PowerPoint Presentation</vt:lpstr>
      <vt:lpstr>Step 9 –Prioritize Problems</vt:lpstr>
      <vt:lpstr>PowerPoint Presentation</vt:lpstr>
      <vt:lpstr>Step 10 – Improve Design: Incorporating Feedback</vt:lpstr>
      <vt:lpstr>PowerPoint Presentation</vt:lpstr>
      <vt:lpstr>Before-and-After Improvement Cycle</vt:lpstr>
      <vt:lpstr>Types of Feedback</vt:lpstr>
      <vt:lpstr>Qualitative and Quantitative Feedback</vt:lpstr>
      <vt:lpstr>PowerPoint Presentation</vt:lpstr>
      <vt:lpstr>Comparison</vt:lpstr>
      <vt:lpstr>Principles for Effective User Testing</vt:lpstr>
      <vt:lpstr>Complete Feedback Incorporation Framework</vt:lpstr>
      <vt:lpstr>Recap</vt:lpstr>
      <vt:lpstr>Classroom Activity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probability in Generative models.</dc:title>
  <dc:creator>Shiju George</dc:creator>
  <cp:lastModifiedBy>Manikandakaumar Muthusamy</cp:lastModifiedBy>
  <cp:revision>117</cp:revision>
  <dcterms:modified xsi:type="dcterms:W3CDTF">2026-09-09T00:56:33Z</dcterms:modified>
</cp:coreProperties>
</file>